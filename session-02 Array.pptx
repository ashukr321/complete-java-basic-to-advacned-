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383" r:id="rId3"/>
    <p:sldId id="384" r:id="rId4"/>
    <p:sldId id="385" r:id="rId5"/>
    <p:sldId id="386" r:id="rId6"/>
    <p:sldId id="387" r:id="rId7"/>
    <p:sldId id="388" r:id="rId8"/>
    <p:sldId id="389" r:id="rId9"/>
    <p:sldId id="390" r:id="rId10"/>
    <p:sldId id="391" r:id="rId11"/>
    <p:sldId id="392" r:id="rId12"/>
    <p:sldId id="393" r:id="rId13"/>
    <p:sldId id="394" r:id="rId14"/>
    <p:sldId id="395" r:id="rId15"/>
    <p:sldId id="396" r:id="rId16"/>
    <p:sldId id="397" r:id="rId17"/>
    <p:sldId id="398" r:id="rId18"/>
    <p:sldId id="399" r:id="rId19"/>
    <p:sldId id="400" r:id="rId20"/>
    <p:sldId id="401" r:id="rId21"/>
    <p:sldId id="402" r:id="rId22"/>
    <p:sldId id="403" r:id="rId23"/>
    <p:sldId id="404" r:id="rId24"/>
    <p:sldId id="405" r:id="rId25"/>
    <p:sldId id="40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592"/>
    <p:restoredTop sz="91598"/>
  </p:normalViewPr>
  <p:slideViewPr>
    <p:cSldViewPr snapToGrid="0">
      <p:cViewPr varScale="1">
        <p:scale>
          <a:sx n="56" d="100"/>
          <a:sy n="56" d="100"/>
        </p:scale>
        <p:origin x="192" y="5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D90F1-D2DB-5A45-BAF2-8FA059FD862D}" type="datetimeFigureOut">
              <a:rPr lang="en-US" smtClean="0"/>
              <a:t>8/27/24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301DA3-AD2F-AD49-8581-F8DB1C24B515}" type="slidenum">
              <a:rPr lang="en-US" smtClean="0"/>
              <a:t>‹#›</a:t>
            </a:fld>
            <a:endParaRPr lang="en-US"/>
          </a:p>
        </p:txBody>
      </p:sp>
    </p:spTree>
    <p:extLst>
      <p:ext uri="{BB962C8B-B14F-4D97-AF65-F5344CB8AC3E}">
        <p14:creationId xmlns:p14="http://schemas.microsoft.com/office/powerpoint/2010/main" val="230361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825D8-31DA-E6FB-51B6-CC6FFE02DCB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3B5F72B-D4AE-B261-993F-222378A473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3098773-D0CF-7F3D-CECD-5832618F996D}"/>
              </a:ext>
            </a:extLst>
          </p:cNvPr>
          <p:cNvSpPr>
            <a:spLocks noGrp="1"/>
          </p:cNvSpPr>
          <p:nvPr>
            <p:ph type="dt" sz="half" idx="10"/>
          </p:nvPr>
        </p:nvSpPr>
        <p:spPr/>
        <p:txBody>
          <a:bodyPr/>
          <a:lstStyle/>
          <a:p>
            <a:fld id="{913D1A09-BC4F-484E-9C5C-5BA23A792FD0}" type="datetime1">
              <a:rPr lang="en-IN" smtClean="0"/>
              <a:t>27/08/24</a:t>
            </a:fld>
            <a:endParaRPr lang="en-US"/>
          </a:p>
        </p:txBody>
      </p:sp>
      <p:sp>
        <p:nvSpPr>
          <p:cNvPr id="5" name="Footer Placeholder 4">
            <a:extLst>
              <a:ext uri="{FF2B5EF4-FFF2-40B4-BE49-F238E27FC236}">
                <a16:creationId xmlns:a16="http://schemas.microsoft.com/office/drawing/2014/main" id="{BA6C9271-178D-0084-8B79-9A0C56AC7078}"/>
              </a:ext>
            </a:extLst>
          </p:cNvPr>
          <p:cNvSpPr>
            <a:spLocks noGrp="1"/>
          </p:cNvSpPr>
          <p:nvPr>
            <p:ph type="ftr" sz="quarter" idx="11"/>
          </p:nvPr>
        </p:nvSpPr>
        <p:spPr/>
        <p:txBody>
          <a:bodyPr/>
          <a:lstStyle/>
          <a:p>
            <a:r>
              <a:rPr lang="en-US"/>
              <a:t>Dr. Naveen Kumar, Associate Professor, AIIT, AUP</a:t>
            </a:r>
          </a:p>
        </p:txBody>
      </p:sp>
      <p:sp>
        <p:nvSpPr>
          <p:cNvPr id="6" name="Slide Number Placeholder 5">
            <a:extLst>
              <a:ext uri="{FF2B5EF4-FFF2-40B4-BE49-F238E27FC236}">
                <a16:creationId xmlns:a16="http://schemas.microsoft.com/office/drawing/2014/main" id="{5481BACA-737C-0715-27B1-7CAD55DA9D66}"/>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218679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B79E-49CC-E8F9-702B-B844EAC4E78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AF6D7F5-B608-A641-90C5-9FA290A4F53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1E250FF-839D-9797-D5A6-BC29E25D253D}"/>
              </a:ext>
            </a:extLst>
          </p:cNvPr>
          <p:cNvSpPr>
            <a:spLocks noGrp="1"/>
          </p:cNvSpPr>
          <p:nvPr>
            <p:ph type="dt" sz="half" idx="10"/>
          </p:nvPr>
        </p:nvSpPr>
        <p:spPr/>
        <p:txBody>
          <a:bodyPr/>
          <a:lstStyle/>
          <a:p>
            <a:fld id="{0056FE48-80AB-064A-B0AE-3794C9888A84}" type="datetime1">
              <a:rPr lang="en-IN" smtClean="0"/>
              <a:t>27/08/24</a:t>
            </a:fld>
            <a:endParaRPr lang="en-US"/>
          </a:p>
        </p:txBody>
      </p:sp>
      <p:sp>
        <p:nvSpPr>
          <p:cNvPr id="5" name="Footer Placeholder 4">
            <a:extLst>
              <a:ext uri="{FF2B5EF4-FFF2-40B4-BE49-F238E27FC236}">
                <a16:creationId xmlns:a16="http://schemas.microsoft.com/office/drawing/2014/main" id="{A5930B78-79E2-77D1-3EF3-B4491E24F4F0}"/>
              </a:ext>
            </a:extLst>
          </p:cNvPr>
          <p:cNvSpPr>
            <a:spLocks noGrp="1"/>
          </p:cNvSpPr>
          <p:nvPr>
            <p:ph type="ftr" sz="quarter" idx="11"/>
          </p:nvPr>
        </p:nvSpPr>
        <p:spPr/>
        <p:txBody>
          <a:bodyPr/>
          <a:lstStyle/>
          <a:p>
            <a:r>
              <a:rPr lang="en-US"/>
              <a:t>Dr. Naveen Kumar, Associate Professor, AIIT, AUP</a:t>
            </a:r>
          </a:p>
        </p:txBody>
      </p:sp>
      <p:sp>
        <p:nvSpPr>
          <p:cNvPr id="6" name="Slide Number Placeholder 5">
            <a:extLst>
              <a:ext uri="{FF2B5EF4-FFF2-40B4-BE49-F238E27FC236}">
                <a16:creationId xmlns:a16="http://schemas.microsoft.com/office/drawing/2014/main" id="{83F6D604-5F93-2C36-8D6C-94851163EBA6}"/>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3642165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0473D-CEEE-2EF2-4B68-E808ADA9146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C51731-9AF7-F7D1-898C-05D92059AE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900E681-A60F-E80B-3446-2DFF024837A3}"/>
              </a:ext>
            </a:extLst>
          </p:cNvPr>
          <p:cNvSpPr>
            <a:spLocks noGrp="1"/>
          </p:cNvSpPr>
          <p:nvPr>
            <p:ph type="dt" sz="half" idx="10"/>
          </p:nvPr>
        </p:nvSpPr>
        <p:spPr/>
        <p:txBody>
          <a:bodyPr/>
          <a:lstStyle/>
          <a:p>
            <a:fld id="{62D45580-DB9A-3243-A471-8EC349A8B6A0}" type="datetime1">
              <a:rPr lang="en-IN" smtClean="0"/>
              <a:t>27/08/24</a:t>
            </a:fld>
            <a:endParaRPr lang="en-US"/>
          </a:p>
        </p:txBody>
      </p:sp>
      <p:sp>
        <p:nvSpPr>
          <p:cNvPr id="5" name="Footer Placeholder 4">
            <a:extLst>
              <a:ext uri="{FF2B5EF4-FFF2-40B4-BE49-F238E27FC236}">
                <a16:creationId xmlns:a16="http://schemas.microsoft.com/office/drawing/2014/main" id="{91E34D21-8C80-FCCE-DA90-F587282A9B6A}"/>
              </a:ext>
            </a:extLst>
          </p:cNvPr>
          <p:cNvSpPr>
            <a:spLocks noGrp="1"/>
          </p:cNvSpPr>
          <p:nvPr>
            <p:ph type="ftr" sz="quarter" idx="11"/>
          </p:nvPr>
        </p:nvSpPr>
        <p:spPr/>
        <p:txBody>
          <a:bodyPr/>
          <a:lstStyle/>
          <a:p>
            <a:r>
              <a:rPr lang="en-US"/>
              <a:t>Dr. Naveen Kumar, Associate Professor, AIIT, AUP</a:t>
            </a:r>
          </a:p>
        </p:txBody>
      </p:sp>
      <p:sp>
        <p:nvSpPr>
          <p:cNvPr id="6" name="Slide Number Placeholder 5">
            <a:extLst>
              <a:ext uri="{FF2B5EF4-FFF2-40B4-BE49-F238E27FC236}">
                <a16:creationId xmlns:a16="http://schemas.microsoft.com/office/drawing/2014/main" id="{A863FD7C-E7FB-CF54-6364-FCE226FD0CD6}"/>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1854941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9D9D2-38DB-2CA0-9950-84B67331CAF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308C0BC-410C-0798-7CD5-4BADD9CB4A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16B618F-A72E-6F95-7E55-99D8F85F20D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2DD0A3A-ADBA-1E04-BEC4-AF72A048DBB1}"/>
              </a:ext>
            </a:extLst>
          </p:cNvPr>
          <p:cNvSpPr>
            <a:spLocks noGrp="1"/>
          </p:cNvSpPr>
          <p:nvPr>
            <p:ph type="dt" sz="half" idx="10"/>
          </p:nvPr>
        </p:nvSpPr>
        <p:spPr/>
        <p:txBody>
          <a:bodyPr/>
          <a:lstStyle/>
          <a:p>
            <a:fld id="{54F3B0D1-AABA-BE4F-A44F-C6265D34309F}" type="datetime1">
              <a:rPr lang="en-IN" smtClean="0"/>
              <a:t>27/08/24</a:t>
            </a:fld>
            <a:endParaRPr lang="en-US"/>
          </a:p>
        </p:txBody>
      </p:sp>
      <p:sp>
        <p:nvSpPr>
          <p:cNvPr id="6" name="Footer Placeholder 5">
            <a:extLst>
              <a:ext uri="{FF2B5EF4-FFF2-40B4-BE49-F238E27FC236}">
                <a16:creationId xmlns:a16="http://schemas.microsoft.com/office/drawing/2014/main" id="{16A5E59D-8963-75CF-6BDE-1083189C7953}"/>
              </a:ext>
            </a:extLst>
          </p:cNvPr>
          <p:cNvSpPr>
            <a:spLocks noGrp="1"/>
          </p:cNvSpPr>
          <p:nvPr>
            <p:ph type="ftr" sz="quarter" idx="11"/>
          </p:nvPr>
        </p:nvSpPr>
        <p:spPr/>
        <p:txBody>
          <a:bodyPr/>
          <a:lstStyle/>
          <a:p>
            <a:r>
              <a:rPr lang="en-US"/>
              <a:t>Dr. Naveen Kumar, Associate Professor, AIIT, AUP</a:t>
            </a:r>
          </a:p>
        </p:txBody>
      </p:sp>
      <p:sp>
        <p:nvSpPr>
          <p:cNvPr id="7" name="Slide Number Placeholder 6">
            <a:extLst>
              <a:ext uri="{FF2B5EF4-FFF2-40B4-BE49-F238E27FC236}">
                <a16:creationId xmlns:a16="http://schemas.microsoft.com/office/drawing/2014/main" id="{C45494F9-D242-3C78-0F71-4E95642E66A9}"/>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2737424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36BE4-D530-F479-2089-27DA6980550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F16A54C-975C-4A76-8A4E-8A91F04B1F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2C55EC2-055C-45E7-BDF2-D6EB49BC3B9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B94B5CC-B0FE-B0E7-0950-A5F7D49288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6D36A72-EBB5-CC65-91D1-C4B02E18C53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0205B6C-7695-DC2B-DDD3-A1BF4A49ED80}"/>
              </a:ext>
            </a:extLst>
          </p:cNvPr>
          <p:cNvSpPr>
            <a:spLocks noGrp="1"/>
          </p:cNvSpPr>
          <p:nvPr>
            <p:ph type="dt" sz="half" idx="10"/>
          </p:nvPr>
        </p:nvSpPr>
        <p:spPr/>
        <p:txBody>
          <a:bodyPr/>
          <a:lstStyle/>
          <a:p>
            <a:fld id="{D4B213BE-DB10-EE48-88D9-55909DA1CEF9}" type="datetime1">
              <a:rPr lang="en-IN" smtClean="0"/>
              <a:t>27/08/24</a:t>
            </a:fld>
            <a:endParaRPr lang="en-US"/>
          </a:p>
        </p:txBody>
      </p:sp>
      <p:sp>
        <p:nvSpPr>
          <p:cNvPr id="8" name="Footer Placeholder 7">
            <a:extLst>
              <a:ext uri="{FF2B5EF4-FFF2-40B4-BE49-F238E27FC236}">
                <a16:creationId xmlns:a16="http://schemas.microsoft.com/office/drawing/2014/main" id="{7152C462-5E5E-9DB3-F261-B03B977BF5E6}"/>
              </a:ext>
            </a:extLst>
          </p:cNvPr>
          <p:cNvSpPr>
            <a:spLocks noGrp="1"/>
          </p:cNvSpPr>
          <p:nvPr>
            <p:ph type="ftr" sz="quarter" idx="11"/>
          </p:nvPr>
        </p:nvSpPr>
        <p:spPr/>
        <p:txBody>
          <a:bodyPr/>
          <a:lstStyle/>
          <a:p>
            <a:r>
              <a:rPr lang="en-US"/>
              <a:t>Dr. Naveen Kumar, Associate Professor, AIIT, AUP</a:t>
            </a:r>
          </a:p>
        </p:txBody>
      </p:sp>
      <p:sp>
        <p:nvSpPr>
          <p:cNvPr id="9" name="Slide Number Placeholder 8">
            <a:extLst>
              <a:ext uri="{FF2B5EF4-FFF2-40B4-BE49-F238E27FC236}">
                <a16:creationId xmlns:a16="http://schemas.microsoft.com/office/drawing/2014/main" id="{378036B5-BEBC-B4A3-1DEE-6E67CD8B237B}"/>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338289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E3CA-15CB-6B77-661E-DDF1A433B34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86A28C8-37EF-41E2-C14D-B78C0822DEAC}"/>
              </a:ext>
            </a:extLst>
          </p:cNvPr>
          <p:cNvSpPr>
            <a:spLocks noGrp="1"/>
          </p:cNvSpPr>
          <p:nvPr>
            <p:ph type="dt" sz="half" idx="10"/>
          </p:nvPr>
        </p:nvSpPr>
        <p:spPr/>
        <p:txBody>
          <a:bodyPr/>
          <a:lstStyle/>
          <a:p>
            <a:fld id="{CEB2F23E-4F81-C541-BDF2-B5029484D1B1}" type="datetime1">
              <a:rPr lang="en-IN" smtClean="0"/>
              <a:t>27/08/24</a:t>
            </a:fld>
            <a:endParaRPr lang="en-US"/>
          </a:p>
        </p:txBody>
      </p:sp>
      <p:sp>
        <p:nvSpPr>
          <p:cNvPr id="4" name="Footer Placeholder 3">
            <a:extLst>
              <a:ext uri="{FF2B5EF4-FFF2-40B4-BE49-F238E27FC236}">
                <a16:creationId xmlns:a16="http://schemas.microsoft.com/office/drawing/2014/main" id="{1D3DDF6E-EEB4-8468-0591-D6D9BCDCF882}"/>
              </a:ext>
            </a:extLst>
          </p:cNvPr>
          <p:cNvSpPr>
            <a:spLocks noGrp="1"/>
          </p:cNvSpPr>
          <p:nvPr>
            <p:ph type="ftr" sz="quarter" idx="11"/>
          </p:nvPr>
        </p:nvSpPr>
        <p:spPr/>
        <p:txBody>
          <a:bodyPr/>
          <a:lstStyle/>
          <a:p>
            <a:r>
              <a:rPr lang="en-US"/>
              <a:t>Dr. Naveen Kumar, Associate Professor, AIIT, AUP</a:t>
            </a:r>
          </a:p>
        </p:txBody>
      </p:sp>
      <p:sp>
        <p:nvSpPr>
          <p:cNvPr id="5" name="Slide Number Placeholder 4">
            <a:extLst>
              <a:ext uri="{FF2B5EF4-FFF2-40B4-BE49-F238E27FC236}">
                <a16:creationId xmlns:a16="http://schemas.microsoft.com/office/drawing/2014/main" id="{1D09CE5D-9344-9A66-49B6-7F35C8DDA710}"/>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4163228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BDE053-2961-1E5B-8C22-72655265FFDC}"/>
              </a:ext>
            </a:extLst>
          </p:cNvPr>
          <p:cNvSpPr>
            <a:spLocks noGrp="1"/>
          </p:cNvSpPr>
          <p:nvPr>
            <p:ph type="dt" sz="half" idx="10"/>
          </p:nvPr>
        </p:nvSpPr>
        <p:spPr/>
        <p:txBody>
          <a:bodyPr/>
          <a:lstStyle/>
          <a:p>
            <a:fld id="{7AEE49C1-352F-3844-A146-7239FA6C399D}" type="datetime1">
              <a:rPr lang="en-IN" smtClean="0"/>
              <a:t>27/08/24</a:t>
            </a:fld>
            <a:endParaRPr lang="en-US"/>
          </a:p>
        </p:txBody>
      </p:sp>
      <p:sp>
        <p:nvSpPr>
          <p:cNvPr id="3" name="Footer Placeholder 2">
            <a:extLst>
              <a:ext uri="{FF2B5EF4-FFF2-40B4-BE49-F238E27FC236}">
                <a16:creationId xmlns:a16="http://schemas.microsoft.com/office/drawing/2014/main" id="{056A38CA-8B7F-2531-2751-38DECFF8181D}"/>
              </a:ext>
            </a:extLst>
          </p:cNvPr>
          <p:cNvSpPr>
            <a:spLocks noGrp="1"/>
          </p:cNvSpPr>
          <p:nvPr>
            <p:ph type="ftr" sz="quarter" idx="11"/>
          </p:nvPr>
        </p:nvSpPr>
        <p:spPr/>
        <p:txBody>
          <a:bodyPr/>
          <a:lstStyle/>
          <a:p>
            <a:r>
              <a:rPr lang="en-US"/>
              <a:t>Dr. Naveen Kumar, Associate Professor, AIIT, AUP</a:t>
            </a:r>
          </a:p>
        </p:txBody>
      </p:sp>
      <p:sp>
        <p:nvSpPr>
          <p:cNvPr id="4" name="Slide Number Placeholder 3">
            <a:extLst>
              <a:ext uri="{FF2B5EF4-FFF2-40B4-BE49-F238E27FC236}">
                <a16:creationId xmlns:a16="http://schemas.microsoft.com/office/drawing/2014/main" id="{6F499B09-27D1-B50B-B73B-FABA2181F7DC}"/>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2760616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7796B-EC9A-4595-E068-27B4E1E5BA0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B63300A-6102-7873-E791-43491932B9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4697D24-E5C1-CDC3-C180-673DA2B2BD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CC3BDDD-6B74-24CB-3A62-06F3411388E0}"/>
              </a:ext>
            </a:extLst>
          </p:cNvPr>
          <p:cNvSpPr>
            <a:spLocks noGrp="1"/>
          </p:cNvSpPr>
          <p:nvPr>
            <p:ph type="dt" sz="half" idx="10"/>
          </p:nvPr>
        </p:nvSpPr>
        <p:spPr/>
        <p:txBody>
          <a:bodyPr/>
          <a:lstStyle/>
          <a:p>
            <a:fld id="{26CBF692-CEBD-624B-A3B9-8E4DD2A0E261}" type="datetime1">
              <a:rPr lang="en-IN" smtClean="0"/>
              <a:t>27/08/24</a:t>
            </a:fld>
            <a:endParaRPr lang="en-US"/>
          </a:p>
        </p:txBody>
      </p:sp>
      <p:sp>
        <p:nvSpPr>
          <p:cNvPr id="6" name="Footer Placeholder 5">
            <a:extLst>
              <a:ext uri="{FF2B5EF4-FFF2-40B4-BE49-F238E27FC236}">
                <a16:creationId xmlns:a16="http://schemas.microsoft.com/office/drawing/2014/main" id="{386AC572-4841-1A91-5887-B7DBA16D2554}"/>
              </a:ext>
            </a:extLst>
          </p:cNvPr>
          <p:cNvSpPr>
            <a:spLocks noGrp="1"/>
          </p:cNvSpPr>
          <p:nvPr>
            <p:ph type="ftr" sz="quarter" idx="11"/>
          </p:nvPr>
        </p:nvSpPr>
        <p:spPr/>
        <p:txBody>
          <a:bodyPr/>
          <a:lstStyle/>
          <a:p>
            <a:r>
              <a:rPr lang="en-US"/>
              <a:t>Dr. Naveen Kumar, Associate Professor, AIIT, AUP</a:t>
            </a:r>
          </a:p>
        </p:txBody>
      </p:sp>
      <p:sp>
        <p:nvSpPr>
          <p:cNvPr id="7" name="Slide Number Placeholder 6">
            <a:extLst>
              <a:ext uri="{FF2B5EF4-FFF2-40B4-BE49-F238E27FC236}">
                <a16:creationId xmlns:a16="http://schemas.microsoft.com/office/drawing/2014/main" id="{9B683B8E-C287-3B5C-595C-AEF412F259A1}"/>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3918943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251A0-22DC-E67F-EBC7-0D258B980C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04B98BF-3B82-A950-EFAE-3B9FD0A732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02B9E6-0B54-6ADC-2087-BC90A3BEB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C0206A6-CED6-92CD-1F3F-CC6367E86A94}"/>
              </a:ext>
            </a:extLst>
          </p:cNvPr>
          <p:cNvSpPr>
            <a:spLocks noGrp="1"/>
          </p:cNvSpPr>
          <p:nvPr>
            <p:ph type="dt" sz="half" idx="10"/>
          </p:nvPr>
        </p:nvSpPr>
        <p:spPr/>
        <p:txBody>
          <a:bodyPr/>
          <a:lstStyle/>
          <a:p>
            <a:fld id="{6D51C78F-BBE2-BC4A-BBFF-18B9F3A766E6}" type="datetime1">
              <a:rPr lang="en-IN" smtClean="0"/>
              <a:t>27/08/24</a:t>
            </a:fld>
            <a:endParaRPr lang="en-US"/>
          </a:p>
        </p:txBody>
      </p:sp>
      <p:sp>
        <p:nvSpPr>
          <p:cNvPr id="6" name="Footer Placeholder 5">
            <a:extLst>
              <a:ext uri="{FF2B5EF4-FFF2-40B4-BE49-F238E27FC236}">
                <a16:creationId xmlns:a16="http://schemas.microsoft.com/office/drawing/2014/main" id="{F48BC248-82C1-F0C3-B596-EFDB4DA0AC1C}"/>
              </a:ext>
            </a:extLst>
          </p:cNvPr>
          <p:cNvSpPr>
            <a:spLocks noGrp="1"/>
          </p:cNvSpPr>
          <p:nvPr>
            <p:ph type="ftr" sz="quarter" idx="11"/>
          </p:nvPr>
        </p:nvSpPr>
        <p:spPr/>
        <p:txBody>
          <a:bodyPr/>
          <a:lstStyle/>
          <a:p>
            <a:r>
              <a:rPr lang="en-US"/>
              <a:t>Dr. Naveen Kumar, Associate Professor, AIIT, AUP</a:t>
            </a:r>
          </a:p>
        </p:txBody>
      </p:sp>
      <p:sp>
        <p:nvSpPr>
          <p:cNvPr id="7" name="Slide Number Placeholder 6">
            <a:extLst>
              <a:ext uri="{FF2B5EF4-FFF2-40B4-BE49-F238E27FC236}">
                <a16:creationId xmlns:a16="http://schemas.microsoft.com/office/drawing/2014/main" id="{9A04520E-4A30-901E-03B9-7B9F6B85B572}"/>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3686017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9F7B3-2211-E007-FB0E-F5FFAAF873C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78ADD7D-6D3A-FD7B-A248-1CA547F0F9F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C40BBF5-C679-70BA-6163-8C142910C242}"/>
              </a:ext>
            </a:extLst>
          </p:cNvPr>
          <p:cNvSpPr>
            <a:spLocks noGrp="1"/>
          </p:cNvSpPr>
          <p:nvPr>
            <p:ph type="dt" sz="half" idx="10"/>
          </p:nvPr>
        </p:nvSpPr>
        <p:spPr/>
        <p:txBody>
          <a:bodyPr/>
          <a:lstStyle/>
          <a:p>
            <a:fld id="{BB360741-FD3D-1841-8DC7-418A5EC561B1}" type="datetime1">
              <a:rPr lang="en-IN" smtClean="0"/>
              <a:t>27/08/24</a:t>
            </a:fld>
            <a:endParaRPr lang="en-US"/>
          </a:p>
        </p:txBody>
      </p:sp>
      <p:sp>
        <p:nvSpPr>
          <p:cNvPr id="5" name="Footer Placeholder 4">
            <a:extLst>
              <a:ext uri="{FF2B5EF4-FFF2-40B4-BE49-F238E27FC236}">
                <a16:creationId xmlns:a16="http://schemas.microsoft.com/office/drawing/2014/main" id="{CC46C57E-E8D3-5B58-E41C-3B114F102B0F}"/>
              </a:ext>
            </a:extLst>
          </p:cNvPr>
          <p:cNvSpPr>
            <a:spLocks noGrp="1"/>
          </p:cNvSpPr>
          <p:nvPr>
            <p:ph type="ftr" sz="quarter" idx="11"/>
          </p:nvPr>
        </p:nvSpPr>
        <p:spPr/>
        <p:txBody>
          <a:bodyPr/>
          <a:lstStyle/>
          <a:p>
            <a:r>
              <a:rPr lang="en-US"/>
              <a:t>Dr. Naveen Kumar, Associate Professor, AIIT, AUP</a:t>
            </a:r>
          </a:p>
        </p:txBody>
      </p:sp>
      <p:sp>
        <p:nvSpPr>
          <p:cNvPr id="6" name="Slide Number Placeholder 5">
            <a:extLst>
              <a:ext uri="{FF2B5EF4-FFF2-40B4-BE49-F238E27FC236}">
                <a16:creationId xmlns:a16="http://schemas.microsoft.com/office/drawing/2014/main" id="{A964C4B2-0B1D-19D4-600C-C05394876895}"/>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376438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650367-6954-C89B-6E91-02CB268F1A5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9272AF-F513-A83D-3B25-0B4073B6C78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0B9A1DA-0438-208D-5110-C3A87D49C709}"/>
              </a:ext>
            </a:extLst>
          </p:cNvPr>
          <p:cNvSpPr>
            <a:spLocks noGrp="1"/>
          </p:cNvSpPr>
          <p:nvPr>
            <p:ph type="dt" sz="half" idx="10"/>
          </p:nvPr>
        </p:nvSpPr>
        <p:spPr/>
        <p:txBody>
          <a:bodyPr/>
          <a:lstStyle/>
          <a:p>
            <a:fld id="{1840086A-F951-EB43-A1DB-B89699397D8A}" type="datetime1">
              <a:rPr lang="en-IN" smtClean="0"/>
              <a:t>27/08/24</a:t>
            </a:fld>
            <a:endParaRPr lang="en-US"/>
          </a:p>
        </p:txBody>
      </p:sp>
      <p:sp>
        <p:nvSpPr>
          <p:cNvPr id="5" name="Footer Placeholder 4">
            <a:extLst>
              <a:ext uri="{FF2B5EF4-FFF2-40B4-BE49-F238E27FC236}">
                <a16:creationId xmlns:a16="http://schemas.microsoft.com/office/drawing/2014/main" id="{21E03D0D-BB66-181E-8719-8DD163713337}"/>
              </a:ext>
            </a:extLst>
          </p:cNvPr>
          <p:cNvSpPr>
            <a:spLocks noGrp="1"/>
          </p:cNvSpPr>
          <p:nvPr>
            <p:ph type="ftr" sz="quarter" idx="11"/>
          </p:nvPr>
        </p:nvSpPr>
        <p:spPr/>
        <p:txBody>
          <a:bodyPr/>
          <a:lstStyle/>
          <a:p>
            <a:r>
              <a:rPr lang="en-US"/>
              <a:t>Dr. Naveen Kumar, Associate Professor, AIIT, AUP</a:t>
            </a:r>
          </a:p>
        </p:txBody>
      </p:sp>
      <p:sp>
        <p:nvSpPr>
          <p:cNvPr id="6" name="Slide Number Placeholder 5">
            <a:extLst>
              <a:ext uri="{FF2B5EF4-FFF2-40B4-BE49-F238E27FC236}">
                <a16:creationId xmlns:a16="http://schemas.microsoft.com/office/drawing/2014/main" id="{03CE96E7-AF39-280B-3F1D-2B9F4B43EF49}"/>
              </a:ext>
            </a:extLst>
          </p:cNvPr>
          <p:cNvSpPr>
            <a:spLocks noGrp="1"/>
          </p:cNvSpPr>
          <p:nvPr>
            <p:ph type="sldNum" sz="quarter" idx="12"/>
          </p:nvPr>
        </p:nvSpPr>
        <p:spPr/>
        <p:txBody>
          <a:bodyPr/>
          <a:lstStyle/>
          <a:p>
            <a:fld id="{B7ED6AD2-961F-3A4D-BF05-14D1EFDA615A}" type="slidenum">
              <a:rPr lang="en-US" smtClean="0"/>
              <a:t>‹#›</a:t>
            </a:fld>
            <a:endParaRPr lang="en-US"/>
          </a:p>
        </p:txBody>
      </p:sp>
    </p:spTree>
    <p:extLst>
      <p:ext uri="{BB962C8B-B14F-4D97-AF65-F5344CB8AC3E}">
        <p14:creationId xmlns:p14="http://schemas.microsoft.com/office/powerpoint/2010/main" val="3602333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BEE523-4398-35A8-B4FD-D801A4D448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D9754C8-AF54-50CE-8595-DCA320A144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89F3011-EE6B-FCEB-7B92-4CFF38BF8D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232442-8DAA-4649-AF7C-0565043250E2}" type="datetime1">
              <a:rPr lang="en-IN" smtClean="0"/>
              <a:t>27/08/24</a:t>
            </a:fld>
            <a:endParaRPr lang="en-US"/>
          </a:p>
        </p:txBody>
      </p:sp>
      <p:sp>
        <p:nvSpPr>
          <p:cNvPr id="5" name="Footer Placeholder 4">
            <a:extLst>
              <a:ext uri="{FF2B5EF4-FFF2-40B4-BE49-F238E27FC236}">
                <a16:creationId xmlns:a16="http://schemas.microsoft.com/office/drawing/2014/main" id="{5F4FAD4B-7CDD-2C79-81E7-F53A34A6A0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Dr. Naveen Kumar, Associate Professor, AIIT, AUP</a:t>
            </a:r>
          </a:p>
        </p:txBody>
      </p:sp>
      <p:sp>
        <p:nvSpPr>
          <p:cNvPr id="6" name="Slide Number Placeholder 5">
            <a:extLst>
              <a:ext uri="{FF2B5EF4-FFF2-40B4-BE49-F238E27FC236}">
                <a16:creationId xmlns:a16="http://schemas.microsoft.com/office/drawing/2014/main" id="{5B844BFD-7443-4526-648F-FF35248810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ED6AD2-961F-3A4D-BF05-14D1EFDA615A}" type="slidenum">
              <a:rPr lang="en-US" smtClean="0"/>
              <a:t>‹#›</a:t>
            </a:fld>
            <a:endParaRPr lang="en-US"/>
          </a:p>
        </p:txBody>
      </p:sp>
    </p:spTree>
    <p:extLst>
      <p:ext uri="{BB962C8B-B14F-4D97-AF65-F5344CB8AC3E}">
        <p14:creationId xmlns:p14="http://schemas.microsoft.com/office/powerpoint/2010/main" val="1962049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20DBA-7D78-23A5-5D82-6F3516DBD0BB}"/>
              </a:ext>
            </a:extLst>
          </p:cNvPr>
          <p:cNvSpPr>
            <a:spLocks noGrp="1"/>
          </p:cNvSpPr>
          <p:nvPr>
            <p:ph type="ctrTitle"/>
          </p:nvPr>
        </p:nvSpPr>
        <p:spPr/>
        <p:txBody>
          <a:bodyPr/>
          <a:lstStyle/>
          <a:p>
            <a:r>
              <a:rPr lang="en-US" dirty="0"/>
              <a:t>Array in Java</a:t>
            </a:r>
          </a:p>
        </p:txBody>
      </p:sp>
      <p:sp>
        <p:nvSpPr>
          <p:cNvPr id="3" name="Subtitle 2">
            <a:extLst>
              <a:ext uri="{FF2B5EF4-FFF2-40B4-BE49-F238E27FC236}">
                <a16:creationId xmlns:a16="http://schemas.microsoft.com/office/drawing/2014/main" id="{C5DF821D-A02C-81D5-A500-923A3B33B7FB}"/>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
        <p:nvSpPr>
          <p:cNvPr id="5" name="Footer Placeholder 4">
            <a:extLst>
              <a:ext uri="{FF2B5EF4-FFF2-40B4-BE49-F238E27FC236}">
                <a16:creationId xmlns:a16="http://schemas.microsoft.com/office/drawing/2014/main" id="{7B5FF10E-E632-6530-3A11-777D9B4EF295}"/>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845346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854C8-110F-0B02-6BF9-2E6632180DB8}"/>
              </a:ext>
            </a:extLst>
          </p:cNvPr>
          <p:cNvSpPr>
            <a:spLocks noGrp="1"/>
          </p:cNvSpPr>
          <p:nvPr>
            <p:ph type="title"/>
          </p:nvPr>
        </p:nvSpPr>
        <p:spPr/>
        <p:txBody>
          <a:bodyPr/>
          <a:lstStyle/>
          <a:p>
            <a:r>
              <a:rPr lang="en-US" dirty="0"/>
              <a:t>Array in Java</a:t>
            </a:r>
          </a:p>
        </p:txBody>
      </p:sp>
      <p:sp>
        <p:nvSpPr>
          <p:cNvPr id="3" name="Content Placeholder 2">
            <a:extLst>
              <a:ext uri="{FF2B5EF4-FFF2-40B4-BE49-F238E27FC236}">
                <a16:creationId xmlns:a16="http://schemas.microsoft.com/office/drawing/2014/main" id="{0133E403-1745-93E0-043C-D880949DF15B}"/>
              </a:ext>
            </a:extLst>
          </p:cNvPr>
          <p:cNvSpPr>
            <a:spLocks noGrp="1"/>
          </p:cNvSpPr>
          <p:nvPr>
            <p:ph idx="1"/>
          </p:nvPr>
        </p:nvSpPr>
        <p:spPr/>
        <p:txBody>
          <a:bodyPr/>
          <a:lstStyle/>
          <a:p>
            <a:pPr marL="0" indent="0">
              <a:buNone/>
            </a:pPr>
            <a:r>
              <a:rPr lang="en-IN" b="0" i="0" dirty="0">
                <a:effectLst/>
                <a:highlight>
                  <a:srgbClr val="FFFFFF"/>
                </a:highlight>
                <a:latin typeface="Arial" panose="020B0604020202020204" pitchFamily="34" charset="0"/>
              </a:rPr>
              <a:t>1) Introduction</a:t>
            </a:r>
            <a:br>
              <a:rPr lang="en-IN" dirty="0"/>
            </a:br>
            <a:r>
              <a:rPr lang="en-IN" b="0" i="0" dirty="0">
                <a:effectLst/>
                <a:highlight>
                  <a:srgbClr val="FFFFFF"/>
                </a:highlight>
                <a:latin typeface="Arial" panose="020B0604020202020204" pitchFamily="34" charset="0"/>
              </a:rPr>
              <a:t>2) Array declaration</a:t>
            </a:r>
            <a:br>
              <a:rPr lang="en-IN" dirty="0"/>
            </a:br>
            <a:r>
              <a:rPr lang="en-IN" b="0" i="0" dirty="0">
                <a:effectLst/>
                <a:highlight>
                  <a:srgbClr val="FFFFFF"/>
                </a:highlight>
                <a:latin typeface="Arial" panose="020B0604020202020204" pitchFamily="34" charset="0"/>
              </a:rPr>
              <a:t>3) Array construction</a:t>
            </a:r>
            <a:br>
              <a:rPr lang="en-IN" dirty="0"/>
            </a:br>
            <a:r>
              <a:rPr lang="en-IN" b="0" i="0" dirty="0">
                <a:effectLst/>
                <a:highlight>
                  <a:srgbClr val="FFFFFF"/>
                </a:highlight>
                <a:latin typeface="Arial" panose="020B0604020202020204" pitchFamily="34" charset="0"/>
              </a:rPr>
              <a:t>4) Array initialization</a:t>
            </a:r>
            <a:br>
              <a:rPr lang="en-IN" dirty="0"/>
            </a:br>
            <a:r>
              <a:rPr lang="en-IN" b="0" i="0" dirty="0">
                <a:effectLst/>
                <a:highlight>
                  <a:srgbClr val="FFFFFF"/>
                </a:highlight>
                <a:latin typeface="Arial" panose="020B0604020202020204" pitchFamily="34" charset="0"/>
              </a:rPr>
              <a:t>5) Array declaration, construction, initialization in a single line.</a:t>
            </a:r>
            <a:br>
              <a:rPr lang="en-IN" dirty="0"/>
            </a:br>
            <a:r>
              <a:rPr lang="en-IN" b="0" i="0" dirty="0">
                <a:effectLst/>
                <a:highlight>
                  <a:srgbClr val="FFFFFF"/>
                </a:highlight>
                <a:latin typeface="Arial" panose="020B0604020202020204" pitchFamily="34" charset="0"/>
              </a:rPr>
              <a:t>6) length Vs length() method</a:t>
            </a:r>
            <a:br>
              <a:rPr lang="en-IN" dirty="0"/>
            </a:br>
            <a:r>
              <a:rPr lang="en-IN" b="0" i="0" dirty="0">
                <a:effectLst/>
                <a:highlight>
                  <a:srgbClr val="FFFFFF"/>
                </a:highlight>
                <a:latin typeface="Arial" panose="020B0604020202020204" pitchFamily="34" charset="0"/>
              </a:rPr>
              <a:t>7) Anonymous arrays</a:t>
            </a:r>
            <a:br>
              <a:rPr lang="en-IN" dirty="0"/>
            </a:br>
            <a:r>
              <a:rPr lang="en-IN" b="0" i="0" dirty="0">
                <a:effectLst/>
                <a:highlight>
                  <a:srgbClr val="FFFFFF"/>
                </a:highlight>
                <a:latin typeface="Arial" panose="020B0604020202020204" pitchFamily="34" charset="0"/>
              </a:rPr>
              <a:t>8) Array element assignments</a:t>
            </a:r>
            <a:br>
              <a:rPr lang="en-IN" dirty="0"/>
            </a:br>
            <a:r>
              <a:rPr lang="en-IN" b="0" i="0" dirty="0">
                <a:effectLst/>
                <a:highlight>
                  <a:srgbClr val="FFFFFF"/>
                </a:highlight>
                <a:latin typeface="Arial" panose="020B0604020202020204" pitchFamily="34" charset="0"/>
              </a:rPr>
              <a:t>9) Array variable assignments.</a:t>
            </a:r>
            <a:endParaRPr lang="en-US" dirty="0"/>
          </a:p>
        </p:txBody>
      </p:sp>
      <p:sp>
        <p:nvSpPr>
          <p:cNvPr id="5" name="Footer Placeholder 4">
            <a:extLst>
              <a:ext uri="{FF2B5EF4-FFF2-40B4-BE49-F238E27FC236}">
                <a16:creationId xmlns:a16="http://schemas.microsoft.com/office/drawing/2014/main" id="{C9F6DA6C-C24F-EE80-D756-34DFF899649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242144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3CB58-8567-156C-3873-567BC8C748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D85508-E830-BB0F-FA4E-0E55DF2586BF}"/>
              </a:ext>
            </a:extLst>
          </p:cNvPr>
          <p:cNvSpPr>
            <a:spLocks noGrp="1"/>
          </p:cNvSpPr>
          <p:nvPr>
            <p:ph idx="1"/>
          </p:nvPr>
        </p:nvSpPr>
        <p:spPr/>
        <p:txBody>
          <a:bodyPr>
            <a:normAutofit fontScale="92500"/>
          </a:bodyPr>
          <a:lstStyle/>
          <a:p>
            <a:r>
              <a:rPr lang="en-IN" b="0" i="0" dirty="0">
                <a:effectLst/>
                <a:highlight>
                  <a:srgbClr val="FFFFFF"/>
                </a:highlight>
                <a:latin typeface="Arial" panose="020B0604020202020204" pitchFamily="34" charset="0"/>
              </a:rPr>
              <a:t>An array is an indexed collection of fixed number of homogeneous data elements.</a:t>
            </a:r>
          </a:p>
          <a:p>
            <a:r>
              <a:rPr lang="en-IN" b="0" i="0" dirty="0">
                <a:effectLst/>
                <a:highlight>
                  <a:srgbClr val="FFFFFF"/>
                </a:highlight>
                <a:latin typeface="Arial" panose="020B0604020202020204" pitchFamily="34" charset="0"/>
              </a:rPr>
              <a:t>The main advantage of arrays is we can represent multiple values with the same name so that readability of the code will be improved.</a:t>
            </a:r>
          </a:p>
          <a:p>
            <a:r>
              <a:rPr lang="en-IN" b="0" i="0" dirty="0">
                <a:effectLst/>
                <a:highlight>
                  <a:srgbClr val="FFFFFF"/>
                </a:highlight>
                <a:latin typeface="Arial" panose="020B0604020202020204" pitchFamily="34" charset="0"/>
              </a:rPr>
              <a:t>But the main disadvantage of arrays is:</a:t>
            </a:r>
          </a:p>
          <a:p>
            <a:r>
              <a:rPr lang="en-IN" b="0" i="0" dirty="0">
                <a:effectLst/>
                <a:highlight>
                  <a:srgbClr val="FFFFFF"/>
                </a:highlight>
                <a:latin typeface="Arial" panose="020B0604020202020204" pitchFamily="34" charset="0"/>
              </a:rPr>
              <a:t>Fixed in size that is once we created an array there is no chance of increasing or decreasing the size based on our requirement that is to use arrays concept compulsory we should know the size in advance which may not possible always.</a:t>
            </a:r>
          </a:p>
          <a:p>
            <a:r>
              <a:rPr lang="en-IN" b="0" i="0" dirty="0">
                <a:effectLst/>
                <a:highlight>
                  <a:srgbClr val="FFFFFF"/>
                </a:highlight>
                <a:latin typeface="Arial" panose="020B0604020202020204" pitchFamily="34" charset="0"/>
              </a:rPr>
              <a:t>We can resolve this problem by using collections</a:t>
            </a:r>
            <a:endParaRPr lang="en-US" dirty="0"/>
          </a:p>
        </p:txBody>
      </p:sp>
      <p:sp>
        <p:nvSpPr>
          <p:cNvPr id="5" name="Footer Placeholder 4">
            <a:extLst>
              <a:ext uri="{FF2B5EF4-FFF2-40B4-BE49-F238E27FC236}">
                <a16:creationId xmlns:a16="http://schemas.microsoft.com/office/drawing/2014/main" id="{9025EA5D-3525-A36D-6C5C-4E86415B5269}"/>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717758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0450E-C60F-3C00-AECD-B1137110C781}"/>
              </a:ext>
            </a:extLst>
          </p:cNvPr>
          <p:cNvSpPr>
            <a:spLocks noGrp="1"/>
          </p:cNvSpPr>
          <p:nvPr>
            <p:ph type="title"/>
          </p:nvPr>
        </p:nvSpPr>
        <p:spPr/>
        <p:txBody>
          <a:bodyPr/>
          <a:lstStyle/>
          <a:p>
            <a:r>
              <a:rPr lang="en-IN" dirty="0">
                <a:effectLst/>
                <a:highlight>
                  <a:srgbClr val="FFFFFF"/>
                </a:highlight>
                <a:latin typeface="Arial" panose="020B0604020202020204" pitchFamily="34" charset="0"/>
              </a:rPr>
              <a:t>Array declarations:</a:t>
            </a:r>
            <a:endParaRPr lang="en-US" dirty="0"/>
          </a:p>
        </p:txBody>
      </p:sp>
      <p:sp>
        <p:nvSpPr>
          <p:cNvPr id="3" name="Content Placeholder 2">
            <a:extLst>
              <a:ext uri="{FF2B5EF4-FFF2-40B4-BE49-F238E27FC236}">
                <a16:creationId xmlns:a16="http://schemas.microsoft.com/office/drawing/2014/main" id="{89C0602A-C72E-E49D-E083-3B5A8B1C7EF0}"/>
              </a:ext>
            </a:extLst>
          </p:cNvPr>
          <p:cNvSpPr>
            <a:spLocks noGrp="1"/>
          </p:cNvSpPr>
          <p:nvPr>
            <p:ph idx="1"/>
          </p:nvPr>
        </p:nvSpPr>
        <p:spPr/>
        <p:txBody>
          <a:bodyPr>
            <a:normAutofit fontScale="92500" lnSpcReduction="20000"/>
          </a:bodyPr>
          <a:lstStyle/>
          <a:p>
            <a:pPr algn="l" rtl="0"/>
            <a:r>
              <a:rPr lang="en-IN" dirty="0">
                <a:effectLst/>
                <a:highlight>
                  <a:srgbClr val="FFFFFF"/>
                </a:highlight>
                <a:latin typeface="Arial" panose="020B0604020202020204" pitchFamily="34" charset="0"/>
              </a:rPr>
              <a:t>Single dimensional array declaration:</a:t>
            </a:r>
            <a:endParaRPr lang="en-IN" dirty="0">
              <a:effectLst/>
              <a:highlight>
                <a:srgbClr val="FFFFFF"/>
              </a:highlight>
            </a:endParaRPr>
          </a:p>
          <a:p>
            <a:pPr algn="l" rtl="0"/>
            <a:r>
              <a:rPr lang="en-IN" b="0" i="0" dirty="0">
                <a:effectLst/>
                <a:highlight>
                  <a:srgbClr val="FFFFFF"/>
                </a:highlight>
                <a:latin typeface="Arial" panose="020B0604020202020204" pitchFamily="34" charset="0"/>
              </a:rPr>
              <a:t>int[] a; //recommended to use because name is clearly separated from the type</a:t>
            </a:r>
            <a:br>
              <a:rPr lang="en-IN" dirty="0"/>
            </a:br>
            <a:r>
              <a:rPr lang="en-IN" b="0" i="0" dirty="0">
                <a:effectLst/>
                <a:highlight>
                  <a:srgbClr val="FFFFFF"/>
                </a:highlight>
                <a:latin typeface="Arial" panose="020B0604020202020204" pitchFamily="34" charset="0"/>
              </a:rPr>
              <a:t>int []a;</a:t>
            </a:r>
            <a:br>
              <a:rPr lang="en-IN" dirty="0"/>
            </a:br>
            <a:r>
              <a:rPr lang="en-IN" b="0" i="0" dirty="0">
                <a:effectLst/>
                <a:highlight>
                  <a:srgbClr val="FFFFFF"/>
                </a:highlight>
                <a:latin typeface="Arial" panose="020B0604020202020204" pitchFamily="34" charset="0"/>
              </a:rPr>
              <a:t>int a[];</a:t>
            </a:r>
          </a:p>
          <a:p>
            <a:pPr algn="l" rtl="0"/>
            <a:endParaRPr lang="en-IN" b="0" i="0" dirty="0">
              <a:effectLst/>
              <a:highlight>
                <a:srgbClr val="FFFFFF"/>
              </a:highlight>
              <a:latin typeface="Arial" panose="020B0604020202020204" pitchFamily="34" charset="0"/>
            </a:endParaRPr>
          </a:p>
          <a:p>
            <a:pPr algn="l" rtl="0"/>
            <a:r>
              <a:rPr lang="en-IN" b="0" i="0" dirty="0">
                <a:effectLst/>
                <a:highlight>
                  <a:srgbClr val="FFFFFF"/>
                </a:highlight>
                <a:latin typeface="Arial" panose="020B0604020202020204" pitchFamily="34" charset="0"/>
              </a:rPr>
              <a:t>At the time of declaration we can’t specify the size otherwise we will get compile time</a:t>
            </a:r>
            <a:br>
              <a:rPr lang="en-IN" dirty="0"/>
            </a:br>
            <a:r>
              <a:rPr lang="en-IN" b="0" i="0" dirty="0">
                <a:effectLst/>
                <a:highlight>
                  <a:srgbClr val="FFFFFF"/>
                </a:highlight>
                <a:latin typeface="Arial" panose="020B0604020202020204" pitchFamily="34" charset="0"/>
              </a:rPr>
              <a:t>error.</a:t>
            </a:r>
          </a:p>
          <a:p>
            <a:pPr algn="l" rtl="0"/>
            <a:br>
              <a:rPr lang="en-IN" dirty="0"/>
            </a:br>
            <a:r>
              <a:rPr lang="en-IN" b="0" i="0" dirty="0">
                <a:effectLst/>
                <a:highlight>
                  <a:srgbClr val="FFFFFF"/>
                </a:highlight>
                <a:latin typeface="Arial" panose="020B0604020202020204" pitchFamily="34" charset="0"/>
              </a:rPr>
              <a:t>int[ ] a; //valid</a:t>
            </a:r>
            <a:br>
              <a:rPr lang="en-IN" dirty="0"/>
            </a:br>
            <a:r>
              <a:rPr lang="en-IN" b="0" i="0" dirty="0">
                <a:effectLst/>
                <a:highlight>
                  <a:srgbClr val="FFFFFF"/>
                </a:highlight>
                <a:latin typeface="Arial" panose="020B0604020202020204" pitchFamily="34" charset="0"/>
              </a:rPr>
              <a:t>int[5] a;//invalid</a:t>
            </a:r>
            <a:br>
              <a:rPr lang="en-IN" b="0" i="0" dirty="0">
                <a:solidFill>
                  <a:srgbClr val="000000"/>
                </a:solidFill>
                <a:effectLst/>
                <a:highlight>
                  <a:srgbClr val="FFFFFF"/>
                </a:highlight>
                <a:latin typeface="Arial" panose="020B0604020202020204" pitchFamily="34" charset="0"/>
              </a:rPr>
            </a:br>
            <a:endParaRPr lang="en-IN" b="0" i="0" dirty="0">
              <a:solidFill>
                <a:srgbClr val="000000"/>
              </a:solidFill>
              <a:effectLst/>
              <a:highlight>
                <a:srgbClr val="FFFFFF"/>
              </a:highlight>
              <a:latin typeface="Arial" panose="020B0604020202020204" pitchFamily="34" charset="0"/>
            </a:endParaRPr>
          </a:p>
          <a:p>
            <a:endParaRPr lang="en-US" dirty="0"/>
          </a:p>
        </p:txBody>
      </p:sp>
      <p:sp>
        <p:nvSpPr>
          <p:cNvPr id="5" name="Footer Placeholder 4">
            <a:extLst>
              <a:ext uri="{FF2B5EF4-FFF2-40B4-BE49-F238E27FC236}">
                <a16:creationId xmlns:a16="http://schemas.microsoft.com/office/drawing/2014/main" id="{77C5F5E6-4AF0-7470-0AFE-3258A16C80A0}"/>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057967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8A5DC-827D-E59A-D293-BF30B3AAB8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408089-E924-C754-B9B8-9D03BCC09E87}"/>
              </a:ext>
            </a:extLst>
          </p:cNvPr>
          <p:cNvSpPr>
            <a:spLocks noGrp="1"/>
          </p:cNvSpPr>
          <p:nvPr>
            <p:ph idx="1"/>
          </p:nvPr>
        </p:nvSpPr>
        <p:spPr/>
        <p:txBody>
          <a:bodyPr/>
          <a:lstStyle/>
          <a:p>
            <a:pPr marL="0" indent="0">
              <a:buNone/>
            </a:pPr>
            <a:r>
              <a:rPr lang="en-IN" b="0" i="0" dirty="0">
                <a:effectLst/>
                <a:highlight>
                  <a:srgbClr val="FFFFFF"/>
                </a:highlight>
                <a:latin typeface="Times New Roman" panose="02020603050405020304" pitchFamily="18" charset="0"/>
              </a:rPr>
              <a:t>Two dimensional array declaration:</a:t>
            </a:r>
          </a:p>
          <a:p>
            <a:pPr marL="0" indent="0">
              <a:buNone/>
            </a:pPr>
            <a:br>
              <a:rPr lang="en-IN" dirty="0"/>
            </a:br>
            <a:r>
              <a:rPr lang="en-IN" b="0" i="0" dirty="0">
                <a:effectLst/>
                <a:highlight>
                  <a:srgbClr val="FFFFFF"/>
                </a:highlight>
                <a:latin typeface="Arial" panose="020B0604020202020204" pitchFamily="34" charset="0"/>
              </a:rPr>
              <a:t>Example:</a:t>
            </a:r>
            <a:br>
              <a:rPr lang="en-IN" dirty="0"/>
            </a:br>
            <a:r>
              <a:rPr lang="en-IN" b="0" i="0" dirty="0">
                <a:effectLst/>
                <a:highlight>
                  <a:srgbClr val="FFFFFF"/>
                </a:highlight>
                <a:latin typeface="Times New Roman" panose="02020603050405020304" pitchFamily="18" charset="0"/>
              </a:rPr>
              <a:t>int[][] a;</a:t>
            </a:r>
            <a:br>
              <a:rPr lang="en-IN" dirty="0"/>
            </a:br>
            <a:r>
              <a:rPr lang="en-IN" b="0" i="0" dirty="0">
                <a:effectLst/>
                <a:highlight>
                  <a:srgbClr val="FFFFFF"/>
                </a:highlight>
                <a:latin typeface="Times New Roman" panose="02020603050405020304" pitchFamily="18" charset="0"/>
              </a:rPr>
              <a:t>int    [][]a;</a:t>
            </a:r>
            <a:br>
              <a:rPr lang="en-IN" dirty="0"/>
            </a:br>
            <a:r>
              <a:rPr lang="en-IN" b="0" i="0" dirty="0">
                <a:effectLst/>
                <a:highlight>
                  <a:srgbClr val="FFFFFF"/>
                </a:highlight>
                <a:latin typeface="Times New Roman" panose="02020603050405020304" pitchFamily="18" charset="0"/>
              </a:rPr>
              <a:t>int    a[][]; All are valid.</a:t>
            </a:r>
            <a:br>
              <a:rPr lang="en-IN" dirty="0"/>
            </a:br>
            <a:r>
              <a:rPr lang="en-IN" b="0" i="0" dirty="0">
                <a:effectLst/>
                <a:highlight>
                  <a:srgbClr val="FFFFFF"/>
                </a:highlight>
                <a:latin typeface="Times New Roman" panose="02020603050405020304" pitchFamily="18" charset="0"/>
              </a:rPr>
              <a:t>int[]   []a;</a:t>
            </a:r>
            <a:br>
              <a:rPr lang="en-IN" dirty="0"/>
            </a:br>
            <a:r>
              <a:rPr lang="en-IN" b="0" i="0" dirty="0">
                <a:effectLst/>
                <a:highlight>
                  <a:srgbClr val="FFFFFF"/>
                </a:highlight>
                <a:latin typeface="Times New Roman" panose="02020603050405020304" pitchFamily="18" charset="0"/>
              </a:rPr>
              <a:t>int[]   a[];</a:t>
            </a:r>
            <a:br>
              <a:rPr lang="en-IN" dirty="0"/>
            </a:br>
            <a:r>
              <a:rPr lang="en-IN" b="0" i="0" dirty="0">
                <a:effectLst/>
                <a:highlight>
                  <a:srgbClr val="FFFFFF"/>
                </a:highlight>
                <a:latin typeface="Times New Roman" panose="02020603050405020304" pitchFamily="18" charset="0"/>
              </a:rPr>
              <a:t>int   []a[];</a:t>
            </a:r>
            <a:endParaRPr lang="en-US" dirty="0"/>
          </a:p>
        </p:txBody>
      </p:sp>
      <p:sp>
        <p:nvSpPr>
          <p:cNvPr id="5" name="Footer Placeholder 4">
            <a:extLst>
              <a:ext uri="{FF2B5EF4-FFF2-40B4-BE49-F238E27FC236}">
                <a16:creationId xmlns:a16="http://schemas.microsoft.com/office/drawing/2014/main" id="{51BB7CA2-D645-F5A8-DBD1-04EE4E67C723}"/>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454545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3CECE-796C-8146-0E69-4A52A1CA79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4D928F-9510-4651-4C56-2B8420D8EA43}"/>
              </a:ext>
            </a:extLst>
          </p:cNvPr>
          <p:cNvSpPr>
            <a:spLocks noGrp="1"/>
          </p:cNvSpPr>
          <p:nvPr>
            <p:ph idx="1"/>
          </p:nvPr>
        </p:nvSpPr>
        <p:spPr/>
        <p:txBody>
          <a:bodyPr>
            <a:normAutofit fontScale="92500" lnSpcReduction="20000"/>
          </a:bodyPr>
          <a:lstStyle/>
          <a:p>
            <a:r>
              <a:rPr lang="en-IN" b="0" i="0" dirty="0">
                <a:effectLst/>
                <a:highlight>
                  <a:srgbClr val="FFFFFF"/>
                </a:highlight>
                <a:latin typeface="Arial" panose="020B0604020202020204" pitchFamily="34" charset="0"/>
              </a:rPr>
              <a:t>Three dimensional array declaration:</a:t>
            </a:r>
          </a:p>
          <a:p>
            <a:br>
              <a:rPr lang="en-IN" dirty="0"/>
            </a:br>
            <a:r>
              <a:rPr lang="en-IN" b="0" i="0" dirty="0">
                <a:effectLst/>
                <a:highlight>
                  <a:srgbClr val="FFFFFF"/>
                </a:highlight>
                <a:latin typeface="Arial" panose="020B0604020202020204" pitchFamily="34" charset="0"/>
              </a:rPr>
              <a:t>Example:</a:t>
            </a:r>
            <a:br>
              <a:rPr lang="en-IN" dirty="0"/>
            </a:br>
            <a:r>
              <a:rPr lang="en-IN" b="0" i="0" dirty="0">
                <a:effectLst/>
                <a:highlight>
                  <a:srgbClr val="FFFFFF"/>
                </a:highlight>
                <a:latin typeface="Arial" panose="020B0604020202020204" pitchFamily="34" charset="0"/>
              </a:rPr>
              <a:t>int[][][]    a;</a:t>
            </a:r>
            <a:br>
              <a:rPr lang="en-IN" dirty="0"/>
            </a:br>
            <a:r>
              <a:rPr lang="en-IN" b="0" i="0" dirty="0">
                <a:effectLst/>
                <a:highlight>
                  <a:srgbClr val="FFFFFF"/>
                </a:highlight>
                <a:latin typeface="Arial" panose="020B0604020202020204" pitchFamily="34" charset="0"/>
              </a:rPr>
              <a:t>int    [][][]a;</a:t>
            </a:r>
            <a:br>
              <a:rPr lang="en-IN" dirty="0"/>
            </a:br>
            <a:r>
              <a:rPr lang="en-IN" b="0" i="0" dirty="0">
                <a:effectLst/>
                <a:highlight>
                  <a:srgbClr val="FFFFFF"/>
                </a:highlight>
                <a:latin typeface="Arial" panose="020B0604020202020204" pitchFamily="34" charset="0"/>
              </a:rPr>
              <a:t>int    a[][][];</a:t>
            </a:r>
            <a:br>
              <a:rPr lang="en-IN" dirty="0"/>
            </a:br>
            <a:r>
              <a:rPr lang="en-IN" b="0" i="0" dirty="0">
                <a:effectLst/>
                <a:highlight>
                  <a:srgbClr val="FFFFFF"/>
                </a:highlight>
                <a:latin typeface="Arial" panose="020B0604020202020204" pitchFamily="34" charset="0"/>
              </a:rPr>
              <a:t>int[]    [][]a;</a:t>
            </a:r>
            <a:br>
              <a:rPr lang="en-IN" dirty="0"/>
            </a:br>
            <a:r>
              <a:rPr lang="en-IN" b="0" i="0" dirty="0">
                <a:effectLst/>
                <a:highlight>
                  <a:srgbClr val="FFFFFF"/>
                </a:highlight>
                <a:latin typeface="Arial" panose="020B0604020202020204" pitchFamily="34" charset="0"/>
              </a:rPr>
              <a:t>int[]    a[][]; All are valid.</a:t>
            </a:r>
            <a:br>
              <a:rPr lang="en-IN" dirty="0"/>
            </a:br>
            <a:r>
              <a:rPr lang="en-IN" b="0" i="0" dirty="0">
                <a:effectLst/>
                <a:highlight>
                  <a:srgbClr val="FFFFFF"/>
                </a:highlight>
                <a:latin typeface="Arial" panose="020B0604020202020204" pitchFamily="34" charset="0"/>
              </a:rPr>
              <a:t>int[]    []a[];</a:t>
            </a:r>
            <a:br>
              <a:rPr lang="en-IN" dirty="0"/>
            </a:br>
            <a:r>
              <a:rPr lang="en-IN" b="0" i="0" dirty="0">
                <a:effectLst/>
                <a:highlight>
                  <a:srgbClr val="FFFFFF"/>
                </a:highlight>
                <a:latin typeface="Arial" panose="020B0604020202020204" pitchFamily="34" charset="0"/>
              </a:rPr>
              <a:t>int[][]     []a;</a:t>
            </a:r>
            <a:br>
              <a:rPr lang="en-IN" dirty="0"/>
            </a:br>
            <a:r>
              <a:rPr lang="en-IN" b="0" i="0" dirty="0">
                <a:effectLst/>
                <a:highlight>
                  <a:srgbClr val="FFFFFF"/>
                </a:highlight>
                <a:latin typeface="Arial" panose="020B0604020202020204" pitchFamily="34" charset="0"/>
              </a:rPr>
              <a:t>int[][]     a[];</a:t>
            </a:r>
            <a:br>
              <a:rPr lang="en-IN" dirty="0"/>
            </a:br>
            <a:r>
              <a:rPr lang="en-IN" b="0" i="0" dirty="0">
                <a:effectLst/>
                <a:highlight>
                  <a:srgbClr val="FFFFFF"/>
                </a:highlight>
                <a:latin typeface="Arial" panose="020B0604020202020204" pitchFamily="34" charset="0"/>
              </a:rPr>
              <a:t>int     []a[][];</a:t>
            </a:r>
            <a:br>
              <a:rPr lang="en-IN" dirty="0"/>
            </a:br>
            <a:r>
              <a:rPr lang="en-IN" b="0" i="0" dirty="0">
                <a:effectLst/>
                <a:highlight>
                  <a:srgbClr val="FFFFFF"/>
                </a:highlight>
                <a:latin typeface="Arial" panose="020B0604020202020204" pitchFamily="34" charset="0"/>
              </a:rPr>
              <a:t>int     [][]a[];</a:t>
            </a:r>
            <a:br>
              <a:rPr lang="en-IN" dirty="0"/>
            </a:br>
            <a:endParaRPr lang="en-US" dirty="0"/>
          </a:p>
        </p:txBody>
      </p:sp>
      <p:sp>
        <p:nvSpPr>
          <p:cNvPr id="5" name="Footer Placeholder 4">
            <a:extLst>
              <a:ext uri="{FF2B5EF4-FFF2-40B4-BE49-F238E27FC236}">
                <a16:creationId xmlns:a16="http://schemas.microsoft.com/office/drawing/2014/main" id="{F23DA27E-7D6D-857F-8FF5-AA2256906D76}"/>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394558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69F89-DDBC-2167-184F-0B1B15537A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25AC1C-DBDB-B23D-C0F2-7B24654A73CD}"/>
              </a:ext>
            </a:extLst>
          </p:cNvPr>
          <p:cNvSpPr>
            <a:spLocks noGrp="1"/>
          </p:cNvSpPr>
          <p:nvPr>
            <p:ph idx="1"/>
          </p:nvPr>
        </p:nvSpPr>
        <p:spPr/>
        <p:txBody>
          <a:bodyPr/>
          <a:lstStyle/>
          <a:p>
            <a:r>
              <a:rPr lang="en-IN" b="0" i="0" dirty="0">
                <a:effectLst/>
                <a:highlight>
                  <a:srgbClr val="FFFFFF"/>
                </a:highlight>
                <a:latin typeface="Arial" panose="020B0604020202020204" pitchFamily="34" charset="0"/>
              </a:rPr>
              <a:t>1) int[] a1,b1;//a-1,b-1(valid)</a:t>
            </a:r>
            <a:br>
              <a:rPr lang="en-IN" dirty="0"/>
            </a:br>
            <a:r>
              <a:rPr lang="en-IN" b="0" i="0" dirty="0">
                <a:effectLst/>
                <a:highlight>
                  <a:srgbClr val="FFFFFF"/>
                </a:highlight>
                <a:latin typeface="Arial" panose="020B0604020202020204" pitchFamily="34" charset="0"/>
              </a:rPr>
              <a:t>2) int[] a2[],b2;//a-2,b-1(valid)</a:t>
            </a:r>
            <a:br>
              <a:rPr lang="en-IN" dirty="0"/>
            </a:br>
            <a:r>
              <a:rPr lang="en-IN" b="0" i="0" dirty="0">
                <a:effectLst/>
                <a:highlight>
                  <a:srgbClr val="FFFFFF"/>
                </a:highlight>
                <a:latin typeface="Arial" panose="020B0604020202020204" pitchFamily="34" charset="0"/>
              </a:rPr>
              <a:t>3) int[] []a3,b3;//a-2,b-2(valid)</a:t>
            </a:r>
            <a:br>
              <a:rPr lang="en-IN" dirty="0"/>
            </a:br>
            <a:r>
              <a:rPr lang="en-IN" b="0" i="0" dirty="0">
                <a:effectLst/>
                <a:highlight>
                  <a:srgbClr val="FFFFFF"/>
                </a:highlight>
                <a:latin typeface="Arial" panose="020B0604020202020204" pitchFamily="34" charset="0"/>
              </a:rPr>
              <a:t>4) int[] a,[]b;//C.E:&lt;identifier&gt; expected(invalid)</a:t>
            </a:r>
          </a:p>
          <a:p>
            <a:endParaRPr lang="en-IN" dirty="0">
              <a:highlight>
                <a:srgbClr val="FFFFFF"/>
              </a:highlight>
              <a:latin typeface="Arial" panose="020B0604020202020204" pitchFamily="34" charset="0"/>
            </a:endParaRPr>
          </a:p>
          <a:p>
            <a:r>
              <a:rPr lang="en-IN" b="0" i="0" dirty="0">
                <a:effectLst/>
                <a:highlight>
                  <a:srgbClr val="FFFFFF"/>
                </a:highlight>
                <a:latin typeface="Arial" panose="020B0604020202020204" pitchFamily="34" charset="0"/>
              </a:rPr>
              <a:t>If we want to specify the dimension before the variable that rule is applicable only for the 1st variable. Second variable onwards we can’t apply in the same declaration.</a:t>
            </a:r>
            <a:endParaRPr lang="en-US" dirty="0"/>
          </a:p>
        </p:txBody>
      </p:sp>
      <p:sp>
        <p:nvSpPr>
          <p:cNvPr id="5" name="Footer Placeholder 4">
            <a:extLst>
              <a:ext uri="{FF2B5EF4-FFF2-40B4-BE49-F238E27FC236}">
                <a16:creationId xmlns:a16="http://schemas.microsoft.com/office/drawing/2014/main" id="{3C2A77EB-E06E-1869-8335-1E9A5AB3373B}"/>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86045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66435-5B3D-BE91-F734-7942B2787D4C}"/>
              </a:ext>
            </a:extLst>
          </p:cNvPr>
          <p:cNvSpPr>
            <a:spLocks noGrp="1"/>
          </p:cNvSpPr>
          <p:nvPr>
            <p:ph type="title"/>
          </p:nvPr>
        </p:nvSpPr>
        <p:spPr/>
        <p:txBody>
          <a:bodyPr/>
          <a:lstStyle/>
          <a:p>
            <a:r>
              <a:rPr lang="en-IN" b="0" i="0" dirty="0">
                <a:effectLst/>
                <a:highlight>
                  <a:srgbClr val="FFFFFF"/>
                </a:highlight>
                <a:latin typeface="Arial" panose="020B0604020202020204" pitchFamily="34" charset="0"/>
              </a:rPr>
              <a:t>Array construction:</a:t>
            </a:r>
            <a:endParaRPr lang="en-US" dirty="0"/>
          </a:p>
        </p:txBody>
      </p:sp>
      <p:sp>
        <p:nvSpPr>
          <p:cNvPr id="3" name="Content Placeholder 2">
            <a:extLst>
              <a:ext uri="{FF2B5EF4-FFF2-40B4-BE49-F238E27FC236}">
                <a16:creationId xmlns:a16="http://schemas.microsoft.com/office/drawing/2014/main" id="{4BEBCD11-CE32-3150-8F41-38DB89033094}"/>
              </a:ext>
            </a:extLst>
          </p:cNvPr>
          <p:cNvSpPr>
            <a:spLocks noGrp="1"/>
          </p:cNvSpPr>
          <p:nvPr>
            <p:ph idx="1"/>
          </p:nvPr>
        </p:nvSpPr>
        <p:spPr/>
        <p:txBody>
          <a:bodyPr>
            <a:normAutofit fontScale="70000" lnSpcReduction="20000"/>
          </a:bodyPr>
          <a:lstStyle/>
          <a:p>
            <a:r>
              <a:rPr lang="en-IN" b="0" i="0" dirty="0">
                <a:effectLst/>
                <a:highlight>
                  <a:srgbClr val="FFFFFF"/>
                </a:highlight>
                <a:latin typeface="Arial" panose="020B0604020202020204" pitchFamily="34" charset="0"/>
              </a:rPr>
              <a:t>Every array in java is an object hence we can create by using new operator.</a:t>
            </a:r>
          </a:p>
          <a:p>
            <a:r>
              <a:rPr lang="en-IN" b="0" i="0" dirty="0">
                <a:effectLst/>
                <a:highlight>
                  <a:srgbClr val="FFFFFF"/>
                </a:highlight>
                <a:latin typeface="Arial" panose="020B0604020202020204" pitchFamily="34" charset="0"/>
              </a:rPr>
              <a:t>Example:</a:t>
            </a:r>
            <a:br>
              <a:rPr lang="en-IN" dirty="0"/>
            </a:br>
            <a:r>
              <a:rPr lang="en-IN" b="0" i="0" dirty="0">
                <a:effectLst/>
                <a:highlight>
                  <a:srgbClr val="FFFFFF"/>
                </a:highlight>
                <a:latin typeface="Arial" panose="020B0604020202020204" pitchFamily="34" charset="0"/>
              </a:rPr>
              <a:t>int[ ] a=new int[3];</a:t>
            </a:r>
          </a:p>
          <a:p>
            <a:endParaRPr lang="en-IN" dirty="0">
              <a:highlight>
                <a:srgbClr val="FFFFFF"/>
              </a:highlight>
              <a:latin typeface="Arial" panose="020B0604020202020204" pitchFamily="34" charset="0"/>
            </a:endParaRPr>
          </a:p>
          <a:p>
            <a:r>
              <a:rPr lang="en-IN" b="0" i="0" dirty="0">
                <a:effectLst/>
                <a:highlight>
                  <a:srgbClr val="FFFFFF"/>
                </a:highlight>
                <a:latin typeface="Arial" panose="020B0604020202020204" pitchFamily="34" charset="0"/>
              </a:rPr>
              <a:t>Rule-1: At the time of array creation compulsory we should specify the size otherwise we will get compile time error.</a:t>
            </a:r>
          </a:p>
          <a:p>
            <a:r>
              <a:rPr lang="en-IN" dirty="0">
                <a:effectLst/>
                <a:highlight>
                  <a:srgbClr val="FFFFFF"/>
                </a:highlight>
                <a:latin typeface="Arial" panose="020B0604020202020204" pitchFamily="34" charset="0"/>
              </a:rPr>
              <a:t>Example:</a:t>
            </a:r>
            <a:br>
              <a:rPr lang="en-IN" dirty="0">
                <a:effectLst/>
                <a:highlight>
                  <a:srgbClr val="FFFFFF"/>
                </a:highlight>
              </a:rPr>
            </a:br>
            <a:r>
              <a:rPr lang="en-IN" dirty="0">
                <a:effectLst/>
                <a:highlight>
                  <a:srgbClr val="FFFFFF"/>
                </a:highlight>
                <a:latin typeface="Arial" panose="020B0604020202020204" pitchFamily="34" charset="0"/>
              </a:rPr>
              <a:t>int[] a=new int[3];</a:t>
            </a:r>
            <a:br>
              <a:rPr lang="en-IN" dirty="0">
                <a:effectLst/>
                <a:highlight>
                  <a:srgbClr val="FFFFFF"/>
                </a:highlight>
              </a:rPr>
            </a:br>
            <a:r>
              <a:rPr lang="en-IN" dirty="0">
                <a:effectLst/>
                <a:highlight>
                  <a:srgbClr val="FFFFFF"/>
                </a:highlight>
                <a:latin typeface="Arial" panose="020B0604020202020204" pitchFamily="34" charset="0"/>
              </a:rPr>
              <a:t>int[] a=new int[];//</a:t>
            </a:r>
            <a:r>
              <a:rPr lang="en-IN" dirty="0" err="1">
                <a:effectLst/>
                <a:highlight>
                  <a:srgbClr val="FFFFFF"/>
                </a:highlight>
                <a:latin typeface="Arial" panose="020B0604020202020204" pitchFamily="34" charset="0"/>
              </a:rPr>
              <a:t>C.E:array</a:t>
            </a:r>
            <a:r>
              <a:rPr lang="en-IN" dirty="0">
                <a:effectLst/>
                <a:highlight>
                  <a:srgbClr val="FFFFFF"/>
                </a:highlight>
                <a:latin typeface="Arial" panose="020B0604020202020204" pitchFamily="34" charset="0"/>
              </a:rPr>
              <a:t> dimension missing</a:t>
            </a:r>
          </a:p>
          <a:p>
            <a:endParaRPr lang="en-IN" dirty="0">
              <a:effectLst/>
              <a:highlight>
                <a:srgbClr val="FFFFFF"/>
              </a:highlight>
            </a:endParaRPr>
          </a:p>
          <a:p>
            <a:pPr algn="l" rtl="0"/>
            <a:r>
              <a:rPr lang="en-IN" dirty="0">
                <a:effectLst/>
                <a:highlight>
                  <a:srgbClr val="FFFFFF"/>
                </a:highlight>
                <a:latin typeface="Arial" panose="020B0604020202020204" pitchFamily="34" charset="0"/>
              </a:rPr>
              <a:t>Rule 2:</a:t>
            </a:r>
            <a:r>
              <a:rPr lang="en-IN" dirty="0">
                <a:highlight>
                  <a:srgbClr val="FFFFFF"/>
                </a:highlight>
                <a:latin typeface="Arial" panose="020B0604020202020204" pitchFamily="34" charset="0"/>
              </a:rPr>
              <a:t> </a:t>
            </a:r>
            <a:r>
              <a:rPr lang="en-IN" dirty="0">
                <a:effectLst/>
                <a:highlight>
                  <a:srgbClr val="FFFFFF"/>
                </a:highlight>
                <a:latin typeface="Arial" panose="020B0604020202020204" pitchFamily="34" charset="0"/>
              </a:rPr>
              <a:t>It is legal to have an array with size zero in java.</a:t>
            </a:r>
            <a:endParaRPr lang="en-IN" dirty="0">
              <a:effectLst/>
              <a:highlight>
                <a:srgbClr val="FFFFFF"/>
              </a:highlight>
            </a:endParaRPr>
          </a:p>
          <a:p>
            <a:pPr algn="l" rtl="0"/>
            <a:r>
              <a:rPr lang="en-IN" dirty="0">
                <a:effectLst/>
                <a:highlight>
                  <a:srgbClr val="FFFFFF"/>
                </a:highlight>
                <a:latin typeface="Arial" panose="020B0604020202020204" pitchFamily="34" charset="0"/>
              </a:rPr>
              <a:t>Example:</a:t>
            </a:r>
            <a:br>
              <a:rPr lang="en-IN" dirty="0">
                <a:effectLst/>
                <a:highlight>
                  <a:srgbClr val="FFFFFF"/>
                </a:highlight>
              </a:rPr>
            </a:br>
            <a:r>
              <a:rPr lang="en-IN" dirty="0">
                <a:effectLst/>
                <a:highlight>
                  <a:srgbClr val="FFFFFF"/>
                </a:highlight>
                <a:latin typeface="Arial" panose="020B0604020202020204" pitchFamily="34" charset="0"/>
              </a:rPr>
              <a:t>int[] a=new int[0];</a:t>
            </a:r>
            <a:br>
              <a:rPr lang="en-IN" dirty="0">
                <a:effectLst/>
                <a:highlight>
                  <a:srgbClr val="FFFFFF"/>
                </a:highlight>
              </a:rPr>
            </a:br>
            <a:r>
              <a:rPr lang="en-IN" dirty="0" err="1">
                <a:effectLst/>
                <a:highlight>
                  <a:srgbClr val="FFFFFF"/>
                </a:highlight>
                <a:latin typeface="Arial" panose="020B0604020202020204" pitchFamily="34" charset="0"/>
              </a:rPr>
              <a:t>System.out.println</a:t>
            </a:r>
            <a:r>
              <a:rPr lang="en-IN" dirty="0">
                <a:effectLst/>
                <a:highlight>
                  <a:srgbClr val="FFFFFF"/>
                </a:highlight>
                <a:latin typeface="Arial" panose="020B0604020202020204" pitchFamily="34" charset="0"/>
              </a:rPr>
              <a:t>(</a:t>
            </a:r>
            <a:r>
              <a:rPr lang="en-IN" dirty="0" err="1">
                <a:effectLst/>
                <a:highlight>
                  <a:srgbClr val="FFFFFF"/>
                </a:highlight>
                <a:latin typeface="Arial" panose="020B0604020202020204" pitchFamily="34" charset="0"/>
              </a:rPr>
              <a:t>a.length</a:t>
            </a:r>
            <a:r>
              <a:rPr lang="en-IN" dirty="0">
                <a:effectLst/>
                <a:highlight>
                  <a:srgbClr val="FFFFFF"/>
                </a:highlight>
                <a:latin typeface="Arial" panose="020B0604020202020204" pitchFamily="34" charset="0"/>
              </a:rPr>
              <a:t>);//0</a:t>
            </a:r>
            <a:br>
              <a:rPr lang="en-IN" dirty="0">
                <a:effectLst/>
                <a:highlight>
                  <a:srgbClr val="FFFFFF"/>
                </a:highlight>
              </a:rPr>
            </a:br>
            <a:endParaRPr lang="en-US" dirty="0"/>
          </a:p>
        </p:txBody>
      </p:sp>
      <p:sp>
        <p:nvSpPr>
          <p:cNvPr id="5" name="Footer Placeholder 4">
            <a:extLst>
              <a:ext uri="{FF2B5EF4-FFF2-40B4-BE49-F238E27FC236}">
                <a16:creationId xmlns:a16="http://schemas.microsoft.com/office/drawing/2014/main" id="{BB6DE95B-6D76-334C-3DDA-5F880AA9AE39}"/>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4210319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A7F8B3-4409-69D3-17AE-C3C4F5E6174D}"/>
              </a:ext>
            </a:extLst>
          </p:cNvPr>
          <p:cNvSpPr>
            <a:spLocks noGrp="1"/>
          </p:cNvSpPr>
          <p:nvPr>
            <p:ph idx="1"/>
          </p:nvPr>
        </p:nvSpPr>
        <p:spPr>
          <a:xfrm>
            <a:off x="838200" y="265043"/>
            <a:ext cx="10515600" cy="5911920"/>
          </a:xfrm>
        </p:spPr>
        <p:txBody>
          <a:bodyPr>
            <a:normAutofit fontScale="70000" lnSpcReduction="20000"/>
          </a:bodyPr>
          <a:lstStyle/>
          <a:p>
            <a:pPr algn="l" rtl="0"/>
            <a:r>
              <a:rPr lang="en-IN" dirty="0">
                <a:effectLst/>
                <a:highlight>
                  <a:srgbClr val="FFFFFF"/>
                </a:highlight>
                <a:latin typeface="Arial" panose="020B0604020202020204" pitchFamily="34" charset="0"/>
              </a:rPr>
              <a:t>Rule 3:</a:t>
            </a:r>
            <a:r>
              <a:rPr lang="en-IN" dirty="0">
                <a:effectLst/>
                <a:highlight>
                  <a:srgbClr val="FFFFFF"/>
                </a:highlight>
                <a:latin typeface="Times New Roman" panose="02020603050405020304" pitchFamily="18" charset="0"/>
              </a:rPr>
              <a:t> </a:t>
            </a:r>
            <a:r>
              <a:rPr lang="en-IN" dirty="0">
                <a:effectLst/>
                <a:highlight>
                  <a:srgbClr val="FFFFFF"/>
                </a:highlight>
                <a:latin typeface="Arial" panose="020B0604020202020204" pitchFamily="34" charset="0"/>
              </a:rPr>
              <a:t>If we are taking array size with -</a:t>
            </a:r>
            <a:r>
              <a:rPr lang="en-IN" dirty="0" err="1">
                <a:effectLst/>
                <a:highlight>
                  <a:srgbClr val="FFFFFF"/>
                </a:highlight>
                <a:latin typeface="Arial" panose="020B0604020202020204" pitchFamily="34" charset="0"/>
              </a:rPr>
              <a:t>ve</a:t>
            </a:r>
            <a:r>
              <a:rPr lang="en-IN" dirty="0">
                <a:effectLst/>
                <a:highlight>
                  <a:srgbClr val="FFFFFF"/>
                </a:highlight>
                <a:latin typeface="Arial" panose="020B0604020202020204" pitchFamily="34" charset="0"/>
              </a:rPr>
              <a:t> int value then we will get runtime exception saying</a:t>
            </a:r>
            <a:br>
              <a:rPr lang="en-IN" dirty="0">
                <a:effectLst/>
                <a:highlight>
                  <a:srgbClr val="FFFFFF"/>
                </a:highlight>
              </a:rPr>
            </a:br>
            <a:r>
              <a:rPr lang="en-IN" dirty="0" err="1">
                <a:effectLst/>
                <a:highlight>
                  <a:srgbClr val="FFFFFF"/>
                </a:highlight>
                <a:latin typeface="Arial" panose="020B0604020202020204" pitchFamily="34" charset="0"/>
              </a:rPr>
              <a:t>NegativeArraySizeException</a:t>
            </a:r>
            <a:r>
              <a:rPr lang="en-IN" dirty="0">
                <a:effectLst/>
                <a:highlight>
                  <a:srgbClr val="FFFFFF"/>
                </a:highlight>
                <a:latin typeface="Arial" panose="020B0604020202020204" pitchFamily="34" charset="0"/>
              </a:rPr>
              <a:t>.</a:t>
            </a:r>
            <a:br>
              <a:rPr lang="en-IN" dirty="0">
                <a:effectLst/>
                <a:highlight>
                  <a:srgbClr val="FFFFFF"/>
                </a:highlight>
              </a:rPr>
            </a:br>
            <a:endParaRPr lang="en-IN" dirty="0">
              <a:effectLst/>
              <a:highlight>
                <a:srgbClr val="FFFFFF"/>
              </a:highlight>
            </a:endParaRPr>
          </a:p>
          <a:p>
            <a:pPr algn="l" rtl="0"/>
            <a:r>
              <a:rPr lang="en-IN" dirty="0">
                <a:effectLst/>
                <a:highlight>
                  <a:srgbClr val="FFFFFF"/>
                </a:highlight>
                <a:latin typeface="Arial" panose="020B0604020202020204" pitchFamily="34" charset="0"/>
              </a:rPr>
              <a:t>Example:</a:t>
            </a:r>
            <a:br>
              <a:rPr lang="en-IN" dirty="0">
                <a:effectLst/>
                <a:highlight>
                  <a:srgbClr val="FFFFFF"/>
                </a:highlight>
              </a:rPr>
            </a:br>
            <a:r>
              <a:rPr lang="en-IN" dirty="0">
                <a:effectLst/>
                <a:highlight>
                  <a:srgbClr val="FFFFFF"/>
                </a:highlight>
                <a:latin typeface="Arial" panose="020B0604020202020204" pitchFamily="34" charset="0"/>
              </a:rPr>
              <a:t>int[] a=new int[-3];//</a:t>
            </a:r>
            <a:r>
              <a:rPr lang="en-IN" dirty="0" err="1">
                <a:effectLst/>
                <a:highlight>
                  <a:srgbClr val="FFFFFF"/>
                </a:highlight>
                <a:latin typeface="Arial" panose="020B0604020202020204" pitchFamily="34" charset="0"/>
              </a:rPr>
              <a:t>R.E:NegativeArraySizeException</a:t>
            </a:r>
            <a:br>
              <a:rPr lang="en-IN" dirty="0">
                <a:effectLst/>
                <a:highlight>
                  <a:srgbClr val="FFFFFF"/>
                </a:highlight>
              </a:rPr>
            </a:br>
            <a:endParaRPr lang="en-IN" dirty="0">
              <a:effectLst/>
              <a:highlight>
                <a:srgbClr val="FFFFFF"/>
              </a:highlight>
            </a:endParaRPr>
          </a:p>
          <a:p>
            <a:pPr algn="l" rtl="0"/>
            <a:r>
              <a:rPr lang="en-IN" dirty="0">
                <a:effectLst/>
                <a:highlight>
                  <a:srgbClr val="FFFFFF"/>
                </a:highlight>
                <a:latin typeface="Arial" panose="020B0604020202020204" pitchFamily="34" charset="0"/>
              </a:rPr>
              <a:t>Rule 4: The allowed data types to specify array size are byte, short, char, int. By mistake if we</a:t>
            </a:r>
            <a:r>
              <a:rPr lang="en-IN" dirty="0">
                <a:highlight>
                  <a:srgbClr val="FFFFFF"/>
                </a:highlight>
                <a:latin typeface="Arial" panose="020B0604020202020204" pitchFamily="34" charset="0"/>
              </a:rPr>
              <a:t> </a:t>
            </a:r>
            <a:r>
              <a:rPr lang="en-IN" dirty="0">
                <a:effectLst/>
                <a:highlight>
                  <a:srgbClr val="FFFFFF"/>
                </a:highlight>
                <a:latin typeface="Arial" panose="020B0604020202020204" pitchFamily="34" charset="0"/>
              </a:rPr>
              <a:t>are using any other type we will get compile time error.</a:t>
            </a:r>
            <a:endParaRPr lang="en-IN" dirty="0">
              <a:effectLst/>
              <a:highlight>
                <a:srgbClr val="FFFFFF"/>
              </a:highlight>
            </a:endParaRPr>
          </a:p>
          <a:p>
            <a:pPr algn="l" rtl="0"/>
            <a:r>
              <a:rPr lang="en-IN" dirty="0">
                <a:effectLst/>
                <a:highlight>
                  <a:srgbClr val="FFFFFF"/>
                </a:highlight>
                <a:latin typeface="Arial" panose="020B0604020202020204" pitchFamily="34" charset="0"/>
              </a:rPr>
              <a:t>Example:</a:t>
            </a:r>
            <a:br>
              <a:rPr lang="en-IN" dirty="0">
                <a:effectLst/>
                <a:highlight>
                  <a:srgbClr val="FFFFFF"/>
                </a:highlight>
              </a:rPr>
            </a:br>
            <a:r>
              <a:rPr lang="en-IN" dirty="0">
                <a:effectLst/>
                <a:highlight>
                  <a:srgbClr val="FFFFFF"/>
                </a:highlight>
                <a:latin typeface="Arial" panose="020B0604020202020204" pitchFamily="34" charset="0"/>
              </a:rPr>
              <a:t>int[] a=new int['a'];//(valid)</a:t>
            </a:r>
          </a:p>
          <a:p>
            <a:pPr marL="0" indent="0" algn="l" rtl="0">
              <a:buNone/>
            </a:pPr>
            <a:r>
              <a:rPr lang="en-IN" b="0" i="0" dirty="0">
                <a:effectLst/>
                <a:highlight>
                  <a:srgbClr val="FFFFFF"/>
                </a:highlight>
                <a:latin typeface="Arial" panose="020B0604020202020204" pitchFamily="34" charset="0"/>
              </a:rPr>
              <a:t>   byte b=10;</a:t>
            </a:r>
            <a:br>
              <a:rPr lang="en-IN" dirty="0"/>
            </a:br>
            <a:r>
              <a:rPr lang="en-IN" dirty="0"/>
              <a:t>    </a:t>
            </a:r>
            <a:r>
              <a:rPr lang="en-IN" b="0" i="0" dirty="0">
                <a:effectLst/>
                <a:highlight>
                  <a:srgbClr val="FFFFFF"/>
                </a:highlight>
                <a:latin typeface="Arial" panose="020B0604020202020204" pitchFamily="34" charset="0"/>
              </a:rPr>
              <a:t>int[] a=new int[b];//(valid)</a:t>
            </a:r>
            <a:br>
              <a:rPr lang="en-IN" dirty="0"/>
            </a:br>
            <a:r>
              <a:rPr lang="en-IN" dirty="0"/>
              <a:t>    </a:t>
            </a:r>
            <a:r>
              <a:rPr lang="en-IN" b="0" i="0" dirty="0">
                <a:effectLst/>
                <a:highlight>
                  <a:srgbClr val="FFFFFF"/>
                </a:highlight>
                <a:latin typeface="Arial" panose="020B0604020202020204" pitchFamily="34" charset="0"/>
              </a:rPr>
              <a:t>short s=20;</a:t>
            </a:r>
            <a:br>
              <a:rPr lang="en-IN" dirty="0"/>
            </a:br>
            <a:r>
              <a:rPr lang="en-IN" dirty="0"/>
              <a:t>    </a:t>
            </a:r>
            <a:r>
              <a:rPr lang="en-IN" b="0" i="0" dirty="0">
                <a:effectLst/>
                <a:highlight>
                  <a:srgbClr val="FFFFFF"/>
                </a:highlight>
                <a:latin typeface="Arial" panose="020B0604020202020204" pitchFamily="34" charset="0"/>
              </a:rPr>
              <a:t>int[] a=new int[s];//(valid)</a:t>
            </a:r>
            <a:br>
              <a:rPr lang="en-IN" dirty="0"/>
            </a:br>
            <a:r>
              <a:rPr lang="en-IN" dirty="0"/>
              <a:t>    </a:t>
            </a:r>
            <a:r>
              <a:rPr lang="en-IN" b="0" i="0" dirty="0">
                <a:effectLst/>
                <a:highlight>
                  <a:srgbClr val="FFFFFF"/>
                </a:highlight>
                <a:latin typeface="Arial" panose="020B0604020202020204" pitchFamily="34" charset="0"/>
              </a:rPr>
              <a:t>int[] a=new int[10l];//</a:t>
            </a:r>
            <a:r>
              <a:rPr lang="en-IN" b="0" i="0" dirty="0" err="1">
                <a:effectLst/>
                <a:highlight>
                  <a:srgbClr val="FFFFFF"/>
                </a:highlight>
                <a:latin typeface="Arial" panose="020B0604020202020204" pitchFamily="34" charset="0"/>
              </a:rPr>
              <a:t>C.E:possible</a:t>
            </a:r>
            <a:r>
              <a:rPr lang="en-IN" b="0" i="0" dirty="0">
                <a:effectLst/>
                <a:highlight>
                  <a:srgbClr val="FFFFFF"/>
                </a:highlight>
                <a:latin typeface="Arial" panose="020B0604020202020204" pitchFamily="34" charset="0"/>
              </a:rPr>
              <a:t> loss of precision//(invalid)</a:t>
            </a:r>
            <a:br>
              <a:rPr lang="en-IN" dirty="0"/>
            </a:br>
            <a:r>
              <a:rPr lang="en-IN" dirty="0"/>
              <a:t>    </a:t>
            </a:r>
            <a:r>
              <a:rPr lang="en-IN" b="0" i="0" dirty="0">
                <a:effectLst/>
                <a:highlight>
                  <a:srgbClr val="FFFFFF"/>
                </a:highlight>
                <a:latin typeface="Arial" panose="020B0604020202020204" pitchFamily="34" charset="0"/>
              </a:rPr>
              <a:t>int[] a=new int[10.5];//</a:t>
            </a:r>
            <a:r>
              <a:rPr lang="en-IN" b="0" i="0" dirty="0" err="1">
                <a:effectLst/>
                <a:highlight>
                  <a:srgbClr val="FFFFFF"/>
                </a:highlight>
                <a:latin typeface="Arial" panose="020B0604020202020204" pitchFamily="34" charset="0"/>
              </a:rPr>
              <a:t>C.E:possible</a:t>
            </a:r>
            <a:r>
              <a:rPr lang="en-IN" b="0" i="0" dirty="0">
                <a:effectLst/>
                <a:highlight>
                  <a:srgbClr val="FFFFFF"/>
                </a:highlight>
                <a:latin typeface="Arial" panose="020B0604020202020204" pitchFamily="34" charset="0"/>
              </a:rPr>
              <a:t> loss of precision//(invalid)</a:t>
            </a:r>
          </a:p>
          <a:p>
            <a:pPr marL="0" indent="0" algn="l" rtl="0">
              <a:buNone/>
            </a:pPr>
            <a:endParaRPr lang="en-IN" dirty="0">
              <a:solidFill>
                <a:srgbClr val="000000"/>
              </a:solidFill>
              <a:highlight>
                <a:srgbClr val="FFFFFF"/>
              </a:highlight>
              <a:latin typeface="Arial" panose="020B0604020202020204" pitchFamily="34" charset="0"/>
            </a:endParaRPr>
          </a:p>
          <a:p>
            <a:r>
              <a:rPr lang="en-IN" dirty="0">
                <a:effectLst/>
                <a:highlight>
                  <a:srgbClr val="FFFFFF"/>
                </a:highlight>
                <a:latin typeface="Arial" panose="020B0604020202020204" pitchFamily="34" charset="0"/>
              </a:rPr>
              <a:t>Rule 5:</a:t>
            </a:r>
            <a:r>
              <a:rPr lang="en-IN" dirty="0">
                <a:highlight>
                  <a:srgbClr val="FFFFFF"/>
                </a:highlight>
                <a:latin typeface="Arial" panose="020B0604020202020204" pitchFamily="34" charset="0"/>
              </a:rPr>
              <a:t> </a:t>
            </a:r>
            <a:r>
              <a:rPr lang="en-IN" dirty="0">
                <a:effectLst/>
                <a:highlight>
                  <a:srgbClr val="FFFFFF"/>
                </a:highlight>
                <a:latin typeface="Arial" panose="020B0604020202020204" pitchFamily="34" charset="0"/>
              </a:rPr>
              <a:t>The maximum allowed array size in java is maximum value of int size [2147483647].</a:t>
            </a:r>
            <a:br>
              <a:rPr lang="en-IN" dirty="0">
                <a:effectLst/>
                <a:highlight>
                  <a:srgbClr val="FFFFFF"/>
                </a:highlight>
              </a:rPr>
            </a:br>
            <a:r>
              <a:rPr lang="en-IN" dirty="0">
                <a:effectLst/>
                <a:highlight>
                  <a:srgbClr val="FFFFFF"/>
                </a:highlight>
                <a:latin typeface="Arial" panose="020B0604020202020204" pitchFamily="34" charset="0"/>
              </a:rPr>
              <a:t>Example:</a:t>
            </a:r>
            <a:br>
              <a:rPr lang="en-IN" dirty="0">
                <a:effectLst/>
                <a:highlight>
                  <a:srgbClr val="FFFFFF"/>
                </a:highlight>
              </a:rPr>
            </a:br>
            <a:r>
              <a:rPr lang="en-IN" dirty="0">
                <a:effectLst/>
                <a:highlight>
                  <a:srgbClr val="FFFFFF"/>
                </a:highlight>
                <a:latin typeface="Arial" panose="020B0604020202020204" pitchFamily="34" charset="0"/>
              </a:rPr>
              <a:t>int[] a1=new int[2147483647];(valid)</a:t>
            </a:r>
            <a:br>
              <a:rPr lang="en-IN" dirty="0">
                <a:effectLst/>
                <a:highlight>
                  <a:srgbClr val="FFFFFF"/>
                </a:highlight>
              </a:rPr>
            </a:br>
            <a:r>
              <a:rPr lang="en-IN" dirty="0">
                <a:effectLst/>
                <a:highlight>
                  <a:srgbClr val="FFFFFF"/>
                </a:highlight>
                <a:latin typeface="Arial" panose="020B0604020202020204" pitchFamily="34" charset="0"/>
              </a:rPr>
              <a:t>int[] a2=new int[2147483648];//</a:t>
            </a:r>
            <a:r>
              <a:rPr lang="en-IN" dirty="0" err="1">
                <a:effectLst/>
                <a:highlight>
                  <a:srgbClr val="FFFFFF"/>
                </a:highlight>
                <a:latin typeface="Arial" panose="020B0604020202020204" pitchFamily="34" charset="0"/>
              </a:rPr>
              <a:t>C.E:integer</a:t>
            </a:r>
            <a:r>
              <a:rPr lang="en-IN" dirty="0">
                <a:effectLst/>
                <a:highlight>
                  <a:srgbClr val="FFFFFF"/>
                </a:highlight>
                <a:latin typeface="Arial" panose="020B0604020202020204" pitchFamily="34" charset="0"/>
              </a:rPr>
              <a:t> number too large: 2147483648(invalid)</a:t>
            </a:r>
            <a:endParaRPr lang="en-IN" b="0" i="0" dirty="0">
              <a:solidFill>
                <a:srgbClr val="000000"/>
              </a:solidFill>
              <a:effectLst/>
              <a:highlight>
                <a:srgbClr val="FFFFFF"/>
              </a:highlight>
              <a:latin typeface="Arial" panose="020B0604020202020204" pitchFamily="34" charset="0"/>
            </a:endParaRPr>
          </a:p>
        </p:txBody>
      </p:sp>
      <p:sp>
        <p:nvSpPr>
          <p:cNvPr id="4" name="Footer Placeholder 3">
            <a:extLst>
              <a:ext uri="{FF2B5EF4-FFF2-40B4-BE49-F238E27FC236}">
                <a16:creationId xmlns:a16="http://schemas.microsoft.com/office/drawing/2014/main" id="{16AEC7B5-FB3E-3BD0-DD2D-B51C4F853C22}"/>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302281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0C072-E177-98BE-A60C-9A53F26D0CC6}"/>
              </a:ext>
            </a:extLst>
          </p:cNvPr>
          <p:cNvSpPr>
            <a:spLocks noGrp="1"/>
          </p:cNvSpPr>
          <p:nvPr>
            <p:ph idx="1"/>
          </p:nvPr>
        </p:nvSpPr>
        <p:spPr>
          <a:xfrm>
            <a:off x="838200" y="291548"/>
            <a:ext cx="10515600" cy="5885415"/>
          </a:xfrm>
        </p:spPr>
        <p:txBody>
          <a:bodyPr>
            <a:normAutofit fontScale="85000" lnSpcReduction="20000"/>
          </a:bodyPr>
          <a:lstStyle/>
          <a:p>
            <a:pPr algn="l" rtl="0"/>
            <a:r>
              <a:rPr lang="en-IN" b="1" dirty="0">
                <a:effectLst/>
                <a:highlight>
                  <a:srgbClr val="FFFFFF"/>
                </a:highlight>
                <a:latin typeface="Arial" panose="020B0604020202020204" pitchFamily="34" charset="0"/>
              </a:rPr>
              <a:t>Two dimensional array creation:</a:t>
            </a:r>
            <a:br>
              <a:rPr lang="en-IN" b="1" dirty="0">
                <a:effectLst/>
                <a:highlight>
                  <a:srgbClr val="FFFFFF"/>
                </a:highlight>
              </a:rPr>
            </a:br>
            <a:endParaRPr lang="en-IN" b="1" dirty="0">
              <a:highlight>
                <a:srgbClr val="FFFFFF"/>
              </a:highlight>
              <a:latin typeface="Times New Roman" panose="02020603050405020304" pitchFamily="18" charset="0"/>
            </a:endParaRPr>
          </a:p>
          <a:p>
            <a:pPr algn="l" rtl="0"/>
            <a:r>
              <a:rPr lang="en-IN" dirty="0">
                <a:effectLst/>
                <a:highlight>
                  <a:srgbClr val="FFFFFF"/>
                </a:highlight>
                <a:latin typeface="Arial" panose="020B0604020202020204" pitchFamily="34" charset="0"/>
              </a:rPr>
              <a:t>In java multidimensional arrays are implemented as array of arrays approach but not</a:t>
            </a:r>
            <a:br>
              <a:rPr lang="en-IN" dirty="0">
                <a:effectLst/>
                <a:highlight>
                  <a:srgbClr val="FFFFFF"/>
                </a:highlight>
              </a:rPr>
            </a:br>
            <a:r>
              <a:rPr lang="en-IN" dirty="0">
                <a:effectLst/>
                <a:highlight>
                  <a:srgbClr val="FFFFFF"/>
                </a:highlight>
                <a:latin typeface="Arial" panose="020B0604020202020204" pitchFamily="34" charset="0"/>
              </a:rPr>
              <a:t>matrix form.</a:t>
            </a:r>
            <a:br>
              <a:rPr lang="en-IN" dirty="0">
                <a:effectLst/>
                <a:highlight>
                  <a:srgbClr val="FFFFFF"/>
                </a:highlight>
              </a:rPr>
            </a:br>
            <a:r>
              <a:rPr lang="en-IN" dirty="0">
                <a:effectLst/>
                <a:highlight>
                  <a:srgbClr val="FFFFFF"/>
                </a:highlight>
                <a:latin typeface="Arial" panose="020B0604020202020204" pitchFamily="34" charset="0"/>
              </a:rPr>
              <a:t>The main advantage of this approach is to improve memory utilization.</a:t>
            </a:r>
            <a:br>
              <a:rPr lang="en-IN" dirty="0">
                <a:effectLst/>
                <a:highlight>
                  <a:srgbClr val="FFFFFF"/>
                </a:highlight>
              </a:rPr>
            </a:br>
            <a:r>
              <a:rPr lang="en-IN" dirty="0">
                <a:effectLst/>
                <a:highlight>
                  <a:srgbClr val="FFFFFF"/>
                </a:highlight>
                <a:latin typeface="Arial" panose="020B0604020202020204" pitchFamily="34" charset="0"/>
              </a:rPr>
              <a:t>Example 1:</a:t>
            </a:r>
            <a:br>
              <a:rPr lang="en-IN" dirty="0">
                <a:effectLst/>
                <a:highlight>
                  <a:srgbClr val="FFFFFF"/>
                </a:highlight>
              </a:rPr>
            </a:br>
            <a:r>
              <a:rPr lang="en-IN" dirty="0">
                <a:effectLst/>
                <a:highlight>
                  <a:srgbClr val="FFFFFF"/>
                </a:highlight>
                <a:latin typeface="Arial" panose="020B0604020202020204" pitchFamily="34" charset="0"/>
              </a:rPr>
              <a:t>int[][] a=new int[2][];</a:t>
            </a:r>
            <a:br>
              <a:rPr lang="en-IN" dirty="0">
                <a:effectLst/>
                <a:highlight>
                  <a:srgbClr val="FFFFFF"/>
                </a:highlight>
              </a:rPr>
            </a:br>
            <a:r>
              <a:rPr lang="en-IN" dirty="0">
                <a:effectLst/>
                <a:highlight>
                  <a:srgbClr val="FFFFFF"/>
                </a:highlight>
                <a:latin typeface="Arial" panose="020B0604020202020204" pitchFamily="34" charset="0"/>
              </a:rPr>
              <a:t>a[0]=new int[3];</a:t>
            </a:r>
            <a:br>
              <a:rPr lang="en-IN" dirty="0">
                <a:effectLst/>
                <a:highlight>
                  <a:srgbClr val="FFFFFF"/>
                </a:highlight>
              </a:rPr>
            </a:br>
            <a:r>
              <a:rPr lang="en-IN" dirty="0">
                <a:effectLst/>
                <a:highlight>
                  <a:srgbClr val="FFFFFF"/>
                </a:highlight>
                <a:latin typeface="Arial" panose="020B0604020202020204" pitchFamily="34" charset="0"/>
              </a:rPr>
              <a:t>a[1]=new int[2];</a:t>
            </a:r>
            <a:br>
              <a:rPr lang="en-IN" dirty="0">
                <a:effectLst/>
                <a:highlight>
                  <a:srgbClr val="FFFFFF"/>
                </a:highlight>
              </a:rPr>
            </a:br>
            <a:br>
              <a:rPr lang="en-IN" dirty="0">
                <a:effectLst/>
                <a:highlight>
                  <a:srgbClr val="FFFFFF"/>
                </a:highlight>
              </a:rPr>
            </a:br>
            <a:r>
              <a:rPr lang="en-IN" dirty="0">
                <a:effectLst/>
                <a:highlight>
                  <a:srgbClr val="FFFFFF"/>
                </a:highlight>
                <a:latin typeface="Arial" panose="020B0604020202020204" pitchFamily="34" charset="0"/>
              </a:rPr>
              <a:t>Example 2:</a:t>
            </a:r>
            <a:br>
              <a:rPr lang="en-IN" dirty="0">
                <a:effectLst/>
                <a:highlight>
                  <a:srgbClr val="FFFFFF"/>
                </a:highlight>
              </a:rPr>
            </a:br>
            <a:r>
              <a:rPr lang="en-IN" dirty="0">
                <a:effectLst/>
                <a:highlight>
                  <a:srgbClr val="FFFFFF"/>
                </a:highlight>
                <a:latin typeface="Arial" panose="020B0604020202020204" pitchFamily="34" charset="0"/>
              </a:rPr>
              <a:t>int[][][] a=new int[2][][];</a:t>
            </a:r>
            <a:br>
              <a:rPr lang="en-IN" dirty="0">
                <a:effectLst/>
                <a:highlight>
                  <a:srgbClr val="FFFFFF"/>
                </a:highlight>
              </a:rPr>
            </a:br>
            <a:r>
              <a:rPr lang="en-IN" dirty="0">
                <a:effectLst/>
                <a:highlight>
                  <a:srgbClr val="FFFFFF"/>
                </a:highlight>
                <a:latin typeface="Arial" panose="020B0604020202020204" pitchFamily="34" charset="0"/>
              </a:rPr>
              <a:t>a[0]=new int[3][];</a:t>
            </a:r>
            <a:br>
              <a:rPr lang="en-IN" dirty="0">
                <a:effectLst/>
                <a:highlight>
                  <a:srgbClr val="FFFFFF"/>
                </a:highlight>
              </a:rPr>
            </a:br>
            <a:r>
              <a:rPr lang="en-IN" dirty="0">
                <a:effectLst/>
                <a:highlight>
                  <a:srgbClr val="FFFFFF"/>
                </a:highlight>
                <a:latin typeface="Arial" panose="020B0604020202020204" pitchFamily="34" charset="0"/>
              </a:rPr>
              <a:t>a[0][0]=new int[1];</a:t>
            </a:r>
            <a:br>
              <a:rPr lang="en-IN" dirty="0">
                <a:effectLst/>
                <a:highlight>
                  <a:srgbClr val="FFFFFF"/>
                </a:highlight>
              </a:rPr>
            </a:br>
            <a:r>
              <a:rPr lang="en-IN" dirty="0">
                <a:effectLst/>
                <a:highlight>
                  <a:srgbClr val="FFFFFF"/>
                </a:highlight>
                <a:latin typeface="Arial" panose="020B0604020202020204" pitchFamily="34" charset="0"/>
              </a:rPr>
              <a:t>a[0][1]=new int[2];</a:t>
            </a:r>
            <a:br>
              <a:rPr lang="en-IN" dirty="0">
                <a:effectLst/>
                <a:highlight>
                  <a:srgbClr val="FFFFFF"/>
                </a:highlight>
              </a:rPr>
            </a:br>
            <a:r>
              <a:rPr lang="en-IN" dirty="0">
                <a:effectLst/>
                <a:highlight>
                  <a:srgbClr val="FFFFFF"/>
                </a:highlight>
                <a:latin typeface="Arial" panose="020B0604020202020204" pitchFamily="34" charset="0"/>
              </a:rPr>
              <a:t>a[0][2]=new int[3];</a:t>
            </a:r>
            <a:br>
              <a:rPr lang="en-IN" dirty="0">
                <a:effectLst/>
                <a:highlight>
                  <a:srgbClr val="FFFFFF"/>
                </a:highlight>
              </a:rPr>
            </a:br>
            <a:r>
              <a:rPr lang="en-IN" dirty="0">
                <a:effectLst/>
                <a:highlight>
                  <a:srgbClr val="FFFFFF"/>
                </a:highlight>
                <a:latin typeface="Arial" panose="020B0604020202020204" pitchFamily="34" charset="0"/>
              </a:rPr>
              <a:t>a[1]=new int[2][2];</a:t>
            </a:r>
            <a:endParaRPr lang="en-IN" dirty="0">
              <a:effectLst/>
              <a:highlight>
                <a:srgbClr val="FFFFFF"/>
              </a:highlight>
            </a:endParaRPr>
          </a:p>
          <a:p>
            <a:pPr algn="l" rtl="0"/>
            <a:br>
              <a:rPr lang="en-IN" b="0" i="0" dirty="0">
                <a:solidFill>
                  <a:srgbClr val="000000"/>
                </a:solidFill>
                <a:effectLst/>
                <a:highlight>
                  <a:srgbClr val="FFFFFF"/>
                </a:highlight>
                <a:latin typeface="Arial" panose="020B0604020202020204" pitchFamily="34" charset="0"/>
              </a:rPr>
            </a:br>
            <a:endParaRPr lang="en-IN" b="0" i="0" dirty="0">
              <a:solidFill>
                <a:srgbClr val="000000"/>
              </a:solidFill>
              <a:effectLst/>
              <a:highlight>
                <a:srgbClr val="FFFFFF"/>
              </a:highlight>
              <a:latin typeface="Arial" panose="020B0604020202020204" pitchFamily="34" charset="0"/>
            </a:endParaRPr>
          </a:p>
          <a:p>
            <a:endParaRPr lang="en-US" dirty="0"/>
          </a:p>
        </p:txBody>
      </p:sp>
      <p:sp>
        <p:nvSpPr>
          <p:cNvPr id="4" name="Footer Placeholder 3">
            <a:extLst>
              <a:ext uri="{FF2B5EF4-FFF2-40B4-BE49-F238E27FC236}">
                <a16:creationId xmlns:a16="http://schemas.microsoft.com/office/drawing/2014/main" id="{D2E97B0C-E011-5BC8-8B94-46F7FE24A2F9}"/>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523744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403FDF-420E-096A-BE61-FA4387E48548}"/>
              </a:ext>
            </a:extLst>
          </p:cNvPr>
          <p:cNvSpPr>
            <a:spLocks noGrp="1"/>
          </p:cNvSpPr>
          <p:nvPr>
            <p:ph idx="1"/>
          </p:nvPr>
        </p:nvSpPr>
        <p:spPr>
          <a:xfrm>
            <a:off x="838200" y="284205"/>
            <a:ext cx="10515600" cy="5892758"/>
          </a:xfrm>
        </p:spPr>
        <p:txBody>
          <a:bodyPr>
            <a:normAutofit fontScale="92500" lnSpcReduction="20000"/>
          </a:bodyPr>
          <a:lstStyle/>
          <a:p>
            <a:r>
              <a:rPr lang="en-IN" b="0" i="0" dirty="0">
                <a:effectLst/>
                <a:latin typeface="Arial" panose="020B0604020202020204" pitchFamily="34" charset="0"/>
              </a:rPr>
              <a:t>Array initialization: Whenever we are creating an array every element is initialized with default value automatically.</a:t>
            </a:r>
            <a:br>
              <a:rPr lang="en-IN" dirty="0"/>
            </a:br>
            <a:endParaRPr lang="en-IN" dirty="0"/>
          </a:p>
          <a:p>
            <a:r>
              <a:rPr lang="en-IN" b="0" i="0" dirty="0">
                <a:effectLst/>
                <a:latin typeface="Arial" panose="020B0604020202020204" pitchFamily="34" charset="0"/>
              </a:rPr>
              <a:t>Example 1:</a:t>
            </a:r>
            <a:br>
              <a:rPr lang="en-IN" dirty="0"/>
            </a:br>
            <a:r>
              <a:rPr lang="en-IN" b="0" i="0" dirty="0">
                <a:effectLst/>
                <a:latin typeface="Arial" panose="020B0604020202020204" pitchFamily="34" charset="0"/>
              </a:rPr>
              <a:t>int[] a=new int[3];</a:t>
            </a:r>
            <a:br>
              <a:rPr lang="en-IN" dirty="0"/>
            </a:br>
            <a:r>
              <a:rPr lang="en-IN" b="0" i="0" dirty="0" err="1">
                <a:effectLst/>
                <a:latin typeface="Arial" panose="020B0604020202020204" pitchFamily="34" charset="0"/>
              </a:rPr>
              <a:t>System.out.println</a:t>
            </a:r>
            <a:r>
              <a:rPr lang="en-IN" b="0" i="0" dirty="0">
                <a:effectLst/>
                <a:latin typeface="Arial" panose="020B0604020202020204" pitchFamily="34" charset="0"/>
              </a:rPr>
              <a:t>(a);//[I@3e25a5</a:t>
            </a:r>
            <a:br>
              <a:rPr lang="en-IN" dirty="0"/>
            </a:br>
            <a:r>
              <a:rPr lang="en-IN" b="0" i="0" dirty="0" err="1">
                <a:effectLst/>
                <a:latin typeface="Arial" panose="020B0604020202020204" pitchFamily="34" charset="0"/>
              </a:rPr>
              <a:t>System.out.println</a:t>
            </a:r>
            <a:r>
              <a:rPr lang="en-IN" b="0" i="0" dirty="0">
                <a:effectLst/>
                <a:latin typeface="Arial" panose="020B0604020202020204" pitchFamily="34" charset="0"/>
              </a:rPr>
              <a:t>(a[0]);//0</a:t>
            </a:r>
          </a:p>
          <a:p>
            <a:endParaRPr lang="en-IN" dirty="0">
              <a:latin typeface="Arial" panose="020B0604020202020204" pitchFamily="34" charset="0"/>
            </a:endParaRPr>
          </a:p>
          <a:p>
            <a:r>
              <a:rPr lang="en-IN" b="0" i="0" dirty="0">
                <a:effectLst/>
                <a:latin typeface="Arial" panose="020B0604020202020204" pitchFamily="34" charset="0"/>
              </a:rPr>
              <a:t>Note: Whenever we are trying to print any object reference internally </a:t>
            </a:r>
            <a:r>
              <a:rPr lang="en-IN" b="0" i="0" dirty="0" err="1">
                <a:effectLst/>
                <a:latin typeface="Arial" panose="020B0604020202020204" pitchFamily="34" charset="0"/>
              </a:rPr>
              <a:t>toString</a:t>
            </a:r>
            <a:r>
              <a:rPr lang="en-IN" b="0" i="0" dirty="0">
                <a:effectLst/>
                <a:latin typeface="Arial" panose="020B0604020202020204" pitchFamily="34" charset="0"/>
              </a:rPr>
              <a:t>() method will be executed which is implemented by default to return the following.</a:t>
            </a:r>
            <a:br>
              <a:rPr lang="en-IN" dirty="0"/>
            </a:br>
            <a:r>
              <a:rPr lang="en-IN" b="0" i="0" dirty="0" err="1">
                <a:effectLst/>
                <a:latin typeface="Arial" panose="020B0604020202020204" pitchFamily="34" charset="0"/>
              </a:rPr>
              <a:t>classname@hexadecimalstringrepresentationofhashcode</a:t>
            </a:r>
            <a:r>
              <a:rPr lang="en-IN" b="0" i="0" dirty="0">
                <a:effectLst/>
                <a:latin typeface="Arial" panose="020B0604020202020204" pitchFamily="34" charset="0"/>
              </a:rPr>
              <a:t>.</a:t>
            </a:r>
          </a:p>
          <a:p>
            <a:r>
              <a:rPr lang="en-IN" b="0" i="0" dirty="0">
                <a:effectLst/>
                <a:latin typeface="Arial" panose="020B0604020202020204" pitchFamily="34" charset="0"/>
              </a:rPr>
              <a:t>Example 2:</a:t>
            </a:r>
          </a:p>
          <a:p>
            <a:r>
              <a:rPr lang="en-IN" dirty="0"/>
              <a:t>int a = new int[2][3]; //base size</a:t>
            </a:r>
            <a:br>
              <a:rPr lang="en-IN" dirty="0"/>
            </a:br>
            <a:r>
              <a:rPr lang="en-IN" b="0" i="0" dirty="0" err="1">
                <a:effectLst/>
                <a:latin typeface="Arial" panose="020B0604020202020204" pitchFamily="34" charset="0"/>
              </a:rPr>
              <a:t>System.out.println</a:t>
            </a:r>
            <a:r>
              <a:rPr lang="en-IN" b="0" i="0" dirty="0">
                <a:effectLst/>
                <a:latin typeface="Arial" panose="020B0604020202020204" pitchFamily="34" charset="0"/>
              </a:rPr>
              <a:t>(a);//[[I@3e25a5</a:t>
            </a:r>
            <a:br>
              <a:rPr lang="en-IN" dirty="0"/>
            </a:br>
            <a:r>
              <a:rPr lang="en-IN" b="0" i="0" dirty="0" err="1">
                <a:effectLst/>
                <a:latin typeface="Arial" panose="020B0604020202020204" pitchFamily="34" charset="0"/>
              </a:rPr>
              <a:t>System.out.println</a:t>
            </a:r>
            <a:r>
              <a:rPr lang="en-IN" b="0" i="0" dirty="0">
                <a:effectLst/>
                <a:latin typeface="Arial" panose="020B0604020202020204" pitchFamily="34" charset="0"/>
              </a:rPr>
              <a:t>(a[0]);//[I@19821f</a:t>
            </a:r>
            <a:br>
              <a:rPr lang="en-IN" dirty="0"/>
            </a:br>
            <a:r>
              <a:rPr lang="en-IN" b="0" i="0" dirty="0" err="1">
                <a:effectLst/>
                <a:latin typeface="Arial" panose="020B0604020202020204" pitchFamily="34" charset="0"/>
              </a:rPr>
              <a:t>System.out.println</a:t>
            </a:r>
            <a:r>
              <a:rPr lang="en-IN" b="0" i="0" dirty="0">
                <a:effectLst/>
                <a:latin typeface="Arial" panose="020B0604020202020204" pitchFamily="34" charset="0"/>
              </a:rPr>
              <a:t>(a[0][0]);//0</a:t>
            </a:r>
            <a:endParaRPr lang="en-US" dirty="0"/>
          </a:p>
        </p:txBody>
      </p:sp>
      <p:sp>
        <p:nvSpPr>
          <p:cNvPr id="4" name="Footer Placeholder 3">
            <a:extLst>
              <a:ext uri="{FF2B5EF4-FFF2-40B4-BE49-F238E27FC236}">
                <a16:creationId xmlns:a16="http://schemas.microsoft.com/office/drawing/2014/main" id="{916051C0-253B-EA37-96F0-33ECF064580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772969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B38A0D-78AF-CD4C-48DF-6E8639337224}"/>
              </a:ext>
            </a:extLst>
          </p:cNvPr>
          <p:cNvSpPr>
            <a:spLocks noGrp="1"/>
          </p:cNvSpPr>
          <p:nvPr>
            <p:ph idx="1"/>
          </p:nvPr>
        </p:nvSpPr>
        <p:spPr>
          <a:xfrm>
            <a:off x="838200" y="429208"/>
            <a:ext cx="10515600" cy="5747755"/>
          </a:xfrm>
        </p:spPr>
        <p:txBody>
          <a:bodyPr>
            <a:normAutofit/>
          </a:bodyPr>
          <a:lstStyle/>
          <a:p>
            <a:r>
              <a:rPr lang="en-IN" b="0" i="0" dirty="0">
                <a:effectLst/>
                <a:latin typeface="Arial" panose="020B0604020202020204" pitchFamily="34" charset="0"/>
              </a:rPr>
              <a:t>Once we created an array all its elements by default initialized with default values. If we are not satisfied with those default values then we can replays with our customized values.</a:t>
            </a:r>
          </a:p>
          <a:p>
            <a:r>
              <a:rPr lang="en-IN" b="0" i="0" dirty="0">
                <a:effectLst/>
                <a:latin typeface="Arial" panose="020B0604020202020204" pitchFamily="34" charset="0"/>
              </a:rPr>
              <a:t>Example:</a:t>
            </a:r>
            <a:br>
              <a:rPr lang="en-IN" dirty="0"/>
            </a:br>
            <a:r>
              <a:rPr lang="en-IN" b="0" i="0" dirty="0">
                <a:effectLst/>
                <a:latin typeface="Arial" panose="020B0604020202020204" pitchFamily="34" charset="0"/>
              </a:rPr>
              <a:t>int[] a=new int[4];</a:t>
            </a:r>
            <a:br>
              <a:rPr lang="en-IN" dirty="0"/>
            </a:br>
            <a:r>
              <a:rPr lang="en-IN" b="0" i="0" dirty="0">
                <a:effectLst/>
                <a:latin typeface="Arial" panose="020B0604020202020204" pitchFamily="34" charset="0"/>
              </a:rPr>
              <a:t>a[0]=10;</a:t>
            </a:r>
            <a:br>
              <a:rPr lang="en-IN" dirty="0"/>
            </a:br>
            <a:r>
              <a:rPr lang="en-IN" b="0" i="0" dirty="0">
                <a:effectLst/>
                <a:latin typeface="Arial" panose="020B0604020202020204" pitchFamily="34" charset="0"/>
              </a:rPr>
              <a:t>a[1]=20;</a:t>
            </a:r>
            <a:br>
              <a:rPr lang="en-IN" dirty="0"/>
            </a:br>
            <a:r>
              <a:rPr lang="en-IN" b="0" i="0" dirty="0">
                <a:effectLst/>
                <a:latin typeface="Arial" panose="020B0604020202020204" pitchFamily="34" charset="0"/>
              </a:rPr>
              <a:t>a[2]=30;</a:t>
            </a:r>
            <a:br>
              <a:rPr lang="en-IN" dirty="0"/>
            </a:br>
            <a:r>
              <a:rPr lang="en-IN" b="0" i="0" dirty="0">
                <a:effectLst/>
                <a:latin typeface="Arial" panose="020B0604020202020204" pitchFamily="34" charset="0"/>
              </a:rPr>
              <a:t>a[3]=40;</a:t>
            </a:r>
            <a:br>
              <a:rPr lang="en-IN" dirty="0"/>
            </a:br>
            <a:r>
              <a:rPr lang="en-IN" b="0" i="0" dirty="0">
                <a:effectLst/>
                <a:latin typeface="Arial" panose="020B0604020202020204" pitchFamily="34" charset="0"/>
              </a:rPr>
              <a:t>a[4]=50;//</a:t>
            </a:r>
            <a:r>
              <a:rPr lang="en-IN" b="0" i="0" dirty="0" err="1">
                <a:effectLst/>
                <a:latin typeface="Arial" panose="020B0604020202020204" pitchFamily="34" charset="0"/>
              </a:rPr>
              <a:t>R.E:ArrayIndexOutOfBoundsException</a:t>
            </a:r>
            <a:r>
              <a:rPr lang="en-IN" b="0" i="0" dirty="0">
                <a:effectLst/>
                <a:latin typeface="Arial" panose="020B0604020202020204" pitchFamily="34" charset="0"/>
              </a:rPr>
              <a:t>: 4</a:t>
            </a:r>
            <a:br>
              <a:rPr lang="en-IN" dirty="0"/>
            </a:br>
            <a:r>
              <a:rPr lang="en-IN" b="0" i="0" dirty="0">
                <a:effectLst/>
                <a:latin typeface="Arial" panose="020B0604020202020204" pitchFamily="34" charset="0"/>
              </a:rPr>
              <a:t>a[-4]=60;//</a:t>
            </a:r>
            <a:r>
              <a:rPr lang="en-IN" b="0" i="0" dirty="0" err="1">
                <a:effectLst/>
                <a:latin typeface="Arial" panose="020B0604020202020204" pitchFamily="34" charset="0"/>
              </a:rPr>
              <a:t>R.E:ArrayIndexOutOfBoundsException</a:t>
            </a:r>
            <a:r>
              <a:rPr lang="en-IN" b="0" i="0" dirty="0">
                <a:effectLst/>
                <a:latin typeface="Arial" panose="020B0604020202020204" pitchFamily="34" charset="0"/>
              </a:rPr>
              <a:t>: -4</a:t>
            </a:r>
          </a:p>
          <a:p>
            <a:r>
              <a:rPr lang="en-IN" b="0" i="0" dirty="0">
                <a:effectLst/>
                <a:latin typeface="Arial" panose="020B0604020202020204" pitchFamily="34" charset="0"/>
              </a:rPr>
              <a:t>Note: if we are trying to access array element with out of range index we will get Runtime Exception saying </a:t>
            </a:r>
            <a:r>
              <a:rPr lang="en-IN" b="0" i="0" dirty="0" err="1">
                <a:effectLst/>
                <a:latin typeface="Arial" panose="020B0604020202020204" pitchFamily="34" charset="0"/>
              </a:rPr>
              <a:t>ArrayIndexOutOfBoundsException</a:t>
            </a:r>
            <a:r>
              <a:rPr lang="en-IN" b="0" i="0" dirty="0">
                <a:effectLst/>
                <a:latin typeface="Arial" panose="020B0604020202020204" pitchFamily="34" charset="0"/>
              </a:rPr>
              <a:t>.</a:t>
            </a:r>
            <a:endParaRPr lang="en-US" dirty="0"/>
          </a:p>
        </p:txBody>
      </p:sp>
      <p:sp>
        <p:nvSpPr>
          <p:cNvPr id="4" name="Footer Placeholder 3">
            <a:extLst>
              <a:ext uri="{FF2B5EF4-FFF2-40B4-BE49-F238E27FC236}">
                <a16:creationId xmlns:a16="http://schemas.microsoft.com/office/drawing/2014/main" id="{ED817185-677D-05F3-AE12-F79D3FE7FDCD}"/>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606453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BC6BC4-9253-9F02-095D-351BF820CCD6}"/>
              </a:ext>
            </a:extLst>
          </p:cNvPr>
          <p:cNvSpPr>
            <a:spLocks noGrp="1"/>
          </p:cNvSpPr>
          <p:nvPr>
            <p:ph idx="1"/>
          </p:nvPr>
        </p:nvSpPr>
        <p:spPr>
          <a:xfrm>
            <a:off x="838200" y="335902"/>
            <a:ext cx="10515600" cy="5841061"/>
          </a:xfrm>
        </p:spPr>
        <p:txBody>
          <a:bodyPr>
            <a:normAutofit lnSpcReduction="10000"/>
          </a:bodyPr>
          <a:lstStyle/>
          <a:p>
            <a:pPr algn="l" rtl="0"/>
            <a:r>
              <a:rPr lang="en-IN" dirty="0">
                <a:effectLst/>
                <a:latin typeface="Arial" panose="020B0604020202020204" pitchFamily="34" charset="0"/>
              </a:rPr>
              <a:t>Declaration construction and initialization of an array in a single line:</a:t>
            </a:r>
            <a:br>
              <a:rPr lang="en-IN" dirty="0">
                <a:effectLst/>
              </a:rPr>
            </a:br>
            <a:r>
              <a:rPr lang="en-IN" dirty="0">
                <a:effectLst/>
                <a:latin typeface="Times New Roman" panose="02020603050405020304" pitchFamily="18" charset="0"/>
              </a:rPr>
              <a:t> </a:t>
            </a:r>
            <a:r>
              <a:rPr lang="en-IN" dirty="0">
                <a:effectLst/>
                <a:latin typeface="Arial" panose="020B0604020202020204" pitchFamily="34" charset="0"/>
              </a:rPr>
              <a:t>We can perform declaration construction and initialization of an array in a single line.</a:t>
            </a:r>
            <a:br>
              <a:rPr lang="en-IN" dirty="0">
                <a:effectLst/>
              </a:rPr>
            </a:br>
            <a:r>
              <a:rPr lang="en-IN" dirty="0">
                <a:effectLst/>
                <a:latin typeface="Arial" panose="020B0604020202020204" pitchFamily="34" charset="0"/>
              </a:rPr>
              <a:t>Example:</a:t>
            </a:r>
            <a:endParaRPr lang="en-IN" dirty="0">
              <a:effectLst/>
            </a:endParaRPr>
          </a:p>
          <a:p>
            <a:pPr algn="l" rtl="0"/>
            <a:endParaRPr lang="en-IN" b="0" i="0" dirty="0">
              <a:solidFill>
                <a:srgbClr val="000000"/>
              </a:solidFill>
              <a:effectLst/>
              <a:latin typeface="Arial" panose="020B0604020202020204" pitchFamily="34" charset="0"/>
            </a:endParaRPr>
          </a:p>
          <a:p>
            <a:r>
              <a:rPr lang="en-IN" b="0" i="0" dirty="0">
                <a:effectLst/>
                <a:latin typeface="Arial" panose="020B0604020202020204" pitchFamily="34" charset="0"/>
              </a:rPr>
              <a:t>char[] </a:t>
            </a:r>
            <a:r>
              <a:rPr lang="en-IN" b="0" i="0" dirty="0" err="1">
                <a:effectLst/>
                <a:latin typeface="Arial" panose="020B0604020202020204" pitchFamily="34" charset="0"/>
              </a:rPr>
              <a:t>ch</a:t>
            </a:r>
            <a:r>
              <a:rPr lang="en-IN" b="0" i="0" dirty="0">
                <a:effectLst/>
                <a:latin typeface="Arial" panose="020B0604020202020204" pitchFamily="34" charset="0"/>
              </a:rPr>
              <a:t>={'a','e','</a:t>
            </a:r>
            <a:r>
              <a:rPr lang="en-IN" b="0" i="0" dirty="0" err="1">
                <a:effectLst/>
                <a:latin typeface="Arial" panose="020B0604020202020204" pitchFamily="34" charset="0"/>
              </a:rPr>
              <a:t>i</a:t>
            </a:r>
            <a:r>
              <a:rPr lang="en-IN" b="0" i="0" dirty="0">
                <a:effectLst/>
                <a:latin typeface="Arial" panose="020B0604020202020204" pitchFamily="34" charset="0"/>
              </a:rPr>
              <a:t>','</a:t>
            </a:r>
            <a:r>
              <a:rPr lang="en-IN" b="0" i="0" dirty="0" err="1">
                <a:effectLst/>
                <a:latin typeface="Arial" panose="020B0604020202020204" pitchFamily="34" charset="0"/>
              </a:rPr>
              <a:t>o','u</a:t>
            </a:r>
            <a:r>
              <a:rPr lang="en-IN" b="0" i="0" dirty="0">
                <a:effectLst/>
                <a:latin typeface="Arial" panose="020B0604020202020204" pitchFamily="34" charset="0"/>
              </a:rPr>
              <a:t>’}; //(valid)</a:t>
            </a:r>
            <a:br>
              <a:rPr lang="en-IN" dirty="0"/>
            </a:br>
            <a:r>
              <a:rPr lang="en-IN" b="0" i="0" dirty="0">
                <a:effectLst/>
                <a:latin typeface="Arial" panose="020B0604020202020204" pitchFamily="34" charset="0"/>
              </a:rPr>
              <a:t>String[] s={"</a:t>
            </a:r>
            <a:r>
              <a:rPr lang="en-IN" b="0" i="0" dirty="0" err="1">
                <a:effectLst/>
                <a:latin typeface="Arial" panose="020B0604020202020204" pitchFamily="34" charset="0"/>
              </a:rPr>
              <a:t>balayya</a:t>
            </a:r>
            <a:r>
              <a:rPr lang="en-IN" b="0" i="0" dirty="0">
                <a:effectLst/>
                <a:latin typeface="Arial" panose="020B0604020202020204" pitchFamily="34" charset="0"/>
              </a:rPr>
              <a:t>","</a:t>
            </a:r>
            <a:r>
              <a:rPr lang="en-IN" b="0" i="0" dirty="0" err="1">
                <a:effectLst/>
                <a:latin typeface="Arial" panose="020B0604020202020204" pitchFamily="34" charset="0"/>
              </a:rPr>
              <a:t>venki</a:t>
            </a:r>
            <a:r>
              <a:rPr lang="en-IN" b="0" i="0" dirty="0">
                <a:effectLst/>
                <a:latin typeface="Arial" panose="020B0604020202020204" pitchFamily="34" charset="0"/>
              </a:rPr>
              <a:t>","</a:t>
            </a:r>
            <a:r>
              <a:rPr lang="en-IN" b="0" i="0" dirty="0" err="1">
                <a:effectLst/>
                <a:latin typeface="Arial" panose="020B0604020202020204" pitchFamily="34" charset="0"/>
              </a:rPr>
              <a:t>nag","chiru</a:t>
            </a:r>
            <a:r>
              <a:rPr lang="en-IN" b="0" i="0" dirty="0">
                <a:effectLst/>
                <a:latin typeface="Arial" panose="020B0604020202020204" pitchFamily="34" charset="0"/>
              </a:rPr>
              <a:t>"}; //(valid)</a:t>
            </a:r>
            <a:br>
              <a:rPr lang="en-IN" dirty="0"/>
            </a:br>
            <a:endParaRPr lang="en-IN" dirty="0"/>
          </a:p>
          <a:p>
            <a:r>
              <a:rPr lang="en-IN" b="0" i="0" dirty="0">
                <a:effectLst/>
                <a:latin typeface="Times New Roman" panose="02020603050405020304" pitchFamily="18" charset="0"/>
              </a:rPr>
              <a:t> </a:t>
            </a:r>
            <a:r>
              <a:rPr lang="en-IN" b="0" i="0" dirty="0">
                <a:effectLst/>
                <a:latin typeface="Arial" panose="020B0604020202020204" pitchFamily="34" charset="0"/>
              </a:rPr>
              <a:t>We can extend this short cut even for multi dimensional arrays also</a:t>
            </a:r>
          </a:p>
          <a:p>
            <a:r>
              <a:rPr lang="en-IN" b="0" i="0" dirty="0">
                <a:effectLst/>
                <a:latin typeface="Arial" panose="020B0604020202020204" pitchFamily="34" charset="0"/>
              </a:rPr>
              <a:t>Example:</a:t>
            </a:r>
            <a:br>
              <a:rPr lang="en-IN" dirty="0"/>
            </a:br>
            <a:r>
              <a:rPr lang="en-IN" b="0" i="0" dirty="0">
                <a:effectLst/>
                <a:latin typeface="Arial" panose="020B0604020202020204" pitchFamily="34" charset="0"/>
              </a:rPr>
              <a:t>int[][] a={{10,20,30},{40,50}};</a:t>
            </a:r>
          </a:p>
          <a:p>
            <a:r>
              <a:rPr lang="en-IN" b="0" i="0" dirty="0">
                <a:effectLst/>
                <a:latin typeface="Arial" panose="020B0604020202020204" pitchFamily="34" charset="0"/>
              </a:rPr>
              <a:t>int[][][] a={{{10,20,30},{40,50}},{{60},{70,80},{90,100,110}}}</a:t>
            </a:r>
            <a:endParaRPr lang="en-IN" dirty="0">
              <a:latin typeface="Arial" panose="020B0604020202020204" pitchFamily="34" charset="0"/>
            </a:endParaRPr>
          </a:p>
          <a:p>
            <a:endParaRPr lang="en-US" dirty="0"/>
          </a:p>
        </p:txBody>
      </p:sp>
      <p:sp>
        <p:nvSpPr>
          <p:cNvPr id="4" name="Footer Placeholder 3">
            <a:extLst>
              <a:ext uri="{FF2B5EF4-FFF2-40B4-BE49-F238E27FC236}">
                <a16:creationId xmlns:a16="http://schemas.microsoft.com/office/drawing/2014/main" id="{6F3EBAC1-6AA0-E837-FD66-889AD63E9E2D}"/>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985380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387FC-D203-00B7-B334-EEA0933BB8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4FE68B-C46B-5A2A-FC37-FEC608221AA0}"/>
              </a:ext>
            </a:extLst>
          </p:cNvPr>
          <p:cNvSpPr>
            <a:spLocks noGrp="1"/>
          </p:cNvSpPr>
          <p:nvPr>
            <p:ph idx="1"/>
          </p:nvPr>
        </p:nvSpPr>
        <p:spPr/>
        <p:txBody>
          <a:bodyPr/>
          <a:lstStyle/>
          <a:p>
            <a:r>
              <a:rPr lang="en-IN" b="0" i="0" dirty="0">
                <a:effectLst/>
                <a:latin typeface="Arial" panose="020B0604020202020204" pitchFamily="34" charset="0"/>
              </a:rPr>
              <a:t>If we want to use this short cut compulsory we should perform declaration, construction and initialization in a single line. If we are trying to divide into multiple lines then we will get compile time error</a:t>
            </a:r>
            <a:endParaRPr lang="en-US" dirty="0"/>
          </a:p>
        </p:txBody>
      </p:sp>
      <p:sp>
        <p:nvSpPr>
          <p:cNvPr id="5" name="Footer Placeholder 4">
            <a:extLst>
              <a:ext uri="{FF2B5EF4-FFF2-40B4-BE49-F238E27FC236}">
                <a16:creationId xmlns:a16="http://schemas.microsoft.com/office/drawing/2014/main" id="{B6B16E61-3322-9898-E21C-F531FC48EEC0}"/>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60669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82E8D-D242-422D-EE16-9088A9D52E9C}"/>
              </a:ext>
            </a:extLst>
          </p:cNvPr>
          <p:cNvSpPr>
            <a:spLocks noGrp="1"/>
          </p:cNvSpPr>
          <p:nvPr>
            <p:ph type="title"/>
          </p:nvPr>
        </p:nvSpPr>
        <p:spPr/>
        <p:txBody>
          <a:bodyPr/>
          <a:lstStyle/>
          <a:p>
            <a:r>
              <a:rPr lang="en-IN" b="0" i="0" dirty="0">
                <a:effectLst/>
                <a:latin typeface="Arial" panose="020B0604020202020204" pitchFamily="34" charset="0"/>
              </a:rPr>
              <a:t>length Vs length():</a:t>
            </a:r>
            <a:endParaRPr lang="en-US" dirty="0"/>
          </a:p>
        </p:txBody>
      </p:sp>
      <p:sp>
        <p:nvSpPr>
          <p:cNvPr id="3" name="Content Placeholder 2">
            <a:extLst>
              <a:ext uri="{FF2B5EF4-FFF2-40B4-BE49-F238E27FC236}">
                <a16:creationId xmlns:a16="http://schemas.microsoft.com/office/drawing/2014/main" id="{90895DB3-1D6D-CAF2-C8C1-9369680E4E37}"/>
              </a:ext>
            </a:extLst>
          </p:cNvPr>
          <p:cNvSpPr>
            <a:spLocks noGrp="1"/>
          </p:cNvSpPr>
          <p:nvPr>
            <p:ph idx="1"/>
          </p:nvPr>
        </p:nvSpPr>
        <p:spPr/>
        <p:txBody>
          <a:bodyPr>
            <a:normAutofit fontScale="92500" lnSpcReduction="10000"/>
          </a:bodyPr>
          <a:lstStyle/>
          <a:p>
            <a:r>
              <a:rPr lang="en-IN" b="0" i="0" dirty="0">
                <a:effectLst/>
                <a:latin typeface="Arial" panose="020B0604020202020204" pitchFamily="34" charset="0"/>
              </a:rPr>
              <a:t>length:</a:t>
            </a:r>
            <a:br>
              <a:rPr lang="en-IN" dirty="0"/>
            </a:br>
            <a:r>
              <a:rPr lang="en-IN" b="0" i="0" dirty="0">
                <a:effectLst/>
                <a:latin typeface="Arial" panose="020B0604020202020204" pitchFamily="34" charset="0"/>
              </a:rPr>
              <a:t>1) It is the final variable applicable only for arrays.</a:t>
            </a:r>
            <a:br>
              <a:rPr lang="en-IN" dirty="0"/>
            </a:br>
            <a:r>
              <a:rPr lang="en-IN" b="0" i="0" dirty="0">
                <a:effectLst/>
                <a:latin typeface="Arial" panose="020B0604020202020204" pitchFamily="34" charset="0"/>
              </a:rPr>
              <a:t>2) It represents the size of the array</a:t>
            </a:r>
          </a:p>
          <a:p>
            <a:r>
              <a:rPr lang="en-IN" b="0" i="0" dirty="0">
                <a:effectLst/>
                <a:latin typeface="Arial" panose="020B0604020202020204" pitchFamily="34" charset="0"/>
              </a:rPr>
              <a:t>int[] x=new int[3];</a:t>
            </a:r>
            <a:br>
              <a:rPr lang="en-IN" dirty="0"/>
            </a:br>
            <a:r>
              <a:rPr lang="en-IN" b="0" i="0" dirty="0" err="1">
                <a:effectLst/>
                <a:latin typeface="Arial" panose="020B0604020202020204" pitchFamily="34" charset="0"/>
              </a:rPr>
              <a:t>System.out.println</a:t>
            </a:r>
            <a:r>
              <a:rPr lang="en-IN" b="0" i="0" dirty="0">
                <a:effectLst/>
                <a:latin typeface="Arial" panose="020B0604020202020204" pitchFamily="34" charset="0"/>
              </a:rPr>
              <a:t>(</a:t>
            </a:r>
            <a:r>
              <a:rPr lang="en-IN" b="0" i="0" dirty="0" err="1">
                <a:effectLst/>
                <a:latin typeface="Arial" panose="020B0604020202020204" pitchFamily="34" charset="0"/>
              </a:rPr>
              <a:t>x.length</a:t>
            </a:r>
            <a:r>
              <a:rPr lang="en-IN" b="0" i="0" dirty="0">
                <a:effectLst/>
                <a:latin typeface="Arial" panose="020B0604020202020204" pitchFamily="34" charset="0"/>
              </a:rPr>
              <a:t>());//C.E: cannot find symbol</a:t>
            </a:r>
            <a:br>
              <a:rPr lang="en-IN" dirty="0"/>
            </a:br>
            <a:r>
              <a:rPr lang="en-IN" b="0" i="0" dirty="0" err="1">
                <a:effectLst/>
                <a:latin typeface="Arial" panose="020B0604020202020204" pitchFamily="34" charset="0"/>
              </a:rPr>
              <a:t>System.out.println</a:t>
            </a:r>
            <a:r>
              <a:rPr lang="en-IN" b="0" i="0" dirty="0">
                <a:effectLst/>
                <a:latin typeface="Arial" panose="020B0604020202020204" pitchFamily="34" charset="0"/>
              </a:rPr>
              <a:t>(</a:t>
            </a:r>
            <a:r>
              <a:rPr lang="en-IN" b="0" i="0" dirty="0" err="1">
                <a:effectLst/>
                <a:latin typeface="Arial" panose="020B0604020202020204" pitchFamily="34" charset="0"/>
              </a:rPr>
              <a:t>x.length</a:t>
            </a:r>
            <a:r>
              <a:rPr lang="en-IN" b="0" i="0" dirty="0">
                <a:effectLst/>
                <a:latin typeface="Arial" panose="020B0604020202020204" pitchFamily="34" charset="0"/>
              </a:rPr>
              <a:t>);//3</a:t>
            </a:r>
            <a:br>
              <a:rPr lang="en-IN" dirty="0"/>
            </a:br>
            <a:r>
              <a:rPr lang="en-IN" b="0" i="0" dirty="0">
                <a:effectLst/>
                <a:latin typeface="Arial" panose="020B0604020202020204" pitchFamily="34" charset="0"/>
              </a:rPr>
              <a:t>length() method:</a:t>
            </a:r>
            <a:br>
              <a:rPr lang="en-IN" dirty="0"/>
            </a:br>
            <a:r>
              <a:rPr lang="en-IN" b="0" i="0" dirty="0">
                <a:effectLst/>
                <a:latin typeface="Arial" panose="020B0604020202020204" pitchFamily="34" charset="0"/>
              </a:rPr>
              <a:t>1) It is a final method applicable for String objects.</a:t>
            </a:r>
            <a:br>
              <a:rPr lang="en-IN" dirty="0"/>
            </a:br>
            <a:r>
              <a:rPr lang="en-IN" b="0" i="0" dirty="0">
                <a:effectLst/>
                <a:latin typeface="Arial" panose="020B0604020202020204" pitchFamily="34" charset="0"/>
              </a:rPr>
              <a:t>2) It returns the no of characters present in the String.</a:t>
            </a:r>
            <a:br>
              <a:rPr lang="en-IN" dirty="0"/>
            </a:br>
            <a:r>
              <a:rPr lang="en-IN" b="0" i="0" dirty="0">
                <a:effectLst/>
                <a:latin typeface="Arial" panose="020B0604020202020204" pitchFamily="34" charset="0"/>
              </a:rPr>
              <a:t>Example:</a:t>
            </a:r>
            <a:br>
              <a:rPr lang="en-IN" dirty="0"/>
            </a:br>
            <a:r>
              <a:rPr lang="en-IN" b="0" i="0" dirty="0">
                <a:effectLst/>
                <a:latin typeface="Arial" panose="020B0604020202020204" pitchFamily="34" charset="0"/>
              </a:rPr>
              <a:t>String s="</a:t>
            </a:r>
            <a:r>
              <a:rPr lang="en-IN" b="0" i="0" dirty="0" err="1">
                <a:effectLst/>
                <a:latin typeface="Arial" panose="020B0604020202020204" pitchFamily="34" charset="0"/>
              </a:rPr>
              <a:t>bhaskar</a:t>
            </a:r>
            <a:r>
              <a:rPr lang="en-IN" b="0" i="0" dirty="0">
                <a:effectLst/>
                <a:latin typeface="Arial" panose="020B0604020202020204" pitchFamily="34" charset="0"/>
              </a:rPr>
              <a:t>";</a:t>
            </a:r>
            <a:br>
              <a:rPr lang="en-IN" dirty="0"/>
            </a:br>
            <a:r>
              <a:rPr lang="en-IN" b="0" i="0" dirty="0" err="1">
                <a:effectLst/>
                <a:latin typeface="Arial" panose="020B0604020202020204" pitchFamily="34" charset="0"/>
              </a:rPr>
              <a:t>System.out.println</a:t>
            </a:r>
            <a:r>
              <a:rPr lang="en-IN" b="0" i="0" dirty="0">
                <a:effectLst/>
                <a:latin typeface="Arial" panose="020B0604020202020204" pitchFamily="34" charset="0"/>
              </a:rPr>
              <a:t>(</a:t>
            </a:r>
            <a:r>
              <a:rPr lang="en-IN" b="0" i="0" dirty="0" err="1">
                <a:effectLst/>
                <a:latin typeface="Arial" panose="020B0604020202020204" pitchFamily="34" charset="0"/>
              </a:rPr>
              <a:t>s.length</a:t>
            </a:r>
            <a:r>
              <a:rPr lang="en-IN" b="0" i="0" dirty="0">
                <a:effectLst/>
                <a:latin typeface="Arial" panose="020B0604020202020204" pitchFamily="34" charset="0"/>
              </a:rPr>
              <a:t>);//</a:t>
            </a:r>
            <a:r>
              <a:rPr lang="en-IN" b="0" i="0" dirty="0" err="1">
                <a:effectLst/>
                <a:latin typeface="Arial" panose="020B0604020202020204" pitchFamily="34" charset="0"/>
              </a:rPr>
              <a:t>C.E:cannot</a:t>
            </a:r>
            <a:r>
              <a:rPr lang="en-IN" b="0" i="0" dirty="0">
                <a:effectLst/>
                <a:latin typeface="Arial" panose="020B0604020202020204" pitchFamily="34" charset="0"/>
              </a:rPr>
              <a:t> find symbol</a:t>
            </a:r>
            <a:br>
              <a:rPr lang="en-IN" dirty="0"/>
            </a:br>
            <a:r>
              <a:rPr lang="en-IN" b="0" i="0" dirty="0" err="1">
                <a:effectLst/>
                <a:latin typeface="Arial" panose="020B0604020202020204" pitchFamily="34" charset="0"/>
              </a:rPr>
              <a:t>System.out.println</a:t>
            </a:r>
            <a:r>
              <a:rPr lang="en-IN" b="0" i="0" dirty="0">
                <a:effectLst/>
                <a:latin typeface="Arial" panose="020B0604020202020204" pitchFamily="34" charset="0"/>
              </a:rPr>
              <a:t>(</a:t>
            </a:r>
            <a:r>
              <a:rPr lang="en-IN" b="0" i="0" dirty="0" err="1">
                <a:effectLst/>
                <a:latin typeface="Arial" panose="020B0604020202020204" pitchFamily="34" charset="0"/>
              </a:rPr>
              <a:t>s.length</a:t>
            </a:r>
            <a:r>
              <a:rPr lang="en-IN" b="0" i="0" dirty="0">
                <a:effectLst/>
                <a:latin typeface="Arial" panose="020B0604020202020204" pitchFamily="34" charset="0"/>
              </a:rPr>
              <a:t>());//7</a:t>
            </a:r>
            <a:endParaRPr lang="en-US" dirty="0"/>
          </a:p>
        </p:txBody>
      </p:sp>
      <p:sp>
        <p:nvSpPr>
          <p:cNvPr id="5" name="Footer Placeholder 4">
            <a:extLst>
              <a:ext uri="{FF2B5EF4-FFF2-40B4-BE49-F238E27FC236}">
                <a16:creationId xmlns:a16="http://schemas.microsoft.com/office/drawing/2014/main" id="{F859564F-358F-996D-89BA-6851FB601CF5}"/>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545858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82E8D-D242-422D-EE16-9088A9D52E9C}"/>
              </a:ext>
            </a:extLst>
          </p:cNvPr>
          <p:cNvSpPr>
            <a:spLocks noGrp="1"/>
          </p:cNvSpPr>
          <p:nvPr>
            <p:ph type="title"/>
          </p:nvPr>
        </p:nvSpPr>
        <p:spPr/>
        <p:txBody>
          <a:bodyPr/>
          <a:lstStyle/>
          <a:p>
            <a:r>
              <a:rPr lang="en-IN" b="0" i="0" dirty="0">
                <a:effectLst/>
                <a:latin typeface="Arial" panose="020B0604020202020204" pitchFamily="34" charset="0"/>
              </a:rPr>
              <a:t>length Vs length():</a:t>
            </a:r>
            <a:endParaRPr lang="en-US" dirty="0"/>
          </a:p>
        </p:txBody>
      </p:sp>
      <p:sp>
        <p:nvSpPr>
          <p:cNvPr id="3" name="Content Placeholder 2">
            <a:extLst>
              <a:ext uri="{FF2B5EF4-FFF2-40B4-BE49-F238E27FC236}">
                <a16:creationId xmlns:a16="http://schemas.microsoft.com/office/drawing/2014/main" id="{90895DB3-1D6D-CAF2-C8C1-9369680E4E37}"/>
              </a:ext>
            </a:extLst>
          </p:cNvPr>
          <p:cNvSpPr>
            <a:spLocks noGrp="1"/>
          </p:cNvSpPr>
          <p:nvPr>
            <p:ph idx="1"/>
          </p:nvPr>
        </p:nvSpPr>
        <p:spPr/>
        <p:txBody>
          <a:bodyPr>
            <a:normAutofit/>
          </a:bodyPr>
          <a:lstStyle/>
          <a:p>
            <a:r>
              <a:rPr lang="en-IN" b="0" i="0" dirty="0">
                <a:effectLst/>
                <a:latin typeface="Times New Roman" panose="02020603050405020304" pitchFamily="18" charset="0"/>
              </a:rPr>
              <a:t> </a:t>
            </a:r>
            <a:r>
              <a:rPr lang="en-IN" b="0" i="0" dirty="0">
                <a:effectLst/>
                <a:latin typeface="Arial" panose="020B0604020202020204" pitchFamily="34" charset="0"/>
              </a:rPr>
              <a:t>In multidimensional arrays length variable represents only base size but not total size.</a:t>
            </a:r>
            <a:br>
              <a:rPr lang="en-IN" dirty="0"/>
            </a:br>
            <a:r>
              <a:rPr lang="en-IN" b="0" i="0" dirty="0">
                <a:effectLst/>
                <a:latin typeface="Arial" panose="020B0604020202020204" pitchFamily="34" charset="0"/>
              </a:rPr>
              <a:t>Example:</a:t>
            </a:r>
            <a:br>
              <a:rPr lang="en-IN" dirty="0"/>
            </a:br>
            <a:r>
              <a:rPr lang="en-IN" b="0" i="0" dirty="0">
                <a:effectLst/>
                <a:latin typeface="Arial" panose="020B0604020202020204" pitchFamily="34" charset="0"/>
              </a:rPr>
              <a:t>int[][] a=new int[6][3];</a:t>
            </a:r>
            <a:br>
              <a:rPr lang="en-IN" dirty="0"/>
            </a:br>
            <a:r>
              <a:rPr lang="en-IN" b="0" i="0" dirty="0" err="1">
                <a:effectLst/>
                <a:latin typeface="Arial" panose="020B0604020202020204" pitchFamily="34" charset="0"/>
              </a:rPr>
              <a:t>System.out.println</a:t>
            </a:r>
            <a:r>
              <a:rPr lang="en-IN" b="0" i="0" dirty="0">
                <a:effectLst/>
                <a:latin typeface="Arial" panose="020B0604020202020204" pitchFamily="34" charset="0"/>
              </a:rPr>
              <a:t>(</a:t>
            </a:r>
            <a:r>
              <a:rPr lang="en-IN" b="0" i="0" dirty="0" err="1">
                <a:effectLst/>
                <a:latin typeface="Arial" panose="020B0604020202020204" pitchFamily="34" charset="0"/>
              </a:rPr>
              <a:t>a.length</a:t>
            </a:r>
            <a:r>
              <a:rPr lang="en-IN" b="0" i="0" dirty="0">
                <a:effectLst/>
                <a:latin typeface="Arial" panose="020B0604020202020204" pitchFamily="34" charset="0"/>
              </a:rPr>
              <a:t>);//6</a:t>
            </a:r>
            <a:br>
              <a:rPr lang="en-IN" dirty="0"/>
            </a:br>
            <a:r>
              <a:rPr lang="en-IN" b="0" i="0" dirty="0" err="1">
                <a:effectLst/>
                <a:latin typeface="Arial" panose="020B0604020202020204" pitchFamily="34" charset="0"/>
              </a:rPr>
              <a:t>System.out.println</a:t>
            </a:r>
            <a:r>
              <a:rPr lang="en-IN" b="0" i="0" dirty="0">
                <a:effectLst/>
                <a:latin typeface="Arial" panose="020B0604020202020204" pitchFamily="34" charset="0"/>
              </a:rPr>
              <a:t>(a[0].length);//3</a:t>
            </a:r>
          </a:p>
          <a:p>
            <a:r>
              <a:rPr lang="en-IN" b="0" i="0" dirty="0">
                <a:effectLst/>
                <a:latin typeface="Arial" panose="020B0604020202020204" pitchFamily="34" charset="0"/>
              </a:rPr>
              <a:t>length variable applicable only for arrays where as</a:t>
            </a:r>
            <a:r>
              <a:rPr lang="en-IN" dirty="0">
                <a:latin typeface="Arial" panose="020B0604020202020204" pitchFamily="34" charset="0"/>
              </a:rPr>
              <a:t> </a:t>
            </a:r>
            <a:r>
              <a:rPr lang="en-IN" b="0" i="0" dirty="0">
                <a:effectLst/>
                <a:latin typeface="Arial" panose="020B0604020202020204" pitchFamily="34" charset="0"/>
              </a:rPr>
              <a:t>length() method is applicable for String objects.</a:t>
            </a:r>
            <a:endParaRPr lang="en-US" dirty="0"/>
          </a:p>
        </p:txBody>
      </p:sp>
      <p:sp>
        <p:nvSpPr>
          <p:cNvPr id="5" name="Footer Placeholder 4">
            <a:extLst>
              <a:ext uri="{FF2B5EF4-FFF2-40B4-BE49-F238E27FC236}">
                <a16:creationId xmlns:a16="http://schemas.microsoft.com/office/drawing/2014/main" id="{FF6C1CA9-3359-3E24-41FF-015A5366974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948589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51577-0187-34C2-0D0F-9AF749BF5EFD}"/>
              </a:ext>
            </a:extLst>
          </p:cNvPr>
          <p:cNvSpPr>
            <a:spLocks noGrp="1"/>
          </p:cNvSpPr>
          <p:nvPr>
            <p:ph type="title"/>
          </p:nvPr>
        </p:nvSpPr>
        <p:spPr/>
        <p:txBody>
          <a:bodyPr/>
          <a:lstStyle/>
          <a:p>
            <a:r>
              <a:rPr lang="en-IN" b="0" i="0" dirty="0">
                <a:effectLst/>
                <a:latin typeface="Arial" panose="020B0604020202020204" pitchFamily="34" charset="0"/>
              </a:rPr>
              <a:t>Anonymous Arrays:</a:t>
            </a:r>
            <a:endParaRPr lang="en-US" dirty="0"/>
          </a:p>
        </p:txBody>
      </p:sp>
      <p:sp>
        <p:nvSpPr>
          <p:cNvPr id="3" name="Content Placeholder 2">
            <a:extLst>
              <a:ext uri="{FF2B5EF4-FFF2-40B4-BE49-F238E27FC236}">
                <a16:creationId xmlns:a16="http://schemas.microsoft.com/office/drawing/2014/main" id="{62BBD26D-AA8F-06C9-BFC4-EAB662B01BBB}"/>
              </a:ext>
            </a:extLst>
          </p:cNvPr>
          <p:cNvSpPr>
            <a:spLocks noGrp="1"/>
          </p:cNvSpPr>
          <p:nvPr>
            <p:ph idx="1"/>
          </p:nvPr>
        </p:nvSpPr>
        <p:spPr/>
        <p:txBody>
          <a:bodyPr>
            <a:normAutofit lnSpcReduction="10000"/>
          </a:bodyPr>
          <a:lstStyle/>
          <a:p>
            <a:r>
              <a:rPr lang="en-IN" b="0" i="0" dirty="0">
                <a:effectLst/>
                <a:latin typeface="Times New Roman" panose="02020603050405020304" pitchFamily="18" charset="0"/>
              </a:rPr>
              <a:t> </a:t>
            </a:r>
            <a:r>
              <a:rPr lang="en-IN" b="0" i="0" dirty="0">
                <a:effectLst/>
                <a:latin typeface="Arial" panose="020B0604020202020204" pitchFamily="34" charset="0"/>
              </a:rPr>
              <a:t>Sometimes we can create an array without name such type of nameless arrays are called </a:t>
            </a:r>
            <a:r>
              <a:rPr lang="en-IN" b="1" i="0" dirty="0">
                <a:effectLst/>
                <a:latin typeface="Arial" panose="020B0604020202020204" pitchFamily="34" charset="0"/>
              </a:rPr>
              <a:t>anonymous</a:t>
            </a:r>
            <a:r>
              <a:rPr lang="en-IN" b="0" i="0" dirty="0">
                <a:effectLst/>
                <a:latin typeface="Arial" panose="020B0604020202020204" pitchFamily="34" charset="0"/>
              </a:rPr>
              <a:t> arrays.</a:t>
            </a:r>
            <a:br>
              <a:rPr lang="en-IN" dirty="0"/>
            </a:br>
            <a:r>
              <a:rPr lang="en-IN" b="0" i="0" dirty="0">
                <a:effectLst/>
                <a:latin typeface="Times New Roman" panose="02020603050405020304" pitchFamily="18" charset="0"/>
              </a:rPr>
              <a:t> </a:t>
            </a:r>
            <a:r>
              <a:rPr lang="en-IN" b="0" i="0" dirty="0">
                <a:effectLst/>
                <a:latin typeface="Arial" panose="020B0604020202020204" pitchFamily="34" charset="0"/>
              </a:rPr>
              <a:t>The main objective of anonymous arrays is “</a:t>
            </a:r>
            <a:r>
              <a:rPr lang="en-IN" b="1" i="0" dirty="0">
                <a:effectLst/>
                <a:latin typeface="Arial" panose="020B0604020202020204" pitchFamily="34" charset="0"/>
              </a:rPr>
              <a:t>just for instant use</a:t>
            </a:r>
            <a:r>
              <a:rPr lang="en-IN" b="0" i="0" dirty="0">
                <a:effectLst/>
                <a:latin typeface="Arial" panose="020B0604020202020204" pitchFamily="34" charset="0"/>
              </a:rPr>
              <a:t>”.</a:t>
            </a:r>
            <a:br>
              <a:rPr lang="en-IN" dirty="0"/>
            </a:br>
            <a:r>
              <a:rPr lang="en-IN" b="0" i="0" dirty="0">
                <a:effectLst/>
                <a:latin typeface="Times New Roman" panose="02020603050405020304" pitchFamily="18" charset="0"/>
              </a:rPr>
              <a:t> </a:t>
            </a:r>
            <a:r>
              <a:rPr lang="en-IN" b="0" i="0" dirty="0">
                <a:effectLst/>
                <a:latin typeface="Arial" panose="020B0604020202020204" pitchFamily="34" charset="0"/>
              </a:rPr>
              <a:t>We can create anonymous array as follows.</a:t>
            </a:r>
            <a:br>
              <a:rPr lang="en-IN" dirty="0"/>
            </a:br>
            <a:r>
              <a:rPr lang="en-IN" b="0" i="0" dirty="0">
                <a:effectLst/>
                <a:latin typeface="Arial" panose="020B0604020202020204" pitchFamily="34" charset="0"/>
              </a:rPr>
              <a:t>new int[]{10,20,30,40}; //(valid)</a:t>
            </a:r>
            <a:br>
              <a:rPr lang="en-IN" dirty="0"/>
            </a:br>
            <a:r>
              <a:rPr lang="en-IN" b="0" i="0" dirty="0">
                <a:effectLst/>
                <a:latin typeface="Arial" panose="020B0604020202020204" pitchFamily="34" charset="0"/>
              </a:rPr>
              <a:t>new int[][]{{10,20},{30,40}}; //(valid)</a:t>
            </a:r>
            <a:br>
              <a:rPr lang="en-IN" dirty="0"/>
            </a:br>
            <a:r>
              <a:rPr lang="en-IN" b="0" i="0" dirty="0">
                <a:effectLst/>
                <a:latin typeface="Times New Roman" panose="02020603050405020304" pitchFamily="18" charset="0"/>
              </a:rPr>
              <a:t> </a:t>
            </a:r>
            <a:r>
              <a:rPr lang="en-IN" b="0" i="0" dirty="0">
                <a:effectLst/>
                <a:latin typeface="Arial" panose="020B0604020202020204" pitchFamily="34" charset="0"/>
              </a:rPr>
              <a:t>At the time of anonymous array creation we can’t specify the size otherwise we will get compile time error.</a:t>
            </a:r>
          </a:p>
          <a:p>
            <a:r>
              <a:rPr lang="en-IN" b="0" i="0" dirty="0">
                <a:effectLst/>
                <a:latin typeface="Arial" panose="020B0604020202020204" pitchFamily="34" charset="0"/>
              </a:rPr>
              <a:t>Example:</a:t>
            </a:r>
            <a:br>
              <a:rPr lang="en-IN" dirty="0"/>
            </a:br>
            <a:r>
              <a:rPr lang="en-IN" b="0" i="0" dirty="0">
                <a:effectLst/>
                <a:latin typeface="Arial" panose="020B0604020202020204" pitchFamily="34" charset="0"/>
              </a:rPr>
              <a:t>new int[3]{10,20,30,40};//C.E:';' expected(invalid)</a:t>
            </a:r>
            <a:br>
              <a:rPr lang="en-IN" dirty="0"/>
            </a:br>
            <a:r>
              <a:rPr lang="en-IN" b="0" i="0" dirty="0">
                <a:effectLst/>
                <a:latin typeface="Arial" panose="020B0604020202020204" pitchFamily="34" charset="0"/>
              </a:rPr>
              <a:t>new int[]{10,20,30,40};(valid)</a:t>
            </a:r>
            <a:endParaRPr lang="en-US" dirty="0"/>
          </a:p>
        </p:txBody>
      </p:sp>
      <p:sp>
        <p:nvSpPr>
          <p:cNvPr id="5" name="Footer Placeholder 4">
            <a:extLst>
              <a:ext uri="{FF2B5EF4-FFF2-40B4-BE49-F238E27FC236}">
                <a16:creationId xmlns:a16="http://schemas.microsoft.com/office/drawing/2014/main" id="{A5B18D15-9003-9EF3-3374-E8308C554177}"/>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517163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BC59-92B3-1ACB-CEE1-339C4C1D43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C7ADAF-6677-72A7-D1DA-B3B8E2221650}"/>
              </a:ext>
            </a:extLst>
          </p:cNvPr>
          <p:cNvSpPr>
            <a:spLocks noGrp="1"/>
          </p:cNvSpPr>
          <p:nvPr>
            <p:ph idx="1"/>
          </p:nvPr>
        </p:nvSpPr>
        <p:spPr>
          <a:xfrm>
            <a:off x="838200" y="1825625"/>
            <a:ext cx="10515600" cy="4351338"/>
          </a:xfrm>
        </p:spPr>
        <p:txBody>
          <a:bodyPr/>
          <a:lstStyle/>
          <a:p>
            <a:pPr algn="l" rtl="0"/>
            <a:r>
              <a:rPr lang="en-IN" dirty="0">
                <a:effectLst/>
                <a:latin typeface="Arial" panose="020B0604020202020204" pitchFamily="34" charset="0"/>
              </a:rPr>
              <a:t>Based on our programming requirement we can give the name for anonymous array</a:t>
            </a:r>
            <a:br>
              <a:rPr lang="en-IN" dirty="0">
                <a:effectLst/>
              </a:rPr>
            </a:br>
            <a:r>
              <a:rPr lang="en-IN" dirty="0">
                <a:effectLst/>
                <a:latin typeface="Arial" panose="020B0604020202020204" pitchFamily="34" charset="0"/>
              </a:rPr>
              <a:t>then it is no longer anonymous.</a:t>
            </a:r>
            <a:br>
              <a:rPr lang="en-IN" dirty="0">
                <a:effectLst/>
              </a:rPr>
            </a:br>
            <a:r>
              <a:rPr lang="en-IN" dirty="0">
                <a:effectLst/>
                <a:latin typeface="Arial" panose="020B0604020202020204" pitchFamily="34" charset="0"/>
              </a:rPr>
              <a:t>Example:</a:t>
            </a:r>
            <a:br>
              <a:rPr lang="en-IN" dirty="0">
                <a:effectLst/>
              </a:rPr>
            </a:br>
            <a:r>
              <a:rPr lang="en-IN" dirty="0">
                <a:effectLst/>
                <a:latin typeface="Arial" panose="020B0604020202020204" pitchFamily="34" charset="0"/>
              </a:rPr>
              <a:t>int[] a=new int[]{10,20,30,40};(valid)</a:t>
            </a:r>
            <a:endParaRPr lang="en-IN" dirty="0">
              <a:effectLst/>
            </a:endParaRPr>
          </a:p>
          <a:p>
            <a:pPr algn="l" rtl="0"/>
            <a:br>
              <a:rPr lang="en-IN" b="0" i="0" dirty="0">
                <a:solidFill>
                  <a:srgbClr val="000000"/>
                </a:solidFill>
                <a:effectLst/>
                <a:latin typeface="Arial" panose="020B0604020202020204" pitchFamily="34" charset="0"/>
              </a:rPr>
            </a:br>
            <a:endParaRPr lang="en-IN" b="0" i="0" dirty="0">
              <a:solidFill>
                <a:srgbClr val="000000"/>
              </a:solidFill>
              <a:effectLst/>
              <a:latin typeface="Arial" panose="020B0604020202020204" pitchFamily="34" charset="0"/>
            </a:endParaRPr>
          </a:p>
          <a:p>
            <a:endParaRPr lang="en-US" dirty="0"/>
          </a:p>
        </p:txBody>
      </p:sp>
      <p:sp>
        <p:nvSpPr>
          <p:cNvPr id="5" name="Footer Placeholder 4">
            <a:extLst>
              <a:ext uri="{FF2B5EF4-FFF2-40B4-BE49-F238E27FC236}">
                <a16:creationId xmlns:a16="http://schemas.microsoft.com/office/drawing/2014/main" id="{84BDF39E-CA92-A531-18C1-6A511C9B847E}"/>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872932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8F81E2-F038-3E28-830D-0DF34870FD5F}"/>
              </a:ext>
            </a:extLst>
          </p:cNvPr>
          <p:cNvSpPr>
            <a:spLocks noGrp="1"/>
          </p:cNvSpPr>
          <p:nvPr>
            <p:ph idx="1"/>
          </p:nvPr>
        </p:nvSpPr>
        <p:spPr>
          <a:xfrm>
            <a:off x="838200" y="485192"/>
            <a:ext cx="10515600" cy="5691771"/>
          </a:xfrm>
        </p:spPr>
        <p:txBody>
          <a:bodyPr>
            <a:normAutofit fontScale="92500" lnSpcReduction="10000"/>
          </a:bodyPr>
          <a:lstStyle/>
          <a:p>
            <a:r>
              <a:rPr lang="en-IN" b="0" i="0" dirty="0">
                <a:effectLst/>
                <a:latin typeface="Arial" panose="020B0604020202020204" pitchFamily="34" charset="0"/>
              </a:rPr>
              <a:t>Example:</a:t>
            </a:r>
            <a:br>
              <a:rPr lang="en-IN" dirty="0"/>
            </a:br>
            <a:r>
              <a:rPr lang="en-IN" b="0" i="0" dirty="0">
                <a:effectLst/>
                <a:latin typeface="Arial" panose="020B0604020202020204" pitchFamily="34" charset="0"/>
              </a:rPr>
              <a:t>class Test</a:t>
            </a:r>
            <a:br>
              <a:rPr lang="en-IN" dirty="0"/>
            </a:br>
            <a:r>
              <a:rPr lang="en-IN" b="0" i="0" dirty="0">
                <a:effectLst/>
                <a:latin typeface="Arial" panose="020B0604020202020204" pitchFamily="34" charset="0"/>
              </a:rPr>
              <a:t>{</a:t>
            </a:r>
            <a:br>
              <a:rPr lang="en-IN" dirty="0"/>
            </a:br>
            <a:r>
              <a:rPr lang="en-IN" b="0" i="0" dirty="0">
                <a:effectLst/>
                <a:latin typeface="Arial" panose="020B0604020202020204" pitchFamily="34" charset="0"/>
              </a:rPr>
              <a:t>public static void main(String[] </a:t>
            </a:r>
            <a:r>
              <a:rPr lang="en-IN" b="0" i="0" dirty="0" err="1">
                <a:effectLst/>
                <a:latin typeface="Arial" panose="020B0604020202020204" pitchFamily="34" charset="0"/>
              </a:rPr>
              <a:t>args</a:t>
            </a:r>
            <a:r>
              <a:rPr lang="en-IN" b="0" i="0" dirty="0">
                <a:effectLst/>
                <a:latin typeface="Arial" panose="020B0604020202020204" pitchFamily="34" charset="0"/>
              </a:rPr>
              <a:t>)</a:t>
            </a:r>
            <a:br>
              <a:rPr lang="en-IN" dirty="0"/>
            </a:br>
            <a:r>
              <a:rPr lang="en-IN" b="0" i="0" dirty="0">
                <a:effectLst/>
                <a:latin typeface="Arial" panose="020B0604020202020204" pitchFamily="34" charset="0"/>
              </a:rPr>
              <a:t>{</a:t>
            </a:r>
            <a:br>
              <a:rPr lang="en-IN" dirty="0"/>
            </a:br>
            <a:r>
              <a:rPr lang="en-IN" b="0" i="0" dirty="0" err="1">
                <a:effectLst/>
                <a:latin typeface="Arial" panose="020B0604020202020204" pitchFamily="34" charset="0"/>
              </a:rPr>
              <a:t>System.out.println</a:t>
            </a:r>
            <a:r>
              <a:rPr lang="en-IN" b="0" i="0" dirty="0">
                <a:effectLst/>
                <a:latin typeface="Arial" panose="020B0604020202020204" pitchFamily="34" charset="0"/>
              </a:rPr>
              <a:t>(sum(new int[]{10,20,30,40}));//100</a:t>
            </a:r>
            <a:br>
              <a:rPr lang="en-IN" dirty="0"/>
            </a:br>
            <a:r>
              <a:rPr lang="en-IN" b="0" i="0" dirty="0">
                <a:effectLst/>
                <a:latin typeface="Arial" panose="020B0604020202020204" pitchFamily="34" charset="0"/>
              </a:rPr>
              <a:t>}</a:t>
            </a:r>
            <a:br>
              <a:rPr lang="en-IN" dirty="0"/>
            </a:br>
            <a:r>
              <a:rPr lang="en-IN" b="0" i="0" dirty="0">
                <a:effectLst/>
                <a:latin typeface="Arial" panose="020B0604020202020204" pitchFamily="34" charset="0"/>
              </a:rPr>
              <a:t>public static int sum(int[] x)</a:t>
            </a:r>
            <a:br>
              <a:rPr lang="en-IN" dirty="0"/>
            </a:br>
            <a:r>
              <a:rPr lang="en-IN" b="0" i="0" dirty="0">
                <a:effectLst/>
                <a:latin typeface="Arial" panose="020B0604020202020204" pitchFamily="34" charset="0"/>
              </a:rPr>
              <a:t>{</a:t>
            </a:r>
            <a:br>
              <a:rPr lang="en-IN" dirty="0"/>
            </a:br>
            <a:r>
              <a:rPr lang="en-IN" b="0" i="0" dirty="0">
                <a:effectLst/>
                <a:latin typeface="Arial" panose="020B0604020202020204" pitchFamily="34" charset="0"/>
              </a:rPr>
              <a:t>int total=0;</a:t>
            </a:r>
            <a:br>
              <a:rPr lang="en-IN" dirty="0"/>
            </a:br>
            <a:r>
              <a:rPr lang="en-IN" b="0" i="0" dirty="0">
                <a:effectLst/>
                <a:latin typeface="Arial" panose="020B0604020202020204" pitchFamily="34" charset="0"/>
              </a:rPr>
              <a:t>for(int x1:x)</a:t>
            </a:r>
            <a:br>
              <a:rPr lang="en-IN" dirty="0"/>
            </a:br>
            <a:r>
              <a:rPr lang="en-IN" b="0" i="0" dirty="0">
                <a:effectLst/>
                <a:latin typeface="Arial" panose="020B0604020202020204" pitchFamily="34" charset="0"/>
              </a:rPr>
              <a:t>{</a:t>
            </a:r>
            <a:br>
              <a:rPr lang="en-IN" dirty="0"/>
            </a:br>
            <a:r>
              <a:rPr lang="en-IN" b="0" i="0" dirty="0">
                <a:effectLst/>
                <a:latin typeface="Arial" panose="020B0604020202020204" pitchFamily="34" charset="0"/>
              </a:rPr>
              <a:t>total=total+x1;</a:t>
            </a:r>
            <a:br>
              <a:rPr lang="en-IN" dirty="0"/>
            </a:br>
            <a:r>
              <a:rPr lang="en-IN" b="0" i="0" dirty="0">
                <a:effectLst/>
                <a:latin typeface="Arial" panose="020B0604020202020204" pitchFamily="34" charset="0"/>
              </a:rPr>
              <a:t>}</a:t>
            </a:r>
            <a:br>
              <a:rPr lang="en-IN" dirty="0"/>
            </a:br>
            <a:r>
              <a:rPr lang="en-IN" b="0" i="0" dirty="0">
                <a:effectLst/>
                <a:latin typeface="Arial" panose="020B0604020202020204" pitchFamily="34" charset="0"/>
              </a:rPr>
              <a:t>return total;</a:t>
            </a:r>
            <a:br>
              <a:rPr lang="en-IN" dirty="0"/>
            </a:br>
            <a:r>
              <a:rPr lang="en-IN" b="0" i="0" dirty="0">
                <a:effectLst/>
                <a:latin typeface="Arial" panose="020B0604020202020204" pitchFamily="34" charset="0"/>
              </a:rPr>
              <a:t>}</a:t>
            </a:r>
            <a:br>
              <a:rPr lang="en-IN" dirty="0"/>
            </a:br>
            <a:r>
              <a:rPr lang="en-IN" b="0" i="0" dirty="0">
                <a:effectLst/>
                <a:latin typeface="Arial" panose="020B0604020202020204" pitchFamily="34" charset="0"/>
              </a:rPr>
              <a:t>}</a:t>
            </a:r>
            <a:endParaRPr lang="en-US" dirty="0"/>
          </a:p>
        </p:txBody>
      </p:sp>
      <p:sp>
        <p:nvSpPr>
          <p:cNvPr id="4" name="Footer Placeholder 3">
            <a:extLst>
              <a:ext uri="{FF2B5EF4-FFF2-40B4-BE49-F238E27FC236}">
                <a16:creationId xmlns:a16="http://schemas.microsoft.com/office/drawing/2014/main" id="{B2A0E458-CEED-A1E8-0AE4-05C636EDFC52}"/>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192062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69B13-EBBC-6F7D-B572-95E80620EAC1}"/>
              </a:ext>
            </a:extLst>
          </p:cNvPr>
          <p:cNvSpPr>
            <a:spLocks noGrp="1"/>
          </p:cNvSpPr>
          <p:nvPr>
            <p:ph type="title"/>
          </p:nvPr>
        </p:nvSpPr>
        <p:spPr/>
        <p:txBody>
          <a:bodyPr/>
          <a:lstStyle/>
          <a:p>
            <a:r>
              <a:rPr lang="en-IN" b="0" i="0" dirty="0">
                <a:effectLst/>
                <a:latin typeface="Arial" panose="020B0604020202020204" pitchFamily="34" charset="0"/>
              </a:rPr>
              <a:t>Array element assignments:</a:t>
            </a:r>
            <a:endParaRPr lang="en-US" dirty="0"/>
          </a:p>
        </p:txBody>
      </p:sp>
      <p:sp>
        <p:nvSpPr>
          <p:cNvPr id="3" name="Content Placeholder 2">
            <a:extLst>
              <a:ext uri="{FF2B5EF4-FFF2-40B4-BE49-F238E27FC236}">
                <a16:creationId xmlns:a16="http://schemas.microsoft.com/office/drawing/2014/main" id="{66E2E38F-5AA0-22A8-D70D-F2DDC5664A30}"/>
              </a:ext>
            </a:extLst>
          </p:cNvPr>
          <p:cNvSpPr>
            <a:spLocks noGrp="1"/>
          </p:cNvSpPr>
          <p:nvPr>
            <p:ph idx="1"/>
          </p:nvPr>
        </p:nvSpPr>
        <p:spPr/>
        <p:txBody>
          <a:bodyPr>
            <a:normAutofit fontScale="85000" lnSpcReduction="20000"/>
          </a:bodyPr>
          <a:lstStyle/>
          <a:p>
            <a:r>
              <a:rPr lang="en-IN" b="0" i="0" dirty="0">
                <a:effectLst/>
                <a:latin typeface="Arial" panose="020B0604020202020204" pitchFamily="34" charset="0"/>
              </a:rPr>
              <a:t>Case 1: In the case of primitive array as array element any type is allowed which can be promoted to declared type.</a:t>
            </a:r>
          </a:p>
          <a:p>
            <a:br>
              <a:rPr lang="en-IN" dirty="0"/>
            </a:br>
            <a:r>
              <a:rPr lang="en-IN" b="0" i="0" dirty="0">
                <a:effectLst/>
                <a:latin typeface="Arial" panose="020B0604020202020204" pitchFamily="34" charset="0"/>
              </a:rPr>
              <a:t>Example 1: For the int type arrays the allowed array element types are byte, short, char int.</a:t>
            </a:r>
            <a:br>
              <a:rPr lang="en-IN" dirty="0"/>
            </a:br>
            <a:r>
              <a:rPr lang="en-IN" b="0" i="0" dirty="0">
                <a:effectLst/>
                <a:latin typeface="Arial" panose="020B0604020202020204" pitchFamily="34" charset="0"/>
              </a:rPr>
              <a:t>int[] a=new int[10];</a:t>
            </a:r>
            <a:br>
              <a:rPr lang="en-IN" dirty="0"/>
            </a:br>
            <a:r>
              <a:rPr lang="en-IN" b="0" i="0" dirty="0">
                <a:effectLst/>
                <a:latin typeface="Arial" panose="020B0604020202020204" pitchFamily="34" charset="0"/>
              </a:rPr>
              <a:t>a[0]=97;//(valid)</a:t>
            </a:r>
            <a:br>
              <a:rPr lang="en-IN" dirty="0"/>
            </a:br>
            <a:r>
              <a:rPr lang="en-IN" b="0" i="0" dirty="0">
                <a:effectLst/>
                <a:latin typeface="Arial" panose="020B0604020202020204" pitchFamily="34" charset="0"/>
              </a:rPr>
              <a:t>a[1]='a';//(valid)</a:t>
            </a:r>
            <a:br>
              <a:rPr lang="en-IN" dirty="0"/>
            </a:br>
            <a:r>
              <a:rPr lang="en-IN" b="0" i="0" dirty="0">
                <a:effectLst/>
                <a:latin typeface="Arial" panose="020B0604020202020204" pitchFamily="34" charset="0"/>
              </a:rPr>
              <a:t>byte b=10;</a:t>
            </a:r>
            <a:br>
              <a:rPr lang="en-IN" dirty="0"/>
            </a:br>
            <a:r>
              <a:rPr lang="en-IN" b="0" i="0" dirty="0">
                <a:effectLst/>
                <a:latin typeface="Arial" panose="020B0604020202020204" pitchFamily="34" charset="0"/>
              </a:rPr>
              <a:t>a[2]=b;//(valid)</a:t>
            </a:r>
            <a:br>
              <a:rPr lang="en-IN" dirty="0"/>
            </a:br>
            <a:r>
              <a:rPr lang="en-IN" b="0" i="0" dirty="0">
                <a:effectLst/>
                <a:latin typeface="Arial" panose="020B0604020202020204" pitchFamily="34" charset="0"/>
              </a:rPr>
              <a:t>short s=20;</a:t>
            </a:r>
            <a:br>
              <a:rPr lang="en-IN" dirty="0"/>
            </a:br>
            <a:r>
              <a:rPr lang="en-IN" b="0" i="0" dirty="0">
                <a:effectLst/>
                <a:latin typeface="Arial" panose="020B0604020202020204" pitchFamily="34" charset="0"/>
              </a:rPr>
              <a:t>a[3]=s;//(valid)</a:t>
            </a:r>
            <a:br>
              <a:rPr lang="en-IN" dirty="0"/>
            </a:br>
            <a:r>
              <a:rPr lang="en-IN" b="0" i="0" dirty="0">
                <a:effectLst/>
                <a:latin typeface="Arial" panose="020B0604020202020204" pitchFamily="34" charset="0"/>
              </a:rPr>
              <a:t>a[4]=10l;//</a:t>
            </a:r>
            <a:r>
              <a:rPr lang="en-IN" b="0" i="0" dirty="0" err="1">
                <a:effectLst/>
                <a:latin typeface="Arial" panose="020B0604020202020204" pitchFamily="34" charset="0"/>
              </a:rPr>
              <a:t>C.E:possible</a:t>
            </a:r>
            <a:r>
              <a:rPr lang="en-IN" b="0" i="0" dirty="0">
                <a:effectLst/>
                <a:latin typeface="Arial" panose="020B0604020202020204" pitchFamily="34" charset="0"/>
              </a:rPr>
              <a:t> loss of precision</a:t>
            </a:r>
            <a:br>
              <a:rPr lang="en-IN" dirty="0"/>
            </a:br>
            <a:r>
              <a:rPr lang="en-IN" b="0" i="0" dirty="0">
                <a:effectLst/>
                <a:latin typeface="Arial" panose="020B0604020202020204" pitchFamily="34" charset="0"/>
              </a:rPr>
              <a:t>Example 2: For float type arrays the allowed element types are byte, short, char, int, long, float</a:t>
            </a:r>
            <a:endParaRPr lang="en-US" dirty="0"/>
          </a:p>
        </p:txBody>
      </p:sp>
      <p:sp>
        <p:nvSpPr>
          <p:cNvPr id="5" name="Footer Placeholder 4">
            <a:extLst>
              <a:ext uri="{FF2B5EF4-FFF2-40B4-BE49-F238E27FC236}">
                <a16:creationId xmlns:a16="http://schemas.microsoft.com/office/drawing/2014/main" id="{42A9BA86-91F4-66AE-0B17-DC5FC85471DD}"/>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6229521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3CE662-83F2-150C-37DF-BA279B420D28}"/>
              </a:ext>
            </a:extLst>
          </p:cNvPr>
          <p:cNvSpPr>
            <a:spLocks noGrp="1"/>
          </p:cNvSpPr>
          <p:nvPr>
            <p:ph idx="1"/>
          </p:nvPr>
        </p:nvSpPr>
        <p:spPr>
          <a:xfrm>
            <a:off x="838200" y="391886"/>
            <a:ext cx="10515600" cy="5785077"/>
          </a:xfrm>
        </p:spPr>
        <p:txBody>
          <a:bodyPr>
            <a:normAutofit fontScale="92500" lnSpcReduction="10000"/>
          </a:bodyPr>
          <a:lstStyle/>
          <a:p>
            <a:pPr algn="l" rtl="0"/>
            <a:r>
              <a:rPr lang="en-IN" dirty="0">
                <a:effectLst/>
                <a:latin typeface="Arial" panose="020B0604020202020204" pitchFamily="34" charset="0"/>
              </a:rPr>
              <a:t>Case 2: In the case of Object type arrays as array elements we can provide either declared type</a:t>
            </a:r>
            <a:r>
              <a:rPr lang="en-IN" dirty="0">
                <a:latin typeface="Arial" panose="020B0604020202020204" pitchFamily="34" charset="0"/>
              </a:rPr>
              <a:t> </a:t>
            </a:r>
            <a:r>
              <a:rPr lang="en-IN" dirty="0">
                <a:effectLst/>
                <a:latin typeface="Arial" panose="020B0604020202020204" pitchFamily="34" charset="0"/>
              </a:rPr>
              <a:t>objects or its child class objects.</a:t>
            </a:r>
          </a:p>
          <a:p>
            <a:pPr algn="l" rtl="0"/>
            <a:br>
              <a:rPr lang="en-IN" dirty="0">
                <a:effectLst/>
              </a:rPr>
            </a:br>
            <a:r>
              <a:rPr lang="en-IN" dirty="0">
                <a:effectLst/>
                <a:latin typeface="Arial" panose="020B0604020202020204" pitchFamily="34" charset="0"/>
              </a:rPr>
              <a:t>Example 1:</a:t>
            </a:r>
            <a:br>
              <a:rPr lang="en-IN" dirty="0">
                <a:effectLst/>
              </a:rPr>
            </a:br>
            <a:r>
              <a:rPr lang="en-IN" dirty="0">
                <a:effectLst/>
                <a:latin typeface="Arial" panose="020B0604020202020204" pitchFamily="34" charset="0"/>
              </a:rPr>
              <a:t>Object[] a=new Object[10];</a:t>
            </a:r>
            <a:br>
              <a:rPr lang="en-IN" dirty="0">
                <a:effectLst/>
              </a:rPr>
            </a:br>
            <a:r>
              <a:rPr lang="en-IN" dirty="0">
                <a:effectLst/>
                <a:latin typeface="Arial" panose="020B0604020202020204" pitchFamily="34" charset="0"/>
              </a:rPr>
              <a:t>a[0]=new Integer(10);//(valid)</a:t>
            </a:r>
            <a:br>
              <a:rPr lang="en-IN" dirty="0">
                <a:effectLst/>
              </a:rPr>
            </a:br>
            <a:r>
              <a:rPr lang="en-IN" dirty="0">
                <a:effectLst/>
                <a:latin typeface="Arial" panose="020B0604020202020204" pitchFamily="34" charset="0"/>
              </a:rPr>
              <a:t>a[1]=new Object();//(valid)</a:t>
            </a:r>
            <a:br>
              <a:rPr lang="en-IN" dirty="0">
                <a:effectLst/>
              </a:rPr>
            </a:br>
            <a:r>
              <a:rPr lang="en-IN" dirty="0">
                <a:effectLst/>
                <a:latin typeface="Arial" panose="020B0604020202020204" pitchFamily="34" charset="0"/>
              </a:rPr>
              <a:t>a[2]=new String("</a:t>
            </a:r>
            <a:r>
              <a:rPr lang="en-IN" dirty="0" err="1">
                <a:effectLst/>
                <a:latin typeface="Arial" panose="020B0604020202020204" pitchFamily="34" charset="0"/>
              </a:rPr>
              <a:t>bhaskar</a:t>
            </a:r>
            <a:r>
              <a:rPr lang="en-IN" dirty="0">
                <a:effectLst/>
                <a:latin typeface="Arial" panose="020B0604020202020204" pitchFamily="34" charset="0"/>
              </a:rPr>
              <a:t>");//(valid)</a:t>
            </a:r>
            <a:br>
              <a:rPr lang="en-IN" dirty="0">
                <a:effectLst/>
              </a:rPr>
            </a:br>
            <a:endParaRPr lang="en-IN" dirty="0">
              <a:effectLst/>
            </a:endParaRPr>
          </a:p>
          <a:p>
            <a:pPr algn="l" rtl="0"/>
            <a:r>
              <a:rPr lang="en-IN" dirty="0">
                <a:effectLst/>
                <a:latin typeface="Arial" panose="020B0604020202020204" pitchFamily="34" charset="0"/>
              </a:rPr>
              <a:t>Example 2:</a:t>
            </a:r>
            <a:endParaRPr lang="en-IN" dirty="0">
              <a:effectLst/>
            </a:endParaRPr>
          </a:p>
          <a:p>
            <a:pPr algn="l" rtl="0"/>
            <a:r>
              <a:rPr lang="en-IN" b="0" i="0" dirty="0">
                <a:effectLst/>
                <a:latin typeface="Arial" panose="020B0604020202020204" pitchFamily="34" charset="0"/>
              </a:rPr>
              <a:t>Number[] n=new Number[10];</a:t>
            </a:r>
            <a:br>
              <a:rPr lang="en-IN" dirty="0"/>
            </a:br>
            <a:r>
              <a:rPr lang="en-IN" b="0" i="0" dirty="0">
                <a:effectLst/>
                <a:latin typeface="Arial" panose="020B0604020202020204" pitchFamily="34" charset="0"/>
              </a:rPr>
              <a:t>n[0]=new Integer(10);//(valid)</a:t>
            </a:r>
            <a:br>
              <a:rPr lang="en-IN" dirty="0"/>
            </a:br>
            <a:r>
              <a:rPr lang="en-IN" b="0" i="0" dirty="0">
                <a:effectLst/>
                <a:latin typeface="Arial" panose="020B0604020202020204" pitchFamily="34" charset="0"/>
              </a:rPr>
              <a:t>n[1]=new Double(10.5);//(valid)</a:t>
            </a:r>
            <a:br>
              <a:rPr lang="en-IN" dirty="0"/>
            </a:br>
            <a:r>
              <a:rPr lang="en-IN" b="0" i="0" dirty="0">
                <a:effectLst/>
                <a:latin typeface="Arial" panose="020B0604020202020204" pitchFamily="34" charset="0"/>
              </a:rPr>
              <a:t>n[2]=new String("</a:t>
            </a:r>
            <a:r>
              <a:rPr lang="en-IN" b="0" i="0" dirty="0" err="1">
                <a:effectLst/>
                <a:latin typeface="Arial" panose="020B0604020202020204" pitchFamily="34" charset="0"/>
              </a:rPr>
              <a:t>bhaskar</a:t>
            </a:r>
            <a:r>
              <a:rPr lang="en-IN" b="0" i="0" dirty="0">
                <a:effectLst/>
                <a:latin typeface="Arial" panose="020B0604020202020204" pitchFamily="34" charset="0"/>
              </a:rPr>
              <a:t>");//</a:t>
            </a:r>
            <a:r>
              <a:rPr lang="en-IN" b="0" i="0" dirty="0" err="1">
                <a:effectLst/>
                <a:latin typeface="Arial" panose="020B0604020202020204" pitchFamily="34" charset="0"/>
              </a:rPr>
              <a:t>C.E:incompatible</a:t>
            </a:r>
            <a:r>
              <a:rPr lang="en-IN" b="0" i="0" dirty="0">
                <a:effectLst/>
                <a:latin typeface="Arial" panose="020B0604020202020204" pitchFamily="34" charset="0"/>
              </a:rPr>
              <a:t> types//(invalid)</a:t>
            </a:r>
            <a:br>
              <a:rPr lang="en-IN" b="0" i="0" dirty="0">
                <a:solidFill>
                  <a:srgbClr val="000000"/>
                </a:solidFill>
                <a:effectLst/>
                <a:latin typeface="Arial" panose="020B0604020202020204" pitchFamily="34" charset="0"/>
              </a:rPr>
            </a:br>
            <a:endParaRPr lang="en-IN" b="0" i="0" dirty="0">
              <a:solidFill>
                <a:srgbClr val="000000"/>
              </a:solidFill>
              <a:effectLst/>
              <a:latin typeface="Arial" panose="020B0604020202020204" pitchFamily="34" charset="0"/>
            </a:endParaRPr>
          </a:p>
          <a:p>
            <a:endParaRPr lang="en-US" dirty="0"/>
          </a:p>
        </p:txBody>
      </p:sp>
      <p:sp>
        <p:nvSpPr>
          <p:cNvPr id="4" name="Footer Placeholder 3">
            <a:extLst>
              <a:ext uri="{FF2B5EF4-FFF2-40B4-BE49-F238E27FC236}">
                <a16:creationId xmlns:a16="http://schemas.microsoft.com/office/drawing/2014/main" id="{7E8FE999-35A7-3664-F27A-99774B56894B}"/>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3554229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0C445-C8E3-14D0-513C-5C0A3ECDE3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DFCF6E-B889-8E0A-7D2A-260666643129}"/>
              </a:ext>
            </a:extLst>
          </p:cNvPr>
          <p:cNvSpPr>
            <a:spLocks noGrp="1"/>
          </p:cNvSpPr>
          <p:nvPr>
            <p:ph idx="1"/>
          </p:nvPr>
        </p:nvSpPr>
        <p:spPr/>
        <p:txBody>
          <a:bodyPr/>
          <a:lstStyle/>
          <a:p>
            <a:r>
              <a:rPr lang="en-IN" b="0" i="0" dirty="0">
                <a:effectLst/>
                <a:latin typeface="Arial" panose="020B0604020202020204" pitchFamily="34" charset="0"/>
              </a:rPr>
              <a:t>Case 3: In the case of interface type arrays as array elements we can provide its implemented</a:t>
            </a:r>
            <a:br>
              <a:rPr lang="en-IN" dirty="0"/>
            </a:br>
            <a:r>
              <a:rPr lang="en-IN" b="0" i="0" dirty="0">
                <a:effectLst/>
                <a:latin typeface="Arial" panose="020B0604020202020204" pitchFamily="34" charset="0"/>
              </a:rPr>
              <a:t>class objects.</a:t>
            </a:r>
            <a:br>
              <a:rPr lang="en-IN" dirty="0"/>
            </a:br>
            <a:r>
              <a:rPr lang="en-IN" b="0" i="0" dirty="0">
                <a:effectLst/>
                <a:latin typeface="Arial" panose="020B0604020202020204" pitchFamily="34" charset="0"/>
              </a:rPr>
              <a:t>Example:</a:t>
            </a:r>
            <a:br>
              <a:rPr lang="en-IN" dirty="0"/>
            </a:br>
            <a:r>
              <a:rPr lang="en-IN" b="0" i="0" dirty="0">
                <a:effectLst/>
                <a:latin typeface="Arial" panose="020B0604020202020204" pitchFamily="34" charset="0"/>
              </a:rPr>
              <a:t>Runnable[] r=new Runnable[10];</a:t>
            </a:r>
            <a:br>
              <a:rPr lang="en-IN" dirty="0"/>
            </a:br>
            <a:r>
              <a:rPr lang="en-IN" b="0" i="0" dirty="0">
                <a:effectLst/>
                <a:latin typeface="Arial" panose="020B0604020202020204" pitchFamily="34" charset="0"/>
              </a:rPr>
              <a:t>r[0]=new Thread();</a:t>
            </a:r>
            <a:br>
              <a:rPr lang="en-IN" dirty="0"/>
            </a:br>
            <a:r>
              <a:rPr lang="en-IN" b="0" i="0" dirty="0">
                <a:effectLst/>
                <a:latin typeface="Arial" panose="020B0604020202020204" pitchFamily="34" charset="0"/>
              </a:rPr>
              <a:t>r[1]=new String("</a:t>
            </a:r>
            <a:r>
              <a:rPr lang="en-IN" b="0" i="0" dirty="0" err="1">
                <a:effectLst/>
                <a:latin typeface="Arial" panose="020B0604020202020204" pitchFamily="34" charset="0"/>
              </a:rPr>
              <a:t>bhaskar</a:t>
            </a:r>
            <a:r>
              <a:rPr lang="en-IN" b="0" i="0" dirty="0">
                <a:effectLst/>
                <a:latin typeface="Arial" panose="020B0604020202020204" pitchFamily="34" charset="0"/>
              </a:rPr>
              <a:t>");//C.E: incompatible types</a:t>
            </a:r>
            <a:endParaRPr lang="en-US" dirty="0"/>
          </a:p>
        </p:txBody>
      </p:sp>
      <p:sp>
        <p:nvSpPr>
          <p:cNvPr id="5" name="Footer Placeholder 4">
            <a:extLst>
              <a:ext uri="{FF2B5EF4-FFF2-40B4-BE49-F238E27FC236}">
                <a16:creationId xmlns:a16="http://schemas.microsoft.com/office/drawing/2014/main" id="{E007F5FA-15E1-35C2-2171-F94BFF188A4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491819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426E1-CB30-C374-3A80-BB44BFBA0C0F}"/>
              </a:ext>
            </a:extLst>
          </p:cNvPr>
          <p:cNvSpPr>
            <a:spLocks noGrp="1"/>
          </p:cNvSpPr>
          <p:nvPr>
            <p:ph type="title"/>
          </p:nvPr>
        </p:nvSpPr>
        <p:spPr/>
        <p:txBody>
          <a:bodyPr/>
          <a:lstStyle/>
          <a:p>
            <a:r>
              <a:rPr lang="en-IN" b="0" i="0" dirty="0">
                <a:effectLst/>
                <a:latin typeface="Arial" panose="020B0604020202020204" pitchFamily="34" charset="0"/>
              </a:rPr>
              <a:t>Array variable assignments:</a:t>
            </a:r>
            <a:endParaRPr lang="en-US" dirty="0"/>
          </a:p>
        </p:txBody>
      </p:sp>
      <p:sp>
        <p:nvSpPr>
          <p:cNvPr id="3" name="Content Placeholder 2">
            <a:extLst>
              <a:ext uri="{FF2B5EF4-FFF2-40B4-BE49-F238E27FC236}">
                <a16:creationId xmlns:a16="http://schemas.microsoft.com/office/drawing/2014/main" id="{12277B2F-C9B6-48D7-A4E4-A10CE8C81449}"/>
              </a:ext>
            </a:extLst>
          </p:cNvPr>
          <p:cNvSpPr>
            <a:spLocks noGrp="1"/>
          </p:cNvSpPr>
          <p:nvPr>
            <p:ph idx="1"/>
          </p:nvPr>
        </p:nvSpPr>
        <p:spPr/>
        <p:txBody>
          <a:bodyPr>
            <a:normAutofit fontScale="77500" lnSpcReduction="20000"/>
          </a:bodyPr>
          <a:lstStyle/>
          <a:p>
            <a:r>
              <a:rPr lang="en-IN" b="0" i="0" dirty="0">
                <a:effectLst/>
                <a:latin typeface="Arial" panose="020B0604020202020204" pitchFamily="34" charset="0"/>
              </a:rPr>
              <a:t>Case 1:</a:t>
            </a:r>
            <a:br>
              <a:rPr lang="en-IN" dirty="0"/>
            </a:br>
            <a:r>
              <a:rPr lang="en-IN" b="0" i="0" dirty="0">
                <a:effectLst/>
                <a:latin typeface="Times New Roman" panose="02020603050405020304" pitchFamily="18" charset="0"/>
              </a:rPr>
              <a:t> </a:t>
            </a:r>
            <a:r>
              <a:rPr lang="en-IN" b="0" i="0" dirty="0">
                <a:effectLst/>
                <a:latin typeface="Arial" panose="020B0604020202020204" pitchFamily="34" charset="0"/>
              </a:rPr>
              <a:t>Element level promotions are not applicable at array level.</a:t>
            </a:r>
            <a:br>
              <a:rPr lang="en-IN" dirty="0"/>
            </a:br>
            <a:r>
              <a:rPr lang="en-IN" b="0" i="0" dirty="0">
                <a:effectLst/>
                <a:latin typeface="Times New Roman" panose="02020603050405020304" pitchFamily="18" charset="0"/>
              </a:rPr>
              <a:t> </a:t>
            </a:r>
            <a:r>
              <a:rPr lang="en-IN" b="0" i="0" dirty="0">
                <a:effectLst/>
                <a:latin typeface="Arial" panose="020B0604020202020204" pitchFamily="34" charset="0"/>
              </a:rPr>
              <a:t>A char value can be promoted to int type but char array cannot be promoted to int</a:t>
            </a:r>
            <a:br>
              <a:rPr lang="en-IN" dirty="0"/>
            </a:br>
            <a:r>
              <a:rPr lang="en-IN" b="0" i="0" dirty="0">
                <a:effectLst/>
                <a:latin typeface="Arial" panose="020B0604020202020204" pitchFamily="34" charset="0"/>
              </a:rPr>
              <a:t>array.</a:t>
            </a:r>
            <a:br>
              <a:rPr lang="en-IN" dirty="0"/>
            </a:br>
            <a:r>
              <a:rPr lang="en-IN" b="0" i="0" dirty="0">
                <a:effectLst/>
                <a:latin typeface="Arial" panose="020B0604020202020204" pitchFamily="34" charset="0"/>
              </a:rPr>
              <a:t>Example:</a:t>
            </a:r>
            <a:br>
              <a:rPr lang="en-IN" dirty="0"/>
            </a:br>
            <a:r>
              <a:rPr lang="en-IN" b="0" i="0" dirty="0">
                <a:effectLst/>
                <a:latin typeface="Arial" panose="020B0604020202020204" pitchFamily="34" charset="0"/>
              </a:rPr>
              <a:t>int[] a={10,20,30};</a:t>
            </a:r>
            <a:br>
              <a:rPr lang="en-IN" dirty="0"/>
            </a:br>
            <a:r>
              <a:rPr lang="en-IN" b="0" i="0" dirty="0">
                <a:effectLst/>
                <a:latin typeface="Arial" panose="020B0604020202020204" pitchFamily="34" charset="0"/>
              </a:rPr>
              <a:t>char[] </a:t>
            </a:r>
            <a:r>
              <a:rPr lang="en-IN" b="0" i="0" dirty="0" err="1">
                <a:effectLst/>
                <a:latin typeface="Arial" panose="020B0604020202020204" pitchFamily="34" charset="0"/>
              </a:rPr>
              <a:t>ch</a:t>
            </a:r>
            <a:r>
              <a:rPr lang="en-IN" b="0" i="0" dirty="0">
                <a:effectLst/>
                <a:latin typeface="Arial" panose="020B0604020202020204" pitchFamily="34" charset="0"/>
              </a:rPr>
              <a:t>={'</a:t>
            </a:r>
            <a:r>
              <a:rPr lang="en-IN" b="0" i="0" dirty="0" err="1">
                <a:effectLst/>
                <a:latin typeface="Arial" panose="020B0604020202020204" pitchFamily="34" charset="0"/>
              </a:rPr>
              <a:t>a','b','c</a:t>
            </a:r>
            <a:r>
              <a:rPr lang="en-IN" b="0" i="0" dirty="0">
                <a:effectLst/>
                <a:latin typeface="Arial" panose="020B0604020202020204" pitchFamily="34" charset="0"/>
              </a:rPr>
              <a:t>'};</a:t>
            </a:r>
            <a:br>
              <a:rPr lang="en-IN" dirty="0"/>
            </a:br>
            <a:r>
              <a:rPr lang="en-IN" b="0" i="0" dirty="0">
                <a:effectLst/>
                <a:latin typeface="Arial" panose="020B0604020202020204" pitchFamily="34" charset="0"/>
              </a:rPr>
              <a:t>int[] b=a;//(valid)</a:t>
            </a:r>
            <a:br>
              <a:rPr lang="en-IN" dirty="0"/>
            </a:br>
            <a:r>
              <a:rPr lang="en-IN" b="0" i="0" dirty="0">
                <a:effectLst/>
                <a:latin typeface="Arial" panose="020B0604020202020204" pitchFamily="34" charset="0"/>
              </a:rPr>
              <a:t>int[] c=</a:t>
            </a:r>
            <a:r>
              <a:rPr lang="en-IN" b="0" i="0" dirty="0" err="1">
                <a:effectLst/>
                <a:latin typeface="Arial" panose="020B0604020202020204" pitchFamily="34" charset="0"/>
              </a:rPr>
              <a:t>ch</a:t>
            </a:r>
            <a:r>
              <a:rPr lang="en-IN" b="0" i="0" dirty="0">
                <a:effectLst/>
                <a:latin typeface="Arial" panose="020B0604020202020204" pitchFamily="34" charset="0"/>
              </a:rPr>
              <a:t>;//</a:t>
            </a:r>
            <a:r>
              <a:rPr lang="en-IN" b="0" i="0" dirty="0" err="1">
                <a:effectLst/>
                <a:latin typeface="Arial" panose="020B0604020202020204" pitchFamily="34" charset="0"/>
              </a:rPr>
              <a:t>C.E:incompatible</a:t>
            </a:r>
            <a:r>
              <a:rPr lang="en-IN" b="0" i="0" dirty="0">
                <a:effectLst/>
                <a:latin typeface="Arial" panose="020B0604020202020204" pitchFamily="34" charset="0"/>
              </a:rPr>
              <a:t> types(invalid</a:t>
            </a:r>
          </a:p>
          <a:p>
            <a:endParaRPr lang="en-IN" b="0" i="0" dirty="0">
              <a:effectLst/>
              <a:latin typeface="Arial" panose="020B0604020202020204" pitchFamily="34" charset="0"/>
            </a:endParaRPr>
          </a:p>
          <a:p>
            <a:r>
              <a:rPr lang="en-IN" b="0" i="0" dirty="0">
                <a:effectLst/>
                <a:latin typeface="Arial" panose="020B0604020202020204" pitchFamily="34" charset="0"/>
              </a:rPr>
              <a:t>Note: In the case of object type arrays child type array can be assign to parent type array variable.</a:t>
            </a:r>
          </a:p>
          <a:p>
            <a:r>
              <a:rPr lang="en-IN" b="0" i="0" dirty="0">
                <a:effectLst/>
                <a:latin typeface="Arial" panose="020B0604020202020204" pitchFamily="34" charset="0"/>
              </a:rPr>
              <a:t>Example:</a:t>
            </a:r>
            <a:br>
              <a:rPr lang="en-IN" dirty="0"/>
            </a:br>
            <a:r>
              <a:rPr lang="en-IN" b="0" i="0" dirty="0">
                <a:effectLst/>
                <a:latin typeface="Arial" panose="020B0604020202020204" pitchFamily="34" charset="0"/>
              </a:rPr>
              <a:t>String[] s={"A","B"};</a:t>
            </a:r>
            <a:br>
              <a:rPr lang="en-IN" dirty="0"/>
            </a:br>
            <a:r>
              <a:rPr lang="en-IN" b="0" i="0" dirty="0">
                <a:effectLst/>
                <a:latin typeface="Arial" panose="020B0604020202020204" pitchFamily="34" charset="0"/>
              </a:rPr>
              <a:t>Object[] o=s;</a:t>
            </a:r>
            <a:endParaRPr lang="en-US" dirty="0"/>
          </a:p>
        </p:txBody>
      </p:sp>
      <p:sp>
        <p:nvSpPr>
          <p:cNvPr id="5" name="Footer Placeholder 4">
            <a:extLst>
              <a:ext uri="{FF2B5EF4-FFF2-40B4-BE49-F238E27FC236}">
                <a16:creationId xmlns:a16="http://schemas.microsoft.com/office/drawing/2014/main" id="{779C46DE-EAC7-4146-BCFF-61F102CA256A}"/>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2332592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1D19B-2B7B-36D0-F72C-BB3157CC120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94EFA5F-7511-6239-2C1A-6B55710ACECC}"/>
              </a:ext>
            </a:extLst>
          </p:cNvPr>
          <p:cNvSpPr>
            <a:spLocks noGrp="1"/>
          </p:cNvSpPr>
          <p:nvPr>
            <p:ph idx="1"/>
          </p:nvPr>
        </p:nvSpPr>
        <p:spPr/>
        <p:txBody>
          <a:bodyPr/>
          <a:lstStyle/>
          <a:p>
            <a:r>
              <a:rPr lang="en-IN" b="0" i="0" dirty="0">
                <a:effectLst/>
                <a:latin typeface="Arial" panose="020B0604020202020204" pitchFamily="34" charset="0"/>
              </a:rPr>
              <a:t>Case 2: Whenever we are assigning one array to another array internal elements won’t be copy</a:t>
            </a:r>
            <a:br>
              <a:rPr lang="en-IN" dirty="0"/>
            </a:br>
            <a:r>
              <a:rPr lang="en-IN" b="0" i="0" dirty="0">
                <a:effectLst/>
                <a:latin typeface="Arial" panose="020B0604020202020204" pitchFamily="34" charset="0"/>
              </a:rPr>
              <a:t>just reference variables will be reassigned hence sizes are not important but types must be</a:t>
            </a:r>
            <a:br>
              <a:rPr lang="en-IN" dirty="0"/>
            </a:br>
            <a:r>
              <a:rPr lang="en-IN" b="0" i="0" dirty="0">
                <a:effectLst/>
                <a:latin typeface="Arial" panose="020B0604020202020204" pitchFamily="34" charset="0"/>
              </a:rPr>
              <a:t>matched.</a:t>
            </a:r>
            <a:br>
              <a:rPr lang="en-IN" dirty="0"/>
            </a:br>
            <a:r>
              <a:rPr lang="en-IN" b="0" i="0" dirty="0">
                <a:effectLst/>
                <a:latin typeface="Arial" panose="020B0604020202020204" pitchFamily="34" charset="0"/>
              </a:rPr>
              <a:t>Example:</a:t>
            </a:r>
            <a:br>
              <a:rPr lang="en-IN" dirty="0"/>
            </a:br>
            <a:r>
              <a:rPr lang="en-IN" b="0" i="0" dirty="0">
                <a:effectLst/>
                <a:latin typeface="Arial" panose="020B0604020202020204" pitchFamily="34" charset="0"/>
              </a:rPr>
              <a:t>int[] a={10,20,30,40,50,60,70};</a:t>
            </a:r>
            <a:br>
              <a:rPr lang="en-IN" dirty="0"/>
            </a:br>
            <a:r>
              <a:rPr lang="en-IN" b="0" i="0" dirty="0">
                <a:effectLst/>
                <a:latin typeface="Arial" panose="020B0604020202020204" pitchFamily="34" charset="0"/>
              </a:rPr>
              <a:t>int[] b={80,90};</a:t>
            </a:r>
            <a:br>
              <a:rPr lang="en-IN" dirty="0"/>
            </a:br>
            <a:r>
              <a:rPr lang="en-IN" b="0" i="0" dirty="0">
                <a:effectLst/>
                <a:latin typeface="Arial" panose="020B0604020202020204" pitchFamily="34" charset="0"/>
              </a:rPr>
              <a:t>a=b;//(valid)</a:t>
            </a:r>
            <a:br>
              <a:rPr lang="en-IN" dirty="0"/>
            </a:br>
            <a:r>
              <a:rPr lang="en-IN" b="0" i="0" dirty="0">
                <a:effectLst/>
                <a:latin typeface="Arial" panose="020B0604020202020204" pitchFamily="34" charset="0"/>
              </a:rPr>
              <a:t>b=a;//(valid)</a:t>
            </a:r>
            <a:endParaRPr lang="en-US" dirty="0"/>
          </a:p>
        </p:txBody>
      </p:sp>
      <p:sp>
        <p:nvSpPr>
          <p:cNvPr id="5" name="Footer Placeholder 4">
            <a:extLst>
              <a:ext uri="{FF2B5EF4-FFF2-40B4-BE49-F238E27FC236}">
                <a16:creationId xmlns:a16="http://schemas.microsoft.com/office/drawing/2014/main" id="{3940D360-9881-CC91-4F00-17279A11E289}"/>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695475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570841-CC6C-7F09-3A87-6F70369EB660}"/>
              </a:ext>
            </a:extLst>
          </p:cNvPr>
          <p:cNvSpPr>
            <a:spLocks noGrp="1"/>
          </p:cNvSpPr>
          <p:nvPr>
            <p:ph idx="1"/>
          </p:nvPr>
        </p:nvSpPr>
        <p:spPr>
          <a:xfrm>
            <a:off x="838200" y="242596"/>
            <a:ext cx="10515600" cy="5934367"/>
          </a:xfrm>
        </p:spPr>
        <p:txBody>
          <a:bodyPr>
            <a:normAutofit fontScale="92500" lnSpcReduction="20000"/>
          </a:bodyPr>
          <a:lstStyle/>
          <a:p>
            <a:pPr algn="l" rtl="0"/>
            <a:r>
              <a:rPr lang="en-IN" dirty="0">
                <a:effectLst/>
                <a:latin typeface="Arial" panose="020B0604020202020204" pitchFamily="34" charset="0"/>
              </a:rPr>
              <a:t>Case 3: Whenever we are assigning one array to another array dimensions must be matched</a:t>
            </a:r>
            <a:r>
              <a:rPr lang="en-IN" dirty="0">
                <a:latin typeface="Arial" panose="020B0604020202020204" pitchFamily="34" charset="0"/>
              </a:rPr>
              <a:t> </a:t>
            </a:r>
            <a:r>
              <a:rPr lang="en-IN" dirty="0">
                <a:effectLst/>
                <a:latin typeface="Arial" panose="020B0604020202020204" pitchFamily="34" charset="0"/>
              </a:rPr>
              <a:t>that is in the place of one dimensional array we should provide the same type only otherwise</a:t>
            </a:r>
            <a:r>
              <a:rPr lang="en-IN" dirty="0">
                <a:latin typeface="Arial" panose="020B0604020202020204" pitchFamily="34" charset="0"/>
              </a:rPr>
              <a:t> </a:t>
            </a:r>
            <a:r>
              <a:rPr lang="en-IN" dirty="0">
                <a:effectLst/>
                <a:latin typeface="Arial" panose="020B0604020202020204" pitchFamily="34" charset="0"/>
              </a:rPr>
              <a:t>we will get compile time error.</a:t>
            </a:r>
            <a:br>
              <a:rPr lang="en-IN" dirty="0">
                <a:effectLst/>
              </a:rPr>
            </a:br>
            <a:r>
              <a:rPr lang="en-IN" dirty="0">
                <a:effectLst/>
                <a:latin typeface="Arial" panose="020B0604020202020204" pitchFamily="34" charset="0"/>
              </a:rPr>
              <a:t>Example:</a:t>
            </a:r>
            <a:br>
              <a:rPr lang="en-IN" dirty="0">
                <a:effectLst/>
              </a:rPr>
            </a:br>
            <a:r>
              <a:rPr lang="en-IN" dirty="0">
                <a:effectLst/>
                <a:latin typeface="Arial" panose="020B0604020202020204" pitchFamily="34" charset="0"/>
              </a:rPr>
              <a:t>int[][] a=new int[3][];</a:t>
            </a:r>
            <a:br>
              <a:rPr lang="en-IN" dirty="0">
                <a:effectLst/>
              </a:rPr>
            </a:br>
            <a:r>
              <a:rPr lang="en-IN" dirty="0">
                <a:effectLst/>
                <a:latin typeface="Arial" panose="020B0604020202020204" pitchFamily="34" charset="0"/>
              </a:rPr>
              <a:t>a[0]=new int[4][5];//</a:t>
            </a:r>
            <a:r>
              <a:rPr lang="en-IN" dirty="0" err="1">
                <a:effectLst/>
                <a:latin typeface="Arial" panose="020B0604020202020204" pitchFamily="34" charset="0"/>
              </a:rPr>
              <a:t>C.E:incompatible</a:t>
            </a:r>
            <a:r>
              <a:rPr lang="en-IN" dirty="0">
                <a:effectLst/>
                <a:latin typeface="Arial" panose="020B0604020202020204" pitchFamily="34" charset="0"/>
              </a:rPr>
              <a:t> types(invalid)</a:t>
            </a:r>
            <a:br>
              <a:rPr lang="en-IN" dirty="0">
                <a:effectLst/>
              </a:rPr>
            </a:br>
            <a:r>
              <a:rPr lang="en-IN" dirty="0">
                <a:effectLst/>
                <a:latin typeface="Arial" panose="020B0604020202020204" pitchFamily="34" charset="0"/>
              </a:rPr>
              <a:t>a[0]=10;//</a:t>
            </a:r>
            <a:r>
              <a:rPr lang="en-IN" dirty="0" err="1">
                <a:effectLst/>
                <a:latin typeface="Arial" panose="020B0604020202020204" pitchFamily="34" charset="0"/>
              </a:rPr>
              <a:t>C.E:incompatible</a:t>
            </a:r>
            <a:r>
              <a:rPr lang="en-IN" dirty="0">
                <a:effectLst/>
                <a:latin typeface="Arial" panose="020B0604020202020204" pitchFamily="34" charset="0"/>
              </a:rPr>
              <a:t> types(invalid)</a:t>
            </a:r>
            <a:br>
              <a:rPr lang="en-IN" dirty="0">
                <a:effectLst/>
              </a:rPr>
            </a:br>
            <a:r>
              <a:rPr lang="en-IN" dirty="0">
                <a:effectLst/>
                <a:latin typeface="Arial" panose="020B0604020202020204" pitchFamily="34" charset="0"/>
              </a:rPr>
              <a:t>a[0]=new int[4];//(valid)</a:t>
            </a:r>
            <a:br>
              <a:rPr lang="en-IN" dirty="0">
                <a:effectLst/>
              </a:rPr>
            </a:br>
            <a:endParaRPr lang="en-IN" dirty="0">
              <a:effectLst/>
            </a:endParaRPr>
          </a:p>
          <a:p>
            <a:pPr algn="l" rtl="0"/>
            <a:r>
              <a:rPr lang="en-IN" dirty="0">
                <a:effectLst/>
                <a:latin typeface="Arial" panose="020B0604020202020204" pitchFamily="34" charset="0"/>
              </a:rPr>
              <a:t>Note: Whenever we are performing array assignments the types and dimensions must be</a:t>
            </a:r>
            <a:r>
              <a:rPr lang="en-IN" dirty="0">
                <a:latin typeface="Arial" panose="020B0604020202020204" pitchFamily="34" charset="0"/>
              </a:rPr>
              <a:t> </a:t>
            </a:r>
            <a:r>
              <a:rPr lang="en-IN" dirty="0">
                <a:effectLst/>
                <a:latin typeface="Arial" panose="020B0604020202020204" pitchFamily="34" charset="0"/>
              </a:rPr>
              <a:t>matched but sizes are not important.</a:t>
            </a:r>
            <a:br>
              <a:rPr lang="en-IN" dirty="0">
                <a:effectLst/>
              </a:rPr>
            </a:br>
            <a:r>
              <a:rPr lang="en-IN" dirty="0">
                <a:effectLst/>
                <a:latin typeface="Arial" panose="020B0604020202020204" pitchFamily="34" charset="0"/>
              </a:rPr>
              <a:t>Example 1:</a:t>
            </a:r>
            <a:endParaRPr lang="en-IN" dirty="0">
              <a:effectLst/>
            </a:endParaRPr>
          </a:p>
          <a:p>
            <a:pPr algn="l" rtl="0"/>
            <a:r>
              <a:rPr lang="en-IN" b="0" i="0" dirty="0">
                <a:effectLst/>
                <a:latin typeface="Arial" panose="020B0604020202020204" pitchFamily="34" charset="0"/>
              </a:rPr>
              <a:t>int[][] a=new int[3][2];</a:t>
            </a:r>
            <a:br>
              <a:rPr lang="en-IN" dirty="0"/>
            </a:br>
            <a:r>
              <a:rPr lang="en-IN" b="0" i="0" dirty="0">
                <a:effectLst/>
                <a:latin typeface="Arial" panose="020B0604020202020204" pitchFamily="34" charset="0"/>
              </a:rPr>
              <a:t>a[0]=new int[3];</a:t>
            </a:r>
            <a:br>
              <a:rPr lang="en-IN" dirty="0"/>
            </a:br>
            <a:r>
              <a:rPr lang="en-IN" b="0" i="0" dirty="0">
                <a:effectLst/>
                <a:latin typeface="Arial" panose="020B0604020202020204" pitchFamily="34" charset="0"/>
              </a:rPr>
              <a:t>a[1]=new int[4];</a:t>
            </a:r>
            <a:br>
              <a:rPr lang="en-IN" dirty="0"/>
            </a:br>
            <a:r>
              <a:rPr lang="en-IN" b="0" i="0" dirty="0">
                <a:effectLst/>
                <a:latin typeface="Arial" panose="020B0604020202020204" pitchFamily="34" charset="0"/>
              </a:rPr>
              <a:t>a=new int[4][3];</a:t>
            </a:r>
            <a:br>
              <a:rPr lang="en-IN" b="0" i="0" dirty="0">
                <a:solidFill>
                  <a:srgbClr val="000000"/>
                </a:solidFill>
                <a:effectLst/>
                <a:latin typeface="Arial" panose="020B0604020202020204" pitchFamily="34" charset="0"/>
              </a:rPr>
            </a:br>
            <a:endParaRPr lang="en-IN" b="0" i="0" dirty="0">
              <a:solidFill>
                <a:srgbClr val="000000"/>
              </a:solidFill>
              <a:effectLst/>
              <a:latin typeface="Arial" panose="020B0604020202020204" pitchFamily="34" charset="0"/>
            </a:endParaRPr>
          </a:p>
          <a:p>
            <a:endParaRPr lang="en-US" dirty="0"/>
          </a:p>
        </p:txBody>
      </p:sp>
      <p:sp>
        <p:nvSpPr>
          <p:cNvPr id="4" name="Footer Placeholder 3">
            <a:extLst>
              <a:ext uri="{FF2B5EF4-FFF2-40B4-BE49-F238E27FC236}">
                <a16:creationId xmlns:a16="http://schemas.microsoft.com/office/drawing/2014/main" id="{C7704B61-FB78-1793-5286-36D7702A7775}"/>
              </a:ext>
            </a:extLst>
          </p:cNvPr>
          <p:cNvSpPr>
            <a:spLocks noGrp="1"/>
          </p:cNvSpPr>
          <p:nvPr>
            <p:ph type="ftr" sz="quarter" idx="11"/>
          </p:nvPr>
        </p:nvSpPr>
        <p:spPr/>
        <p:txBody>
          <a:bodyPr/>
          <a:lstStyle/>
          <a:p>
            <a:r>
              <a:rPr lang="en-US"/>
              <a:t>Dr. Naveen Kumar, Associate Professor, AIIT, AUP</a:t>
            </a:r>
          </a:p>
        </p:txBody>
      </p:sp>
    </p:spTree>
    <p:extLst>
      <p:ext uri="{BB962C8B-B14F-4D97-AF65-F5344CB8AC3E}">
        <p14:creationId xmlns:p14="http://schemas.microsoft.com/office/powerpoint/2010/main" val="1961560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3974</TotalTime>
  <Words>2782</Words>
  <Application>Microsoft Macintosh PowerPoint</Application>
  <PresentationFormat>Widescreen</PresentationFormat>
  <Paragraphs>114</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Times New Roman</vt:lpstr>
      <vt:lpstr>Office Theme</vt:lpstr>
      <vt:lpstr>Array in Java</vt:lpstr>
      <vt:lpstr>Array in Java</vt:lpstr>
      <vt:lpstr>PowerPoint Presentation</vt:lpstr>
      <vt:lpstr>Array declarations:</vt:lpstr>
      <vt:lpstr>PowerPoint Presentation</vt:lpstr>
      <vt:lpstr>PowerPoint Presentation</vt:lpstr>
      <vt:lpstr>PowerPoint Presentation</vt:lpstr>
      <vt:lpstr>Array construction:</vt:lpstr>
      <vt:lpstr>PowerPoint Presentation</vt:lpstr>
      <vt:lpstr>PowerPoint Presentation</vt:lpstr>
      <vt:lpstr>PowerPoint Presentation</vt:lpstr>
      <vt:lpstr>PowerPoint Presentation</vt:lpstr>
      <vt:lpstr>PowerPoint Presentation</vt:lpstr>
      <vt:lpstr>PowerPoint Presentation</vt:lpstr>
      <vt:lpstr>length Vs length():</vt:lpstr>
      <vt:lpstr>length Vs length():</vt:lpstr>
      <vt:lpstr>Anonymous Arrays:</vt:lpstr>
      <vt:lpstr>PowerPoint Presentation</vt:lpstr>
      <vt:lpstr>PowerPoint Presentation</vt:lpstr>
      <vt:lpstr>Array element assignments:</vt:lpstr>
      <vt:lpstr>PowerPoint Presentation</vt:lpstr>
      <vt:lpstr>PowerPoint Presentation</vt:lpstr>
      <vt:lpstr>Array variable assignments: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145</cp:revision>
  <dcterms:created xsi:type="dcterms:W3CDTF">2024-07-30T13:16:34Z</dcterms:created>
  <dcterms:modified xsi:type="dcterms:W3CDTF">2024-08-27T07:34:39Z</dcterms:modified>
</cp:coreProperties>
</file>