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89" r:id="rId2"/>
    <p:sldId id="290" r:id="rId3"/>
    <p:sldId id="276" r:id="rId4"/>
    <p:sldId id="317" r:id="rId5"/>
    <p:sldId id="306" r:id="rId6"/>
    <p:sldId id="291" r:id="rId7"/>
    <p:sldId id="278" r:id="rId8"/>
    <p:sldId id="315" r:id="rId9"/>
    <p:sldId id="293" r:id="rId10"/>
    <p:sldId id="307" r:id="rId11"/>
    <p:sldId id="309" r:id="rId12"/>
    <p:sldId id="318" r:id="rId13"/>
    <p:sldId id="319" r:id="rId14"/>
    <p:sldId id="321" r:id="rId15"/>
    <p:sldId id="320" r:id="rId16"/>
    <p:sldId id="322" r:id="rId17"/>
    <p:sldId id="316" r:id="rId1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6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728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7A2EDF-9D4C-4951-AB5A-18C70665F772}" type="datetimeFigureOut">
              <a:rPr lang="en-US" smtClean="0"/>
              <a:pPr/>
              <a:t>8/27/24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K L University, BES-I,   Problem Solving in Computer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9AE82C-51B0-4D8F-90AE-B4A9E5A173A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25263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C08F098-34A8-4532-9C69-38DECEB33B3C}" type="datetimeFigureOut">
              <a:rPr lang="en-US"/>
              <a:pPr>
                <a:defRPr/>
              </a:pPr>
              <a:t>8/27/24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r>
              <a:rPr lang="en-US" dirty="0"/>
              <a:t>K L University, BES-I,   Problem Solving in Computer Programming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31F2AAD-F00E-4B2B-A58E-1BBB485431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91851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1F2AAD-F00E-4B2B-A58E-1BBB4854317A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K L University, BES-I,   Problem Solving in Computer Programming</a:t>
            </a:r>
          </a:p>
        </p:txBody>
      </p:sp>
    </p:spTree>
    <p:extLst>
      <p:ext uri="{BB962C8B-B14F-4D97-AF65-F5344CB8AC3E}">
        <p14:creationId xmlns:p14="http://schemas.microsoft.com/office/powerpoint/2010/main" val="965537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1F2AAD-F00E-4B2B-A58E-1BBB4854317A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K L University, BES-I,   Problem Solving in Computer Programming</a:t>
            </a:r>
          </a:p>
        </p:txBody>
      </p:sp>
    </p:spTree>
    <p:extLst>
      <p:ext uri="{BB962C8B-B14F-4D97-AF65-F5344CB8AC3E}">
        <p14:creationId xmlns:p14="http://schemas.microsoft.com/office/powerpoint/2010/main" val="3060186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1F2AAD-F00E-4B2B-A58E-1BBB4854317A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K L University, BES-I,   Problem Solving in Computer Programming</a:t>
            </a:r>
          </a:p>
        </p:txBody>
      </p:sp>
    </p:spTree>
    <p:extLst>
      <p:ext uri="{BB962C8B-B14F-4D97-AF65-F5344CB8AC3E}">
        <p14:creationId xmlns:p14="http://schemas.microsoft.com/office/powerpoint/2010/main" val="1319869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K L University, BES-I,   Problem Solving in Computer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31F2AAD-F00E-4B2B-A58E-1BBB4854317A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056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K L University, BES-I,   Problem Solving in Computer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31F2AAD-F00E-4B2B-A58E-1BBB4854317A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4116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K L University, BES-I,   Problem Solving in Computer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31F2AAD-F00E-4B2B-A58E-1BBB4854317A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304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882651-81A0-D64E-984D-DB9689F0F263}" type="datetime2">
              <a:rPr lang="en-IN" smtClean="0"/>
              <a:t>Tuesday, 27 August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B129DB-8D41-4066-AA93-1DAF03F26EA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7362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883CD8-E6A2-6947-BC8E-43DCADCE2B81}" type="datetime2">
              <a:rPr lang="en-IN" smtClean="0"/>
              <a:t>Tuesday, 27 August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FD8EC-3A04-483A-AD2E-8D598A4DA8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4146C0-2FA0-2848-8946-6F86D36AA849}" type="datetime2">
              <a:rPr lang="en-IN" smtClean="0"/>
              <a:t>Tuesday, 27 August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589411-C56C-40F4-B66E-D512662E7E6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7391400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3B90FD-DE3A-4D48-A274-5295181690EC}" type="datetime2">
              <a:rPr lang="en-IN" smtClean="0"/>
              <a:t>Tuesday, 27 August 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9E7CF-FAD9-49DF-99E0-EAA77C32AE7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7362"/>
            <a:ext cx="7391400" cy="65563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4040188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4"/>
            <a:ext cx="4040188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295400"/>
            <a:ext cx="4041775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4"/>
            <a:ext cx="4041775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FA584E-2F4F-C34B-84E7-FDBB5014FB39}" type="datetime2">
              <a:rPr lang="en-IN" smtClean="0"/>
              <a:t>Tuesday, 27 August 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67AD7C-0654-469F-AEFA-E806C2E8418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F503AD-84B3-9944-AEC2-F46CB0993FC8}" type="datetime2">
              <a:rPr lang="en-IN" smtClean="0"/>
              <a:t>Tuesday, 27 August 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7A0E5E-4093-4CD3-BA7B-F97E5E4A519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17466A-1360-1141-B2FF-70D1E301EBB4}" type="datetime2">
              <a:rPr lang="en-IN" smtClean="0"/>
              <a:t>Tuesday, 27 August 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6A58B-23FE-4F42-857E-74F19373BE9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3008313" cy="6731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14400"/>
            <a:ext cx="5111750" cy="543222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889500"/>
          </a:xfrm>
        </p:spPr>
        <p:txBody>
          <a:bodyPr/>
          <a:lstStyle>
            <a:lvl1pPr marL="0" indent="0">
              <a:buNone/>
              <a:defRPr sz="1400">
                <a:solidFill>
                  <a:srgbClr val="00B0F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8A9B73-0B2C-B64F-BE5F-72BDC913492D}" type="datetime2">
              <a:rPr lang="en-IN" smtClean="0"/>
              <a:t>Tuesday, 27 August 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302C-7341-4EFD-A7BE-94A6EA3ED81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109A85-22F8-AF48-A093-2CDDC6AED1FF}" type="datetime2">
              <a:rPr lang="en-IN" smtClean="0"/>
              <a:t>Tuesday, 27 August 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BEE4BA-9FC8-42B3-9170-29EB164472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95400"/>
            <a:ext cx="8229600" cy="5029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D39E38-AFFD-6045-9F61-E871122A80AE}" type="datetime2">
              <a:rPr lang="en-IN" smtClean="0"/>
              <a:t>Tuesday, 27 August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A11CB4-3CE4-427D-9B5B-DA68271F1FF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66800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85800"/>
            <a:ext cx="6019800" cy="5592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F59325-1477-4B49-A5D4-07DB75E0E87E}" type="datetime2">
              <a:rPr lang="en-IN" smtClean="0"/>
              <a:t>Tuesday, 27 August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4C8231-EDB7-4A03-BDA6-FF052D201C2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457200"/>
            <a:ext cx="7391400" cy="65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95400"/>
            <a:ext cx="82296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13A6EEE-1C81-AF46-9EEE-FB843CB7BA4A}" type="datetime2">
              <a:rPr lang="en-IN" smtClean="0"/>
              <a:t>Tuesday, 27 August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166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27807A9-12E1-47F0-9E96-6DDF5CA19C2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7981950" y="977900"/>
            <a:ext cx="1143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Arc 15"/>
          <p:cNvSpPr/>
          <p:nvPr/>
        </p:nvSpPr>
        <p:spPr>
          <a:xfrm>
            <a:off x="7010400" y="444500"/>
            <a:ext cx="990600" cy="1066800"/>
          </a:xfrm>
          <a:prstGeom prst="arc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17" name="Straight Connector 16"/>
          <p:cNvCxnSpPr>
            <a:stCxn id="16" idx="0"/>
          </p:cNvCxnSpPr>
          <p:nvPr/>
        </p:nvCxnSpPr>
        <p:spPr>
          <a:xfrm flipH="1">
            <a:off x="228600" y="444500"/>
            <a:ext cx="72771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E46C0A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rgbClr val="595959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rgbClr val="595959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rgbClr val="595959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595959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1629" y="2951283"/>
            <a:ext cx="5199797" cy="709684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Session-6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2E98F12-2B9B-84D5-A711-1B68E2AC5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049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itchFamily="18" charset="0"/>
              </a:rPr>
              <a:t>Session Outcome</a:t>
            </a:r>
            <a:endParaRPr lang="en-US" sz="3600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 Outcomes: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will be able to: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Understand the usage of Accessor and mutator methods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Students will understand the toString() method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C03EFD-D430-880C-79B2-A220090EC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544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91" y="444305"/>
            <a:ext cx="7857097" cy="766591"/>
          </a:xfrm>
        </p:spPr>
        <p:txBody>
          <a:bodyPr/>
          <a:lstStyle/>
          <a:p>
            <a:pPr marL="0" marR="196850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r>
              <a:rPr lang="en-US" sz="3600" spc="-5" dirty="0">
                <a:solidFill>
                  <a:srgbClr val="00B0F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Need of Accessors and Mutators: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4391" y="1367650"/>
            <a:ext cx="8090340" cy="4823792"/>
          </a:xfrm>
        </p:spPr>
        <p:txBody>
          <a:bodyPr/>
          <a:lstStyle/>
          <a:p>
            <a:pPr marR="196850" algn="just">
              <a:lnSpc>
                <a:spcPct val="150000"/>
              </a:lnSpc>
              <a:spcBef>
                <a:spcPts val="100"/>
              </a:spcBef>
              <a:buSzPct val="94444"/>
              <a:buFont typeface="Wingdings" panose="05000000000000000000" pitchFamily="2" charset="2"/>
              <a:buChar char="Ø"/>
              <a:tabLst>
                <a:tab pos="217170" algn="l"/>
              </a:tabLst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Accessors are used to get the value of a private field and Mutators are used to set the value of a private field. </a:t>
            </a:r>
          </a:p>
          <a:p>
            <a:pPr marR="196850" algn="just">
              <a:lnSpc>
                <a:spcPct val="150000"/>
              </a:lnSpc>
              <a:spcBef>
                <a:spcPts val="100"/>
              </a:spcBef>
              <a:buSzPct val="94444"/>
              <a:buFont typeface="Wingdings" panose="05000000000000000000" pitchFamily="2" charset="2"/>
              <a:buChar char="Ø"/>
              <a:tabLst>
                <a:tab pos="217170" algn="l"/>
              </a:tabLst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Accessors are also known as ‘getters’ and mutators are also known as ‘setters’. </a:t>
            </a:r>
          </a:p>
          <a:p>
            <a:pPr marR="196850" algn="just">
              <a:lnSpc>
                <a:spcPct val="150000"/>
              </a:lnSpc>
              <a:spcBef>
                <a:spcPts val="100"/>
              </a:spcBef>
              <a:buSzPct val="94444"/>
              <a:buFont typeface="Wingdings" panose="05000000000000000000" pitchFamily="2" charset="2"/>
              <a:buChar char="Ø"/>
              <a:tabLst>
                <a:tab pos="217170" algn="l"/>
              </a:tabLst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we have declared the members as private then they would not be accessible outside the class so we need to use getter and setter methods.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0" marR="196850" indent="0" algn="just">
              <a:spcBef>
                <a:spcPts val="100"/>
              </a:spcBef>
              <a:buSzPct val="94444"/>
              <a:buNone/>
              <a:tabLst>
                <a:tab pos="217170" algn="l"/>
              </a:tabLst>
            </a:pPr>
            <a:endParaRPr lang="en-US" sz="2400" spc="-5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1269365" lvl="3" indent="0">
              <a:buNone/>
              <a:tabLst>
                <a:tab pos="528955" algn="l"/>
                <a:tab pos="529590" algn="l"/>
              </a:tabLst>
            </a:pPr>
            <a:endParaRPr lang="en-US" sz="2400" spc="-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2116" lvl="1" indent="0">
              <a:buNone/>
              <a:tabLst>
                <a:tab pos="533400" algn="l"/>
                <a:tab pos="534035" algn="l"/>
              </a:tabLst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848DA3-331A-A3AB-0B0B-66EAB1F71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9166"/>
            <a:ext cx="3696788" cy="5029200"/>
          </a:xfrm>
        </p:spPr>
        <p:txBody>
          <a:bodyPr/>
          <a:lstStyle/>
          <a:p>
            <a:pPr algn="just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Class Demo{</a:t>
            </a:r>
          </a:p>
          <a:p>
            <a:pPr lvl="1"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private int age;</a:t>
            </a:r>
          </a:p>
          <a:p>
            <a:pPr lvl="1"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private String name;</a:t>
            </a:r>
          </a:p>
          <a:p>
            <a:pPr lvl="1"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public void display(){</a:t>
            </a:r>
          </a:p>
          <a:p>
            <a:pPr lvl="2" algn="just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-----------</a:t>
            </a:r>
          </a:p>
          <a:p>
            <a:pPr lvl="2" algn="just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-----------</a:t>
            </a:r>
          </a:p>
          <a:p>
            <a:pPr lvl="2" algn="just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-----------</a:t>
            </a:r>
          </a:p>
          <a:p>
            <a:pPr lvl="2" algn="just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lvl="2" algn="just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28310" y="1489166"/>
            <a:ext cx="41670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It is not possible to access the  private members i.e., age and name from another class as they are declared as private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50082" y="3966755"/>
            <a:ext cx="43934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But , by using setters and getters it is possible to access(set/get) the private members of another class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3013656" y="1982916"/>
            <a:ext cx="1414654" cy="582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0A89B-9EB2-8BB6-58B6-9788EDC92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444" y="541791"/>
            <a:ext cx="4297681" cy="609600"/>
          </a:xfrm>
        </p:spPr>
        <p:txBody>
          <a:bodyPr/>
          <a:lstStyle/>
          <a:p>
            <a:r>
              <a:rPr lang="en-US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endParaRPr lang="en-IN" sz="3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043" y="1204118"/>
            <a:ext cx="3589511" cy="5338350"/>
          </a:xfrm>
        </p:spPr>
        <p:txBody>
          <a:bodyPr/>
          <a:lstStyle/>
          <a:p>
            <a:pPr marL="0" indent="0">
              <a:buNone/>
            </a:pPr>
            <a:r>
              <a:rPr lang="en-IN" sz="24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Accessors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  int   getAge()  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  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     return number;  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 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 String getName() 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  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	return name; 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  </a:t>
            </a:r>
          </a:p>
          <a:p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3"/>
          <p:cNvSpPr>
            <a:spLocks noGrp="1"/>
          </p:cNvSpPr>
          <p:nvPr>
            <p:ph sz="half" idx="2"/>
          </p:nvPr>
        </p:nvSpPr>
        <p:spPr>
          <a:xfrm>
            <a:off x="4467498" y="1175657"/>
            <a:ext cx="4676502" cy="5414709"/>
          </a:xfrm>
        </p:spPr>
        <p:txBody>
          <a:bodyPr/>
          <a:lstStyle/>
          <a:p>
            <a:pPr marL="0" indent="0">
              <a:buNone/>
            </a:pPr>
            <a:r>
              <a:rPr lang="en-IN" sz="24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Mutators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  void setName(String name) 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  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 this.name=name;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 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 void setAge(int age) 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  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   this.age = age;  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  </a:t>
            </a:r>
          </a:p>
          <a:p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B076E2-6CCA-2CD1-B92E-751CF5361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415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434169" y="548145"/>
            <a:ext cx="7391400" cy="655638"/>
          </a:xfrm>
        </p:spPr>
        <p:txBody>
          <a:bodyPr/>
          <a:lstStyle/>
          <a:p>
            <a:br>
              <a:rPr lang="en-US" altLang="en-US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toString () method:</a:t>
            </a:r>
            <a:br>
              <a:rPr lang="en-US" altLang="en-US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3396" y="1321110"/>
            <a:ext cx="8010144" cy="4988251"/>
          </a:xfrm>
        </p:spPr>
        <p:txBody>
          <a:bodyPr/>
          <a:lstStyle/>
          <a:p>
            <a:pPr algn="just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toString() method returns the string representation of the object.</a:t>
            </a:r>
          </a:p>
          <a:p>
            <a:pPr algn="just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you print any object, java compiler internally invokes the toString() method on the object. </a:t>
            </a:r>
          </a:p>
          <a:p>
            <a:pPr algn="just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overriding the toString() method, returns the desired output, it can be the state of an object etc. depends on your implementation.</a:t>
            </a:r>
          </a:p>
          <a:p>
            <a:pPr marL="0" indent="0"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560552" y="9930673"/>
            <a:ext cx="11971926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latin typeface="Consolas" panose="020B0609020204030204" pitchFamily="49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599055" y="4217041"/>
            <a:ext cx="7805357" cy="18466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tring toString()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 +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 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 age +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 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 college +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 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 course;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0424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1B551E-4BF4-57F0-59C1-05E4B9791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34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82767" y="453976"/>
            <a:ext cx="0" cy="4928870"/>
          </a:xfrm>
          <a:custGeom>
            <a:avLst/>
            <a:gdLst/>
            <a:ahLst/>
            <a:cxnLst/>
            <a:rect l="l" t="t" r="r" b="b"/>
            <a:pathLst>
              <a:path h="4928870">
                <a:moveTo>
                  <a:pt x="0" y="0"/>
                </a:moveTo>
                <a:lnTo>
                  <a:pt x="0" y="4928615"/>
                </a:lnTo>
              </a:path>
            </a:pathLst>
          </a:custGeom>
          <a:ln w="3810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rgbClr val="002060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63761" y="761"/>
            <a:ext cx="0" cy="215265"/>
          </a:xfrm>
          <a:custGeom>
            <a:avLst/>
            <a:gdLst/>
            <a:ahLst/>
            <a:cxnLst/>
            <a:rect l="l" t="t" r="r" b="b"/>
            <a:pathLst>
              <a:path h="215265">
                <a:moveTo>
                  <a:pt x="0" y="0"/>
                </a:moveTo>
                <a:lnTo>
                  <a:pt x="0" y="214884"/>
                </a:lnTo>
              </a:path>
            </a:pathLst>
          </a:custGeom>
          <a:ln w="3810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rgbClr val="002060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231" y="0"/>
            <a:ext cx="58419" cy="6858000"/>
          </a:xfrm>
          <a:custGeom>
            <a:avLst/>
            <a:gdLst/>
            <a:ahLst/>
            <a:cxnLst/>
            <a:rect l="l" t="t" r="r" b="b"/>
            <a:pathLst>
              <a:path w="58419" h="6858000">
                <a:moveTo>
                  <a:pt x="11595" y="0"/>
                </a:moveTo>
                <a:lnTo>
                  <a:pt x="0" y="0"/>
                </a:lnTo>
                <a:lnTo>
                  <a:pt x="12" y="6858000"/>
                </a:lnTo>
                <a:lnTo>
                  <a:pt x="11595" y="6858000"/>
                </a:lnTo>
                <a:lnTo>
                  <a:pt x="11595" y="0"/>
                </a:lnTo>
                <a:close/>
              </a:path>
              <a:path w="58419" h="6858000">
                <a:moveTo>
                  <a:pt x="57924" y="0"/>
                </a:moveTo>
                <a:lnTo>
                  <a:pt x="23177" y="0"/>
                </a:lnTo>
                <a:lnTo>
                  <a:pt x="23177" y="6858000"/>
                </a:lnTo>
                <a:lnTo>
                  <a:pt x="57924" y="6858000"/>
                </a:lnTo>
                <a:lnTo>
                  <a:pt x="57924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>
              <a:solidFill>
                <a:srgbClr val="002060"/>
              </a:solidFill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839200" y="0"/>
            <a:ext cx="304800" cy="6858000"/>
            <a:chOff x="8839200" y="0"/>
            <a:chExt cx="304800" cy="6858000"/>
          </a:xfrm>
        </p:grpSpPr>
        <p:sp>
          <p:nvSpPr>
            <p:cNvPr id="6" name="object 6"/>
            <p:cNvSpPr/>
            <p:nvPr/>
          </p:nvSpPr>
          <p:spPr>
            <a:xfrm>
              <a:off x="8839200" y="0"/>
              <a:ext cx="304800" cy="6858000"/>
            </a:xfrm>
            <a:custGeom>
              <a:avLst/>
              <a:gdLst/>
              <a:ahLst/>
              <a:cxnLst/>
              <a:rect l="l" t="t" r="r" b="b"/>
              <a:pathLst>
                <a:path w="304800" h="6858000">
                  <a:moveTo>
                    <a:pt x="3048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04800" y="68580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DC3AD">
                <a:alpha val="87057"/>
              </a:srgbClr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rgbClr val="002060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8915400" y="0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h="6858000">
                  <a:moveTo>
                    <a:pt x="0" y="0"/>
                  </a:moveTo>
                  <a:lnTo>
                    <a:pt x="0" y="6857999"/>
                  </a:lnTo>
                </a:path>
              </a:pathLst>
            </a:custGeom>
            <a:ln w="9144">
              <a:solidFill>
                <a:srgbClr val="FD8537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002060"/>
                </a:solidFill>
              </a:endParaRPr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33763" y="1473991"/>
            <a:ext cx="8320405" cy="33368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Create a Cuboid class with 3 private instance variables length, breadth and height of type double, and a public method volume of return type double(). </a:t>
            </a:r>
            <a:b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3 setter methods with return type boolean (the instance variable is set when the argument is +ve) for each of the 3 instance members </a:t>
            </a:r>
            <a:b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Also add 3 getter methods of return type, which return the value appended with m (meters). </a:t>
            </a:r>
            <a:b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toString() method to print the details of Cuboid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6728" y="614149"/>
            <a:ext cx="4612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B0F0"/>
                </a:solidFill>
              </a:rPr>
              <a:t>Problem :</a:t>
            </a:r>
            <a:endParaRPr lang="en-IN" sz="3600" dirty="0">
              <a:solidFill>
                <a:srgbClr val="00B0F0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6E116D-034E-179E-BA06-34DB57D8B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316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Class Diagram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5577" y="1376363"/>
            <a:ext cx="8059783" cy="4789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CDF822B-8FE5-E966-2DF7-63861FF27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850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248194" y="640080"/>
            <a:ext cx="4833257" cy="5684520"/>
          </a:xfrm>
        </p:spPr>
        <p:txBody>
          <a:bodyPr/>
          <a:lstStyle/>
          <a:p>
            <a:pPr marL="0" indent="0">
              <a:buNone/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p1;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Cuboid{</a:t>
            </a: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 double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l,b,h;</a:t>
            </a: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boolean  setLength(double l)</a:t>
            </a: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	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---------------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----------------</a:t>
            </a:r>
          </a:p>
          <a:p>
            <a:pPr marL="0" indent="0">
              <a:buNone/>
            </a:pPr>
            <a:r>
              <a:rPr lang="en-US" sz="1800" dirty="0"/>
              <a:t>}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 boolean  setBreadth(double b)</a:t>
            </a: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---------------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-----------------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 boolean  setHeight(double h)</a:t>
            </a: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---------------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-----------------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1800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98124" y="901336"/>
            <a:ext cx="3905795" cy="5682343"/>
          </a:xfrm>
        </p:spPr>
        <p:txBody>
          <a:bodyPr/>
          <a:lstStyle/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public double getLength()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return l;	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marL="0" indent="0">
              <a:buNone/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public double getBreadth()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return b;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marL="0" indent="0">
              <a:buNone/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public double getHeight()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return h;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8093D8B-6177-17FF-4EC7-0F454A835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57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1988367"/>
            <a:ext cx="8229600" cy="3798479"/>
          </a:xfrm>
        </p:spPr>
        <p:txBody>
          <a:bodyPr/>
          <a:lstStyle/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public boolean setDimensions(double l, double b, double h)</a:t>
            </a:r>
            <a:b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  <a:b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if(l&lt;0 || b &lt;0 || h &lt; 0)</a:t>
            </a:r>
            <a:b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return false;</a:t>
            </a:r>
            <a:b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this.l=l;</a:t>
            </a:r>
            <a:b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this.b=b;</a:t>
            </a:r>
            <a:b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this.h=h;</a:t>
            </a:r>
            <a:b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return true;</a:t>
            </a:r>
            <a:b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8457" y="718457"/>
            <a:ext cx="70147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the another way of writing setter by passing all arguments at a time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F8A195-DA3B-A695-C118-5F1567710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964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07977" cy="5029200"/>
          </a:xfrm>
        </p:spPr>
        <p:txBody>
          <a:bodyPr/>
          <a:lstStyle/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String toString()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String output=String.format("Length =%.1f Breadth= %.1f Height = %.1f volume= %.1f",l,b,h,volume() );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return output; 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	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double volume()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-------------;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BD6D377-7064-E16B-C644-321C8304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443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2845526"/>
          </a:xfrm>
        </p:spPr>
        <p:txBody>
          <a:bodyPr/>
          <a:lstStyle/>
          <a:p>
            <a:pPr>
              <a:buNone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Access each of these methods through an object of Cuboid from the main() method of Demo class. Set the instance variables by obtaining input from console. 	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D17D6C-2BA3-3707-AF2C-957929D4F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4193177"/>
          </a:xfrm>
        </p:spPr>
        <p:txBody>
          <a:bodyPr/>
          <a:lstStyle/>
          <a:p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Write a Java Program to create Student class with ID, name, gender and branch. Use getter and setters. The ID must be 9-digit number, name must not have special characters and digits, gender must be either M/F and branch must be either ECE/CSE/ME/ECSE/CE/BT/EEE. Use toString() to format the details of Student. </a:t>
            </a:r>
          </a:p>
          <a:p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79269"/>
            <a:ext cx="36837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</a:rPr>
              <a:t>Practice problem-1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7116B49-C1B9-1128-2B93-2EF91F279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/>
          <p:cNvSpPr>
            <a:spLocks noGrp="1"/>
          </p:cNvSpPr>
          <p:nvPr>
            <p:ph type="title"/>
          </p:nvPr>
        </p:nvSpPr>
        <p:spPr>
          <a:xfrm>
            <a:off x="-2224288" y="417330"/>
            <a:ext cx="6825125" cy="655638"/>
          </a:xfrm>
        </p:spPr>
        <p:txBody>
          <a:bodyPr/>
          <a:lstStyle/>
          <a:p>
            <a:r>
              <a:rPr lang="en-US" sz="2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Class Diagram</a:t>
            </a: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299433" y="1691158"/>
            <a:ext cx="4055900" cy="148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99432" y="1089874"/>
            <a:ext cx="4047186" cy="489880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/>
          </a:p>
        </p:txBody>
      </p:sp>
      <p:sp>
        <p:nvSpPr>
          <p:cNvPr id="8" name="TextBox 7"/>
          <p:cNvSpPr txBox="1"/>
          <p:nvPr/>
        </p:nvSpPr>
        <p:spPr>
          <a:xfrm>
            <a:off x="299434" y="1174117"/>
            <a:ext cx="24854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Student</a:t>
            </a:r>
            <a:endParaRPr lang="en-IN" sz="2000" dirty="0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241477" y="3130675"/>
            <a:ext cx="4105140" cy="375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90717" y="1673394"/>
            <a:ext cx="192653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</a:t>
            </a:r>
            <a:r>
              <a:rPr lang="en-US" sz="2000" dirty="0" err="1"/>
              <a:t>id:long</a:t>
            </a:r>
            <a:endParaRPr lang="en-US" sz="2000" dirty="0"/>
          </a:p>
          <a:p>
            <a:r>
              <a:rPr lang="en-US" sz="2000" dirty="0"/>
              <a:t>-</a:t>
            </a:r>
            <a:r>
              <a:rPr lang="en-US" sz="2000" dirty="0" err="1"/>
              <a:t>name:String</a:t>
            </a:r>
            <a:endParaRPr lang="en-US" sz="2000" dirty="0"/>
          </a:p>
          <a:p>
            <a:r>
              <a:rPr lang="en-US" sz="2000" dirty="0"/>
              <a:t>-</a:t>
            </a:r>
            <a:r>
              <a:rPr lang="en-US" sz="2000" dirty="0" err="1"/>
              <a:t>gender:String</a:t>
            </a:r>
            <a:endParaRPr lang="en-US" sz="2000" dirty="0"/>
          </a:p>
          <a:p>
            <a:r>
              <a:rPr lang="en-US" sz="2000" dirty="0"/>
              <a:t>-</a:t>
            </a:r>
            <a:r>
              <a:rPr lang="en-US" sz="2000" dirty="0" err="1"/>
              <a:t>branch:String</a:t>
            </a:r>
            <a:endParaRPr lang="en-US" sz="2000" dirty="0"/>
          </a:p>
          <a:p>
            <a:endParaRPr lang="en-IN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299431" y="3098048"/>
            <a:ext cx="404718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+</a:t>
            </a:r>
            <a:r>
              <a:rPr lang="en-US" sz="2000" dirty="0" err="1"/>
              <a:t>setName</a:t>
            </a:r>
            <a:r>
              <a:rPr lang="en-US" sz="2000" dirty="0"/>
              <a:t>(</a:t>
            </a:r>
            <a:r>
              <a:rPr lang="en-US" sz="2000" dirty="0" err="1"/>
              <a:t>name:String</a:t>
            </a:r>
            <a:r>
              <a:rPr lang="en-US" sz="2000" dirty="0"/>
              <a:t>):</a:t>
            </a:r>
            <a:r>
              <a:rPr lang="en-US" sz="2000" dirty="0" err="1"/>
              <a:t>boolean</a:t>
            </a:r>
            <a:endParaRPr lang="en-US" sz="2000" dirty="0"/>
          </a:p>
          <a:p>
            <a:r>
              <a:rPr lang="en-US" sz="2000" dirty="0"/>
              <a:t>+</a:t>
            </a:r>
            <a:r>
              <a:rPr lang="en-US" sz="2000" dirty="0" err="1"/>
              <a:t>setId</a:t>
            </a:r>
            <a:r>
              <a:rPr lang="en-US" sz="2000" dirty="0"/>
              <a:t>(</a:t>
            </a:r>
            <a:r>
              <a:rPr lang="en-US" sz="2000" dirty="0" err="1"/>
              <a:t>id:long</a:t>
            </a:r>
            <a:r>
              <a:rPr lang="en-US" sz="2000" dirty="0"/>
              <a:t>): </a:t>
            </a:r>
            <a:r>
              <a:rPr lang="en-US" sz="2000" dirty="0" err="1"/>
              <a:t>boolean</a:t>
            </a:r>
            <a:endParaRPr lang="en-US" sz="2000" dirty="0"/>
          </a:p>
          <a:p>
            <a:r>
              <a:rPr lang="en-US" sz="2000" dirty="0"/>
              <a:t>+</a:t>
            </a:r>
            <a:r>
              <a:rPr lang="en-US" sz="2000" dirty="0" err="1"/>
              <a:t>setGender</a:t>
            </a:r>
            <a:r>
              <a:rPr lang="en-US" sz="2000" dirty="0"/>
              <a:t>(</a:t>
            </a:r>
            <a:r>
              <a:rPr lang="en-US" sz="2000" dirty="0" err="1"/>
              <a:t>gender:String</a:t>
            </a:r>
            <a:r>
              <a:rPr lang="en-US" sz="2000" dirty="0"/>
              <a:t>): </a:t>
            </a:r>
            <a:r>
              <a:rPr lang="en-US" sz="2000" dirty="0" err="1"/>
              <a:t>boolean</a:t>
            </a:r>
            <a:endParaRPr lang="en-US" sz="2000" dirty="0"/>
          </a:p>
          <a:p>
            <a:r>
              <a:rPr lang="en-US" sz="2000" dirty="0"/>
              <a:t>+</a:t>
            </a:r>
            <a:r>
              <a:rPr lang="en-US" sz="2000" dirty="0" err="1"/>
              <a:t>setBranch</a:t>
            </a:r>
            <a:r>
              <a:rPr lang="en-US" sz="2000" dirty="0"/>
              <a:t>(</a:t>
            </a:r>
            <a:r>
              <a:rPr lang="en-US" sz="2000" dirty="0" err="1"/>
              <a:t>branch:String</a:t>
            </a:r>
            <a:r>
              <a:rPr lang="en-US" sz="2000" dirty="0"/>
              <a:t>): </a:t>
            </a:r>
            <a:r>
              <a:rPr lang="en-US" sz="2000" dirty="0" err="1"/>
              <a:t>boolean</a:t>
            </a:r>
            <a:endParaRPr lang="en-US" sz="2000" dirty="0"/>
          </a:p>
          <a:p>
            <a:r>
              <a:rPr lang="en-US" sz="2000" dirty="0"/>
              <a:t>+</a:t>
            </a:r>
            <a:r>
              <a:rPr lang="en-US" sz="2000" dirty="0" err="1"/>
              <a:t>getName</a:t>
            </a:r>
            <a:r>
              <a:rPr lang="en-US" sz="2000" dirty="0"/>
              <a:t>():String</a:t>
            </a:r>
          </a:p>
          <a:p>
            <a:r>
              <a:rPr lang="en-US" sz="2000" dirty="0"/>
              <a:t>+</a:t>
            </a:r>
            <a:r>
              <a:rPr lang="en-US" sz="2000" dirty="0" err="1"/>
              <a:t>getId</a:t>
            </a:r>
            <a:r>
              <a:rPr lang="en-US" sz="2000" dirty="0"/>
              <a:t>():long</a:t>
            </a:r>
          </a:p>
          <a:p>
            <a:r>
              <a:rPr lang="en-US" sz="2000" dirty="0"/>
              <a:t>+</a:t>
            </a:r>
            <a:r>
              <a:rPr lang="en-US" sz="2000" dirty="0" err="1"/>
              <a:t>getgender</a:t>
            </a:r>
            <a:r>
              <a:rPr lang="en-US" sz="2000" dirty="0"/>
              <a:t>():String</a:t>
            </a:r>
          </a:p>
          <a:p>
            <a:r>
              <a:rPr lang="en-US" sz="2000" dirty="0"/>
              <a:t>+</a:t>
            </a:r>
            <a:r>
              <a:rPr lang="en-US" sz="2000" dirty="0" err="1"/>
              <a:t>getBranch</a:t>
            </a:r>
            <a:r>
              <a:rPr lang="en-US" sz="2000" dirty="0"/>
              <a:t>():String</a:t>
            </a:r>
          </a:p>
          <a:p>
            <a:r>
              <a:rPr lang="en-US" sz="2000" dirty="0"/>
              <a:t>+</a:t>
            </a:r>
            <a:r>
              <a:rPr lang="en-US" sz="2000" dirty="0" err="1"/>
              <a:t>toString</a:t>
            </a:r>
            <a:r>
              <a:rPr lang="en-US" sz="2000" dirty="0"/>
              <a:t>():String</a:t>
            </a:r>
          </a:p>
          <a:p>
            <a:endParaRPr lang="en-IN" sz="2000" dirty="0"/>
          </a:p>
        </p:txBody>
      </p:sp>
      <p:sp>
        <p:nvSpPr>
          <p:cNvPr id="20" name="Rectangle 19"/>
          <p:cNvSpPr/>
          <p:nvPr/>
        </p:nvSpPr>
        <p:spPr>
          <a:xfrm>
            <a:off x="5167112" y="927464"/>
            <a:ext cx="2882184" cy="18049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/>
          </a:p>
        </p:txBody>
      </p:sp>
      <p:cxnSp>
        <p:nvCxnSpPr>
          <p:cNvPr id="22" name="Straight Connector 21"/>
          <p:cNvCxnSpPr/>
          <p:nvPr/>
        </p:nvCxnSpPr>
        <p:spPr>
          <a:xfrm flipV="1">
            <a:off x="5180175" y="1978898"/>
            <a:ext cx="2882184" cy="344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67558" y="1055917"/>
            <a:ext cx="20216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studentDemo</a:t>
            </a:r>
            <a:endParaRPr lang="en-IN" sz="2000" dirty="0"/>
          </a:p>
        </p:txBody>
      </p:sp>
      <p:sp>
        <p:nvSpPr>
          <p:cNvPr id="28" name="TextBox 27"/>
          <p:cNvSpPr txBox="1"/>
          <p:nvPr/>
        </p:nvSpPr>
        <p:spPr>
          <a:xfrm>
            <a:off x="5022761" y="1946802"/>
            <a:ext cx="3683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  </a:t>
            </a:r>
            <a:r>
              <a:rPr lang="en-US" sz="2000" u="sng" dirty="0"/>
              <a:t>+main(</a:t>
            </a:r>
            <a:r>
              <a:rPr lang="en-US" sz="2000" u="sng" dirty="0" err="1"/>
              <a:t>args:String</a:t>
            </a:r>
            <a:r>
              <a:rPr lang="en-US" sz="2000" u="sng" dirty="0"/>
              <a:t>[]):void)</a:t>
            </a:r>
            <a:endParaRPr lang="en-IN" sz="2000" u="sng" dirty="0"/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5172891" y="1489166"/>
            <a:ext cx="2873829" cy="261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2A3DB0-C33D-FCC7-A5B2-82C4CFC7D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688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Practice Problem-2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048" y="1681767"/>
            <a:ext cx="8229600" cy="2048691"/>
          </a:xfrm>
        </p:spPr>
        <p:txBody>
          <a:bodyPr/>
          <a:lstStyle/>
          <a:p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Read data from console and create 2 student objects and print the data of each student </a:t>
            </a:r>
          </a:p>
          <a:p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3D3C75-00A0-9699-CF2E-3E1B1F092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/>
          <p:cNvSpPr>
            <a:spLocks noGrp="1"/>
          </p:cNvSpPr>
          <p:nvPr>
            <p:ph type="title"/>
          </p:nvPr>
        </p:nvSpPr>
        <p:spPr>
          <a:xfrm>
            <a:off x="-2237166" y="315831"/>
            <a:ext cx="6825125" cy="655638"/>
          </a:xfrm>
        </p:spPr>
        <p:txBody>
          <a:bodyPr/>
          <a:lstStyle/>
          <a:p>
            <a:r>
              <a:rPr lang="en-US" sz="2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Class Diagram</a:t>
            </a: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241477" y="1416123"/>
            <a:ext cx="4281340" cy="407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41477" y="880431"/>
            <a:ext cx="4333121" cy="59960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/>
          </a:p>
        </p:txBody>
      </p:sp>
      <p:sp>
        <p:nvSpPr>
          <p:cNvPr id="8" name="TextBox 7"/>
          <p:cNvSpPr txBox="1"/>
          <p:nvPr/>
        </p:nvSpPr>
        <p:spPr>
          <a:xfrm>
            <a:off x="271135" y="958417"/>
            <a:ext cx="24854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Student</a:t>
            </a:r>
            <a:endParaRPr lang="en-IN" sz="2000" dirty="0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212130" y="2865191"/>
            <a:ext cx="4362468" cy="41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12129" y="1503022"/>
            <a:ext cx="192653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-</a:t>
            </a:r>
            <a:r>
              <a:rPr lang="en-US" sz="2000" dirty="0" err="1"/>
              <a:t>name:String</a:t>
            </a:r>
            <a:endParaRPr lang="en-US" sz="2000" dirty="0"/>
          </a:p>
          <a:p>
            <a:r>
              <a:rPr lang="en-US" sz="2000" dirty="0"/>
              <a:t>-</a:t>
            </a:r>
            <a:r>
              <a:rPr lang="en-US" sz="2000" dirty="0" err="1"/>
              <a:t>age:int</a:t>
            </a:r>
            <a:endParaRPr lang="en-US" sz="2000" dirty="0"/>
          </a:p>
          <a:p>
            <a:r>
              <a:rPr lang="en-US" sz="2000" dirty="0"/>
              <a:t>-</a:t>
            </a:r>
            <a:r>
              <a:rPr lang="en-US" sz="2000" dirty="0" err="1"/>
              <a:t>address:String</a:t>
            </a:r>
            <a:endParaRPr lang="en-US" sz="2000" dirty="0"/>
          </a:p>
          <a:p>
            <a:r>
              <a:rPr lang="en-US" sz="2000" dirty="0"/>
              <a:t>-</a:t>
            </a:r>
            <a:r>
              <a:rPr lang="en-US" sz="2000" dirty="0" err="1"/>
              <a:t>branch:String</a:t>
            </a:r>
            <a:endParaRPr lang="en-US" sz="2000" dirty="0"/>
          </a:p>
          <a:p>
            <a:endParaRPr lang="en-IN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212128" y="2906619"/>
            <a:ext cx="410971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+</a:t>
            </a:r>
            <a:r>
              <a:rPr lang="en-US" sz="2000" dirty="0" err="1"/>
              <a:t>setName</a:t>
            </a:r>
            <a:r>
              <a:rPr lang="en-US" sz="2000" dirty="0"/>
              <a:t>(</a:t>
            </a:r>
            <a:r>
              <a:rPr lang="en-US" sz="2000" dirty="0" err="1"/>
              <a:t>name:String</a:t>
            </a:r>
            <a:r>
              <a:rPr lang="en-US" sz="2000" dirty="0"/>
              <a:t>)</a:t>
            </a:r>
          </a:p>
          <a:p>
            <a:r>
              <a:rPr lang="en-US" sz="2000" dirty="0"/>
              <a:t>+</a:t>
            </a:r>
            <a:r>
              <a:rPr lang="en-US" sz="2000" dirty="0" err="1"/>
              <a:t>setAge</a:t>
            </a:r>
            <a:r>
              <a:rPr lang="en-US" sz="2000" dirty="0"/>
              <a:t>(</a:t>
            </a:r>
            <a:r>
              <a:rPr lang="en-US" sz="2000" dirty="0" err="1"/>
              <a:t>id:int</a:t>
            </a:r>
            <a:r>
              <a:rPr lang="en-US" sz="2000" dirty="0"/>
              <a:t>)</a:t>
            </a:r>
          </a:p>
          <a:p>
            <a:r>
              <a:rPr lang="en-US" sz="2000" dirty="0"/>
              <a:t>+</a:t>
            </a:r>
            <a:r>
              <a:rPr lang="en-US" sz="2000" dirty="0" err="1"/>
              <a:t>setAdress</a:t>
            </a:r>
            <a:r>
              <a:rPr lang="en-US" sz="2000" dirty="0"/>
              <a:t>(</a:t>
            </a:r>
            <a:r>
              <a:rPr lang="en-US" sz="2000" dirty="0" err="1"/>
              <a:t>gender:String</a:t>
            </a:r>
            <a:r>
              <a:rPr lang="en-US" sz="2000" dirty="0"/>
              <a:t>)</a:t>
            </a:r>
          </a:p>
          <a:p>
            <a:r>
              <a:rPr lang="en-US" sz="2000" dirty="0"/>
              <a:t>+</a:t>
            </a:r>
            <a:r>
              <a:rPr lang="en-US" sz="2000" dirty="0" err="1"/>
              <a:t>setBranch</a:t>
            </a:r>
            <a:r>
              <a:rPr lang="en-US" sz="2000" dirty="0"/>
              <a:t>(</a:t>
            </a:r>
            <a:r>
              <a:rPr lang="en-US" sz="2000" dirty="0" err="1"/>
              <a:t>branch:String</a:t>
            </a:r>
            <a:r>
              <a:rPr lang="en-US" sz="2000" dirty="0"/>
              <a:t>)</a:t>
            </a:r>
          </a:p>
          <a:p>
            <a:r>
              <a:rPr lang="en-US" sz="2000" dirty="0"/>
              <a:t>+</a:t>
            </a:r>
            <a:r>
              <a:rPr lang="en-US" sz="2000" dirty="0" err="1"/>
              <a:t>getName</a:t>
            </a:r>
            <a:r>
              <a:rPr lang="en-US" sz="2000" dirty="0"/>
              <a:t>():String</a:t>
            </a:r>
          </a:p>
          <a:p>
            <a:r>
              <a:rPr lang="en-US" sz="2000" dirty="0"/>
              <a:t>+</a:t>
            </a:r>
            <a:r>
              <a:rPr lang="en-US" sz="2000" dirty="0" err="1"/>
              <a:t>getAge</a:t>
            </a:r>
            <a:r>
              <a:rPr lang="en-US" sz="2000" dirty="0"/>
              <a:t>():</a:t>
            </a:r>
            <a:r>
              <a:rPr lang="en-US" sz="2000" dirty="0" err="1"/>
              <a:t>int</a:t>
            </a:r>
            <a:endParaRPr lang="en-US" sz="2000" dirty="0"/>
          </a:p>
          <a:p>
            <a:r>
              <a:rPr lang="en-US" sz="2000" dirty="0"/>
              <a:t>+</a:t>
            </a:r>
            <a:r>
              <a:rPr lang="en-US" sz="2000" dirty="0" err="1"/>
              <a:t>getAdress</a:t>
            </a:r>
            <a:r>
              <a:rPr lang="en-US" sz="2000" dirty="0"/>
              <a:t>():String</a:t>
            </a:r>
          </a:p>
          <a:p>
            <a:r>
              <a:rPr lang="en-US" sz="2000" dirty="0"/>
              <a:t>+</a:t>
            </a:r>
            <a:r>
              <a:rPr lang="en-US" sz="2000" dirty="0" err="1"/>
              <a:t>getBranch</a:t>
            </a:r>
            <a:r>
              <a:rPr lang="en-US" sz="2000" dirty="0"/>
              <a:t>():String</a:t>
            </a:r>
          </a:p>
          <a:p>
            <a:r>
              <a:rPr lang="en-US" sz="2000" dirty="0"/>
              <a:t>+</a:t>
            </a:r>
            <a:r>
              <a:rPr lang="en-US" sz="2000" dirty="0" err="1"/>
              <a:t>toString</a:t>
            </a:r>
            <a:r>
              <a:rPr lang="en-US" sz="2000" dirty="0"/>
              <a:t>():String</a:t>
            </a:r>
          </a:p>
          <a:p>
            <a:r>
              <a:rPr lang="en-US" sz="2000" dirty="0"/>
              <a:t>+Student(</a:t>
            </a:r>
            <a:r>
              <a:rPr lang="en-US" sz="2000" dirty="0" err="1"/>
              <a:t>name:String,age:int,address:String,branch:String</a:t>
            </a:r>
            <a:r>
              <a:rPr lang="en-US" sz="2000" dirty="0"/>
              <a:t>)</a:t>
            </a:r>
          </a:p>
          <a:p>
            <a:r>
              <a:rPr lang="en-US" sz="2000" dirty="0"/>
              <a:t>+</a:t>
            </a:r>
            <a:r>
              <a:rPr lang="en-US" sz="2000" dirty="0" err="1"/>
              <a:t>toString</a:t>
            </a:r>
            <a:r>
              <a:rPr lang="en-US" sz="2000" dirty="0"/>
              <a:t>():String</a:t>
            </a:r>
          </a:p>
          <a:p>
            <a:endParaRPr lang="en-IN" sz="2000" dirty="0"/>
          </a:p>
        </p:txBody>
      </p:sp>
      <p:sp>
        <p:nvSpPr>
          <p:cNvPr id="20" name="Rectangle 19"/>
          <p:cNvSpPr/>
          <p:nvPr/>
        </p:nvSpPr>
        <p:spPr>
          <a:xfrm>
            <a:off x="5167112" y="953590"/>
            <a:ext cx="2882184" cy="17788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/>
          </a:p>
        </p:txBody>
      </p:sp>
      <p:cxnSp>
        <p:nvCxnSpPr>
          <p:cNvPr id="22" name="Straight Connector 21"/>
          <p:cNvCxnSpPr/>
          <p:nvPr/>
        </p:nvCxnSpPr>
        <p:spPr>
          <a:xfrm flipV="1">
            <a:off x="5167112" y="1835206"/>
            <a:ext cx="2882184" cy="344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271615" y="1003665"/>
            <a:ext cx="20216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StudentDemo</a:t>
            </a:r>
            <a:endParaRPr lang="en-IN" sz="2000" dirty="0"/>
          </a:p>
        </p:txBody>
      </p:sp>
      <p:sp>
        <p:nvSpPr>
          <p:cNvPr id="28" name="TextBox 27"/>
          <p:cNvSpPr txBox="1"/>
          <p:nvPr/>
        </p:nvSpPr>
        <p:spPr>
          <a:xfrm>
            <a:off x="5022761" y="1946802"/>
            <a:ext cx="3683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  </a:t>
            </a:r>
            <a:r>
              <a:rPr lang="en-US" sz="2000" u="sng" dirty="0"/>
              <a:t>+main(</a:t>
            </a:r>
            <a:r>
              <a:rPr lang="en-US" sz="2000" u="sng" dirty="0" err="1"/>
              <a:t>args:String</a:t>
            </a:r>
            <a:r>
              <a:rPr lang="en-US" sz="2000" u="sng" dirty="0"/>
              <a:t>[]):void)</a:t>
            </a:r>
            <a:endParaRPr lang="en-IN" sz="2000" u="sng" dirty="0"/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5185954" y="1384663"/>
            <a:ext cx="2860766" cy="26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B8D0DB-4AD3-20E1-9112-CFD3A43A4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52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                        Thank you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3024D57-B74B-E30B-DE47-01FD9634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461649"/>
      </p:ext>
    </p:extLst>
  </p:cSld>
  <p:clrMapOvr>
    <a:masterClrMapping/>
  </p:clrMapOvr>
</p:sld>
</file>

<file path=ppt/theme/theme1.xml><?xml version="1.0" encoding="utf-8"?>
<a:theme xmlns:a="http://schemas.openxmlformats.org/drawingml/2006/main" name="klu">
  <a:themeElements>
    <a:clrScheme name="Custom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000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51481</TotalTime>
  <Words>1241</Words>
  <Application>Microsoft Macintosh PowerPoint</Application>
  <PresentationFormat>On-screen Show (4:3)</PresentationFormat>
  <Paragraphs>166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Consolas</vt:lpstr>
      <vt:lpstr>Times New Roman</vt:lpstr>
      <vt:lpstr>Wingdings</vt:lpstr>
      <vt:lpstr>klu</vt:lpstr>
      <vt:lpstr>PowerPoint Presentation</vt:lpstr>
      <vt:lpstr>Session Outcome</vt:lpstr>
      <vt:lpstr>Need of Accessors and Mutators:</vt:lpstr>
      <vt:lpstr>Example</vt:lpstr>
      <vt:lpstr>Syntax:</vt:lpstr>
      <vt:lpstr> toString () method: </vt:lpstr>
      <vt:lpstr> Create a Cuboid class with 3 private instance variables length, breadth and height of type double, and a public method volume of return type double().  Add 3 setter methods with return type boolean (the instance variable is set when the argument is +ve) for each of the 3 instance members   Also add 3 getter methods of return type, which return the value appended with m (meters).  Use toString() method to print the details of Cuboid</vt:lpstr>
      <vt:lpstr>Class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Class Diagram</vt:lpstr>
      <vt:lpstr>Practice Problem-2</vt:lpstr>
      <vt:lpstr>Class Diagram</vt:lpstr>
      <vt:lpstr>PowerPoint Presentation</vt:lpstr>
    </vt:vector>
  </TitlesOfParts>
  <Company>FAMU-FSU College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Extended Surfaces/Fins</dc:title>
  <dc:creator>C. Shih</dc:creator>
  <cp:lastModifiedBy>NAVEEN KUMAR</cp:lastModifiedBy>
  <cp:revision>1080</cp:revision>
  <cp:lastPrinted>1999-01-11T10:11:19Z</cp:lastPrinted>
  <dcterms:created xsi:type="dcterms:W3CDTF">1999-01-07T21:51:57Z</dcterms:created>
  <dcterms:modified xsi:type="dcterms:W3CDTF">2024-08-27T07:45:54Z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1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1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E:\public_html\eml3016\lecture-notes</vt:lpwstr>
  </property>
</Properties>
</file>