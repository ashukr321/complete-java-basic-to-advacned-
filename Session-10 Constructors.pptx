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</p:sldMasterIdLst>
  <p:notesMasterIdLst>
    <p:notesMasterId r:id="rId22"/>
  </p:notesMasterIdLst>
  <p:handoutMasterIdLst>
    <p:handoutMasterId r:id="rId23"/>
  </p:handoutMasterIdLst>
  <p:sldIdLst>
    <p:sldId id="947" r:id="rId2"/>
    <p:sldId id="317" r:id="rId3"/>
    <p:sldId id="948" r:id="rId4"/>
    <p:sldId id="952" r:id="rId5"/>
    <p:sldId id="953" r:id="rId6"/>
    <p:sldId id="954" r:id="rId7"/>
    <p:sldId id="963" r:id="rId8"/>
    <p:sldId id="968" r:id="rId9"/>
    <p:sldId id="949" r:id="rId10"/>
    <p:sldId id="964" r:id="rId11"/>
    <p:sldId id="965" r:id="rId12"/>
    <p:sldId id="969" r:id="rId13"/>
    <p:sldId id="966" r:id="rId14"/>
    <p:sldId id="955" r:id="rId15"/>
    <p:sldId id="970" r:id="rId16"/>
    <p:sldId id="959" r:id="rId17"/>
    <p:sldId id="971" r:id="rId18"/>
    <p:sldId id="961" r:id="rId19"/>
    <p:sldId id="967" r:id="rId20"/>
    <p:sldId id="960" r:id="rId2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314" autoAdjust="0"/>
    <p:restoredTop sz="87903" autoAdjust="0"/>
  </p:normalViewPr>
  <p:slideViewPr>
    <p:cSldViewPr snapToGrid="0">
      <p:cViewPr varScale="1">
        <p:scale>
          <a:sx n="93" d="100"/>
          <a:sy n="93" d="100"/>
        </p:scale>
        <p:origin x="2504" y="2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288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13F062B-4407-48C2-9F1D-114345B3F5F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GB"/>
              <a:t>KL University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69C3BC-1893-4867-8B61-4AE94C4B8BC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F77D7F-E04C-4811-B927-8BC0506D3F92}" type="datetimeFigureOut">
              <a:rPr lang="en-GB" smtClean="0"/>
              <a:t>27/08/2024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7C6EBC-EB1D-4F80-A237-6D41979C00D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pt-BR"/>
              <a:t>KLEF                                              P-1(CTD)                                           BES-1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FFFD9E-E0B3-475F-96FB-D407AB47DA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02A67C-BA25-4B8D-8726-A76BF40653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3929754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r>
              <a:rPr lang="en-GB"/>
              <a:t>KL University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C08F098-34A8-4532-9C69-38DECEB33B3C}" type="datetimeFigureOut">
              <a:rPr lang="en-US"/>
              <a:pPr>
                <a:defRPr/>
              </a:pPr>
              <a:t>8/27/24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r>
              <a:rPr lang="pt-BR"/>
              <a:t>KLEF                                              P-1(CTD)                                           BES-1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31F2AAD-F00E-4B2B-A58E-1BBB485431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918510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6596C2-4EDC-7B42-AA45-3D4AC8E175B6}" type="datetime1">
              <a:rPr lang="en-IN" smtClean="0"/>
              <a:t>27/08/24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Dr. Naveen Kumar, Associate Professor, AIIT, AUP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B129DB-8D41-4066-AA93-1DAF03F26E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7362"/>
            <a:ext cx="7391400" cy="6556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F19F62-E49D-824A-BC95-164DA149CE76}" type="datetime1">
              <a:rPr lang="en-IN" smtClean="0"/>
              <a:t>27/08/24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Dr. Naveen Kumar, Associate Professor, AIIT, AUP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FD8EC-3A04-483A-AD2E-8D598A4DA8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21EB2F-D1E3-AC41-97D5-9FCDC4BD5FDB}" type="datetime1">
              <a:rPr lang="en-IN" smtClean="0"/>
              <a:t>27/08/24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Dr. Naveen Kumar, Associate Professor, AIIT, AUP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589411-C56C-40F4-B66E-D512662E7E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7391400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F82D18-823D-AB45-986F-6AAED3CE6D46}" type="datetime1">
              <a:rPr lang="en-IN" smtClean="0"/>
              <a:t>27/08/24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Dr. Naveen Kumar, Associate Professor, AIIT, AUP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29E7CF-FAD9-49DF-99E0-EAA77C32AE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7362"/>
            <a:ext cx="7391400" cy="65563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4040188" cy="87947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B0F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4"/>
            <a:ext cx="4040188" cy="41497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295400"/>
            <a:ext cx="4041775" cy="87947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B0F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4"/>
            <a:ext cx="4041775" cy="41497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01ED84-ED1D-BF41-A2ED-63FBF2D246D8}" type="datetime1">
              <a:rPr lang="en-IN" smtClean="0"/>
              <a:t>27/08/24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Dr. Naveen Kumar, Associate Professor, AIIT, AUP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67AD7C-0654-469F-AEFA-E806C2E841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7391400" cy="6556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6FDAF6-CD37-9C4A-9957-3C8DB1CF9AC7}" type="datetime1">
              <a:rPr lang="en-IN" smtClean="0"/>
              <a:t>27/08/24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Dr. Naveen Kumar, Associate Professor, AIIT, AUP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7A0E5E-4093-4CD3-BA7B-F97E5E4A51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4ECB73-650C-A545-9596-136BC3E92129}" type="datetime1">
              <a:rPr lang="en-IN" smtClean="0"/>
              <a:t>27/08/24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Dr. Naveen Kumar, Associate Professor, AIIT, AUP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B6A58B-23FE-4F42-857E-74F19373BE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3008313" cy="6731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914400"/>
            <a:ext cx="5111750" cy="543222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889500"/>
          </a:xfrm>
        </p:spPr>
        <p:txBody>
          <a:bodyPr/>
          <a:lstStyle>
            <a:lvl1pPr marL="0" indent="0">
              <a:buNone/>
              <a:defRPr sz="1400">
                <a:solidFill>
                  <a:srgbClr val="00B0F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04664F-110E-2C4E-B38F-A400CF603266}" type="datetime1">
              <a:rPr lang="en-IN" smtClean="0"/>
              <a:t>27/08/24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Dr. Naveen Kumar, Associate Professor, AIIT, AUP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302C-7341-4EFD-A7BE-94A6EA3ED8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E2E7DD-DD7E-DF43-B038-0A8891CA182A}" type="datetime1">
              <a:rPr lang="en-IN" smtClean="0"/>
              <a:t>27/08/24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Dr. Naveen Kumar, Associate Professor, AIIT, AUP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BEE4BA-9FC8-42B3-9170-29EB164472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7391400" cy="6556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95400"/>
            <a:ext cx="8229600" cy="5029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53D30F-5C69-AF4C-A964-F82261FF36EA}" type="datetime1">
              <a:rPr lang="en-IN" smtClean="0"/>
              <a:t>27/08/24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Dr. Naveen Kumar, Associate Professor, AIIT, AUP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A11CB4-3CE4-427D-9B5B-DA68271F1F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66800"/>
            <a:ext cx="2057400" cy="5211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85800"/>
            <a:ext cx="6019800" cy="5592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314A0C-9FF1-E548-8429-C4CC814CABA8}" type="datetime1">
              <a:rPr lang="en-IN" smtClean="0"/>
              <a:t>27/08/24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Dr. Naveen Kumar, Associate Professor, AIIT, AUP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4C8231-EDB7-4A03-BDA6-FF052D201C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457200"/>
            <a:ext cx="7391400" cy="65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95400"/>
            <a:ext cx="82296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85A6312-08BF-C74F-BDB1-676B09371039}" type="datetime1">
              <a:rPr lang="en-IN" smtClean="0"/>
              <a:t>27/08/24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pt-BR"/>
              <a:t>Dr. Naveen Kumar, Associate Professor, AIIT, AUP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166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27807A9-12E1-47F0-9E96-6DDF5CA19C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7981950" y="977900"/>
            <a:ext cx="11430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Arc 15"/>
          <p:cNvSpPr/>
          <p:nvPr/>
        </p:nvSpPr>
        <p:spPr>
          <a:xfrm>
            <a:off x="7010400" y="444500"/>
            <a:ext cx="990600" cy="1066800"/>
          </a:xfrm>
          <a:prstGeom prst="arc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17" name="Straight Connector 16"/>
          <p:cNvCxnSpPr>
            <a:stCxn id="16" idx="0"/>
          </p:cNvCxnSpPr>
          <p:nvPr/>
        </p:nvCxnSpPr>
        <p:spPr>
          <a:xfrm flipH="1">
            <a:off x="228600" y="444500"/>
            <a:ext cx="72771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E46C0A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rgbClr val="595959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rgbClr val="595959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rgbClr val="595959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rgbClr val="595959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rgbClr val="59595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8C265-0FFA-4994-9190-406196AC8F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                     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073EDA-C346-4D6E-8E58-F0ABE0D4E0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                         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0B0F0B-2605-44D6-833B-2EF40FC4E5B0}"/>
              </a:ext>
            </a:extLst>
          </p:cNvPr>
          <p:cNvSpPr txBox="1"/>
          <p:nvPr/>
        </p:nvSpPr>
        <p:spPr>
          <a:xfrm>
            <a:off x="2082259" y="2070527"/>
            <a:ext cx="37898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solidFill>
                  <a:srgbClr val="00B0F0"/>
                </a:solidFill>
                <a:cs typeface="Times New Roman" panose="02020603050405020304" pitchFamily="18" charset="0"/>
              </a:rPr>
              <a:t>Session 10:</a:t>
            </a:r>
          </a:p>
          <a:p>
            <a:pPr algn="ctr"/>
            <a:r>
              <a:rPr lang="en-IN" sz="4800" b="1" dirty="0">
                <a:solidFill>
                  <a:srgbClr val="00B0F0"/>
                </a:solidFill>
                <a:cs typeface="Times New Roman" panose="02020603050405020304" pitchFamily="18" charset="0"/>
              </a:rPr>
              <a:t>Constructors 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E468CBC-2E69-49CF-8630-6374D99C6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6958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At the end of this session</a:t>
            </a:r>
          </a:p>
          <a:p>
            <a:pPr marL="0" indent="0">
              <a:buNone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1. Students will understand the need for constructors and types of</a:t>
            </a:r>
            <a:b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    constructors </a:t>
            </a:r>
          </a:p>
          <a:p>
            <a:pPr marL="0" indent="0">
              <a:buNone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2. Students will use this keyword </a:t>
            </a:r>
          </a:p>
          <a:p>
            <a:pPr>
              <a:buFont typeface="Wingdings" pitchFamily="2" charset="2"/>
              <a:buChar char="Ø"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6063438-465E-4293-BAD1-90E2082FC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DE94A-2AF8-486C-BE68-AD04AB1DE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651" y="518300"/>
            <a:ext cx="7391400" cy="350874"/>
          </a:xfrm>
        </p:spPr>
        <p:txBody>
          <a:bodyPr/>
          <a:lstStyle/>
          <a:p>
            <a:pPr algn="l"/>
            <a:r>
              <a:rPr lang="en-US" sz="3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we need Constructors?</a:t>
            </a:r>
            <a:endParaRPr lang="en-US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17FF9-2D9A-4BD3-AD3F-889F086B9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51" y="869174"/>
            <a:ext cx="8229600" cy="5029200"/>
          </a:xfrm>
        </p:spPr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constructor is a special method that is used to initialize objects.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constructor is called when an object of a class is created.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 the time of calling constructor, memory for the object is allocated.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can be used to set initial values for object attributes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80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0BF23-9CE9-41B9-A300-1E9928E11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6158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DE94A-2AF8-486C-BE68-AD04AB1DE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651" y="518300"/>
            <a:ext cx="7391400" cy="350874"/>
          </a:xfrm>
        </p:spPr>
        <p:txBody>
          <a:bodyPr/>
          <a:lstStyle/>
          <a:p>
            <a:pPr algn="l"/>
            <a:r>
              <a:rPr lang="en-US" sz="3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 for creating Constructors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17FF9-2D9A-4BD3-AD3F-889F086B9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51" y="1116419"/>
            <a:ext cx="8644270" cy="4104168"/>
          </a:xfrm>
        </p:spPr>
        <p:txBody>
          <a:bodyPr/>
          <a:lstStyle/>
          <a:p>
            <a:pPr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en-US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Constructor name must be same as its class name</a:t>
            </a:r>
          </a:p>
          <a:p>
            <a:pPr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en-US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Constructor must have no explicit return type</a:t>
            </a:r>
          </a:p>
          <a:p>
            <a:pPr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en-US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Constructor cannot be declared as final, static or abstract</a:t>
            </a:r>
          </a:p>
          <a:p>
            <a:pPr>
              <a:lnSpc>
                <a:spcPct val="300000"/>
              </a:lnSpc>
              <a:buFont typeface="Wingdings" panose="05000000000000000000" pitchFamily="2" charset="2"/>
              <a:buChar char="Ø"/>
            </a:pPr>
            <a:endParaRPr lang="en-US" alt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6C267-4757-48B1-A6AF-F4191113A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8043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DE94A-2AF8-486C-BE68-AD04AB1DE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651" y="518300"/>
            <a:ext cx="7391400" cy="350874"/>
          </a:xfrm>
        </p:spPr>
        <p:txBody>
          <a:bodyPr/>
          <a:lstStyle/>
          <a:p>
            <a:pPr algn="l"/>
            <a:r>
              <a:rPr lang="en-US" sz="3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Defining a Constructors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17FF9-2D9A-4BD3-AD3F-889F086B9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51" y="1116419"/>
            <a:ext cx="8644270" cy="4104168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Here is a simple Java constructor declaration example. The example shows a very simple Java class with a single constructor.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MyClass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public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MyClass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75C602-5746-43B8-B868-8206C746E129}"/>
              </a:ext>
            </a:extLst>
          </p:cNvPr>
          <p:cNvSpPr/>
          <p:nvPr/>
        </p:nvSpPr>
        <p:spPr>
          <a:xfrm>
            <a:off x="4167963" y="2137144"/>
            <a:ext cx="2849525" cy="7442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Constructor</a:t>
            </a:r>
            <a:r>
              <a:rPr lang="en-US" dirty="0"/>
              <a:t>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B9C91F6-F724-4110-9265-E52A00484D67}"/>
              </a:ext>
            </a:extLst>
          </p:cNvPr>
          <p:cNvCxnSpPr/>
          <p:nvPr/>
        </p:nvCxnSpPr>
        <p:spPr>
          <a:xfrm flipH="1">
            <a:off x="1903228" y="2541181"/>
            <a:ext cx="2264735" cy="3402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D27124D-D028-4536-8C5B-6C8594618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442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DE94A-2AF8-486C-BE68-AD04AB1DE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651" y="518300"/>
            <a:ext cx="7391400" cy="350874"/>
          </a:xfrm>
        </p:spPr>
        <p:txBody>
          <a:bodyPr/>
          <a:lstStyle/>
          <a:p>
            <a:pPr algn="l"/>
            <a:r>
              <a:rPr lang="en-US" sz="3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for a Constructor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17FF9-2D9A-4BD3-AD3F-889F086B9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51" y="954238"/>
            <a:ext cx="8229600" cy="5385462"/>
          </a:xfrm>
        </p:spPr>
        <p:txBody>
          <a:bodyPr/>
          <a:lstStyle/>
          <a:p>
            <a:pPr marL="0" indent="0" algn="just">
              <a:buNone/>
            </a:pPr>
            <a:r>
              <a:rPr lang="en-US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7D438A89-D4D9-4432-9B76-B762FD232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E520C0F-A79A-4164-A6AE-2AFE369C5AAE}"/>
              </a:ext>
            </a:extLst>
          </p:cNvPr>
          <p:cNvGrpSpPr/>
          <p:nvPr/>
        </p:nvGrpSpPr>
        <p:grpSpPr>
          <a:xfrm>
            <a:off x="2573079" y="1543262"/>
            <a:ext cx="3168502" cy="3388704"/>
            <a:chOff x="1828800" y="1385315"/>
            <a:chExt cx="3168502" cy="3388704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9E76ADD-0930-4EB2-A486-1B2FD159A5FA}"/>
                </a:ext>
              </a:extLst>
            </p:cNvPr>
            <p:cNvSpPr/>
            <p:nvPr/>
          </p:nvSpPr>
          <p:spPr>
            <a:xfrm>
              <a:off x="1828800" y="1765005"/>
              <a:ext cx="3168502" cy="300901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Sample</a:t>
              </a:r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8735D82-9657-43DB-B707-557A2A4F0190}"/>
                </a:ext>
              </a:extLst>
            </p:cNvPr>
            <p:cNvSpPr/>
            <p:nvPr/>
          </p:nvSpPr>
          <p:spPr>
            <a:xfrm>
              <a:off x="2023730" y="2211569"/>
              <a:ext cx="2778642" cy="231967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Today</a:t>
              </a:r>
            </a:p>
            <a:p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x: int</a:t>
              </a:r>
            </a:p>
            <a:p>
              <a:pPr>
                <a:tabLst>
                  <a:tab pos="52388" algn="l"/>
                </a:tabLst>
              </a:pP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tabLst>
                  <a:tab pos="52388" algn="l"/>
                </a:tabLst>
              </a:pP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+Today()</a:t>
              </a:r>
            </a:p>
            <a:p>
              <a:pPr>
                <a:tabLst>
                  <a:tab pos="52388" algn="l"/>
                </a:tabLst>
              </a:pP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+main(</a:t>
              </a:r>
              <a:r>
                <a:rPr lang="en-US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args</a:t>
              </a: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[]: String): void</a:t>
              </a:r>
            </a:p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A48C161-1C7D-44A3-B33D-5D21B28A14D4}"/>
                </a:ext>
              </a:extLst>
            </p:cNvPr>
            <p:cNvSpPr/>
            <p:nvPr/>
          </p:nvSpPr>
          <p:spPr>
            <a:xfrm>
              <a:off x="1828800" y="1385315"/>
              <a:ext cx="1821711" cy="39517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BD071E6-4656-4A4C-8F71-11B2F1946153}"/>
                </a:ext>
              </a:extLst>
            </p:cNvPr>
            <p:cNvCxnSpPr/>
            <p:nvPr/>
          </p:nvCxnSpPr>
          <p:spPr>
            <a:xfrm>
              <a:off x="2020186" y="2606746"/>
              <a:ext cx="277509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AE0CBE4-AFCA-4662-BFFC-BDA00660E921}"/>
                </a:ext>
              </a:extLst>
            </p:cNvPr>
            <p:cNvCxnSpPr/>
            <p:nvPr/>
          </p:nvCxnSpPr>
          <p:spPr>
            <a:xfrm>
              <a:off x="2027274" y="3567221"/>
              <a:ext cx="277509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22261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DE94A-2AF8-486C-BE68-AD04AB1DE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651" y="518300"/>
            <a:ext cx="7391400" cy="350874"/>
          </a:xfrm>
        </p:spPr>
        <p:txBody>
          <a:bodyPr/>
          <a:lstStyle/>
          <a:p>
            <a:pPr algn="l"/>
            <a:r>
              <a:rPr lang="en-US" sz="3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to Create Constructors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17FF9-2D9A-4BD3-AD3F-889F086B9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51" y="954238"/>
            <a:ext cx="8229600" cy="5385462"/>
          </a:xfrm>
        </p:spPr>
        <p:txBody>
          <a:bodyPr/>
          <a:lstStyle/>
          <a:p>
            <a:pPr marL="0" indent="0" algn="just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Today {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int x;            //class attribute</a:t>
            </a:r>
          </a:p>
          <a:p>
            <a:pPr marL="0" indent="0" algn="just">
              <a:buNone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//Create a class constructor for the class Today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public Today() {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x = 5;  // Set the initial value for the class attribute x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}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static void main(String[]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Today obj = new </a:t>
            </a:r>
            <a:r>
              <a:rPr lang="en-US" sz="200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Today();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Create an object of class Today (This will call the constructor)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obj.x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Print the value of x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Outputs 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F3672-DC1D-4EB8-B194-7751062BF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1874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DE94A-2AF8-486C-BE68-AD04AB1DE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651" y="518300"/>
            <a:ext cx="7391400" cy="350874"/>
          </a:xfrm>
        </p:spPr>
        <p:txBody>
          <a:bodyPr/>
          <a:lstStyle/>
          <a:p>
            <a:pPr algn="l"/>
            <a:r>
              <a:rPr lang="en-US" sz="3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Constructors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17FF9-2D9A-4BD3-AD3F-889F086B9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51" y="1116419"/>
            <a:ext cx="8644270" cy="4104168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 Constructor</a:t>
            </a:r>
          </a:p>
          <a:p>
            <a:pPr marL="457200" indent="-457200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No-argument Constructor</a:t>
            </a:r>
            <a:endParaRPr lang="en-IN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Parameterized Constructor</a:t>
            </a:r>
          </a:p>
          <a:p>
            <a:pPr marL="457200" indent="-457200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 Constructor</a:t>
            </a:r>
            <a:endParaRPr lang="en-IN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12B66-734A-4616-8F37-38C8AEED0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6318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DE94A-2AF8-486C-BE68-AD04AB1DE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069" y="547860"/>
            <a:ext cx="7391400" cy="350874"/>
          </a:xfrm>
        </p:spPr>
        <p:txBody>
          <a:bodyPr/>
          <a:lstStyle/>
          <a:p>
            <a:pPr algn="l"/>
            <a:r>
              <a:rPr lang="en-US" sz="3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 Constructor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17FF9-2D9A-4BD3-AD3F-889F086B9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51" y="954238"/>
            <a:ext cx="8229600" cy="5385462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 </a:t>
            </a:r>
            <a:endParaRPr lang="en-US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F814193-F92C-4080-BB39-ADD9070F4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D95CF20-B4EF-45D5-B209-185A7482C253}"/>
              </a:ext>
            </a:extLst>
          </p:cNvPr>
          <p:cNvGrpSpPr/>
          <p:nvPr/>
        </p:nvGrpSpPr>
        <p:grpSpPr>
          <a:xfrm>
            <a:off x="903768" y="1598929"/>
            <a:ext cx="7102548" cy="3498112"/>
            <a:chOff x="961821" y="1477925"/>
            <a:chExt cx="7102548" cy="3498112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1636CBC-AA64-4C66-84C3-A03FAB6C6DE3}"/>
                </a:ext>
              </a:extLst>
            </p:cNvPr>
            <p:cNvSpPr/>
            <p:nvPr/>
          </p:nvSpPr>
          <p:spPr>
            <a:xfrm>
              <a:off x="961821" y="1477925"/>
              <a:ext cx="1438571" cy="33985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1B97164-96E9-41AE-8868-B9F96A1C2F9B}"/>
                </a:ext>
              </a:extLst>
            </p:cNvPr>
            <p:cNvSpPr/>
            <p:nvPr/>
          </p:nvSpPr>
          <p:spPr>
            <a:xfrm>
              <a:off x="961821" y="1730073"/>
              <a:ext cx="2930423" cy="32340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121EB72-BFC1-40B3-B012-F679D9B66065}"/>
                </a:ext>
              </a:extLst>
            </p:cNvPr>
            <p:cNvSpPr/>
            <p:nvPr/>
          </p:nvSpPr>
          <p:spPr>
            <a:xfrm>
              <a:off x="1627826" y="1829674"/>
              <a:ext cx="1545132" cy="3837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600" b="1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constructor</a:t>
              </a:r>
              <a:endParaRPr lang="en-US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37684D4-3F1D-47CC-9B4D-0BD761245B58}"/>
                </a:ext>
              </a:extLst>
            </p:cNvPr>
            <p:cNvSpPr/>
            <p:nvPr/>
          </p:nvSpPr>
          <p:spPr>
            <a:xfrm>
              <a:off x="1627826" y="2256294"/>
              <a:ext cx="1527372" cy="52622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800" dirty="0">
                  <a:ea typeface="Calibri" panose="020F0502020204030204" pitchFamily="34" charset="0"/>
                  <a:cs typeface="Times New Roman" panose="02020603050405020304" pitchFamily="18" charset="0"/>
                </a:rPr>
                <a:t>C</a:t>
              </a:r>
              <a:r>
                <a:rPr lang="en-US" sz="18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uboid</a:t>
              </a:r>
              <a:endParaRPr lang="en-US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F6C331A-A367-4645-8521-AAE2C1993EF4}"/>
                </a:ext>
              </a:extLst>
            </p:cNvPr>
            <p:cNvSpPr/>
            <p:nvPr/>
          </p:nvSpPr>
          <p:spPr>
            <a:xfrm>
              <a:off x="1627826" y="2782515"/>
              <a:ext cx="1527372" cy="95377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l: double</a:t>
              </a:r>
            </a:p>
            <a:p>
              <a:pPr marL="0" marR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b: double</a:t>
              </a:r>
            </a:p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h: double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32D68AC-43B0-409A-8AC4-BA70A03BD8C3}"/>
                </a:ext>
              </a:extLst>
            </p:cNvPr>
            <p:cNvSpPr/>
            <p:nvPr/>
          </p:nvSpPr>
          <p:spPr>
            <a:xfrm>
              <a:off x="1627826" y="3736290"/>
              <a:ext cx="1527372" cy="52622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 dirty="0" err="1">
                  <a:ea typeface="Calibri" panose="020F0502020204030204" pitchFamily="34" charset="0"/>
                  <a:cs typeface="Times New Roman" panose="02020603050405020304" pitchFamily="18" charset="0"/>
                </a:rPr>
                <a:t>findVolume</a:t>
              </a:r>
              <a:r>
                <a:rPr lang="en-US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(): void</a:t>
              </a:r>
              <a:endPara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864B48B-F9D9-4505-ACC2-5431500D66B5}"/>
                </a:ext>
              </a:extLst>
            </p:cNvPr>
            <p:cNvSpPr/>
            <p:nvPr/>
          </p:nvSpPr>
          <p:spPr>
            <a:xfrm>
              <a:off x="5133946" y="1489823"/>
              <a:ext cx="1438571" cy="33985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3045085-1B1B-47F6-BCCB-5305A34069D1}"/>
                </a:ext>
              </a:extLst>
            </p:cNvPr>
            <p:cNvSpPr/>
            <p:nvPr/>
          </p:nvSpPr>
          <p:spPr>
            <a:xfrm>
              <a:off x="5133946" y="1741971"/>
              <a:ext cx="2930423" cy="32340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6756F8E-837D-445A-A03A-E8CBD8610C11}"/>
                </a:ext>
              </a:extLst>
            </p:cNvPr>
            <p:cNvSpPr/>
            <p:nvPr/>
          </p:nvSpPr>
          <p:spPr>
            <a:xfrm>
              <a:off x="5829982" y="1816650"/>
              <a:ext cx="1545132" cy="4170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600" b="1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constructor</a:t>
              </a:r>
              <a:endParaRPr lang="en-US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E984A9F-6037-4F0B-AC62-3125A4C29FD6}"/>
                </a:ext>
              </a:extLst>
            </p:cNvPr>
            <p:cNvSpPr/>
            <p:nvPr/>
          </p:nvSpPr>
          <p:spPr>
            <a:xfrm>
              <a:off x="5451822" y="2268192"/>
              <a:ext cx="2185400" cy="52622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800" dirty="0">
                  <a:ea typeface="Calibri" panose="020F0502020204030204" pitchFamily="34" charset="0"/>
                  <a:cs typeface="Times New Roman" panose="02020603050405020304" pitchFamily="18" charset="0"/>
                </a:rPr>
                <a:t>C</a:t>
              </a:r>
              <a:r>
                <a:rPr lang="en-US" sz="18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uboidMain</a:t>
              </a:r>
              <a:endParaRPr lang="en-US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DE5F1A8-E542-4F79-985E-44EC4E0BA2D5}"/>
                </a:ext>
              </a:extLst>
            </p:cNvPr>
            <p:cNvSpPr/>
            <p:nvPr/>
          </p:nvSpPr>
          <p:spPr>
            <a:xfrm>
              <a:off x="5451822" y="2794413"/>
              <a:ext cx="2195334" cy="95377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80F903D-40E6-42C9-9ECC-37A3D1C75E45}"/>
                </a:ext>
              </a:extLst>
            </p:cNvPr>
            <p:cNvSpPr/>
            <p:nvPr/>
          </p:nvSpPr>
          <p:spPr>
            <a:xfrm>
              <a:off x="5451822" y="3748188"/>
              <a:ext cx="2195334" cy="69242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+main(</a:t>
              </a:r>
              <a:r>
                <a:rPr lang="en-US" sz="1200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args</a:t>
              </a:r>
              <a:r>
                <a:rPr lang="en-US" sz="1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[]: String): void</a:t>
              </a:r>
            </a:p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  <a:endPara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3499045-3B9B-4C1B-9922-BBB8C4F2D03C}"/>
                </a:ext>
              </a:extLst>
            </p:cNvPr>
            <p:cNvCxnSpPr>
              <a:cxnSpLocks/>
            </p:cNvCxnSpPr>
            <p:nvPr/>
          </p:nvCxnSpPr>
          <p:spPr>
            <a:xfrm>
              <a:off x="3165302" y="3353055"/>
              <a:ext cx="2275887" cy="594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03618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DE94A-2AF8-486C-BE68-AD04AB1DE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651" y="518300"/>
            <a:ext cx="7391400" cy="350874"/>
          </a:xfrm>
        </p:spPr>
        <p:txBody>
          <a:bodyPr/>
          <a:lstStyle/>
          <a:p>
            <a:pPr algn="l"/>
            <a:r>
              <a:rPr lang="en-US" sz="3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 Constructor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17FF9-2D9A-4BD3-AD3F-889F086B9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869174"/>
            <a:ext cx="8229600" cy="5385462"/>
          </a:xfrm>
        </p:spPr>
        <p:txBody>
          <a:bodyPr/>
          <a:lstStyle/>
          <a:p>
            <a:pPr marL="0" indent="0" algn="just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 constructor;</a:t>
            </a: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Cuboid {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double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l,b,h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void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findVolume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("Volume="+l*b*h);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 algn="just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 constructor;</a:t>
            </a: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CuboidMain {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public static void main(String[]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cuboid obj=new cuboid(); 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obj.findVolume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</a:t>
            </a:r>
            <a:endParaRPr lang="en-US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07607-E9BD-425C-9F9B-094828CE1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2372E7-274A-42D5-ABE8-62ECFCB29C95}"/>
              </a:ext>
            </a:extLst>
          </p:cNvPr>
          <p:cNvSpPr/>
          <p:nvPr/>
        </p:nvSpPr>
        <p:spPr>
          <a:xfrm>
            <a:off x="5817781" y="3561905"/>
            <a:ext cx="2945219" cy="69040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cuboid constructor is implicitly called by the compiler</a:t>
            </a:r>
          </a:p>
          <a:p>
            <a:pPr algn="ctr"/>
            <a:endParaRPr lang="en-US" sz="1600" dirty="0">
              <a:solidFill>
                <a:srgbClr val="0070C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8ACDF55-A9CA-42EF-8B49-4DBE5EDD3481}"/>
              </a:ext>
            </a:extLst>
          </p:cNvPr>
          <p:cNvCxnSpPr>
            <a:cxnSpLocks/>
          </p:cNvCxnSpPr>
          <p:nvPr/>
        </p:nvCxnSpPr>
        <p:spPr>
          <a:xfrm flipH="1">
            <a:off x="4585063" y="4029740"/>
            <a:ext cx="1571188" cy="5316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8325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DE94A-2AF8-486C-BE68-AD04AB1DE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651" y="518300"/>
            <a:ext cx="7391400" cy="350874"/>
          </a:xfrm>
        </p:spPr>
        <p:txBody>
          <a:bodyPr/>
          <a:lstStyle/>
          <a:p>
            <a:pPr algn="l"/>
            <a:r>
              <a:rPr lang="en-US" sz="3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No-argument Constructor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17FF9-2D9A-4BD3-AD3F-889F086B9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51" y="954238"/>
            <a:ext cx="8229600" cy="5385462"/>
          </a:xfrm>
        </p:spPr>
        <p:txBody>
          <a:bodyPr/>
          <a:lstStyle/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            </a:t>
            </a:r>
            <a:endParaRPr lang="en-US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20555121-622B-4806-AAF6-5E12D737A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ADFE494-ACFB-4009-8EB9-F35F9C39FEA6}"/>
              </a:ext>
            </a:extLst>
          </p:cNvPr>
          <p:cNvGrpSpPr/>
          <p:nvPr/>
        </p:nvGrpSpPr>
        <p:grpSpPr>
          <a:xfrm>
            <a:off x="919291" y="1598929"/>
            <a:ext cx="7102548" cy="3498112"/>
            <a:chOff x="961821" y="1477925"/>
            <a:chExt cx="7102548" cy="3498112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C18BC6B-6B30-488A-A186-BC46E06F9419}"/>
                </a:ext>
              </a:extLst>
            </p:cNvPr>
            <p:cNvSpPr/>
            <p:nvPr/>
          </p:nvSpPr>
          <p:spPr>
            <a:xfrm>
              <a:off x="961821" y="1477925"/>
              <a:ext cx="1438571" cy="33985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52EA7E6-565E-49CD-9BA7-B3C623F12C46}"/>
                </a:ext>
              </a:extLst>
            </p:cNvPr>
            <p:cNvSpPr/>
            <p:nvPr/>
          </p:nvSpPr>
          <p:spPr>
            <a:xfrm>
              <a:off x="961821" y="1730073"/>
              <a:ext cx="2930423" cy="32340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4DD2E671-091A-48CF-863A-EB714CF99A01}"/>
                </a:ext>
              </a:extLst>
            </p:cNvPr>
            <p:cNvSpPr/>
            <p:nvPr/>
          </p:nvSpPr>
          <p:spPr>
            <a:xfrm>
              <a:off x="1627826" y="1829674"/>
              <a:ext cx="1545132" cy="3837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600" b="1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constructor</a:t>
              </a:r>
              <a:endParaRPr lang="en-US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6B68DC4-EA97-4A60-9E26-E330537D0AEB}"/>
                </a:ext>
              </a:extLst>
            </p:cNvPr>
            <p:cNvSpPr/>
            <p:nvPr/>
          </p:nvSpPr>
          <p:spPr>
            <a:xfrm>
              <a:off x="1627826" y="2256294"/>
              <a:ext cx="1527372" cy="52622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800" dirty="0">
                  <a:ea typeface="Calibri" panose="020F0502020204030204" pitchFamily="34" charset="0"/>
                  <a:cs typeface="Times New Roman" panose="02020603050405020304" pitchFamily="18" charset="0"/>
                </a:rPr>
                <a:t>C</a:t>
              </a:r>
              <a:r>
                <a:rPr lang="en-US" sz="18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uboid</a:t>
              </a:r>
              <a:endParaRPr lang="en-US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013DC26-3425-4A9D-88B7-F517BD385B00}"/>
                </a:ext>
              </a:extLst>
            </p:cNvPr>
            <p:cNvSpPr/>
            <p:nvPr/>
          </p:nvSpPr>
          <p:spPr>
            <a:xfrm>
              <a:off x="1627826" y="2782515"/>
              <a:ext cx="1527372" cy="95377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l: double</a:t>
              </a:r>
            </a:p>
            <a:p>
              <a:pPr marL="0" marR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b: double</a:t>
              </a:r>
            </a:p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h: double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AFD51FE2-BDE6-4D4E-8212-36C690A35A95}"/>
                </a:ext>
              </a:extLst>
            </p:cNvPr>
            <p:cNvSpPr/>
            <p:nvPr/>
          </p:nvSpPr>
          <p:spPr>
            <a:xfrm>
              <a:off x="1627826" y="3736290"/>
              <a:ext cx="1527372" cy="52622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 dirty="0" err="1">
                  <a:ea typeface="Calibri" panose="020F0502020204030204" pitchFamily="34" charset="0"/>
                  <a:cs typeface="Times New Roman" panose="02020603050405020304" pitchFamily="18" charset="0"/>
                </a:rPr>
                <a:t>findVolume</a:t>
              </a:r>
              <a:r>
                <a:rPr lang="en-US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(): void</a:t>
              </a:r>
              <a:endPara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B4F24BAB-8D77-4C08-8DF5-55F3761E5789}"/>
                </a:ext>
              </a:extLst>
            </p:cNvPr>
            <p:cNvSpPr/>
            <p:nvPr/>
          </p:nvSpPr>
          <p:spPr>
            <a:xfrm>
              <a:off x="5133946" y="1489823"/>
              <a:ext cx="1438571" cy="33985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81ED8A30-E84E-4F20-869D-9B283A56D4FC}"/>
                </a:ext>
              </a:extLst>
            </p:cNvPr>
            <p:cNvSpPr/>
            <p:nvPr/>
          </p:nvSpPr>
          <p:spPr>
            <a:xfrm>
              <a:off x="5133946" y="1741971"/>
              <a:ext cx="2930423" cy="32340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109C0E6-14E4-489D-B0D9-F9A836F74CAB}"/>
                </a:ext>
              </a:extLst>
            </p:cNvPr>
            <p:cNvSpPr/>
            <p:nvPr/>
          </p:nvSpPr>
          <p:spPr>
            <a:xfrm>
              <a:off x="5829982" y="1816650"/>
              <a:ext cx="1545132" cy="4170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600" b="1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constructor</a:t>
              </a:r>
              <a:endParaRPr lang="en-US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F1D72234-5A97-4AB4-954D-61F19CE46394}"/>
                </a:ext>
              </a:extLst>
            </p:cNvPr>
            <p:cNvSpPr/>
            <p:nvPr/>
          </p:nvSpPr>
          <p:spPr>
            <a:xfrm>
              <a:off x="5451822" y="2268192"/>
              <a:ext cx="2185400" cy="52622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800" dirty="0">
                  <a:ea typeface="Calibri" panose="020F0502020204030204" pitchFamily="34" charset="0"/>
                  <a:cs typeface="Times New Roman" panose="02020603050405020304" pitchFamily="18" charset="0"/>
                </a:rPr>
                <a:t>C</a:t>
              </a:r>
              <a:r>
                <a:rPr lang="en-US" sz="18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uboidMain</a:t>
              </a:r>
              <a:endParaRPr lang="en-US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83498CA-661D-475B-A155-45FA5F97C40B}"/>
                </a:ext>
              </a:extLst>
            </p:cNvPr>
            <p:cNvSpPr/>
            <p:nvPr/>
          </p:nvSpPr>
          <p:spPr>
            <a:xfrm>
              <a:off x="5451822" y="2794413"/>
              <a:ext cx="2195334" cy="95377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90834721-9AA4-42A6-A26B-2899540E9939}"/>
                </a:ext>
              </a:extLst>
            </p:cNvPr>
            <p:cNvSpPr/>
            <p:nvPr/>
          </p:nvSpPr>
          <p:spPr>
            <a:xfrm>
              <a:off x="5451822" y="3748188"/>
              <a:ext cx="2195334" cy="69242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+main(</a:t>
              </a:r>
              <a:r>
                <a:rPr lang="en-US" sz="1200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args</a:t>
              </a:r>
              <a:r>
                <a:rPr lang="en-US" sz="1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[]: String): void</a:t>
              </a:r>
            </a:p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  <a:endPara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4888011B-0E70-4610-AD51-139345AF7BB7}"/>
                </a:ext>
              </a:extLst>
            </p:cNvPr>
            <p:cNvCxnSpPr>
              <a:cxnSpLocks/>
            </p:cNvCxnSpPr>
            <p:nvPr/>
          </p:nvCxnSpPr>
          <p:spPr>
            <a:xfrm>
              <a:off x="3165302" y="3353055"/>
              <a:ext cx="2275887" cy="594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77156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DE94A-2AF8-486C-BE68-AD04AB1DE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651" y="518300"/>
            <a:ext cx="7391400" cy="350874"/>
          </a:xfrm>
        </p:spPr>
        <p:txBody>
          <a:bodyPr/>
          <a:lstStyle/>
          <a:p>
            <a:pPr algn="l"/>
            <a:r>
              <a:rPr lang="en-US" sz="3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No-argument Constructor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17FF9-2D9A-4BD3-AD3F-889F086B9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869174"/>
            <a:ext cx="8229600" cy="5385462"/>
          </a:xfrm>
        </p:spPr>
        <p:txBody>
          <a:bodyPr/>
          <a:lstStyle/>
          <a:p>
            <a:pPr marL="0" indent="0" algn="just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 constructor;</a:t>
            </a: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cuboid {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double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l,b,h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cuboid(){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l=13.0;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b=21.0;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h=31.1;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void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findVolume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(){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("Volume="+l*b*h);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}}</a:t>
            </a:r>
          </a:p>
          <a:p>
            <a:pPr marL="0" indent="0" algn="just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 constructor;</a:t>
            </a: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CuboidMain {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public static void main(String[] 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cuboid obj=new cuboid(); 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obj.findVolume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</a:t>
            </a:r>
            <a:endParaRPr lang="en-US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07607-E9BD-425C-9F9B-094828CE1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2372E7-274A-42D5-ABE8-62ECFCB29C95}"/>
              </a:ext>
            </a:extLst>
          </p:cNvPr>
          <p:cNvSpPr/>
          <p:nvPr/>
        </p:nvSpPr>
        <p:spPr>
          <a:xfrm>
            <a:off x="5834109" y="4609939"/>
            <a:ext cx="2945219" cy="69040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cuboid constructor is Explicitly called by the user</a:t>
            </a:r>
          </a:p>
          <a:p>
            <a:pPr algn="ctr"/>
            <a:endParaRPr lang="en-US" sz="1600" dirty="0">
              <a:solidFill>
                <a:srgbClr val="0070C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8ACDF55-A9CA-42EF-8B49-4DBE5EDD3481}"/>
              </a:ext>
            </a:extLst>
          </p:cNvPr>
          <p:cNvCxnSpPr>
            <a:cxnSpLocks/>
          </p:cNvCxnSpPr>
          <p:nvPr/>
        </p:nvCxnSpPr>
        <p:spPr>
          <a:xfrm flipH="1">
            <a:off x="4374311" y="5032601"/>
            <a:ext cx="1571188" cy="5316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7676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DE94A-2AF8-486C-BE68-AD04AB1DE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651" y="518300"/>
            <a:ext cx="7391400" cy="350874"/>
          </a:xfrm>
        </p:spPr>
        <p:txBody>
          <a:bodyPr/>
          <a:lstStyle/>
          <a:p>
            <a:pPr algn="l"/>
            <a:r>
              <a:rPr lang="en-US" sz="3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Parametrized Constructor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17FF9-2D9A-4BD3-AD3F-889F086B9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51" y="954238"/>
            <a:ext cx="8229600" cy="5385462"/>
          </a:xfrm>
        </p:spPr>
        <p:txBody>
          <a:bodyPr/>
          <a:lstStyle/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            </a:t>
            </a:r>
            <a:endParaRPr lang="en-US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7DEBA1B5-DA92-4B3C-BA30-F68B61B4B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3F0B265-D16D-4488-B6AD-C3C163923E27}"/>
              </a:ext>
            </a:extLst>
          </p:cNvPr>
          <p:cNvGrpSpPr/>
          <p:nvPr/>
        </p:nvGrpSpPr>
        <p:grpSpPr>
          <a:xfrm>
            <a:off x="919291" y="1598929"/>
            <a:ext cx="7102548" cy="3498112"/>
            <a:chOff x="961821" y="1477925"/>
            <a:chExt cx="7102548" cy="3498112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F3AFA94-3BDE-44DF-8506-EEB2E7E2EE3C}"/>
                </a:ext>
              </a:extLst>
            </p:cNvPr>
            <p:cNvSpPr/>
            <p:nvPr/>
          </p:nvSpPr>
          <p:spPr>
            <a:xfrm>
              <a:off x="961821" y="1477925"/>
              <a:ext cx="1438571" cy="33985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C1A3B76-74FC-440C-BC29-CBFF55338489}"/>
                </a:ext>
              </a:extLst>
            </p:cNvPr>
            <p:cNvSpPr/>
            <p:nvPr/>
          </p:nvSpPr>
          <p:spPr>
            <a:xfrm>
              <a:off x="961821" y="1730073"/>
              <a:ext cx="2930423" cy="32340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9F2D187-7E9C-4F3D-A7C0-F75CB2B89AD9}"/>
                </a:ext>
              </a:extLst>
            </p:cNvPr>
            <p:cNvSpPr/>
            <p:nvPr/>
          </p:nvSpPr>
          <p:spPr>
            <a:xfrm>
              <a:off x="1627826" y="1829674"/>
              <a:ext cx="1545132" cy="3837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600" b="1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constructor</a:t>
              </a:r>
              <a:endParaRPr lang="en-US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F868B4F-2C1A-468A-802F-A5CDCC7257FC}"/>
                </a:ext>
              </a:extLst>
            </p:cNvPr>
            <p:cNvSpPr/>
            <p:nvPr/>
          </p:nvSpPr>
          <p:spPr>
            <a:xfrm>
              <a:off x="1164691" y="2256294"/>
              <a:ext cx="2535439" cy="52622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800" dirty="0">
                  <a:ea typeface="Calibri" panose="020F0502020204030204" pitchFamily="34" charset="0"/>
                  <a:cs typeface="Times New Roman" panose="02020603050405020304" pitchFamily="18" charset="0"/>
                </a:rPr>
                <a:t>C</a:t>
              </a:r>
              <a:r>
                <a:rPr lang="en-US" sz="18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uboid</a:t>
              </a:r>
              <a:endParaRPr lang="en-US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C3CDCAD-C50D-4D4F-8297-726C3E069233}"/>
                </a:ext>
              </a:extLst>
            </p:cNvPr>
            <p:cNvSpPr/>
            <p:nvPr/>
          </p:nvSpPr>
          <p:spPr>
            <a:xfrm>
              <a:off x="1164691" y="2782515"/>
              <a:ext cx="2535439" cy="95377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l: double</a:t>
              </a:r>
            </a:p>
            <a:p>
              <a:pPr marL="0" marR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b: double</a:t>
              </a:r>
            </a:p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h: double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AF4625D-15C3-41FA-B121-00074E1A1B91}"/>
                </a:ext>
              </a:extLst>
            </p:cNvPr>
            <p:cNvSpPr/>
            <p:nvPr/>
          </p:nvSpPr>
          <p:spPr>
            <a:xfrm>
              <a:off x="1164691" y="3736290"/>
              <a:ext cx="2535439" cy="52622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 dirty="0" err="1">
                  <a:ea typeface="Calibri" panose="020F0502020204030204" pitchFamily="34" charset="0"/>
                  <a:cs typeface="Times New Roman" panose="02020603050405020304" pitchFamily="18" charset="0"/>
                </a:rPr>
                <a:t>findVolume</a:t>
              </a:r>
              <a:r>
                <a:rPr lang="en-US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(</a:t>
              </a:r>
              <a:r>
                <a:rPr lang="en-US" sz="1400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x:double</a:t>
              </a:r>
              <a:r>
                <a:rPr lang="en-US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, y:double,z:double): void</a:t>
              </a:r>
              <a:endPara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4C50B1A-F8CD-40D5-899F-7B465089DF09}"/>
                </a:ext>
              </a:extLst>
            </p:cNvPr>
            <p:cNvSpPr/>
            <p:nvPr/>
          </p:nvSpPr>
          <p:spPr>
            <a:xfrm>
              <a:off x="5133946" y="1489823"/>
              <a:ext cx="1438571" cy="33985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AA0228C-C77E-4C2A-8731-BDA3674598DD}"/>
                </a:ext>
              </a:extLst>
            </p:cNvPr>
            <p:cNvSpPr/>
            <p:nvPr/>
          </p:nvSpPr>
          <p:spPr>
            <a:xfrm>
              <a:off x="5133946" y="1741971"/>
              <a:ext cx="2930423" cy="32340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F8417A1-4315-4909-B4EC-355C07FE4741}"/>
                </a:ext>
              </a:extLst>
            </p:cNvPr>
            <p:cNvSpPr/>
            <p:nvPr/>
          </p:nvSpPr>
          <p:spPr>
            <a:xfrm>
              <a:off x="5829982" y="1816650"/>
              <a:ext cx="1545132" cy="4170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600" b="1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constructor</a:t>
              </a:r>
              <a:endParaRPr lang="en-US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09783D7-C0CE-4A03-8FD7-7FEC3DEA5EC5}"/>
                </a:ext>
              </a:extLst>
            </p:cNvPr>
            <p:cNvSpPr/>
            <p:nvPr/>
          </p:nvSpPr>
          <p:spPr>
            <a:xfrm>
              <a:off x="5451822" y="2268192"/>
              <a:ext cx="2185400" cy="52622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800" dirty="0">
                  <a:ea typeface="Calibri" panose="020F0502020204030204" pitchFamily="34" charset="0"/>
                  <a:cs typeface="Times New Roman" panose="02020603050405020304" pitchFamily="18" charset="0"/>
                </a:rPr>
                <a:t>C</a:t>
              </a:r>
              <a:r>
                <a:rPr lang="en-US" sz="18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uboidMain</a:t>
              </a:r>
              <a:endParaRPr lang="en-US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2CC3FD8-2ABA-44ED-A6A6-BD7FDE063F97}"/>
                </a:ext>
              </a:extLst>
            </p:cNvPr>
            <p:cNvSpPr/>
            <p:nvPr/>
          </p:nvSpPr>
          <p:spPr>
            <a:xfrm>
              <a:off x="5451822" y="2794413"/>
              <a:ext cx="2195334" cy="95377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5BD9AF-546A-42BF-8265-3097DAD5E5FB}"/>
                </a:ext>
              </a:extLst>
            </p:cNvPr>
            <p:cNvSpPr/>
            <p:nvPr/>
          </p:nvSpPr>
          <p:spPr>
            <a:xfrm>
              <a:off x="5451822" y="3748188"/>
              <a:ext cx="2195334" cy="69242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+main(</a:t>
              </a:r>
              <a:r>
                <a:rPr lang="en-US" sz="1200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args</a:t>
              </a:r>
              <a:r>
                <a:rPr lang="en-US" sz="1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[]: String): void</a:t>
              </a:r>
            </a:p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  <a:endPara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1DA224B-99E0-469A-A52E-831FCB07A32F}"/>
                </a:ext>
              </a:extLst>
            </p:cNvPr>
            <p:cNvCxnSpPr>
              <a:cxnSpLocks/>
            </p:cNvCxnSpPr>
            <p:nvPr/>
          </p:nvCxnSpPr>
          <p:spPr>
            <a:xfrm>
              <a:off x="3700130" y="3359004"/>
              <a:ext cx="174105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57215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DE94A-2AF8-486C-BE68-AD04AB1DE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651" y="518300"/>
            <a:ext cx="7391400" cy="350874"/>
          </a:xfrm>
        </p:spPr>
        <p:txBody>
          <a:bodyPr/>
          <a:lstStyle/>
          <a:p>
            <a:pPr algn="l"/>
            <a:r>
              <a:rPr lang="en-US" sz="3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Parametrized Constructor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17FF9-2D9A-4BD3-AD3F-889F086B9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51" y="954238"/>
            <a:ext cx="8229600" cy="5385462"/>
          </a:xfrm>
        </p:spPr>
        <p:txBody>
          <a:bodyPr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 constructor;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cuboid {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double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l,b,h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cuboid(double x, double y, double z){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l=x;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b=y;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h=z;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void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findVolume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(){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System.out.println("Volume="+l*b*h);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}}</a:t>
            </a:r>
          </a:p>
          <a:p>
            <a:pPr marL="0" indent="0" algn="just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 constructor;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cuboidMain {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public static void main(String[]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cuboid obj=new cuboid(12.5,20.2,30.5);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obj.findVolume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}}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1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                                           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</a:t>
            </a:r>
            <a:endParaRPr lang="en-US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DE9B2-FF53-4B16-B850-29C321C0A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5687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DE94A-2AF8-486C-BE68-AD04AB1DE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651" y="518300"/>
            <a:ext cx="7391400" cy="350874"/>
          </a:xfrm>
        </p:spPr>
        <p:txBody>
          <a:bodyPr/>
          <a:lstStyle/>
          <a:p>
            <a:pPr algn="l"/>
            <a:r>
              <a:rPr lang="en-US" sz="3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Parametrized Constructor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17FF9-2D9A-4BD3-AD3F-889F086B9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51" y="954238"/>
            <a:ext cx="8229600" cy="5385462"/>
          </a:xfrm>
        </p:spPr>
        <p:txBody>
          <a:bodyPr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 constructor;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cuboid {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double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l,b,h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cuboid(double 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double 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double 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){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l=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b=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h=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void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findVolume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(){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System.out.println("Volume="+l*b*h);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}}</a:t>
            </a:r>
          </a:p>
          <a:p>
            <a:pPr marL="0" indent="0" algn="just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 constructor;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cuboidMain {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public static void main(String[]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cuboid obj=new cuboid(12.5,20.2,30.5);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obj.findVolume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}}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1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                                           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</a:t>
            </a:r>
            <a:endParaRPr lang="en-US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DE9B2-FF53-4B16-B850-29C321C0A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322013DC-2510-4475-B6AB-3F23295D77D9}"/>
              </a:ext>
            </a:extLst>
          </p:cNvPr>
          <p:cNvSpPr/>
          <p:nvPr/>
        </p:nvSpPr>
        <p:spPr>
          <a:xfrm>
            <a:off x="2764466" y="2222205"/>
            <a:ext cx="319018" cy="732686"/>
          </a:xfrm>
          <a:prstGeom prst="rightBrace">
            <a:avLst>
              <a:gd name="adj1" fmla="val 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14EDBDE-8C30-438F-AEAF-6885DB58E1B0}"/>
              </a:ext>
            </a:extLst>
          </p:cNvPr>
          <p:cNvCxnSpPr>
            <a:cxnSpLocks/>
          </p:cNvCxnSpPr>
          <p:nvPr/>
        </p:nvCxnSpPr>
        <p:spPr>
          <a:xfrm flipV="1">
            <a:off x="3083484" y="1815672"/>
            <a:ext cx="2310768" cy="7728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094563C3-5C2D-424A-8562-AC4B5EA6D3BF}"/>
              </a:ext>
            </a:extLst>
          </p:cNvPr>
          <p:cNvSpPr/>
          <p:nvPr/>
        </p:nvSpPr>
        <p:spPr>
          <a:xfrm>
            <a:off x="5394252" y="1385473"/>
            <a:ext cx="2658140" cy="8612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parameters (formal arguments) and instance variables are same.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86284B4F-11C5-4A38-922B-D373562B6515}"/>
              </a:ext>
            </a:extLst>
          </p:cNvPr>
          <p:cNvSpPr/>
          <p:nvPr/>
        </p:nvSpPr>
        <p:spPr>
          <a:xfrm rot="16200000">
            <a:off x="2797597" y="1335974"/>
            <a:ext cx="170119" cy="78927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F67300F6-B5E8-4DAB-8DE0-21FB7119BE9A}"/>
              </a:ext>
            </a:extLst>
          </p:cNvPr>
          <p:cNvSpPr/>
          <p:nvPr/>
        </p:nvSpPr>
        <p:spPr>
          <a:xfrm rot="16200000">
            <a:off x="3611524" y="1333474"/>
            <a:ext cx="170119" cy="78927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D1F40DF-503F-4901-959D-319B2621C64D}"/>
              </a:ext>
            </a:extLst>
          </p:cNvPr>
          <p:cNvCxnSpPr>
            <a:cxnSpLocks/>
          </p:cNvCxnSpPr>
          <p:nvPr/>
        </p:nvCxnSpPr>
        <p:spPr>
          <a:xfrm flipV="1">
            <a:off x="3696583" y="1499191"/>
            <a:ext cx="1697669" cy="143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F9AA4B8-FF3B-49DD-865E-66DBFE662353}"/>
              </a:ext>
            </a:extLst>
          </p:cNvPr>
          <p:cNvCxnSpPr>
            <a:cxnSpLocks/>
            <a:stCxn id="9" idx="1"/>
          </p:cNvCxnSpPr>
          <p:nvPr/>
        </p:nvCxnSpPr>
        <p:spPr>
          <a:xfrm flipV="1">
            <a:off x="2882657" y="1494921"/>
            <a:ext cx="2511595" cy="1506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98331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60054-8104-4036-B2A2-BBFF56518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this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85EC1-8647-4291-A105-6B1771626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keyword can be used to refer current class instance variable.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there is ambiguity between the instance variables and parameters, this keyword resolves the problem of ambiguity.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9268B-EAE4-4D27-A875-748D7AFE6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5085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DE94A-2AF8-486C-BE68-AD04AB1DE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069" y="265766"/>
            <a:ext cx="7391400" cy="350874"/>
          </a:xfrm>
        </p:spPr>
        <p:txBody>
          <a:bodyPr/>
          <a:lstStyle/>
          <a:p>
            <a:pPr algn="l"/>
            <a:r>
              <a:rPr lang="en-US" sz="3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Parametrized Constructor using this keyword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17FF9-2D9A-4BD3-AD3F-889F086B9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51" y="954238"/>
            <a:ext cx="8229600" cy="5385462"/>
          </a:xfrm>
        </p:spPr>
        <p:txBody>
          <a:bodyPr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 constructor;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cuboid {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double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l,b,h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cuboid(double l, double b, double h){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this.l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=l;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this.b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=b;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this.h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=h;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void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findVolume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(){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System.out.println("Volume="+l*b*h);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}}</a:t>
            </a:r>
          </a:p>
          <a:p>
            <a:pPr marL="0" indent="0" algn="just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 constructor;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cuboidMain {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public static void main(String[]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cuboid obj=new cuboid(12.5,20.2,30.5);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obj.findVolume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}}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1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                                           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</a:t>
            </a:r>
            <a:endParaRPr lang="en-US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DE9B2-FF53-4B16-B850-29C321C0A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52284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60054-8104-4036-B2A2-BBFF56518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 Constructor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85EC1-8647-4291-A105-6B1771626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copy constructor in a class is a constructor that creates an object using another object of the same class.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EB1AA-E332-4EF2-9D03-3303E5E8E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8270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DE94A-2AF8-486C-BE68-AD04AB1DE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651" y="518300"/>
            <a:ext cx="7391400" cy="350874"/>
          </a:xfrm>
        </p:spPr>
        <p:txBody>
          <a:bodyPr/>
          <a:lstStyle/>
          <a:p>
            <a:pPr algn="l"/>
            <a:r>
              <a:rPr lang="en-US" sz="3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 Constructor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17FF9-2D9A-4BD3-AD3F-889F086B9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51" y="954238"/>
            <a:ext cx="8229600" cy="5385462"/>
          </a:xfrm>
        </p:spPr>
        <p:txBody>
          <a:bodyPr/>
          <a:lstStyle/>
          <a:p>
            <a:pPr marL="0" indent="0" algn="just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            </a:t>
            </a:r>
            <a:endParaRPr lang="en-US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ACD621CF-E5BD-4B39-A5DC-54A4CDBC3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B206FBD-5CCB-4E49-95D0-BE31DE955576}"/>
              </a:ext>
            </a:extLst>
          </p:cNvPr>
          <p:cNvGrpSpPr/>
          <p:nvPr/>
        </p:nvGrpSpPr>
        <p:grpSpPr>
          <a:xfrm>
            <a:off x="1020726" y="1492604"/>
            <a:ext cx="7102548" cy="3498112"/>
            <a:chOff x="961821" y="1477925"/>
            <a:chExt cx="7102548" cy="3498112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6B54AE7-CCA1-4ABA-A91C-B54755237D52}"/>
                </a:ext>
              </a:extLst>
            </p:cNvPr>
            <p:cNvSpPr/>
            <p:nvPr/>
          </p:nvSpPr>
          <p:spPr>
            <a:xfrm>
              <a:off x="961821" y="1477925"/>
              <a:ext cx="1438571" cy="33985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F5E8E1B-7265-4112-AB71-48A6CF2980DA}"/>
                </a:ext>
              </a:extLst>
            </p:cNvPr>
            <p:cNvSpPr/>
            <p:nvPr/>
          </p:nvSpPr>
          <p:spPr>
            <a:xfrm>
              <a:off x="961821" y="1730073"/>
              <a:ext cx="2930423" cy="32340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620F108-D134-4CF7-873C-BBBB5A4C2933}"/>
                </a:ext>
              </a:extLst>
            </p:cNvPr>
            <p:cNvSpPr/>
            <p:nvPr/>
          </p:nvSpPr>
          <p:spPr>
            <a:xfrm>
              <a:off x="1627826" y="1829674"/>
              <a:ext cx="1545132" cy="3837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600" b="1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constructor</a:t>
              </a:r>
              <a:endParaRPr lang="en-US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B15E8D9-8211-4310-8E42-44FB3764E6D9}"/>
                </a:ext>
              </a:extLst>
            </p:cNvPr>
            <p:cNvSpPr/>
            <p:nvPr/>
          </p:nvSpPr>
          <p:spPr>
            <a:xfrm>
              <a:off x="1164691" y="2256294"/>
              <a:ext cx="2535439" cy="52622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800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Copycuboid</a:t>
              </a:r>
              <a:endParaRPr lang="en-US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7F0BE37-3DCE-4D89-868C-1813736D1607}"/>
                </a:ext>
              </a:extLst>
            </p:cNvPr>
            <p:cNvSpPr/>
            <p:nvPr/>
          </p:nvSpPr>
          <p:spPr>
            <a:xfrm>
              <a:off x="1164691" y="2782515"/>
              <a:ext cx="2535439" cy="95377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l: double</a:t>
              </a:r>
            </a:p>
            <a:p>
              <a:pPr marL="0" marR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b: double</a:t>
              </a:r>
            </a:p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h: double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2F4D0B7-816E-413E-A72C-04FFC3F7D989}"/>
                </a:ext>
              </a:extLst>
            </p:cNvPr>
            <p:cNvSpPr/>
            <p:nvPr/>
          </p:nvSpPr>
          <p:spPr>
            <a:xfrm>
              <a:off x="1164691" y="3736290"/>
              <a:ext cx="2535439" cy="8968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 dirty="0" err="1">
                  <a:ea typeface="Calibri" panose="020F0502020204030204" pitchFamily="34" charset="0"/>
                  <a:cs typeface="Times New Roman" panose="02020603050405020304" pitchFamily="18" charset="0"/>
                </a:rPr>
                <a:t>findVolume</a:t>
              </a:r>
              <a:r>
                <a:rPr lang="en-US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(</a:t>
              </a:r>
              <a:r>
                <a:rPr lang="en-US" sz="1400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x:double</a:t>
              </a:r>
              <a:r>
                <a:rPr lang="en-US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, y:double,z:double): void</a:t>
              </a:r>
            </a:p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 dirty="0" err="1">
                  <a:ea typeface="Calibri" panose="020F0502020204030204" pitchFamily="34" charset="0"/>
                  <a:cs typeface="Times New Roman" panose="02020603050405020304" pitchFamily="18" charset="0"/>
                </a:rPr>
                <a:t>Copycuboid</a:t>
              </a:r>
              <a:r>
                <a:rPr lang="en-US" sz="1400" dirty="0">
                  <a:ea typeface="Calibri" panose="020F0502020204030204" pitchFamily="34" charset="0"/>
                  <a:cs typeface="Times New Roman" panose="02020603050405020304" pitchFamily="18" charset="0"/>
                </a:rPr>
                <a:t>(</a:t>
              </a:r>
              <a:r>
                <a:rPr lang="en-US" sz="1400" dirty="0" err="1">
                  <a:ea typeface="Calibri" panose="020F0502020204030204" pitchFamily="34" charset="0"/>
                  <a:cs typeface="Times New Roman" panose="02020603050405020304" pitchFamily="18" charset="0"/>
                </a:rPr>
                <a:t>c:Copycuboid</a:t>
              </a:r>
              <a:r>
                <a:rPr lang="en-US" sz="1400" dirty="0">
                  <a:ea typeface="Calibri" panose="020F0502020204030204" pitchFamily="34" charset="0"/>
                  <a:cs typeface="Times New Roman" panose="02020603050405020304" pitchFamily="18" charset="0"/>
                </a:rPr>
                <a:t>)</a:t>
              </a:r>
              <a:endPara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8859629-14D4-4D6D-9BF0-810F9B857B99}"/>
                </a:ext>
              </a:extLst>
            </p:cNvPr>
            <p:cNvSpPr/>
            <p:nvPr/>
          </p:nvSpPr>
          <p:spPr>
            <a:xfrm>
              <a:off x="5133946" y="1489823"/>
              <a:ext cx="1438571" cy="33985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7232041-9D46-44BD-A839-C7F82BE8CC70}"/>
                </a:ext>
              </a:extLst>
            </p:cNvPr>
            <p:cNvSpPr/>
            <p:nvPr/>
          </p:nvSpPr>
          <p:spPr>
            <a:xfrm>
              <a:off x="5133946" y="1741971"/>
              <a:ext cx="2930423" cy="32340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D0A3ED6-0832-457D-9318-75BE1E30CF79}"/>
                </a:ext>
              </a:extLst>
            </p:cNvPr>
            <p:cNvSpPr/>
            <p:nvPr/>
          </p:nvSpPr>
          <p:spPr>
            <a:xfrm>
              <a:off x="5829982" y="1816650"/>
              <a:ext cx="1545132" cy="4170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600" b="1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constructor</a:t>
              </a:r>
              <a:endParaRPr lang="en-US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31E5F86-5063-4A3B-9E76-F122FD99DE3D}"/>
                </a:ext>
              </a:extLst>
            </p:cNvPr>
            <p:cNvSpPr/>
            <p:nvPr/>
          </p:nvSpPr>
          <p:spPr>
            <a:xfrm>
              <a:off x="5451822" y="2268192"/>
              <a:ext cx="2185400" cy="52622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800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CopucuboidMain</a:t>
              </a:r>
              <a:endParaRPr lang="en-US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5A308DF-38B4-4010-8523-DB95B6C8304A}"/>
                </a:ext>
              </a:extLst>
            </p:cNvPr>
            <p:cNvSpPr/>
            <p:nvPr/>
          </p:nvSpPr>
          <p:spPr>
            <a:xfrm>
              <a:off x="5451822" y="2794413"/>
              <a:ext cx="2195334" cy="95377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C9E614D-909B-42ED-AC41-D6EDB343EBD5}"/>
                </a:ext>
              </a:extLst>
            </p:cNvPr>
            <p:cNvSpPr/>
            <p:nvPr/>
          </p:nvSpPr>
          <p:spPr>
            <a:xfrm>
              <a:off x="5451822" y="3748188"/>
              <a:ext cx="2195334" cy="69242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+main(</a:t>
              </a:r>
              <a:r>
                <a:rPr lang="en-US" sz="1200" dirty="0" err="1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args</a:t>
              </a:r>
              <a:r>
                <a:rPr lang="en-US" sz="12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[]: String): void</a:t>
              </a:r>
            </a:p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  <a:endParaRPr lang="en-US" sz="1200" dirty="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8918756-F3D4-49B6-87A6-39CA8EA59B2E}"/>
                </a:ext>
              </a:extLst>
            </p:cNvPr>
            <p:cNvCxnSpPr>
              <a:cxnSpLocks/>
            </p:cNvCxnSpPr>
            <p:nvPr/>
          </p:nvCxnSpPr>
          <p:spPr>
            <a:xfrm>
              <a:off x="3700130" y="3359004"/>
              <a:ext cx="174105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128846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DE94A-2AF8-486C-BE68-AD04AB1DE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651" y="518300"/>
            <a:ext cx="7391400" cy="350874"/>
          </a:xfrm>
        </p:spPr>
        <p:txBody>
          <a:bodyPr/>
          <a:lstStyle/>
          <a:p>
            <a:pPr algn="l"/>
            <a:r>
              <a:rPr lang="en-US" sz="3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 Constructor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17FF9-2D9A-4BD3-AD3F-889F086B9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51" y="911706"/>
            <a:ext cx="8229600" cy="5385462"/>
          </a:xfrm>
        </p:spPr>
        <p:txBody>
          <a:bodyPr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 constructor;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Copycuboid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 algn="just" defTabSz="574675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double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l,b,h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 defTabSz="574675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Copycuboid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(double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l,double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b,double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h){</a:t>
            </a:r>
          </a:p>
          <a:p>
            <a:pPr marL="0" indent="0" algn="just" defTabSz="574675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this.l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=l;</a:t>
            </a:r>
          </a:p>
          <a:p>
            <a:pPr marL="0" indent="0" algn="just" defTabSz="574675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this.b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=b;</a:t>
            </a:r>
          </a:p>
          <a:p>
            <a:pPr marL="0" indent="0" algn="just" defTabSz="574675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this.h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=h;</a:t>
            </a:r>
          </a:p>
          <a:p>
            <a:pPr marL="0" indent="0" algn="just" defTabSz="574675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 marL="0" indent="0" algn="just" defTabSz="574675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Copycuboid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Copycuboid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c){</a:t>
            </a:r>
          </a:p>
          <a:p>
            <a:pPr marL="0" indent="0" algn="just" defTabSz="574675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this.l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c.l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 defTabSz="574675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this.b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c.b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 defTabSz="574675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this.h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c.h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 defTabSz="574675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 marL="0" indent="0" algn="just" defTabSz="574675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void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findVolume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(){</a:t>
            </a:r>
          </a:p>
          <a:p>
            <a:pPr marL="0" indent="0" algn="just" defTabSz="574675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System.out.println("Volume="+l*b*h);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}}</a:t>
            </a:r>
          </a:p>
          <a:p>
            <a:pPr marL="0" indent="0" algn="just">
              <a:buNone/>
            </a:pP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                                           </a:t>
            </a:r>
          </a:p>
          <a:p>
            <a:pPr marL="0" indent="0" algn="just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</a:t>
            </a:r>
            <a:endParaRPr lang="en-US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62895-FE28-41ED-A0EB-6549545A1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2069" y="6204858"/>
            <a:ext cx="8725988" cy="472440"/>
          </a:xfrm>
        </p:spPr>
        <p:txBody>
          <a:bodyPr/>
          <a:lstStyle/>
          <a:p>
            <a:pPr algn="l">
              <a:defRPr/>
            </a:pPr>
            <a:r>
              <a:rPr lang="en-US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 Naveen Kumar, Associate Professor, AIIT, AUP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54B138-8E06-43FA-BEC0-E1E46413E32B}"/>
              </a:ext>
            </a:extLst>
          </p:cNvPr>
          <p:cNvSpPr/>
          <p:nvPr/>
        </p:nvSpPr>
        <p:spPr>
          <a:xfrm>
            <a:off x="4688958" y="1079913"/>
            <a:ext cx="4152773" cy="39446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spcBef>
                <a:spcPct val="20000"/>
              </a:spcBef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 constructor;</a:t>
            </a:r>
          </a:p>
          <a:p>
            <a:pPr algn="just">
              <a:spcBef>
                <a:spcPct val="20000"/>
              </a:spcBef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CopycuboidMain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algn="just">
              <a:spcBef>
                <a:spcPct val="20000"/>
              </a:spcBef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static void main(String[]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algn="just">
              <a:spcBef>
                <a:spcPct val="20000"/>
              </a:spcBef>
            </a:pP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Copycuboid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obj1=new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Copycuboid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(12.5,20.2,30.5);</a:t>
            </a:r>
          </a:p>
          <a:p>
            <a:pPr algn="just">
              <a:spcBef>
                <a:spcPct val="20000"/>
              </a:spcBef>
            </a:pP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Copycuboid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obj2=new 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Copycuboid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(obj1);</a:t>
            </a:r>
          </a:p>
          <a:p>
            <a:pPr algn="just">
              <a:spcBef>
                <a:spcPct val="20000"/>
              </a:spcBef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en-US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Copycuboid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obj2=obj1;</a:t>
            </a:r>
          </a:p>
          <a:p>
            <a:pPr algn="just">
              <a:spcBef>
                <a:spcPct val="20000"/>
              </a:spcBef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obj1.findVolume();</a:t>
            </a:r>
          </a:p>
          <a:p>
            <a:pPr algn="just">
              <a:spcBef>
                <a:spcPct val="20000"/>
              </a:spcBef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obj2.findVolume();</a:t>
            </a:r>
          </a:p>
          <a:p>
            <a:pPr algn="just">
              <a:spcBef>
                <a:spcPct val="20000"/>
              </a:spcBef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just">
              <a:spcBef>
                <a:spcPct val="20000"/>
              </a:spcBef>
            </a:pP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06142796"/>
      </p:ext>
    </p:extLst>
  </p:cSld>
  <p:clrMapOvr>
    <a:masterClrMapping/>
  </p:clrMapOvr>
</p:sld>
</file>

<file path=ppt/theme/theme1.xml><?xml version="1.0" encoding="utf-8"?>
<a:theme xmlns:a="http://schemas.openxmlformats.org/drawingml/2006/main" name="klu">
  <a:themeElements>
    <a:clrScheme name="Custom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0000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4840</TotalTime>
  <Words>1448</Words>
  <Application>Microsoft Macintosh PowerPoint</Application>
  <PresentationFormat>On-screen Show (4:3)</PresentationFormat>
  <Paragraphs>277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Times New Roman</vt:lpstr>
      <vt:lpstr>Wingdings</vt:lpstr>
      <vt:lpstr>klu</vt:lpstr>
      <vt:lpstr>                      </vt:lpstr>
      <vt:lpstr>Outcomes</vt:lpstr>
      <vt:lpstr>Why we need Constructors?</vt:lpstr>
      <vt:lpstr>Rules for creating Constructors</vt:lpstr>
      <vt:lpstr>Defining a Constructors</vt:lpstr>
      <vt:lpstr>Example for a Constructor</vt:lpstr>
      <vt:lpstr>Example to Create Constructors </vt:lpstr>
      <vt:lpstr>Types of Constructors</vt:lpstr>
      <vt:lpstr>Default Constructor </vt:lpstr>
      <vt:lpstr>Default Constructor </vt:lpstr>
      <vt:lpstr>No-argument Constructor </vt:lpstr>
      <vt:lpstr>No-argument Constructor </vt:lpstr>
      <vt:lpstr>Parametrized Constructor </vt:lpstr>
      <vt:lpstr>Parametrized Constructor </vt:lpstr>
      <vt:lpstr>Parametrized Constructor </vt:lpstr>
      <vt:lpstr>this Keyword</vt:lpstr>
      <vt:lpstr>Parametrized Constructor using this keyword </vt:lpstr>
      <vt:lpstr>Copy Constructor</vt:lpstr>
      <vt:lpstr>Copy Constructor </vt:lpstr>
      <vt:lpstr>Copy Constructor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6 &amp; 7</dc:title>
  <dc:creator>NAVEEN KUMAR</dc:creator>
  <cp:lastModifiedBy>NAVEEN KUMAR</cp:lastModifiedBy>
  <cp:revision>252</cp:revision>
  <dcterms:created xsi:type="dcterms:W3CDTF">2020-06-29T11:12:25Z</dcterms:created>
  <dcterms:modified xsi:type="dcterms:W3CDTF">2024-08-27T07:55:45Z</dcterms:modified>
</cp:coreProperties>
</file>