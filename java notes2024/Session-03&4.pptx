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89" r:id="rId2"/>
    <p:sldId id="317" r:id="rId3"/>
    <p:sldId id="328" r:id="rId4"/>
    <p:sldId id="331" r:id="rId5"/>
    <p:sldId id="329" r:id="rId6"/>
    <p:sldId id="330" r:id="rId7"/>
    <p:sldId id="327" r:id="rId8"/>
    <p:sldId id="308" r:id="rId9"/>
    <p:sldId id="323" r:id="rId10"/>
    <p:sldId id="309" r:id="rId11"/>
    <p:sldId id="332" r:id="rId12"/>
    <p:sldId id="333" r:id="rId13"/>
    <p:sldId id="311" r:id="rId14"/>
    <p:sldId id="334" r:id="rId15"/>
    <p:sldId id="324" r:id="rId16"/>
    <p:sldId id="325" r:id="rId17"/>
    <p:sldId id="312" r:id="rId18"/>
    <p:sldId id="326" r:id="rId19"/>
    <p:sldId id="321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A2EDF-9D4C-4951-AB5A-18C70665F772}" type="datetimeFigureOut">
              <a:rPr lang="en-US" smtClean="0"/>
              <a:pPr/>
              <a:t>9/12/24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AE82C-51B0-4D8F-90AE-B4A9E5A17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2526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C08F098-34A8-4532-9C69-38DECEB33B3C}" type="datetimeFigureOut">
              <a:rPr lang="en-US"/>
              <a:pPr>
                <a:defRPr/>
              </a:pPr>
              <a:t>9/12/24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1F2AAD-F00E-4B2B-A58E-1BBB485431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1851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1F2AAD-F00E-4B2B-A58E-1BBB4854317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 L University, BES-I,   Problem Solving in Computer Programming</a:t>
            </a:r>
          </a:p>
        </p:txBody>
      </p:sp>
    </p:spTree>
    <p:extLst>
      <p:ext uri="{BB962C8B-B14F-4D97-AF65-F5344CB8AC3E}">
        <p14:creationId xmlns:p14="http://schemas.microsoft.com/office/powerpoint/2010/main" val="965537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FB182-F3BC-7343-9299-FB957E7C8A69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B129DB-8D41-4066-AA93-1DAF03F26E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61A71-B560-774B-863C-0F903D2BEC4B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D8EC-3A04-483A-AD2E-8D598A4DA8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3D585-83E0-7141-9407-820BCF9B92D9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89411-C56C-40F4-B66E-D512662E7E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A8917-4F01-384D-9F22-290102479D9A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9E7CF-FAD9-49DF-99E0-EAA77C32AE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2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6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95402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6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63FEE-7488-6C47-9C35-B1426008B67B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67AD7C-0654-469F-AEFA-E806C2E841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11C7C-7F3F-0A49-964C-C9AC4EAC2E8F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A0E5E-4093-4CD3-BA7B-F97E5E4A51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16552-564B-0643-9467-23735619EF1F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6A58B-23FE-4F42-857E-74F19373BE9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762000"/>
            <a:ext cx="3008313" cy="6731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CA272-D281-5044-A5C1-C1B939C44BA0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302C-7341-4EFD-A7BE-94A6EA3ED8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DC9A1-073E-104F-BBDB-7D84842576FC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EE4BA-9FC8-42B3-9170-29EB164472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89C18-4F50-0942-83D9-7109A44783D4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11CB4-3CE4-427D-9B5B-DA68271F1F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2"/>
            <a:ext cx="2057400" cy="5211763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2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549AB-9B25-814A-83C2-C7B9A2B344FE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16677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8231-EDB7-4A03-BDA6-FF052D201C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166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1D98995-61CD-4A48-917F-98BD9689DFA2}" type="datetime2">
              <a:rPr lang="en-IN" smtClean="0"/>
              <a:t>Thursday, 12 September 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1667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7807A9-12E1-47F0-9E96-6DDF5CA19C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/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17" name="Straight Connector 16"/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DE929-C357-6625-6B25-65000EBD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FABF4-DBAA-212E-3E57-26568BAE5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Dr. Naveen Kumar, Associate Professor, AIIT, AUP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0304" y="2109654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SESSION – 3 &amp; 4: Modularization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C33F7C-1E96-72A7-98AD-CB1F7F25BBCE}"/>
              </a:ext>
            </a:extLst>
          </p:cNvPr>
          <p:cNvSpPr txBox="1">
            <a:spLocks/>
          </p:cNvSpPr>
          <p:nvPr/>
        </p:nvSpPr>
        <p:spPr>
          <a:xfrm>
            <a:off x="685800" y="3579679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rgbClr val="E46C0A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E46C0A"/>
                </a:solidFill>
                <a:latin typeface="Arial" charset="0"/>
              </a:defRPr>
            </a:lvl9pPr>
          </a:lstStyle>
          <a:p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Naveen Kumar</a:t>
            </a:r>
          </a:p>
          <a:p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Associate Professor</a:t>
            </a:r>
          </a:p>
          <a:p>
            <a:r>
              <a:rPr lang="en-US" sz="4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AIIT, AUP</a:t>
            </a:r>
          </a:p>
        </p:txBody>
      </p:sp>
    </p:spTree>
    <p:extLst>
      <p:ext uri="{BB962C8B-B14F-4D97-AF65-F5344CB8AC3E}">
        <p14:creationId xmlns:p14="http://schemas.microsoft.com/office/powerpoint/2010/main" val="413004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390" y="1008017"/>
            <a:ext cx="8229600" cy="5029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Students will be able to</a:t>
            </a: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Apply modularization – Method and class level Modularization</a:t>
            </a:r>
          </a:p>
          <a:p>
            <a:pPr lvl="0"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Understand the usage of  Access Specifiers – public, private and default</a:t>
            </a:r>
          </a:p>
          <a:p>
            <a:pPr lvl="0"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Apply modularization – Class and package level</a:t>
            </a:r>
          </a:p>
          <a:p>
            <a:pPr lvl="0">
              <a:buNone/>
            </a:pP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F2E485-BEFB-006A-1B4A-32477F38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1" y="1254037"/>
            <a:ext cx="7798528" cy="875210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Modularity principle suggests dividing a complex system into smaller pieces, called Modules.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77547" y="2388271"/>
            <a:ext cx="31507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Times New Roman" pitchFamily="18" charset="0"/>
              </a:rPr>
              <a:t>Without Modularization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2834640"/>
            <a:ext cx="2834639" cy="3540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Rectangle 25"/>
          <p:cNvSpPr/>
          <p:nvPr/>
        </p:nvSpPr>
        <p:spPr>
          <a:xfrm>
            <a:off x="4996552" y="2410043"/>
            <a:ext cx="2757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Times New Roman" pitchFamily="18" charset="0"/>
              </a:rPr>
              <a:t>With Modularization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2595" y="2821577"/>
            <a:ext cx="2769325" cy="3383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BAD2C3-0D97-F308-6683-6451B843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Advantages of Modularity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089" y="1998618"/>
            <a:ext cx="5695408" cy="2664821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Ease to use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Ease of Maintenance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98AF9-BFCB-E572-D3A8-F0F24118B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 Without Modularization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1" y="1254037"/>
            <a:ext cx="7798528" cy="483323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the factorial of a number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9531" y="1894114"/>
            <a:ext cx="6714309" cy="3944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F90A7-B6A6-7C31-887B-BB9BB3653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 Modularization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581" y="1254037"/>
            <a:ext cx="7798528" cy="483323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the factorial of a number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2331" y="1802673"/>
            <a:ext cx="7968343" cy="4245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FBF95-117B-D2E2-8942-EBCF9BBC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451" y="513488"/>
            <a:ext cx="7391400" cy="655638"/>
          </a:xfrm>
        </p:spPr>
        <p:txBody>
          <a:bodyPr/>
          <a:lstStyle/>
          <a:p>
            <a:r>
              <a:rPr lang="en-IN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Class Level Modularization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0889" y="1149534"/>
            <a:ext cx="7981408" cy="875210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Class level modularization makes use of modules of one class from another class and vice versa.</a:t>
            </a: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81497" y="2926081"/>
            <a:ext cx="1894114" cy="31481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495006" y="3174275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function1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0652" y="4123509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2499360" y="5085806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050971" y="2921727"/>
            <a:ext cx="1894114" cy="31481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429794" y="3196047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416732" y="4136572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429795" y="5142412"/>
            <a:ext cx="1188720" cy="522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518963" y="4190945"/>
            <a:ext cx="1069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8963" y="5118408"/>
            <a:ext cx="1069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4232" y="3263483"/>
            <a:ext cx="1069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58106" y="4190946"/>
            <a:ext cx="10695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97294" y="5170660"/>
            <a:ext cx="10695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cs typeface="Times New Roman" pitchFamily="18" charset="0"/>
              </a:rPr>
              <a:t>function3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8335" y="2453586"/>
            <a:ext cx="936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Times New Roman" pitchFamily="18" charset="0"/>
              </a:rPr>
              <a:t>class1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83935" y="2449232"/>
            <a:ext cx="9364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cs typeface="Times New Roman" pitchFamily="18" charset="0"/>
              </a:rPr>
              <a:t>class2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rot="5400000">
            <a:off x="2579914" y="3912326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6200000" flipV="1">
            <a:off x="3017521" y="3879670"/>
            <a:ext cx="457198" cy="1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2549434" y="486156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V="1">
            <a:off x="3013167" y="4855032"/>
            <a:ext cx="457198" cy="1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5400000">
            <a:off x="5462451" y="394716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16200000" flipV="1">
            <a:off x="5991497" y="3901443"/>
            <a:ext cx="457198" cy="1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5400000">
            <a:off x="5497285" y="4909457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6200000" flipV="1">
            <a:off x="5974080" y="4889866"/>
            <a:ext cx="457198" cy="130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075611" y="3722915"/>
            <a:ext cx="9666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10800000" flipV="1">
            <a:off x="4075611" y="5031378"/>
            <a:ext cx="975360" cy="43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B68E0-436D-8977-BA68-7EDD7FBFC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3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35110"/>
            <a:ext cx="8216537" cy="1001804"/>
          </a:xfrm>
        </p:spPr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Problem:1 Without Modularization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70262" y="1319351"/>
            <a:ext cx="8360230" cy="1332409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	Write a Cuboid class with 3 static variables length, breadth and height of type double, and a static method volume (), access them using main () method within the same class.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71749" y="3592285"/>
          <a:ext cx="6096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length : double</a:t>
                      </a:r>
                    </a:p>
                    <a:p>
                      <a:r>
                        <a:rPr lang="en-US" u="sng" dirty="0"/>
                        <a:t>breadth : double</a:t>
                      </a:r>
                    </a:p>
                    <a:p>
                      <a:r>
                        <a:rPr lang="en-US" u="sng" dirty="0"/>
                        <a:t>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volume(l : double, b : double, h : double) : void</a:t>
                      </a:r>
                    </a:p>
                    <a:p>
                      <a:r>
                        <a:rPr lang="en-US" u="sng" dirty="0"/>
                        <a:t>+main(args[]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31966" y="2769326"/>
            <a:ext cx="2429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Diagram: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6E885-471E-F929-C92A-1E368969F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83" y="435110"/>
            <a:ext cx="7419703" cy="1001804"/>
          </a:xfrm>
        </p:spPr>
        <p:txBody>
          <a:bodyPr/>
          <a:lstStyle/>
          <a:p>
            <a:r>
              <a:rPr 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Problem:1-With Modularization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470262" y="1319351"/>
            <a:ext cx="8360230" cy="1332409"/>
          </a:xfrm>
        </p:spPr>
        <p:txBody>
          <a:bodyPr/>
          <a:lstStyle/>
          <a:p>
            <a:pPr>
              <a:buNone/>
            </a:pPr>
            <a:r>
              <a:rPr lang="en-IN" sz="2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Write a Cuboid class with 3 static variables length, breadth and height of type double, and a static method volume (), access them using main () method within another class Demo.</a:t>
            </a:r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2035" y="3918857"/>
          <a:ext cx="4876799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length : double</a:t>
                      </a:r>
                    </a:p>
                    <a:p>
                      <a:r>
                        <a:rPr lang="en-US" u="sng" dirty="0"/>
                        <a:t>breadth : double</a:t>
                      </a:r>
                    </a:p>
                    <a:p>
                      <a:r>
                        <a:rPr lang="en-US" u="sng" dirty="0"/>
                        <a:t>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volume(l : double, b : double, h : double)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82343" y="3927565"/>
          <a:ext cx="3069771" cy="1663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181"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59">
                <a:tc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98">
                <a:tc>
                  <a:txBody>
                    <a:bodyPr/>
                    <a:lstStyle/>
                    <a:p>
                      <a:endParaRPr lang="en-US" u="sng" dirty="0"/>
                    </a:p>
                    <a:p>
                      <a:r>
                        <a:rPr lang="en-US" u="sng" dirty="0"/>
                        <a:t>+main(args[]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13508" y="3056708"/>
            <a:ext cx="8543109" cy="3135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13508" y="2600922"/>
            <a:ext cx="13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0446" y="2690949"/>
            <a:ext cx="1541417" cy="352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6540-0B13-7C52-D0C0-6AFD0370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Access Modifiers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142" y="1371715"/>
            <a:ext cx="78507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	The access modifiers specifies the accessibility or scope of a field, method, constructor, or class. We can change the access level of fields, constructors, methods, and class by applying the access modifier on it.</a:t>
            </a:r>
          </a:p>
          <a:p>
            <a:r>
              <a:rPr lang="en-US" dirty="0"/>
              <a:t>T</a:t>
            </a:r>
          </a:p>
          <a:p>
            <a:r>
              <a:rPr lang="en-US" dirty="0"/>
              <a:t>here are four types of  access modifiers: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4743" y="3849597"/>
            <a:ext cx="4650377" cy="2198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95F84A-1EFE-B9DA-231C-F987FBAC4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Access Modifiers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142" y="1371714"/>
            <a:ext cx="785077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private</a:t>
            </a:r>
            <a:r>
              <a:rPr lang="en-US" dirty="0"/>
              <a:t>: The access level of a private modifier is only within the class. It cannot be accessed from outside the class.</a:t>
            </a:r>
          </a:p>
          <a:p>
            <a:endParaRPr lang="en-US" dirty="0"/>
          </a:p>
          <a:p>
            <a:r>
              <a:rPr lang="en-US" b="1" dirty="0"/>
              <a:t>default</a:t>
            </a:r>
            <a:r>
              <a:rPr lang="en-US" dirty="0"/>
              <a:t>: The access level of a default modifier is only within the package. It cannot be accessed from outside the package. If you do not specify any access level, it will be the default.</a:t>
            </a:r>
          </a:p>
          <a:p>
            <a:endParaRPr lang="en-US" dirty="0"/>
          </a:p>
          <a:p>
            <a:r>
              <a:rPr lang="en-US" b="1" dirty="0"/>
              <a:t>public</a:t>
            </a:r>
            <a:r>
              <a:rPr lang="en-US" dirty="0"/>
              <a:t>: The access level of a public modifier is everywhere. It can be accessed from within the class, outside the class, within the package and outside the package.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872446" y="5225144"/>
            <a:ext cx="374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	We’ll see more about protected in coming sessions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0749C6-B21F-3F9B-DF7E-09891D8A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Understanding Access Modifiers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142" y="1371714"/>
            <a:ext cx="78507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7823" y="1815737"/>
          <a:ext cx="786384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06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76736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Access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Modifier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Symbol used in class diagram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Within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class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Within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package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Outside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package by subclass only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Outside</a:t>
                      </a:r>
                      <a:r>
                        <a:rPr lang="en-US" sz="1600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package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96"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196">
                <a:tc>
                  <a:txBody>
                    <a:bodyPr/>
                    <a:lstStyle/>
                    <a:p>
                      <a:r>
                        <a:rPr lang="en-US" dirty="0"/>
                        <a:t>default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~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</a:t>
                      </a:r>
                      <a:r>
                        <a:rPr lang="en-US" baseline="0" dirty="0"/>
                        <a:t>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96">
                <a:tc>
                  <a:txBody>
                    <a:bodyPr/>
                    <a:lstStyle/>
                    <a:p>
                      <a:r>
                        <a:rPr lang="en-US" dirty="0"/>
                        <a:t>protected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Y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96"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E1FFC-2BC1-CD78-30E5-E42671FA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17991"/>
            <a:ext cx="8242663" cy="65563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:3</a:t>
            </a:r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Class Level Modularization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337" y="1406770"/>
            <a:ext cx="75633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Rewrite the Cuboid class with appropriate Access Specifiers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1224" y="3200400"/>
          <a:ext cx="5059679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- length : double</a:t>
                      </a:r>
                    </a:p>
                    <a:p>
                      <a:r>
                        <a:rPr lang="en-US" u="sng" dirty="0"/>
                        <a:t>- breadth : double</a:t>
                      </a:r>
                    </a:p>
                    <a:p>
                      <a:r>
                        <a:rPr lang="en-US" u="sng" dirty="0"/>
                        <a:t>- 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~volume(l : double, b : double, h : double)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47657" y="3161212"/>
          <a:ext cx="3069771" cy="1711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077">
                <a:tc>
                  <a:txBody>
                    <a:bodyPr/>
                    <a:lstStyle/>
                    <a:p>
                      <a:r>
                        <a:rPr lang="en-US" dirty="0"/>
                        <a:t>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59">
                <a:tc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98">
                <a:tc>
                  <a:txBody>
                    <a:bodyPr/>
                    <a:lstStyle/>
                    <a:p>
                      <a:endParaRPr lang="en-US" u="sng" dirty="0"/>
                    </a:p>
                    <a:p>
                      <a:r>
                        <a:rPr lang="en-US" u="sng" dirty="0"/>
                        <a:t>+main(args[]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91885" y="2325188"/>
            <a:ext cx="8543109" cy="3135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224" y="1865979"/>
            <a:ext cx="13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823" y="1959429"/>
            <a:ext cx="1541417" cy="352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5FAC5-8F7B-2051-81D1-64D89028D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Package level Modularization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9531" y="2904579"/>
            <a:ext cx="3448594" cy="3130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25143" y="2991665"/>
            <a:ext cx="3448594" cy="3130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Straight Arrow Connector 15"/>
          <p:cNvCxnSpPr/>
          <p:nvPr/>
        </p:nvCxnSpPr>
        <p:spPr>
          <a:xfrm>
            <a:off x="3735977" y="3749040"/>
            <a:ext cx="1776549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rot="10800000">
            <a:off x="3735978" y="4754880"/>
            <a:ext cx="1685109" cy="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72046" y="2508069"/>
            <a:ext cx="1593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2674" y="2569029"/>
            <a:ext cx="15936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394" y="1136469"/>
            <a:ext cx="82426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Package is a collection of classes. Package level modularization makes use of functions of one package to another package. Accessing permission mainly depends on access modifiers.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D2F25-8E40-08C7-14CE-886A2D852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17991"/>
            <a:ext cx="8242663" cy="65563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:4</a:t>
            </a:r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Package Level Modularization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337" y="1406770"/>
            <a:ext cx="75633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Rewrite the Cuboid class with appropriate Access Specifiers to calculate the volume of a Cuboid.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9086" y="2699929"/>
            <a:ext cx="7707085" cy="3256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E4FA5B-8D29-6983-68CC-A318C60D0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617991"/>
            <a:ext cx="8242663" cy="655638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 :5</a:t>
            </a:r>
            <a:b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Package Level Modularization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01337" y="1406770"/>
            <a:ext cx="75633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the above modularized code, add a method isCube() that returns true if all dimensions are same, else returns false.</a:t>
            </a:r>
            <a:r>
              <a:rPr lang="en-IN" dirty="0"/>
              <a:t>.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1041" y="3513908"/>
          <a:ext cx="289124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1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1">
                <a:tc>
                  <a:txBody>
                    <a:bodyPr/>
                    <a:lstStyle/>
                    <a:p>
                      <a:r>
                        <a:rPr lang="en-US" dirty="0"/>
                        <a:t>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Cuboid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+ length : double</a:t>
                      </a:r>
                    </a:p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breadth : double</a:t>
                      </a:r>
                    </a:p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height : double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u="sng" dirty="0"/>
                        <a:t>+</a:t>
                      </a:r>
                      <a:r>
                        <a:rPr lang="en-US" u="sng" baseline="0" dirty="0"/>
                        <a:t> </a:t>
                      </a:r>
                      <a:r>
                        <a:rPr lang="en-US" u="sng" dirty="0"/>
                        <a:t>volume()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0" y="3618413"/>
          <a:ext cx="3069771" cy="1711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5077">
                <a:tc>
                  <a:txBody>
                    <a:bodyPr/>
                    <a:lstStyle/>
                    <a:p>
                      <a:r>
                        <a:rPr lang="en-US" dirty="0"/>
                        <a:t>                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Demo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459">
                <a:tc>
                  <a:txBody>
                    <a:bodyPr/>
                    <a:lstStyle/>
                    <a:p>
                      <a:endParaRPr lang="en-US" u="sn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3698">
                <a:tc>
                  <a:txBody>
                    <a:bodyPr/>
                    <a:lstStyle/>
                    <a:p>
                      <a:r>
                        <a:rPr lang="en-US" u="sng" dirty="0"/>
                        <a:t> + isCube() : boolean</a:t>
                      </a:r>
                    </a:p>
                    <a:p>
                      <a:r>
                        <a:rPr lang="en-US" u="sng" dirty="0"/>
                        <a:t>+main(args[] : String) : void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1703" y="2638696"/>
            <a:ext cx="3631474" cy="3135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3142" y="2205222"/>
            <a:ext cx="13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72937"/>
            <a:ext cx="1541417" cy="352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064034" y="2634342"/>
            <a:ext cx="3631474" cy="31350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5050971" y="2268583"/>
            <a:ext cx="1541417" cy="3526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066212" y="2184954"/>
            <a:ext cx="1332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package2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E410DA-7761-A8FA-09C7-96C626A4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Predict the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833" y="1233383"/>
            <a:ext cx="739357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class Access{</a:t>
            </a:r>
            <a:endParaRPr lang="en-US" sz="2000" dirty="0"/>
          </a:p>
          <a:p>
            <a:r>
              <a:rPr lang="en-IN" sz="2000" dirty="0"/>
              <a:t>        public static int x;</a:t>
            </a:r>
            <a:endParaRPr lang="en-US" sz="2000" dirty="0"/>
          </a:p>
          <a:p>
            <a:r>
              <a:rPr lang="en-IN" sz="2000" dirty="0"/>
              <a:t>        private static int y;</a:t>
            </a:r>
            <a:endParaRPr lang="en-US" sz="2000" dirty="0"/>
          </a:p>
          <a:p>
            <a:r>
              <a:rPr lang="en-IN" sz="2000" dirty="0"/>
              <a:t>        public static void cal(int a , int b)</a:t>
            </a:r>
            <a:r>
              <a:rPr lang="en-US" sz="2000" dirty="0"/>
              <a:t> </a:t>
            </a:r>
            <a:r>
              <a:rPr lang="en-IN" sz="2000" dirty="0"/>
              <a:t>{</a:t>
            </a:r>
            <a:endParaRPr lang="en-US" sz="2000" dirty="0"/>
          </a:p>
          <a:p>
            <a:r>
              <a:rPr lang="en-IN" sz="2000" dirty="0"/>
              <a:t>            x =  a + 1;</a:t>
            </a:r>
            <a:endParaRPr lang="en-US" sz="2000" dirty="0"/>
          </a:p>
          <a:p>
            <a:r>
              <a:rPr lang="en-IN" sz="2000" dirty="0"/>
              <a:t>            y =  b;</a:t>
            </a:r>
            <a:endParaRPr lang="en-US" sz="2000" dirty="0"/>
          </a:p>
          <a:p>
            <a:r>
              <a:rPr lang="en-IN" sz="2000" dirty="0"/>
              <a:t>        }        </a:t>
            </a:r>
            <a:endParaRPr lang="en-US" sz="2000" dirty="0"/>
          </a:p>
          <a:p>
            <a:r>
              <a:rPr lang="en-IN" sz="2000" dirty="0"/>
              <a:t>    }    </a:t>
            </a:r>
            <a:endParaRPr lang="en-US" sz="2000" dirty="0"/>
          </a:p>
          <a:p>
            <a:r>
              <a:rPr lang="en-IN" sz="2000" dirty="0"/>
              <a:t> public class Access_Specifier {</a:t>
            </a:r>
            <a:endParaRPr lang="en-US" sz="2000" dirty="0"/>
          </a:p>
          <a:p>
            <a:r>
              <a:rPr lang="en-IN" sz="2000" dirty="0"/>
              <a:t>     	public static void main(String args[]) {</a:t>
            </a:r>
            <a:endParaRPr lang="en-US" sz="2000" dirty="0"/>
          </a:p>
          <a:p>
            <a:r>
              <a:rPr lang="en-IN" sz="2000" dirty="0"/>
              <a:t>	Access.cal(2, 3);</a:t>
            </a:r>
            <a:endParaRPr lang="en-US" sz="2000" dirty="0"/>
          </a:p>
          <a:p>
            <a:r>
              <a:rPr lang="en-IN" sz="2000" dirty="0"/>
              <a:t>               System.out.println(Access.x + " " + Access.y);     </a:t>
            </a:r>
            <a:endParaRPr lang="en-US" sz="2000" dirty="0"/>
          </a:p>
          <a:p>
            <a:r>
              <a:rPr lang="en-IN" sz="2000" dirty="0"/>
              <a:t>        }</a:t>
            </a:r>
            <a:endParaRPr lang="en-US" sz="2000" dirty="0"/>
          </a:p>
          <a:p>
            <a:r>
              <a:rPr lang="en-IN" sz="2000" dirty="0"/>
              <a:t>   }</a:t>
            </a:r>
            <a:endParaRPr lang="en-US" sz="20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4F027B-7088-45C6-1D32-B6E7D495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Practice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833" y="1586080"/>
            <a:ext cx="739357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/>
              <a:t>	Create a class Student with id, marks for 3 subjects, total as static variables, static method to compute the total, main method to print the Student information. Modularize the code to class and package levels.</a:t>
            </a:r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768D17-18D6-17AD-D63A-5DC6CDA2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55818" y="2063933"/>
            <a:ext cx="3853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rgbClr val="00B0F0"/>
                </a:solidFill>
              </a:rPr>
              <a:t>    Q &amp; 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3DF106-74C2-2729-62D7-5E660AAEF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Naveen Kumar, Associate Professor, AIIT, AUP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52012</TotalTime>
  <Words>1068</Words>
  <Application>Microsoft Macintosh PowerPoint</Application>
  <PresentationFormat>On-screen Show (4:3)</PresentationFormat>
  <Paragraphs>177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klu</vt:lpstr>
      <vt:lpstr>SESSION – 3 &amp; 4: Modularization</vt:lpstr>
      <vt:lpstr>Objectives</vt:lpstr>
      <vt:lpstr>Modularity</vt:lpstr>
      <vt:lpstr>Advantages of Modularity Approach</vt:lpstr>
      <vt:lpstr>Example : Without Modularization</vt:lpstr>
      <vt:lpstr>Example : Modularization</vt:lpstr>
      <vt:lpstr>Class Level Modularization</vt:lpstr>
      <vt:lpstr>Practice Problem:1 Without Modularization</vt:lpstr>
      <vt:lpstr>Practice Problem:1-With Modularization</vt:lpstr>
      <vt:lpstr>Access Modifiers </vt:lpstr>
      <vt:lpstr>Access Modifiers </vt:lpstr>
      <vt:lpstr>Understanding Access Modifiers </vt:lpstr>
      <vt:lpstr>Example :3   Class Level Modularization</vt:lpstr>
      <vt:lpstr>Package level Modularization</vt:lpstr>
      <vt:lpstr>Example :4   Package Level Modularization</vt:lpstr>
      <vt:lpstr>Example :5   Package Level Modularization</vt:lpstr>
      <vt:lpstr>Predict the Output</vt:lpstr>
      <vt:lpstr>Practice Problem</vt:lpstr>
      <vt:lpstr>PowerPoint Presentation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Extended Surfaces/Fins</dc:title>
  <dc:creator>C. Shih</dc:creator>
  <cp:lastModifiedBy>NAVEEN KUMAR</cp:lastModifiedBy>
  <cp:revision>1181</cp:revision>
  <cp:lastPrinted>1999-01-11T10:11:19Z</cp:lastPrinted>
  <dcterms:created xsi:type="dcterms:W3CDTF">1999-01-07T21:51:57Z</dcterms:created>
  <dcterms:modified xsi:type="dcterms:W3CDTF">2024-09-12T09:37:47Z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