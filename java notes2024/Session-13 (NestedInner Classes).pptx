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89" r:id="rId2"/>
    <p:sldId id="317" r:id="rId3"/>
    <p:sldId id="276" r:id="rId4"/>
    <p:sldId id="320" r:id="rId5"/>
    <p:sldId id="321" r:id="rId6"/>
    <p:sldId id="322" r:id="rId7"/>
    <p:sldId id="324" r:id="rId8"/>
    <p:sldId id="325" r:id="rId9"/>
    <p:sldId id="307" r:id="rId10"/>
    <p:sldId id="323" r:id="rId11"/>
    <p:sldId id="291" r:id="rId12"/>
    <p:sldId id="326" r:id="rId13"/>
    <p:sldId id="327" r:id="rId14"/>
    <p:sldId id="328" r:id="rId15"/>
    <p:sldId id="329" r:id="rId16"/>
    <p:sldId id="331" r:id="rId17"/>
    <p:sldId id="332" r:id="rId18"/>
    <p:sldId id="330" r:id="rId19"/>
    <p:sldId id="336" r:id="rId20"/>
    <p:sldId id="335" r:id="rId21"/>
    <p:sldId id="337" r:id="rId22"/>
    <p:sldId id="338" r:id="rId23"/>
    <p:sldId id="319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8/30/24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3549E-E37C-BB46-82EF-241A9EC80329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EC9371-B088-0346-859E-0BB7035E47B9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11058-D795-E74E-8D37-540A92BCD9A3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03048-4FF4-C848-A62D-1C65E82F24AB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5C8B3-DE7C-004B-B6DD-4E357F82A70C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F809F4-87C3-5541-9B5F-D78AC239B175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5EF83-48EF-844A-9038-3999D39B0A59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34FAA-04ED-6145-B76A-33A0B7DD92F6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799BC-35EA-7C40-9F60-C35AD7B20141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9CC10-8EB8-6D4F-AAD4-4354ADD65988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45D01-4B5F-E64C-84FC-D6705C2F257E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EDAC223-A167-B64D-AAC9-DA37DCE80FCC}" type="datetime2">
              <a:rPr lang="en-IN" smtClean="0"/>
              <a:t>Friday, 30 August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675" y="920932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13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2"/>
          <p:cNvSpPr txBox="1">
            <a:spLocks/>
          </p:cNvSpPr>
          <p:nvPr/>
        </p:nvSpPr>
        <p:spPr bwMode="auto">
          <a:xfrm>
            <a:off x="685800" y="2130425"/>
            <a:ext cx="7772400" cy="932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Javanese Text" panose="02000000000000000000" pitchFamily="2" charset="0"/>
                <a:ea typeface="+mj-ea"/>
                <a:cs typeface="+mj-cs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Javanese Text" panose="02000000000000000000" pitchFamily="2" charset="0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IN" sz="4400" b="1" dirty="0">
              <a:solidFill>
                <a:schemeClr val="tx2">
                  <a:lumMod val="50000"/>
                </a:schemeClr>
              </a:solidFill>
              <a:latin typeface="Javanese Text" panose="02000000000000000000" pitchFamily="2" charset="0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Javanese Text" panose="02000000000000000000" pitchFamily="2" charset="0"/>
                <a:ea typeface="+mj-ea"/>
                <a:cs typeface="+mj-cs"/>
              </a:rPr>
              <a:t>Nested and Inner Classes</a:t>
            </a:r>
            <a:b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Javanese Text" panose="02000000000000000000" pitchFamily="2" charset="0"/>
                <a:ea typeface="+mj-ea"/>
                <a:cs typeface="+mj-cs"/>
              </a:rPr>
            </a:br>
            <a:b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IN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b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5" y="1295400"/>
            <a:ext cx="8712926" cy="5029200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 the end of this session, Students will,</a:t>
            </a: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Understand and Use 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Nested and Inner Classes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Group related classes in to a single logical unit.</a:t>
            </a: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Nested/Inner class means one class which is a member of another class.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They are classified into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two types as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Font typeface="Wingdings" pitchFamily="2" charset="2"/>
              <a:buChar char="v"/>
              <a:tabLst>
                <a:tab pos="21717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Static nested classes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Font typeface="Wingdings" pitchFamily="2" charset="2"/>
              <a:buChar char="v"/>
              <a:tabLst>
                <a:tab pos="217170" algn="l"/>
              </a:tabLst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Non-Static nested classes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 better known as: Inner Classes)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 are basically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four types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 inner classes in java and are organized as below: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1) Nested Inner class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2) Method Local inner classes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Non-Static Inner Classes.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3) Anonymous inner classes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4) Static nested classes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191795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ight Brace 7"/>
          <p:cNvSpPr/>
          <p:nvPr/>
        </p:nvSpPr>
        <p:spPr>
          <a:xfrm>
            <a:off x="3291840" y="4323806"/>
            <a:ext cx="143691" cy="9535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Nested/Inner class means one class which is a member of another class.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191795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Nested Class organis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6" y="1776548"/>
            <a:ext cx="7916092" cy="398417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Nested/Inner class means one class which is a member of another class. 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191795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Synta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44" y="2163399"/>
            <a:ext cx="7075579" cy="40153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Nested/Inner class means one class which is a member of another class. </a:t>
            </a:r>
          </a:p>
          <a:p>
            <a:pPr>
              <a:buNone/>
            </a:pPr>
            <a:r>
              <a:rPr lang="en-US" sz="24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IN" sz="2000" b="1" dirty="0">
                <a:solidFill>
                  <a:srgbClr val="C00000"/>
                </a:solidFill>
              </a:rPr>
              <a:t>Real time example of Inner class: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IN" sz="2000" dirty="0"/>
              <a:t>		      Debit Card is part of Account and Debit Card does not exist        </a:t>
            </a:r>
          </a:p>
          <a:p>
            <a:pPr>
              <a:buNone/>
            </a:pPr>
            <a:r>
              <a:rPr lang="en-IN" sz="2000" dirty="0"/>
              <a:t>                   independently.</a:t>
            </a:r>
          </a:p>
          <a:p>
            <a:pPr lvl="1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class Account  		 // Account is outer class.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{  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.......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class DebitCard   	// DebitCard is inner class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{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.......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}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}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191795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490021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	</a:t>
            </a:r>
            <a:r>
              <a:rPr lang="en-US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Class Diagram 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Nested/Inner class Diagrammatic Notation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191795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Pic1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2" y="1658983"/>
            <a:ext cx="7929154" cy="429767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52" y="346328"/>
            <a:ext cx="7391400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</a:t>
            </a:r>
            <a:r>
              <a:rPr lang="en-US" sz="3600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      </a:t>
            </a:r>
            <a:r>
              <a:rPr lang="en-US" sz="3600" b="1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Nested and Inner Class</a:t>
            </a:r>
            <a:endParaRPr lang="en-US" b="1" spc="-5" dirty="0">
              <a:solidFill>
                <a:srgbClr val="00B0F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5943" y="1097281"/>
            <a:ext cx="8686800" cy="5185954"/>
          </a:xfrm>
        </p:spPr>
        <p:txBody>
          <a:bodyPr/>
          <a:lstStyle/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Class Diagram 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(Alternate Notation)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Nested/Inner class Diagrammatic Notation  ( Circle + Notation)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196850" lvl="3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16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sz="16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38774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Pic1.JPG"/>
          <p:cNvPicPr>
            <a:picLocks noChangeAspect="1"/>
          </p:cNvPicPr>
          <p:nvPr/>
        </p:nvPicPr>
        <p:blipFill>
          <a:blip r:embed="rId3"/>
          <a:srcRect l="4489" t="18898" r="4242"/>
          <a:stretch>
            <a:fillRect/>
          </a:stretch>
        </p:blipFill>
        <p:spPr>
          <a:xfrm>
            <a:off x="391886" y="1789611"/>
            <a:ext cx="7968343" cy="1632857"/>
          </a:xfrm>
          <a:prstGeom prst="rect">
            <a:avLst/>
          </a:prstGeom>
        </p:spPr>
      </p:pic>
      <p:pic>
        <p:nvPicPr>
          <p:cNvPr id="8" name="Picture 7" descr="Pic2.JPG"/>
          <p:cNvPicPr>
            <a:picLocks noChangeAspect="1"/>
          </p:cNvPicPr>
          <p:nvPr/>
        </p:nvPicPr>
        <p:blipFill>
          <a:blip r:embed="rId4"/>
          <a:srcRect l="2671" t="3891" r="4358" b="9339"/>
          <a:stretch>
            <a:fillRect/>
          </a:stretch>
        </p:blipFill>
        <p:spPr>
          <a:xfrm>
            <a:off x="352697" y="3487783"/>
            <a:ext cx="8059783" cy="291301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Static Nested Class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23406"/>
            <a:ext cx="8647611" cy="5201194"/>
          </a:xfrm>
        </p:spPr>
        <p:txBody>
          <a:bodyPr/>
          <a:lstStyle/>
          <a:p>
            <a:pPr>
              <a:buNone/>
            </a:pPr>
            <a:r>
              <a:rPr lang="en-IN" sz="2400" b="1" dirty="0"/>
              <a:t>Static Nested classes</a:t>
            </a:r>
            <a:endParaRPr lang="en-US" sz="2400" b="1" dirty="0"/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with class methods and variables, a static nested class is associated with its outer class. And like static class methods, a static nested class 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cannot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refer directly to instance variables or methods defined in its enclosing class: it can use them only through an object reference.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They are accessed using the enclosing class name.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OuterClass.StaticNestedClass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to create an object for the static nested class, use this below syntax: </a:t>
            </a: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OuterClass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StaticNestedClass nestedObject  =   new  OuterClass</a:t>
            </a:r>
            <a: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StaticNestedClass();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006" y="613954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Static Nested Class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23406"/>
            <a:ext cx="8647611" cy="5201194"/>
          </a:xfrm>
        </p:spPr>
        <p:txBody>
          <a:bodyPr/>
          <a:lstStyle/>
          <a:p>
            <a:pPr>
              <a:buNone/>
            </a:pPr>
            <a:r>
              <a:rPr lang="en-US" sz="3600" b="1" dirty="0"/>
              <a:t>Problem 1: </a:t>
            </a:r>
          </a:p>
          <a:p>
            <a:pPr algn="just">
              <a:buNone/>
            </a:pPr>
            <a:r>
              <a:rPr lang="en-US" sz="1800" dirty="0"/>
              <a:t>	</a:t>
            </a:r>
          </a:p>
          <a:p>
            <a:pPr algn="just">
              <a:buNone/>
            </a:pPr>
            <a:endParaRPr lang="en-US" sz="1800" dirty="0"/>
          </a:p>
          <a:p>
            <a:pPr algn="just">
              <a:buNone/>
            </a:pPr>
            <a:r>
              <a:rPr lang="en-US" sz="2800" dirty="0"/>
              <a:t>   Create a Static Nested Class USB with a method display() inside the class Motherboard. Create the instance of USB class in main() method and invoke the method display() of USB class.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006" y="613954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65740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4" y="692329"/>
            <a:ext cx="7798528" cy="901338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for the problem mentioned in previous slide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5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506685" y="2795451"/>
            <a:ext cx="4193177" cy="2081349"/>
            <a:chOff x="4506685" y="2795451"/>
            <a:chExt cx="4193177" cy="2081349"/>
          </a:xfrm>
        </p:grpSpPr>
        <p:pic>
          <p:nvPicPr>
            <p:cNvPr id="9" name="Picture 8" descr="Example1.1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6685" y="2795451"/>
              <a:ext cx="4193177" cy="2081349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>
              <a:off x="7759337" y="3461657"/>
              <a:ext cx="326571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592591" y="1844992"/>
            <a:ext cx="3648075" cy="3719785"/>
            <a:chOff x="579528" y="2053998"/>
            <a:chExt cx="3648075" cy="3719785"/>
          </a:xfrm>
        </p:grpSpPr>
        <p:pic>
          <p:nvPicPr>
            <p:cNvPr id="8" name="Picture 7" descr="Example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528" y="2053998"/>
              <a:ext cx="3648075" cy="3719785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2203268" y="3600994"/>
              <a:ext cx="326571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38285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5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EBA363-C6F1-437C-ABA0-C191F2BDBCED}"/>
              </a:ext>
            </a:extLst>
          </p:cNvPr>
          <p:cNvSpPr txBox="1">
            <a:spLocks/>
          </p:cNvSpPr>
          <p:nvPr/>
        </p:nvSpPr>
        <p:spPr bwMode="auto">
          <a:xfrm>
            <a:off x="156754" y="953588"/>
            <a:ext cx="8765177" cy="547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Program1:  Static Nested Class: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class MotherBoard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static class USB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void display()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	System.out.println("inside inner inside display");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class Main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static void main(String[] args)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MotherBoard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USB     usbobj    = new MotherBoard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USB();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	System.out.println("Total Ports = " + usbobj.display());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lvl="1" indent="-342900">
              <a:spcBef>
                <a:spcPct val="20000"/>
              </a:spcBef>
              <a:buFont typeface="Arial" charset="0"/>
              <a:buNone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Static Nested Class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23406"/>
            <a:ext cx="8464731" cy="5201194"/>
          </a:xfrm>
        </p:spPr>
        <p:txBody>
          <a:bodyPr/>
          <a:lstStyle/>
          <a:p>
            <a:pPr>
              <a:buNone/>
            </a:pPr>
            <a:r>
              <a:rPr lang="en-US" sz="2800" b="1" dirty="0"/>
              <a:t>Problem 2:</a:t>
            </a:r>
            <a:r>
              <a:rPr lang="en-US" sz="3600" b="1" dirty="0"/>
              <a:t> </a:t>
            </a:r>
          </a:p>
          <a:p>
            <a:pPr algn="just">
              <a:buNone/>
            </a:pPr>
            <a:r>
              <a:rPr lang="en-US" sz="1800" dirty="0"/>
              <a:t>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Create a Static Nested Class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Inner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with private static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member temp5 with initial value and private static method getSum() which calculates the sum of static data members. </a:t>
            </a:r>
          </a:p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Create the enclosing class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Outer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with static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members temp1 and temp2 with initial values and non-static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members temp3 and temp4. Create an instance of Inner class in main() method and invoke the method getSum() to calculate sum of static members.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006" y="613954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65740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4" y="692329"/>
            <a:ext cx="7798528" cy="901338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2,  for the problem mentioned in previous slide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5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22960" y="1728897"/>
            <a:ext cx="7145383" cy="4274611"/>
            <a:chOff x="796834" y="1480703"/>
            <a:chExt cx="7145383" cy="4274611"/>
          </a:xfrm>
        </p:grpSpPr>
        <p:grpSp>
          <p:nvGrpSpPr>
            <p:cNvPr id="11" name="Group 10"/>
            <p:cNvGrpSpPr/>
            <p:nvPr/>
          </p:nvGrpSpPr>
          <p:grpSpPr>
            <a:xfrm>
              <a:off x="796834" y="1480703"/>
              <a:ext cx="7145383" cy="4274611"/>
              <a:chOff x="940525" y="1559080"/>
              <a:chExt cx="7145383" cy="4274611"/>
            </a:xfrm>
          </p:grpSpPr>
          <p:pic>
            <p:nvPicPr>
              <p:cNvPr id="7" name="Picture 6" descr="Example2.JP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40525" y="1559080"/>
                <a:ext cx="7145383" cy="4274611"/>
              </a:xfrm>
              <a:prstGeom prst="rect">
                <a:avLst/>
              </a:prstGeom>
            </p:spPr>
          </p:pic>
          <p:cxnSp>
            <p:nvCxnSpPr>
              <p:cNvPr id="8" name="Straight Connector 7"/>
              <p:cNvCxnSpPr/>
              <p:nvPr/>
            </p:nvCxnSpPr>
            <p:spPr>
              <a:xfrm>
                <a:off x="6244046" y="3004457"/>
                <a:ext cx="444137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5625738" y="3470366"/>
                <a:ext cx="1023256" cy="435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Straight Connector 11"/>
            <p:cNvCxnSpPr/>
            <p:nvPr/>
          </p:nvCxnSpPr>
          <p:spPr>
            <a:xfrm>
              <a:off x="1550126" y="4685211"/>
              <a:ext cx="1193074" cy="174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38285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5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EBA363-C6F1-437C-ABA0-C191F2BD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045030"/>
            <a:ext cx="8765177" cy="5538650"/>
          </a:xfrm>
        </p:spPr>
        <p:txBody>
          <a:bodyPr numCol="2"/>
          <a:lstStyle/>
          <a:p>
            <a:pPr>
              <a:buNone/>
            </a:pPr>
            <a:r>
              <a:rPr lang="en-IN" sz="1600" b="1" dirty="0"/>
              <a:t>Example Program2 : Static Nested class</a:t>
            </a:r>
            <a:endParaRPr lang="en-US" sz="1600" b="1" dirty="0"/>
          </a:p>
          <a:p>
            <a:pPr>
              <a:buNone/>
            </a:pPr>
            <a:r>
              <a:rPr lang="en-IN" sz="1600" dirty="0"/>
              <a:t>class </a:t>
            </a:r>
            <a:r>
              <a:rPr lang="en-IN" sz="1600" b="1" dirty="0"/>
              <a:t>Outer </a:t>
            </a:r>
            <a:endParaRPr lang="en-US" sz="1600" b="1" dirty="0"/>
          </a:p>
          <a:p>
            <a:pPr>
              <a:buNone/>
            </a:pPr>
            <a:r>
              <a:rPr lang="en-IN" sz="1600" dirty="0"/>
              <a:t>{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	static int temp1 = 1;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	static int temp2 = 2;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	int temp3 = 3;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	int temp4 = 4; </a:t>
            </a:r>
            <a:endParaRPr lang="en-US" sz="1600" dirty="0"/>
          </a:p>
          <a:p>
            <a:pPr lvl="1">
              <a:buNone/>
            </a:pPr>
            <a:r>
              <a:rPr lang="en-IN" sz="1600" dirty="0"/>
              <a:t>public static class </a:t>
            </a:r>
            <a:r>
              <a:rPr lang="en-IN" sz="1600" b="1" dirty="0"/>
              <a:t>Inner </a:t>
            </a:r>
            <a:endParaRPr lang="en-US" sz="1600" b="1" dirty="0"/>
          </a:p>
          <a:p>
            <a:pPr lvl="1">
              <a:buNone/>
            </a:pPr>
            <a:r>
              <a:rPr lang="en-IN" sz="1600" dirty="0"/>
              <a:t>{ </a:t>
            </a:r>
            <a:endParaRPr lang="en-US" sz="1600" dirty="0"/>
          </a:p>
          <a:p>
            <a:pPr lvl="1">
              <a:buNone/>
            </a:pPr>
            <a:r>
              <a:rPr lang="en-IN" sz="1600" dirty="0"/>
              <a:t>	private static int temp5 = 5; </a:t>
            </a:r>
            <a:endParaRPr lang="en-US" sz="1600" dirty="0"/>
          </a:p>
          <a:p>
            <a:pPr lvl="2">
              <a:buNone/>
            </a:pPr>
            <a:r>
              <a:rPr lang="en-IN" sz="1600" dirty="0"/>
              <a:t>private static int getSum() </a:t>
            </a:r>
            <a:endParaRPr lang="en-US" sz="1600" dirty="0"/>
          </a:p>
          <a:p>
            <a:pPr lvl="2">
              <a:buNone/>
            </a:pPr>
            <a:r>
              <a:rPr lang="en-IN" sz="1600" dirty="0"/>
              <a:t>{ </a:t>
            </a:r>
            <a:endParaRPr lang="en-US" sz="1600" dirty="0"/>
          </a:p>
          <a:p>
            <a:pPr lvl="2">
              <a:buNone/>
            </a:pPr>
            <a:r>
              <a:rPr lang="en-IN" sz="1600" dirty="0"/>
              <a:t>return (temp1 + temp2 </a:t>
            </a:r>
            <a:r>
              <a:rPr lang="en-IN" sz="1600" b="1" dirty="0"/>
              <a:t>+ temp3 + temp4</a:t>
            </a:r>
            <a:r>
              <a:rPr lang="en-IN" sz="1600" dirty="0"/>
              <a:t> + temp5); //error </a:t>
            </a:r>
            <a:endParaRPr lang="en-US" sz="1600" dirty="0"/>
          </a:p>
          <a:p>
            <a:pPr lvl="2">
              <a:buNone/>
            </a:pPr>
            <a:r>
              <a:rPr lang="en-IN" sz="1600" dirty="0"/>
              <a:t>} </a:t>
            </a:r>
            <a:endParaRPr lang="en-US" sz="1600" dirty="0"/>
          </a:p>
          <a:p>
            <a:pPr lvl="1">
              <a:buNone/>
            </a:pPr>
            <a:r>
              <a:rPr lang="en-IN" sz="1600" dirty="0"/>
              <a:t>} </a:t>
            </a:r>
            <a:endParaRPr lang="en-US" sz="12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dirty="0"/>
              <a:t>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{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Outer.Inner </a:t>
            </a:r>
            <a:r>
              <a:rPr lang="en-IN" sz="1600" dirty="0" err="1"/>
              <a:t>obj</a:t>
            </a:r>
            <a:r>
              <a:rPr lang="en-IN" sz="1600" dirty="0"/>
              <a:t> = new Outer.Inner();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System.out.println(obj</a:t>
            </a:r>
            <a:r>
              <a:rPr lang="en-IN" sz="2000" dirty="0"/>
              <a:t>. </a:t>
            </a:r>
            <a:r>
              <a:rPr lang="en-IN" sz="1600" dirty="0"/>
              <a:t>getSum());  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dirty="0"/>
              <a:t>//an inner class is implicitly associated with 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				        //an object of its outer class</a:t>
            </a:r>
            <a:endParaRPr lang="en-US" sz="1600" dirty="0"/>
          </a:p>
          <a:p>
            <a:pPr>
              <a:buNone/>
            </a:pPr>
            <a:r>
              <a:rPr lang="en-IN" sz="1600" dirty="0"/>
              <a:t>} // end of main method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IN" sz="1600" dirty="0"/>
              <a:t>} // end of outer Class</a:t>
            </a:r>
            <a:endParaRPr lang="en-US" sz="1600" dirty="0"/>
          </a:p>
          <a:p>
            <a:pPr algn="just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6200000" flipH="1">
            <a:off x="1861457" y="3520440"/>
            <a:ext cx="4976949" cy="2612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20" y="1123406"/>
            <a:ext cx="8242663" cy="5201194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Problem 3:</a:t>
            </a: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Create a  Non-Static Inner class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Processor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with method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getCache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 that returns double value and data members manufacturer and cores. Create an outer class with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CPU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enclosing the Non-static inner class processor.</a:t>
            </a:r>
          </a:p>
          <a:p>
            <a:pPr algn="just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Design another Class Main in which create instance/Object of Processor assigning to reference of CPU and access the method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getCache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9006" y="6139544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65740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764" y="692329"/>
            <a:ext cx="7798528" cy="901338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3, for the problem mentioned in previous slide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755" y="6309361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Exampl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30" y="1845671"/>
            <a:ext cx="8021683" cy="446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3669"/>
            <a:ext cx="7391400" cy="655638"/>
          </a:xfrm>
        </p:spPr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012" y="638556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AB7022-3850-472A-B43F-4D7EC81EE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8" y="809895"/>
            <a:ext cx="8229600" cy="6048105"/>
          </a:xfrm>
        </p:spPr>
        <p:txBody>
          <a:bodyPr/>
          <a:lstStyle/>
          <a:p>
            <a:pPr>
              <a:buNone/>
            </a:pPr>
            <a:r>
              <a:rPr lang="en-IN" sz="1800" b="1" dirty="0">
                <a:solidFill>
                  <a:srgbClr val="002060"/>
                </a:solidFill>
              </a:rPr>
              <a:t>Program 3: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class CPU 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{ 		class Processor			// Non- Static Nested Class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{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double cores=4;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String manufacturer=“HCL”;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 		double  getCache() {   return 4.3;  }   //method</a:t>
            </a: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		String getManufacturer() {    return manufacturer;   }</a:t>
            </a:r>
            <a:endParaRPr lang="en-US" sz="1600" dirty="0">
              <a:solidFill>
                <a:srgbClr val="002060"/>
              </a:solidFill>
            </a:endParaRPr>
          </a:p>
          <a:p>
            <a:pPr lvl="2">
              <a:buNone/>
            </a:pPr>
            <a:r>
              <a:rPr lang="en-IN" sz="1600" dirty="0">
                <a:solidFill>
                  <a:srgbClr val="002060"/>
                </a:solidFill>
              </a:rPr>
              <a:t>}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</a:rPr>
              <a:t>}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</a:rPr>
              <a:t>public class Main</a:t>
            </a:r>
          </a:p>
          <a:p>
            <a:pPr>
              <a:buNone/>
            </a:pPr>
            <a:r>
              <a:rPr lang="en-US" sz="1600" dirty="0">
                <a:solidFill>
                  <a:srgbClr val="002060"/>
                </a:solidFill>
              </a:rPr>
              <a:t>{</a:t>
            </a:r>
            <a:r>
              <a:rPr lang="en-IN" sz="1600" dirty="0">
                <a:solidFill>
                  <a:srgbClr val="002060"/>
                </a:solidFill>
              </a:rPr>
              <a:t>	  public static void main(String[] args) 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	  {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        CPU cpu = new CPU();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IN" sz="1600" b="1" dirty="0">
                <a:solidFill>
                  <a:srgbClr val="002060"/>
                </a:solidFill>
              </a:rPr>
              <a:t>        CPU.Processor processor = cpu.new Processor();</a:t>
            </a:r>
            <a:endParaRPr lang="en-US" sz="16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		System.out.println("Processor Cache = "+processor</a:t>
            </a:r>
            <a:r>
              <a:rPr lang="en-IN" sz="2400" dirty="0">
                <a:solidFill>
                  <a:srgbClr val="002060"/>
                </a:solidFill>
              </a:rPr>
              <a:t>.</a:t>
            </a:r>
            <a:r>
              <a:rPr lang="en-IN" sz="1600" dirty="0">
                <a:solidFill>
                  <a:srgbClr val="002060"/>
                </a:solidFill>
              </a:rPr>
              <a:t>getCache());</a:t>
            </a: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		System.out.println(“Manufacturer  = "+processor</a:t>
            </a:r>
            <a:r>
              <a:rPr lang="en-IN" sz="2400" dirty="0">
                <a:solidFill>
                  <a:srgbClr val="002060"/>
                </a:solidFill>
              </a:rPr>
              <a:t>.</a:t>
            </a:r>
            <a:r>
              <a:rPr lang="en-IN" sz="1600" dirty="0">
                <a:solidFill>
                  <a:srgbClr val="002060"/>
                </a:solidFill>
              </a:rPr>
              <a:t>getManufacturer());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	   }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IN" sz="1600" dirty="0">
                <a:solidFill>
                  <a:srgbClr val="002060"/>
                </a:solidFill>
              </a:rPr>
              <a:t>}</a:t>
            </a:r>
            <a:endParaRPr lang="en-US" sz="1600" i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8984"/>
            <a:ext cx="7391400" cy="655638"/>
          </a:xfrm>
        </p:spPr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 (Anonymous Inner Class)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2" y="901336"/>
            <a:ext cx="8699864" cy="5956664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Anonymous inner classes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Definition: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Anonymous inner classes are declared without any name at all.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Class Diagram 4: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143" y="638556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57212" y="2762132"/>
            <a:ext cx="8103463" cy="4095868"/>
            <a:chOff x="557212" y="2762132"/>
            <a:chExt cx="8103463" cy="4095868"/>
          </a:xfrm>
        </p:grpSpPr>
        <p:pic>
          <p:nvPicPr>
            <p:cNvPr id="6" name="Picture 5" descr="Example4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212" y="2762132"/>
              <a:ext cx="8103463" cy="4095868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1423851" y="5212080"/>
              <a:ext cx="134547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8984"/>
            <a:ext cx="7391400" cy="655638"/>
          </a:xfrm>
        </p:spPr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 (Anonymous Inner Class)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2" y="901336"/>
            <a:ext cx="8699864" cy="5956664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Example 4: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Demo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   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void show() {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System.out.println("</a:t>
            </a:r>
            <a:r>
              <a:rPr lang="en-US" sz="2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am in show method of super class");  }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Flavor1Demo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{         //  An anonymous class with Demo as base class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	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static Demo d = new Demo() {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void show() {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	            super.show();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en-US" sz="2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US" sz="2000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am in Flavor1Demo class");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} </a:t>
            </a:r>
          </a:p>
          <a:p>
            <a:pPr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};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public static void main(String[] args){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d.show();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} }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65714" y="638556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8984"/>
            <a:ext cx="7391400" cy="655638"/>
          </a:xfrm>
        </p:spPr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 (Method Local Inner Class)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2" y="901336"/>
            <a:ext cx="8699864" cy="59566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Method Local inner classes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Definition::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Inner class can be declared 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within a method of an outer class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5: Class Diagram</a:t>
            </a: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143" y="638556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Exampl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4" y="2311989"/>
            <a:ext cx="8050802" cy="40926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8984"/>
            <a:ext cx="7391400" cy="655638"/>
          </a:xfrm>
        </p:spPr>
        <p:txBody>
          <a:bodyPr/>
          <a:lstStyle/>
          <a:p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Non-Static Nested Class (Method Local Inner Class)</a:t>
            </a:r>
            <a:b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2" y="901336"/>
            <a:ext cx="8699864" cy="5956664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Method Local inner classes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   </a:t>
            </a:r>
          </a:p>
          <a:p>
            <a:pPr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Example 5: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class Outer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void outerMethod() {      System.</a:t>
            </a:r>
            <a:r>
              <a:rPr lang="en-US" sz="1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out.println("inside outerMethod"); </a:t>
            </a:r>
          </a:p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// Inner class is local to outerMethod() </a:t>
            </a:r>
          </a:p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class Inner </a:t>
            </a: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pPr>
              <a:buNone/>
            </a:pP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    void innerMethod() {    System.</a:t>
            </a:r>
            <a:r>
              <a:rPr lang="en-US" sz="16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out.println("inside innerMethod"); </a:t>
            </a: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}</a:t>
            </a:r>
          </a:p>
          <a:p>
            <a:pPr>
              <a:buNone/>
            </a:pPr>
            <a:r>
              <a:rPr lang="en-US" sz="1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                 } 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                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Inner y = new Inner(); </a:t>
            </a:r>
          </a:p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y.innerMethod(); </a:t>
            </a:r>
          </a:p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           } </a:t>
            </a: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                  } </a:t>
            </a:r>
          </a:p>
          <a:p>
            <a:pPr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ABCD</a:t>
            </a:r>
          </a:p>
          <a:p>
            <a:pPr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public static void main(String[] args) { </a:t>
            </a:r>
          </a:p>
          <a:p>
            <a:pPr>
              <a:buNone/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Outer x = new Outer(); </a:t>
            </a:r>
          </a:p>
          <a:p>
            <a:pPr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x.outerMethod(); </a:t>
            </a:r>
          </a:p>
          <a:p>
            <a:pPr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				} </a:t>
            </a:r>
          </a:p>
          <a:p>
            <a:pPr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143" y="6385560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E4A9-88DF-4788-9EEC-13B207EE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9A95-12D5-4448-AE0E-0105EC8DF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r>
              <a:rPr lang="en-IN" sz="6000" b="1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17B0A-4A44-462C-AAF3-2ED1C285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</p:spTree>
    <p:extLst>
      <p:ext uri="{BB962C8B-B14F-4D97-AF65-F5344CB8AC3E}">
        <p14:creationId xmlns:p14="http://schemas.microsoft.com/office/powerpoint/2010/main" val="1606055713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52330</TotalTime>
  <Words>1643</Words>
  <Application>Microsoft Macintosh PowerPoint</Application>
  <PresentationFormat>On-screen Show (4:3)</PresentationFormat>
  <Paragraphs>253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Javanese Text</vt:lpstr>
      <vt:lpstr>Times New Roman</vt:lpstr>
      <vt:lpstr>Wingdings</vt:lpstr>
      <vt:lpstr>klu</vt:lpstr>
      <vt:lpstr>Session 13</vt:lpstr>
      <vt:lpstr>Outcomes</vt:lpstr>
      <vt:lpstr>  Nested and Inner Class</vt:lpstr>
      <vt:lpstr>  Nested and Inner Class</vt:lpstr>
      <vt:lpstr>  Nested and Inner Class</vt:lpstr>
      <vt:lpstr>  Nested and Inner Class</vt:lpstr>
      <vt:lpstr>  Nested and Inner Class</vt:lpstr>
      <vt:lpstr>        Nested and Inner Class</vt:lpstr>
      <vt:lpstr> Static Nested Class </vt:lpstr>
      <vt:lpstr> Static Nested Class </vt:lpstr>
      <vt:lpstr>Class Diagram</vt:lpstr>
      <vt:lpstr>Program</vt:lpstr>
      <vt:lpstr> Static Nested Class </vt:lpstr>
      <vt:lpstr>Class Diagram</vt:lpstr>
      <vt:lpstr>Program</vt:lpstr>
      <vt:lpstr> Non-Static Nested Class </vt:lpstr>
      <vt:lpstr>Class Diagram</vt:lpstr>
      <vt:lpstr> Non-Static Nested Class </vt:lpstr>
      <vt:lpstr> Non-Static Nested Class (Anonymous Inner Class) </vt:lpstr>
      <vt:lpstr> Non-Static Nested Class (Anonymous Inner Class) </vt:lpstr>
      <vt:lpstr> Non-Static Nested Class (Method Local Inner Class) </vt:lpstr>
      <vt:lpstr> Non-Static Nested Class (Method Local Inner Class) </vt:lpstr>
      <vt:lpstr> 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1220</cp:revision>
  <cp:lastPrinted>1999-01-11T10:11:19Z</cp:lastPrinted>
  <dcterms:created xsi:type="dcterms:W3CDTF">1999-01-07T21:51:57Z</dcterms:created>
  <dcterms:modified xsi:type="dcterms:W3CDTF">2024-08-30T05:07:21Z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