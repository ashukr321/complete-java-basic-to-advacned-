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44"/>
  </p:notesMasterIdLst>
  <p:sldIdLst>
    <p:sldId id="856" r:id="rId2"/>
    <p:sldId id="913" r:id="rId3"/>
    <p:sldId id="914" r:id="rId4"/>
    <p:sldId id="915" r:id="rId5"/>
    <p:sldId id="916" r:id="rId6"/>
    <p:sldId id="926" r:id="rId7"/>
    <p:sldId id="917" r:id="rId8"/>
    <p:sldId id="918" r:id="rId9"/>
    <p:sldId id="919" r:id="rId10"/>
    <p:sldId id="920" r:id="rId11"/>
    <p:sldId id="921" r:id="rId12"/>
    <p:sldId id="922" r:id="rId13"/>
    <p:sldId id="923" r:id="rId14"/>
    <p:sldId id="925" r:id="rId15"/>
    <p:sldId id="924" r:id="rId16"/>
    <p:sldId id="927" r:id="rId17"/>
    <p:sldId id="928" r:id="rId18"/>
    <p:sldId id="929" r:id="rId19"/>
    <p:sldId id="930" r:id="rId20"/>
    <p:sldId id="931" r:id="rId21"/>
    <p:sldId id="932" r:id="rId22"/>
    <p:sldId id="933" r:id="rId23"/>
    <p:sldId id="934" r:id="rId24"/>
    <p:sldId id="935" r:id="rId25"/>
    <p:sldId id="936" r:id="rId26"/>
    <p:sldId id="937" r:id="rId27"/>
    <p:sldId id="938" r:id="rId28"/>
    <p:sldId id="939" r:id="rId29"/>
    <p:sldId id="940" r:id="rId30"/>
    <p:sldId id="942" r:id="rId31"/>
    <p:sldId id="943" r:id="rId32"/>
    <p:sldId id="944" r:id="rId33"/>
    <p:sldId id="945" r:id="rId34"/>
    <p:sldId id="946" r:id="rId35"/>
    <p:sldId id="947" r:id="rId36"/>
    <p:sldId id="941" r:id="rId37"/>
    <p:sldId id="949" r:id="rId38"/>
    <p:sldId id="948" r:id="rId39"/>
    <p:sldId id="950" r:id="rId40"/>
    <p:sldId id="951" r:id="rId41"/>
    <p:sldId id="952" r:id="rId42"/>
    <p:sldId id="912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44" autoAdjust="0"/>
    <p:restoredTop sz="94560"/>
  </p:normalViewPr>
  <p:slideViewPr>
    <p:cSldViewPr snapToGrid="0">
      <p:cViewPr varScale="1">
        <p:scale>
          <a:sx n="102" d="100"/>
          <a:sy n="102" d="100"/>
        </p:scale>
        <p:origin x="136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11/19/24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7EF12-65BD-7C4F-9F7B-34D4C4081BE4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E714-9726-5648-9805-25298B5CD9CE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9BDA7-1C76-B64C-BFBB-2DD8FC0B0462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B5F28-82C4-1145-9D91-07DC8A145CD6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9DB47-0C5F-214C-984E-9FA2FDCE5959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5A5C6-3EDE-F34D-8A0B-B78A5ED65DBC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2BB3-4F7C-364E-8373-EEF309789028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8D0D7-D7EC-A246-AF20-4745B06F0BA4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9B953-6580-D14A-A678-2705D9C7652D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EAFF8-687A-514E-B383-6E43393718A3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D9C74-6258-E24C-8933-2C029557A4C8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9DFE74-1456-C246-9145-41276736739F}" type="datetime2">
              <a:rPr lang="en-IN" smtClean="0"/>
              <a:t>Tuesday, 19 November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400" dirty="0"/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D7860-D0D8-4767-99A5-DFFBF448064D}"/>
              </a:ext>
            </a:extLst>
          </p:cNvPr>
          <p:cNvSpPr txBox="1"/>
          <p:nvPr/>
        </p:nvSpPr>
        <p:spPr>
          <a:xfrm>
            <a:off x="457200" y="1685542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</a:rPr>
              <a:t>Session 27: Multithreading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DF755-1DE6-424B-B8B9-C195C91D5CC5}"/>
              </a:ext>
            </a:extLst>
          </p:cNvPr>
          <p:cNvSpPr txBox="1"/>
          <p:nvPr/>
        </p:nvSpPr>
        <p:spPr>
          <a:xfrm>
            <a:off x="739036" y="3235049"/>
            <a:ext cx="75406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Dr. Naveen Kumar</a:t>
            </a:r>
          </a:p>
          <a:p>
            <a:pPr algn="ctr"/>
            <a:r>
              <a:rPr lang="en-US" sz="2000" b="1" dirty="0"/>
              <a:t>Associate Professor</a:t>
            </a:r>
          </a:p>
          <a:p>
            <a:pPr algn="ctr"/>
            <a:r>
              <a:rPr lang="en-US" sz="2000" b="1" dirty="0"/>
              <a:t>Amity Institute of Information Technology</a:t>
            </a:r>
          </a:p>
          <a:p>
            <a:pPr algn="ctr"/>
            <a:r>
              <a:rPr lang="en-US" sz="2000" b="1" dirty="0"/>
              <a:t>Amity University Patna</a:t>
            </a:r>
            <a:endParaRPr lang="en-IN" sz="2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1F89-2F46-263A-7BD5-4B60238E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662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26"/>
    </mc:Choice>
    <mc:Fallback xmlns="">
      <p:transition spd="slow" advTm="352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215C-30E5-51BE-34DB-BF454577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,BoldItalic"/>
              </a:rPr>
              <a:t>M</a:t>
            </a:r>
            <a:r>
              <a:rPr lang="en-IN" sz="4400" dirty="0">
                <a:effectLst/>
                <a:latin typeface="Arial,BoldItalic"/>
              </a:rPr>
              <a:t>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254D-CAC1-AFFD-A5A7-4B0462257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>
                <a:effectLst/>
                <a:latin typeface="Calibri" panose="020F0502020204030204" pitchFamily="34" charset="0"/>
              </a:rPr>
              <a:t>1)  </a:t>
            </a:r>
            <a:r>
              <a:rPr lang="en-IN" sz="2400" dirty="0">
                <a:effectLst/>
                <a:latin typeface="Calibri" panose="020F0502020204030204" pitchFamily="34" charset="0"/>
              </a:rPr>
              <a:t>The earlier days computer’s occupied only one program after completion of one program it is possible to execute another program is called </a:t>
            </a:r>
            <a:r>
              <a:rPr lang="en-IN" sz="2400" b="1" dirty="0" err="1">
                <a:effectLst/>
                <a:latin typeface="Calibri" panose="020F0502020204030204" pitchFamily="34" charset="0"/>
              </a:rPr>
              <a:t>uni</a:t>
            </a:r>
            <a:r>
              <a:rPr lang="en-IN" sz="2400" b="1" dirty="0">
                <a:latin typeface="Calibri" panose="020F0502020204030204" pitchFamily="34" charset="0"/>
              </a:rPr>
              <a:t>-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programming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6000" dirty="0">
              <a:effectLst/>
            </a:endParaRPr>
          </a:p>
          <a:p>
            <a:pPr marL="0" indent="0">
              <a:buNone/>
            </a:pPr>
            <a:r>
              <a:rPr lang="en-IN" sz="2800" dirty="0">
                <a:effectLst/>
                <a:latin typeface="Calibri" panose="020F0502020204030204" pitchFamily="34" charset="0"/>
              </a:rPr>
              <a:t>2)  </a:t>
            </a:r>
            <a:r>
              <a:rPr lang="en-IN" sz="2400" dirty="0">
                <a:effectLst/>
                <a:latin typeface="Calibri" panose="020F0502020204030204" pitchFamily="34" charset="0"/>
              </a:rPr>
              <a:t>Whenever one program execution is completed then only second program execution will be started; such type of execution is called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co-operative execution</a:t>
            </a:r>
            <a:r>
              <a:rPr lang="en-IN" sz="2400" dirty="0">
                <a:effectLst/>
                <a:latin typeface="Calibri" panose="020F0502020204030204" pitchFamily="34" charset="0"/>
              </a:rPr>
              <a:t>, in this type of execution we are having lot of disadvantages. </a:t>
            </a:r>
            <a:endParaRPr lang="en-IN" sz="6000" dirty="0">
              <a:effectLst/>
            </a:endParaRPr>
          </a:p>
          <a:p>
            <a:pPr lvl="1"/>
            <a:r>
              <a:rPr lang="en-IN" sz="2400" dirty="0">
                <a:effectLst/>
                <a:latin typeface="Calibri" panose="020F0502020204030204" pitchFamily="34" charset="0"/>
              </a:rPr>
              <a:t>Most of the times memory will be wasted. </a:t>
            </a:r>
          </a:p>
          <a:p>
            <a:pPr lvl="1"/>
            <a:r>
              <a:rPr lang="en-IN" sz="2400" dirty="0">
                <a:effectLst/>
                <a:latin typeface="Calibri" panose="020F0502020204030204" pitchFamily="34" charset="0"/>
              </a:rPr>
              <a:t>CPU utilization will be reduced because only program allow executing at a time. </a:t>
            </a:r>
          </a:p>
          <a:p>
            <a:pPr lvl="1"/>
            <a:r>
              <a:rPr lang="en-IN" sz="2400" dirty="0">
                <a:effectLst/>
                <a:latin typeface="Calibri" panose="020F0502020204030204" pitchFamily="34" charset="0"/>
              </a:rPr>
              <a:t>The program queue is developed on the basis of co operative execution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4C5DA-BB09-AF34-3E88-1EA61C93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38554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3F67-580D-5460-8AF9-A9D794D43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88515"/>
            <a:ext cx="8229600" cy="5836085"/>
          </a:xfrm>
        </p:spPr>
        <p:txBody>
          <a:bodyPr/>
          <a:lstStyle/>
          <a:p>
            <a:r>
              <a:rPr lang="en-IN" sz="2400" dirty="0">
                <a:effectLst/>
                <a:latin typeface="Calibri,Bold"/>
              </a:rPr>
              <a:t>To overcome above problem a new programming style will be introduced is called </a:t>
            </a:r>
            <a:r>
              <a:rPr lang="en-IN" sz="2400" b="1" dirty="0">
                <a:effectLst/>
                <a:latin typeface="Calibri,Bold"/>
              </a:rPr>
              <a:t>multiprogramming</a:t>
            </a:r>
            <a:r>
              <a:rPr lang="en-IN" sz="2400" dirty="0">
                <a:effectLst/>
                <a:latin typeface="Calibri,Bold"/>
              </a:rPr>
              <a:t>. </a:t>
            </a:r>
            <a:endParaRPr lang="en-IN" sz="4000" dirty="0"/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1)  Multiprogramming means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executing the more than one program at a time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2)  All these programs are controlled by the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CPU scheduler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3)  CPU scheduler will allocate a particular time period for each and every program.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4)  Executing several programs simultaneously is called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multiprogramming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5)  In multiprogramming a program can be entered in different states.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a. Ready state. b. Running state.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c. Waiting state. </a:t>
            </a:r>
            <a:endParaRPr lang="en-IN" sz="4000" dirty="0"/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6) Multiprogramming mainly focuses on the number of programs. </a:t>
            </a:r>
            <a:endParaRPr lang="en-IN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2ED18-9F1C-3CD2-5FCE-F9834E79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8864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BB71-98A5-7104-913E-C4A62805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effectLst/>
                <a:latin typeface="Calibri,Bold"/>
              </a:rPr>
              <a:t>Advantages of multiprogramming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44C7C-3338-40E0-FD82-080B27A3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sz="2400" dirty="0">
                <a:effectLst/>
                <a:latin typeface="Calibri" panose="020F0502020204030204" pitchFamily="34" charset="0"/>
              </a:rPr>
              <a:t>The main advantage of multithreading is to provide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simultaneous execution</a:t>
            </a:r>
            <a:r>
              <a:rPr lang="en-IN" sz="2400" dirty="0">
                <a:effectLst/>
                <a:latin typeface="Calibri" panose="020F0502020204030204" pitchFamily="34" charset="0"/>
              </a:rPr>
              <a:t> of two or more parts of a application to improve the CPU utilization. </a:t>
            </a:r>
          </a:p>
          <a:p>
            <a:pPr>
              <a:buFont typeface="+mj-lt"/>
              <a:buAutoNum type="arabicPeriod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CPU utilization</a:t>
            </a:r>
            <a:r>
              <a:rPr lang="en-IN" sz="2400" dirty="0">
                <a:effectLst/>
                <a:latin typeface="Calibri" panose="020F0502020204030204" pitchFamily="34" charset="0"/>
              </a:rPr>
              <a:t> will be increased. </a:t>
            </a:r>
          </a:p>
          <a:p>
            <a:pPr>
              <a:buFont typeface="+mj-lt"/>
              <a:buAutoNum type="arabicPeriod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Execution speed</a:t>
            </a:r>
            <a:r>
              <a:rPr lang="en-IN" sz="2400" dirty="0">
                <a:effectLst/>
                <a:latin typeface="Calibri" panose="020F0502020204030204" pitchFamily="34" charset="0"/>
              </a:rPr>
              <a:t> will be increased and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response time</a:t>
            </a:r>
            <a:r>
              <a:rPr lang="en-IN" sz="2400" dirty="0">
                <a:effectLst/>
                <a:latin typeface="Calibri" panose="020F0502020204030204" pitchFamily="34" charset="0"/>
              </a:rPr>
              <a:t> will be decreased. </a:t>
            </a:r>
          </a:p>
          <a:p>
            <a:pPr>
              <a:buFont typeface="+mj-lt"/>
              <a:buAutoNum type="arabicPeriod"/>
            </a:pPr>
            <a:r>
              <a:rPr lang="en-IN" sz="2400" b="1" dirty="0">
                <a:effectLst/>
                <a:latin typeface="Calibri" panose="020F0502020204030204" pitchFamily="34" charset="0"/>
              </a:rPr>
              <a:t>CPU resources</a:t>
            </a:r>
            <a:r>
              <a:rPr lang="en-IN" sz="2400" dirty="0">
                <a:effectLst/>
                <a:latin typeface="Calibri" panose="020F0502020204030204" pitchFamily="34" charset="0"/>
              </a:rPr>
              <a:t> are not wasted. </a:t>
            </a:r>
          </a:p>
          <a:p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15A13-B986-DF3A-EC95-F96ECB1A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0192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AD72-4BA5-9479-EEF8-FB632D0F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"/>
              </a:rPr>
              <a:t>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40B6-EE84-6569-CF46-C4C77BEFA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1)  Thread is nothing but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separate path of sequential execution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2)  The independent execution technical name is called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thread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3)  Whenever different parts of the program executed simultaneously that each and every part is called thread.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4)  The thread is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light weight process</a:t>
            </a:r>
            <a:r>
              <a:rPr lang="en-IN" sz="2400" dirty="0">
                <a:effectLst/>
                <a:latin typeface="Calibri" panose="020F0502020204030204" pitchFamily="34" charset="0"/>
              </a:rPr>
              <a:t> because whenever we are creating thread it is not occupying the separate memory it uses the same memory. Whenever the memory is shared means it is not consuming more memory. </a:t>
            </a:r>
            <a:endParaRPr lang="en-IN" sz="4000" dirty="0">
              <a:effectLst/>
            </a:endParaRP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</a:rPr>
              <a:t>5)  Executing more than one thread simultaneously at a time is called </a:t>
            </a:r>
            <a:r>
              <a:rPr lang="en-IN" sz="2400" b="1" dirty="0">
                <a:effectLst/>
                <a:latin typeface="Calibri" panose="020F0502020204030204" pitchFamily="34" charset="0"/>
              </a:rPr>
              <a:t>multithreading</a:t>
            </a:r>
            <a:r>
              <a:rPr lang="en-IN" sz="2400" dirty="0">
                <a:effectLst/>
                <a:latin typeface="Calibri" panose="020F0502020204030204" pitchFamily="34" charset="0"/>
              </a:rPr>
              <a:t>. </a:t>
            </a:r>
            <a:endParaRPr lang="en-IN" sz="4000" dirty="0"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B1E4D-6C01-29E3-557D-CE4C394E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90672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827D4-EB52-0C90-D1F1-AF0B6420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8D5E-4F57-D218-5D0E-DD60B255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FD8A1-D116-96CF-D13E-2B2B3C51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77521542-6B26-C070-5B67-1A512235D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571500"/>
            <a:ext cx="381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97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DD8F-85F3-26B2-E7C2-F637648E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About main 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51CD-1658-BB19-D548-671043E7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When a java program starts, one Thread is running immediately that thread is called </a:t>
            </a:r>
            <a:r>
              <a:rPr lang="en-US" sz="2000" b="1" dirty="0"/>
              <a:t>main thread</a:t>
            </a:r>
            <a:r>
              <a:rPr lang="en-US" sz="2000" dirty="0"/>
              <a:t>.</a:t>
            </a:r>
          </a:p>
          <a:p>
            <a:r>
              <a:rPr lang="en-US" sz="2000" dirty="0"/>
              <a:t>It is used to create a new Thread(child Thread).</a:t>
            </a:r>
          </a:p>
          <a:p>
            <a:r>
              <a:rPr lang="en-US" sz="2000" dirty="0"/>
              <a:t>It must be the last thread to finish the execution because it perform various actions.</a:t>
            </a:r>
          </a:p>
          <a:p>
            <a:r>
              <a:rPr lang="en-US" sz="2000" dirty="0"/>
              <a:t>It is possible to get the current thread reference by using </a:t>
            </a:r>
            <a:r>
              <a:rPr lang="en-US" sz="2000" dirty="0" err="1"/>
              <a:t>currentThread</a:t>
            </a:r>
            <a:r>
              <a:rPr lang="en-US" sz="2000" dirty="0"/>
              <a:t>() method it is a static public method present in Thread class.</a:t>
            </a:r>
          </a:p>
          <a:p>
            <a:r>
              <a:rPr lang="en-US" sz="2000" dirty="0">
                <a:solidFill>
                  <a:srgbClr val="00B050"/>
                </a:solidFill>
              </a:rPr>
              <a:t>class </a:t>
            </a:r>
            <a:r>
              <a:rPr lang="en-US" sz="2000" dirty="0" err="1">
                <a:solidFill>
                  <a:srgbClr val="00B050"/>
                </a:solidFill>
              </a:rPr>
              <a:t>CurrentThreadDemo</a:t>
            </a:r>
            <a:r>
              <a:rPr lang="en-US" sz="2000" dirty="0">
                <a:solidFill>
                  <a:srgbClr val="00B050"/>
                </a:solidFill>
              </a:rPr>
              <a:t> { </a:t>
            </a:r>
          </a:p>
          <a:p>
            <a:r>
              <a:rPr lang="en-US" sz="2000" dirty="0">
                <a:solidFill>
                  <a:srgbClr val="00B050"/>
                </a:solidFill>
              </a:rPr>
              <a:t>public static void main(String[] </a:t>
            </a:r>
            <a:r>
              <a:rPr lang="en-US" sz="2000" dirty="0" err="1">
                <a:solidFill>
                  <a:srgbClr val="00B050"/>
                </a:solidFill>
              </a:rPr>
              <a:t>arhgs</a:t>
            </a:r>
            <a:r>
              <a:rPr lang="en-US" sz="2000" dirty="0">
                <a:solidFill>
                  <a:srgbClr val="00B050"/>
                </a:solidFill>
              </a:rPr>
              <a:t>) { </a:t>
            </a:r>
          </a:p>
          <a:p>
            <a:r>
              <a:rPr lang="en-US" sz="2000" dirty="0">
                <a:solidFill>
                  <a:srgbClr val="00B050"/>
                </a:solidFill>
              </a:rPr>
              <a:t>Thread t=</a:t>
            </a:r>
            <a:r>
              <a:rPr lang="en-US" sz="2000" dirty="0" err="1">
                <a:solidFill>
                  <a:srgbClr val="00B050"/>
                </a:solidFill>
              </a:rPr>
              <a:t>Thread.currentThread</a:t>
            </a:r>
            <a:r>
              <a:rPr lang="en-US" sz="2000" dirty="0">
                <a:solidFill>
                  <a:srgbClr val="00B050"/>
                </a:solidFill>
              </a:rPr>
              <a:t>(); </a:t>
            </a:r>
          </a:p>
          <a:p>
            <a:r>
              <a:rPr lang="en-US" sz="2000" dirty="0" err="1">
                <a:solidFill>
                  <a:srgbClr val="00B050"/>
                </a:solidFill>
              </a:rPr>
              <a:t>System.out.println</a:t>
            </a:r>
            <a:r>
              <a:rPr lang="en-US" sz="2000" dirty="0">
                <a:solidFill>
                  <a:srgbClr val="00B050"/>
                </a:solidFill>
              </a:rPr>
              <a:t>("current Thread---&gt;"+t); //change the name of the thread </a:t>
            </a:r>
          </a:p>
          <a:p>
            <a:r>
              <a:rPr lang="en-US" sz="2000" dirty="0" err="1">
                <a:solidFill>
                  <a:srgbClr val="00B050"/>
                </a:solidFill>
              </a:rPr>
              <a:t>t.setName</a:t>
            </a:r>
            <a:r>
              <a:rPr lang="en-US" sz="2000" dirty="0">
                <a:solidFill>
                  <a:srgbClr val="00B050"/>
                </a:solidFill>
              </a:rPr>
              <a:t>(”amity");</a:t>
            </a:r>
          </a:p>
          <a:p>
            <a:r>
              <a:rPr lang="en-US" sz="2000" dirty="0" err="1">
                <a:solidFill>
                  <a:srgbClr val="00B050"/>
                </a:solidFill>
              </a:rPr>
              <a:t>System.out.println</a:t>
            </a:r>
            <a:r>
              <a:rPr lang="en-US" sz="2000" dirty="0">
                <a:solidFill>
                  <a:srgbClr val="00B050"/>
                </a:solidFill>
              </a:rPr>
              <a:t>("after name changed---&gt; "+t);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} };</a:t>
            </a:r>
          </a:p>
        </p:txBody>
      </p:sp>
    </p:spTree>
    <p:extLst>
      <p:ext uri="{BB962C8B-B14F-4D97-AF65-F5344CB8AC3E}">
        <p14:creationId xmlns:p14="http://schemas.microsoft.com/office/powerpoint/2010/main" val="42757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7080-C953-19C4-D04D-A849F0AF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Single threaded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F3001-1B8C-E23B-A50D-B7D255EF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class Test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public static void main(String[] </a:t>
            </a:r>
            <a:r>
              <a:rPr lang="en-US" sz="2400" dirty="0" err="1">
                <a:solidFill>
                  <a:srgbClr val="00B050"/>
                </a:solidFill>
              </a:rPr>
              <a:t>args</a:t>
            </a:r>
            <a:r>
              <a:rPr lang="en-US" sz="2400" dirty="0">
                <a:solidFill>
                  <a:srgbClr val="00B050"/>
                </a:solidFill>
              </a:rPr>
              <a:t>) {    //begins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  </a:t>
            </a:r>
            <a:r>
              <a:rPr lang="en-US" sz="2400" dirty="0" err="1">
                <a:solidFill>
                  <a:srgbClr val="00B050"/>
                </a:solidFill>
              </a:rPr>
              <a:t>System.out.println</a:t>
            </a:r>
            <a:r>
              <a:rPr lang="en-US" sz="2400" dirty="0">
                <a:solidFill>
                  <a:srgbClr val="00B050"/>
                </a:solidFill>
              </a:rPr>
              <a:t>("Hello World!");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  </a:t>
            </a:r>
            <a:r>
              <a:rPr lang="en-US" sz="2400" dirty="0" err="1">
                <a:solidFill>
                  <a:srgbClr val="00B050"/>
                </a:solidFill>
              </a:rPr>
              <a:t>System.out.println</a:t>
            </a:r>
            <a:r>
              <a:rPr lang="en-US" sz="2400" dirty="0">
                <a:solidFill>
                  <a:srgbClr val="00B050"/>
                </a:solidFill>
              </a:rPr>
              <a:t>("hi </a:t>
            </a:r>
            <a:r>
              <a:rPr lang="en-US" sz="2400" dirty="0" err="1">
                <a:solidFill>
                  <a:srgbClr val="00B050"/>
                </a:solidFill>
              </a:rPr>
              <a:t>amitian</a:t>
            </a:r>
            <a:r>
              <a:rPr lang="en-US" sz="2400" dirty="0">
                <a:solidFill>
                  <a:srgbClr val="00B050"/>
                </a:solidFill>
              </a:rPr>
              <a:t>");           //body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  </a:t>
            </a:r>
            <a:r>
              <a:rPr lang="en-US" sz="2400" dirty="0" err="1">
                <a:solidFill>
                  <a:srgbClr val="00B050"/>
                </a:solidFill>
              </a:rPr>
              <a:t>System.out.println</a:t>
            </a:r>
            <a:r>
              <a:rPr lang="en-US" sz="2400" dirty="0">
                <a:solidFill>
                  <a:srgbClr val="00B050"/>
                </a:solidFill>
              </a:rPr>
              <a:t>("hello Amity Patna");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}                                                               //end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IN" sz="2000" dirty="0">
                <a:effectLst/>
                <a:latin typeface="Calibri" panose="020F0502020204030204" pitchFamily="34" charset="0"/>
              </a:rPr>
              <a:t>In the above program only one thread is available is called main thread, to know the name of the thread we have to execute the fallowing code. </a:t>
            </a:r>
            <a:endParaRPr lang="en-IN" sz="1600" dirty="0"/>
          </a:p>
          <a:p>
            <a:r>
              <a:rPr lang="en-IN" sz="2000" dirty="0">
                <a:effectLst/>
                <a:latin typeface="Arial,BoldItalic"/>
              </a:rPr>
              <a:t>The main important application areas of the multithreading are </a:t>
            </a:r>
            <a:endParaRPr lang="en-IN" sz="1600" dirty="0"/>
          </a:p>
          <a:p>
            <a:r>
              <a:rPr lang="en-IN" sz="2000" dirty="0">
                <a:effectLst/>
                <a:latin typeface="Calibri" panose="020F0502020204030204" pitchFamily="34" charset="0"/>
              </a:rPr>
              <a:t>1. Developing video games</a:t>
            </a:r>
            <a:br>
              <a:rPr lang="en-IN" sz="2000" dirty="0">
                <a:effectLst/>
                <a:latin typeface="Calibri" panose="020F0502020204030204" pitchFamily="34" charset="0"/>
              </a:rPr>
            </a:br>
            <a:r>
              <a:rPr lang="en-IN" sz="2000" dirty="0">
                <a:effectLst/>
                <a:latin typeface="Calibri" panose="020F0502020204030204" pitchFamily="34" charset="0"/>
              </a:rPr>
              <a:t>2. Implementing multimedia graphics. 3. Developing animations </a:t>
            </a:r>
            <a:endParaRPr lang="en-IN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D80E8-DB24-01F5-9762-F03F9F40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32482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4888-5444-ED4D-DD05-F28E1DDB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0C5D-D3A8-FFD2-8F1E-E25556BF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effectLst/>
                <a:latin typeface="Calibri,Bold"/>
              </a:rPr>
              <a:t>A thread can be created in two ways:- </a:t>
            </a:r>
            <a:endParaRPr lang="en-IN" sz="4400" dirty="0"/>
          </a:p>
          <a:p>
            <a:pPr>
              <a:buFont typeface="+mj-lt"/>
              <a:buAutoNum type="arabicPeriod"/>
            </a:pPr>
            <a:r>
              <a:rPr lang="en-IN" sz="2800" dirty="0">
                <a:effectLst/>
                <a:latin typeface="Calibri" panose="020F0502020204030204" pitchFamily="34" charset="0"/>
              </a:rPr>
              <a:t>1)  By extending Thread class. </a:t>
            </a:r>
            <a:endParaRPr lang="en-IN" sz="4400" dirty="0">
              <a:effectLst/>
            </a:endParaRPr>
          </a:p>
          <a:p>
            <a:pPr>
              <a:buFont typeface="+mj-lt"/>
              <a:buAutoNum type="arabicPeriod"/>
            </a:pPr>
            <a:r>
              <a:rPr lang="en-IN" sz="2800" dirty="0">
                <a:effectLst/>
                <a:latin typeface="Calibri" panose="020F0502020204030204" pitchFamily="34" charset="0"/>
              </a:rPr>
              <a:t>2)  By implementing </a:t>
            </a:r>
            <a:r>
              <a:rPr lang="en-IN" sz="2800" dirty="0" err="1">
                <a:effectLst/>
                <a:latin typeface="Calibri,Bold"/>
              </a:rPr>
              <a:t>java.lang.Runnable</a:t>
            </a:r>
            <a:r>
              <a:rPr lang="en-IN" sz="2800" dirty="0">
                <a:effectLst/>
                <a:latin typeface="Calibri,Bold"/>
              </a:rPr>
              <a:t> </a:t>
            </a:r>
            <a:r>
              <a:rPr lang="en-IN" sz="2800" dirty="0">
                <a:effectLst/>
                <a:latin typeface="Calibri" panose="020F0502020204030204" pitchFamily="34" charset="0"/>
              </a:rPr>
              <a:t>interface </a:t>
            </a:r>
            <a:endParaRPr lang="en-IN" sz="4400" dirty="0">
              <a:effectLst/>
            </a:endParaRPr>
          </a:p>
          <a:p>
            <a:endParaRPr lang="en-US" sz="4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29CD9-0989-5A90-5376-4EBD4A28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8320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371A-0B7C-6794-E872-964F3019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effectLst/>
                <a:latin typeface="Calibri,BoldItalic"/>
              </a:rPr>
              <a:t>Create thread extending Thread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0AC80-47C4-BDC6-336C-06E04AFFE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effectLst/>
                <a:latin typeface="Calibri,Bold"/>
              </a:rPr>
              <a:t>Step 1:- Our normal java class will become Thread class whenever we are extending predefined Thread class. </a:t>
            </a:r>
            <a:endParaRPr lang="en-IN" sz="3600" dirty="0"/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class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Calibri,Italic"/>
              </a:rPr>
              <a:t>MyThread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 extends Thread {</a:t>
            </a:r>
            <a:b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</a:br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				};</a:t>
            </a:r>
            <a:br>
              <a:rPr lang="en-IN" sz="2000" dirty="0">
                <a:effectLst/>
                <a:latin typeface="Calibri,Italic"/>
              </a:rPr>
            </a:br>
            <a:r>
              <a:rPr lang="en-IN" sz="2000" dirty="0">
                <a:effectLst/>
                <a:latin typeface="Calibri,BoldItalic"/>
              </a:rPr>
              <a:t>Step 2:- </a:t>
            </a:r>
            <a:r>
              <a:rPr lang="en-IN" sz="2000" b="1" dirty="0">
                <a:effectLst/>
                <a:latin typeface="Calibri,BoldItalic"/>
              </a:rPr>
              <a:t>override the run()</a:t>
            </a:r>
            <a:r>
              <a:rPr lang="en-IN" sz="2000" dirty="0">
                <a:effectLst/>
                <a:latin typeface="Calibri,BoldItalic"/>
              </a:rPr>
              <a:t> method to write the business logic of the Thread( run() method present in Thread class). </a:t>
            </a:r>
            <a:endParaRPr lang="en-IN" sz="3600" dirty="0"/>
          </a:p>
          <a:p>
            <a:r>
              <a:rPr lang="en-IN" sz="2000" dirty="0">
                <a:effectLst/>
                <a:latin typeface="Calibri,Italic"/>
              </a:rPr>
              <a:t>class </a:t>
            </a:r>
            <a:r>
              <a:rPr lang="en-IN" sz="2000" dirty="0" err="1">
                <a:effectLst/>
                <a:latin typeface="Calibri,Italic"/>
              </a:rPr>
              <a:t>MyThread</a:t>
            </a:r>
            <a:r>
              <a:rPr lang="en-IN" sz="2000" dirty="0">
                <a:effectLst/>
                <a:latin typeface="Calibri,Italic"/>
              </a:rPr>
              <a:t> extends Thread { </a:t>
            </a:r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public void run() { </a:t>
            </a:r>
          </a:p>
          <a:p>
            <a:r>
              <a:rPr lang="en-IN" sz="2000" b="1" dirty="0" err="1">
                <a:solidFill>
                  <a:srgbClr val="00B050"/>
                </a:solidFill>
                <a:effectLst/>
                <a:latin typeface="Calibri,Italic"/>
              </a:rPr>
              <a:t>System.out.println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("business logic of the thread"); </a:t>
            </a:r>
          </a:p>
          <a:p>
            <a:r>
              <a:rPr lang="en-IN" sz="2000" b="1" dirty="0" err="1">
                <a:solidFill>
                  <a:srgbClr val="00B050"/>
                </a:solidFill>
                <a:effectLst/>
                <a:latin typeface="Calibri,Italic"/>
              </a:rPr>
              <a:t>System.out.println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("body of the thread");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2000" b="1" dirty="0">
                <a:solidFill>
                  <a:srgbClr val="00B050"/>
                </a:solidFill>
                <a:effectLst/>
                <a:latin typeface="Calibri,Italic"/>
              </a:rPr>
              <a:t>} </a:t>
            </a:r>
            <a:r>
              <a:rPr lang="en-IN" sz="2000" dirty="0">
                <a:effectLst/>
                <a:latin typeface="Calibri,Italic"/>
              </a:rPr>
              <a:t>} </a:t>
            </a:r>
            <a:endParaRPr lang="en-IN" sz="3600" dirty="0"/>
          </a:p>
          <a:p>
            <a:r>
              <a:rPr lang="en-IN" sz="2000" dirty="0">
                <a:effectLst/>
                <a:latin typeface="Calibri,BoldItalic"/>
              </a:rPr>
              <a:t>Step 2:- Create user defined Thread class object. </a:t>
            </a:r>
            <a:endParaRPr lang="en-IN" sz="3600" dirty="0"/>
          </a:p>
          <a:p>
            <a:r>
              <a:rPr lang="en-IN" sz="20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MyThread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 t=new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MyThread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(); </a:t>
            </a:r>
            <a:endParaRPr lang="en-IN" sz="3600" b="1" dirty="0">
              <a:solidFill>
                <a:srgbClr val="00B050"/>
              </a:solidFill>
            </a:endParaRPr>
          </a:p>
          <a:p>
            <a:r>
              <a:rPr lang="en-IN" sz="2000" dirty="0">
                <a:effectLst/>
                <a:latin typeface="Calibri,Bold"/>
              </a:rPr>
              <a:t>Step 3:- </a:t>
            </a:r>
            <a:r>
              <a:rPr lang="en-IN" sz="2000" dirty="0">
                <a:effectLst/>
                <a:latin typeface="Calibri,BoldItalic"/>
              </a:rPr>
              <a:t>Start the Thread by using start() method of Thread class. </a:t>
            </a:r>
            <a:r>
              <a:rPr lang="en-IN" sz="2000" b="1" dirty="0" err="1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t.start</a:t>
            </a:r>
            <a:r>
              <a:rPr lang="en-IN" sz="2000" b="1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(); </a:t>
            </a:r>
            <a:endParaRPr lang="en-IN" sz="3600" b="1" dirty="0">
              <a:solidFill>
                <a:srgbClr val="00B050"/>
              </a:solidFill>
            </a:endParaRPr>
          </a:p>
          <a:p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98789-260A-8EE7-F0B0-4293EFC0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46974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86BC-2110-7284-F943-A9A864BF8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8619"/>
            <a:ext cx="8229600" cy="578598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class </a:t>
            </a:r>
            <a:r>
              <a:rPr lang="en-US" sz="1800" dirty="0" err="1"/>
              <a:t>MyThread</a:t>
            </a:r>
            <a:r>
              <a:rPr lang="en-US" sz="1800" dirty="0"/>
              <a:t> extends Thread //defining a Thread { </a:t>
            </a:r>
          </a:p>
          <a:p>
            <a:pPr marL="0" indent="0">
              <a:buNone/>
            </a:pPr>
            <a:r>
              <a:rPr lang="en-US" sz="1800" dirty="0"/>
              <a:t>//business logic of user defined Thread</a:t>
            </a:r>
          </a:p>
          <a:p>
            <a:pPr marL="0" indent="0">
              <a:buNone/>
            </a:pPr>
            <a:r>
              <a:rPr lang="en-US" sz="1800" dirty="0"/>
              <a:t>public void run() { </a:t>
            </a:r>
          </a:p>
          <a:p>
            <a:pPr marL="0" indent="0">
              <a:buNone/>
            </a:pPr>
            <a:r>
              <a:rPr lang="en-US" sz="1800" dirty="0"/>
              <a:t>for (int </a:t>
            </a:r>
            <a:r>
              <a:rPr lang="en-US" sz="1800" dirty="0" err="1"/>
              <a:t>i</a:t>
            </a:r>
            <a:r>
              <a:rPr lang="en-US" sz="1800" dirty="0"/>
              <a:t>=0;i&lt;10;i++) { </a:t>
            </a:r>
          </a:p>
          <a:p>
            <a:pPr marL="0" indent="0">
              <a:buNone/>
            </a:pPr>
            <a:r>
              <a:rPr lang="en-US" sz="1800" dirty="0" err="1"/>
              <a:t>System.out.println</a:t>
            </a:r>
            <a:r>
              <a:rPr lang="en-US" sz="1800" dirty="0"/>
              <a:t>("</a:t>
            </a:r>
            <a:r>
              <a:rPr lang="en-US" sz="1800" dirty="0" err="1"/>
              <a:t>userdefined</a:t>
            </a:r>
            <a:r>
              <a:rPr lang="en-US" sz="1800" dirty="0"/>
              <a:t> Thread");</a:t>
            </a:r>
          </a:p>
          <a:p>
            <a:pPr marL="0" indent="0">
              <a:buNone/>
            </a:pPr>
            <a:r>
              <a:rPr lang="en-US" sz="1800" dirty="0"/>
              <a:t> } }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class </a:t>
            </a:r>
            <a:r>
              <a:rPr lang="en-US" sz="1800" dirty="0" err="1"/>
              <a:t>ThreadDemo</a:t>
            </a:r>
            <a:r>
              <a:rPr lang="en-US" sz="1800" dirty="0"/>
              <a:t> { </a:t>
            </a:r>
          </a:p>
          <a:p>
            <a:pPr marL="0" indent="0">
              <a:buNone/>
            </a:pPr>
            <a:r>
              <a:rPr lang="en-US" sz="1800" dirty="0"/>
              <a:t>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{ </a:t>
            </a:r>
          </a:p>
          <a:p>
            <a:pPr marL="0" indent="0">
              <a:buNone/>
            </a:pPr>
            <a:r>
              <a:rPr lang="en-US" sz="1800" dirty="0" err="1"/>
              <a:t>MyThread</a:t>
            </a:r>
            <a:r>
              <a:rPr lang="en-US" sz="1800" dirty="0"/>
              <a:t> t=new </a:t>
            </a:r>
            <a:r>
              <a:rPr lang="en-US" sz="1800" dirty="0" err="1"/>
              <a:t>MyThread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 err="1"/>
              <a:t>t.start</a:t>
            </a:r>
            <a:r>
              <a:rPr lang="en-US" sz="1800" dirty="0"/>
              <a:t>(); //</a:t>
            </a:r>
            <a:r>
              <a:rPr lang="en-US" sz="1800" dirty="0" err="1"/>
              <a:t>MyThread</a:t>
            </a:r>
            <a:r>
              <a:rPr lang="en-US" sz="1800" dirty="0"/>
              <a:t> execution started //business logic of main Thread</a:t>
            </a:r>
          </a:p>
          <a:p>
            <a:pPr marL="0" indent="0">
              <a:buNone/>
            </a:pPr>
            <a:r>
              <a:rPr lang="en-US" sz="1800" dirty="0"/>
              <a:t>for (int </a:t>
            </a:r>
            <a:r>
              <a:rPr lang="en-US" sz="1800" dirty="0" err="1"/>
              <a:t>i</a:t>
            </a:r>
            <a:r>
              <a:rPr lang="en-US" sz="1800" dirty="0"/>
              <a:t>=0;i&lt;10;i++) { </a:t>
            </a:r>
          </a:p>
          <a:p>
            <a:pPr marL="0" indent="0">
              <a:buNone/>
            </a:pPr>
            <a:r>
              <a:rPr lang="en-US" sz="1800" dirty="0" err="1"/>
              <a:t>System.out.println</a:t>
            </a:r>
            <a:r>
              <a:rPr lang="en-US" sz="1800" dirty="0"/>
              <a:t>("Main Thread");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} }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CEB4B-4D25-8014-D265-2AB0FD85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656277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77A3-7453-0193-EAAA-78AEF110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897B-7326-86B3-58B4-D14B4E945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1) Whenever we are calling </a:t>
            </a:r>
            <a:r>
              <a:rPr lang="en-US" sz="2000" dirty="0" err="1"/>
              <a:t>t.start</a:t>
            </a:r>
            <a:r>
              <a:rPr lang="en-US" sz="2000" dirty="0"/>
              <a:t>() method then JVM will search start() method in the </a:t>
            </a:r>
            <a:r>
              <a:rPr lang="en-US" sz="2000" dirty="0" err="1"/>
              <a:t>MyThread</a:t>
            </a:r>
            <a:r>
              <a:rPr lang="en-US" sz="2000" dirty="0"/>
              <a:t> class. If not available then JVM will execute parent class(Thread) start() method.</a:t>
            </a:r>
          </a:p>
          <a:p>
            <a:endParaRPr lang="en-US" sz="2000" dirty="0"/>
          </a:p>
          <a:p>
            <a:r>
              <a:rPr lang="en-US" sz="2000" dirty="0"/>
              <a:t>Thread class start() method responsibilities</a:t>
            </a:r>
          </a:p>
          <a:p>
            <a:r>
              <a:rPr lang="en-US" sz="2000" dirty="0"/>
              <a:t>a. User defined thread is registered into Thread Scheduler then only decide new Thread is created.</a:t>
            </a:r>
          </a:p>
          <a:p>
            <a:r>
              <a:rPr lang="en-US" sz="2000" dirty="0"/>
              <a:t>b. The Thread class start() automatically calls run() to execute logics of user defined Thread.</a:t>
            </a:r>
          </a:p>
          <a:p>
            <a:endParaRPr lang="en-US" sz="2000" dirty="0"/>
          </a:p>
          <a:p>
            <a:r>
              <a:rPr lang="en-US" sz="2000" dirty="0"/>
              <a:t>Thread Scheduler:-</a:t>
            </a:r>
          </a:p>
          <a:p>
            <a:r>
              <a:rPr lang="en-US" sz="2000" dirty="0"/>
              <a:t>Thread scheduler is a part of the JVM. It decides thread execution.</a:t>
            </a:r>
          </a:p>
          <a:p>
            <a:r>
              <a:rPr lang="en-US" sz="2000" dirty="0"/>
              <a:t>Thread Scheduler mainly uses two algorithms to decide Thread execution.</a:t>
            </a:r>
          </a:p>
          <a:p>
            <a:r>
              <a:rPr lang="en-US" sz="2000" dirty="0"/>
              <a:t>1) Preemptive algorithm.</a:t>
            </a:r>
          </a:p>
          <a:p>
            <a:r>
              <a:rPr lang="en-US" sz="2000" dirty="0"/>
              <a:t>2) Time slicing algorithm.</a:t>
            </a:r>
          </a:p>
        </p:txBody>
      </p:sp>
    </p:spTree>
    <p:extLst>
      <p:ext uri="{BB962C8B-B14F-4D97-AF65-F5344CB8AC3E}">
        <p14:creationId xmlns:p14="http://schemas.microsoft.com/office/powerpoint/2010/main" val="716186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8BB4A-15EC-CAC0-74E1-23515898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92E4E-5784-330E-B707-3344D2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ADFA-65F7-3AFC-9FFE-59185EBA1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We can’t expect exact behavior of the thread scheduler it is JVM vendor dependent. So we can’t say expected output of the multithreaded examples we can say the possible outputs.</a:t>
            </a:r>
          </a:p>
          <a:p>
            <a:endParaRPr lang="en-US" sz="2000" b="1" dirty="0"/>
          </a:p>
          <a:p>
            <a:r>
              <a:rPr lang="en-US" sz="2000" b="1" dirty="0"/>
              <a:t>Preemptive scheduling:-</a:t>
            </a:r>
          </a:p>
          <a:p>
            <a:r>
              <a:rPr lang="en-US" sz="2000" dirty="0"/>
              <a:t>In this highest priority task is executed first after this task enters into waiting state or dead state then only another higher priority task come to existence.</a:t>
            </a:r>
          </a:p>
          <a:p>
            <a:endParaRPr lang="en-US" sz="2000" b="1"/>
          </a:p>
          <a:p>
            <a:r>
              <a:rPr lang="en-US" sz="2000" b="1"/>
              <a:t>Time </a:t>
            </a:r>
            <a:r>
              <a:rPr lang="en-US" sz="2000" b="1" dirty="0"/>
              <a:t>Slicing Scheduling:-</a:t>
            </a:r>
          </a:p>
          <a:p>
            <a:r>
              <a:rPr lang="en-US" sz="2000" dirty="0"/>
              <a:t>A task is executed predefined slice of time and then return pool of ready tasks. The scheduler</a:t>
            </a:r>
          </a:p>
          <a:p>
            <a:r>
              <a:rPr lang="en-US" sz="2000" dirty="0"/>
              <a:t>determines which task is executed based on the priority and other factors.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0D696-5F5B-855E-7731-BA5A9873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21284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FFE0-E3F7-9427-7A9A-F363D985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3353-25C3-BA4F-2CA2-9F22A9291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DF39E-68E7-3658-818F-E63BD26C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1026" name="Picture 2" descr="Java Thread Life Cycle">
            <a:extLst>
              <a:ext uri="{FF2B5EF4-FFF2-40B4-BE49-F238E27FC236}">
                <a16:creationId xmlns:a16="http://schemas.microsoft.com/office/drawing/2014/main" id="{D72A9F27-B969-3922-F03A-CDE7BFE0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14450"/>
            <a:ext cx="88900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7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5DFF-8DAD-2A3F-E804-A43E47EC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4850BC-D8E0-B474-6CB3-4231FE47E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216074"/>
            <a:ext cx="9105900" cy="341150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9001A-F398-174D-B4E2-EEB18650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1521A5-05A1-BD63-BB95-F20EDBB24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667"/>
            <a:ext cx="8983690" cy="8799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E7D214-1616-7452-2278-ED4FAE1C9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32822"/>
            <a:ext cx="7772400" cy="174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92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8A42-4623-BFEB-5B8A-F1781184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1A1115-388B-3E8B-F1AB-A19C1F647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073"/>
            <a:ext cx="9133650" cy="188824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6A297-0345-9EC6-8C86-6052D4ED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BB1917-1035-EDD3-29A9-0B47F59B6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8781"/>
            <a:ext cx="9142472" cy="158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15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120-46DE-9D02-7BAA-7699198E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B630E1-D708-A507-FBFE-3EDF0A41F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0"/>
            <a:ext cx="9136813" cy="445822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83E74-1AB3-ACA1-DCF6-EFF8FF87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BC6FF-DBA5-A364-8EEA-60DB17173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054241"/>
            <a:ext cx="8839052" cy="95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57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44A2B-15B9-9DAD-638B-46755111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B67263-2D3A-55FB-E63A-7A00CD6CD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330846"/>
            <a:ext cx="9116686" cy="129753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5F032-3690-92CF-BBBF-F2BD18EA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40A4E-60DE-30D5-C38D-CFADA6DC9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1651000"/>
            <a:ext cx="77216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04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E77A-221B-E826-28B3-048FA1A1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745C75-42B0-3AAC-ACE7-E23578889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9593"/>
            <a:ext cx="8229600" cy="86340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7010A-6C3C-993C-0086-2D9C6019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10" name="Picture 9" descr="A diagram of a program&#10;&#10;Description automatically generated">
            <a:extLst>
              <a:ext uri="{FF2B5EF4-FFF2-40B4-BE49-F238E27FC236}">
                <a16:creationId xmlns:a16="http://schemas.microsoft.com/office/drawing/2014/main" id="{48AA1F69-D83D-0E09-3FA0-409AD65DF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18466"/>
            <a:ext cx="7772400" cy="382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2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7182-53AF-B793-BAF6-F33CB325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program&#10;&#10;Description automatically generated">
            <a:extLst>
              <a:ext uri="{FF2B5EF4-FFF2-40B4-BE49-F238E27FC236}">
                <a16:creationId xmlns:a16="http://schemas.microsoft.com/office/drawing/2014/main" id="{30AD85AF-71D9-4A67-DC8D-A71EFAC08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76200"/>
            <a:ext cx="8521946" cy="353830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03BCB-FD2B-E9F9-5483-00CC752E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37294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406D-4A27-C213-4E55-F8AE2E60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DC8B2-2893-7970-1A05-E65E8B8C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8E393-B6A9-A136-2209-F8DE6F2D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5" name="Picture 4" descr="A diagram of a thread&#10;&#10;Description automatically generated">
            <a:extLst>
              <a:ext uri="{FF2B5EF4-FFF2-40B4-BE49-F238E27FC236}">
                <a16:creationId xmlns:a16="http://schemas.microsoft.com/office/drawing/2014/main" id="{BB3CD1C5-0CC8-4452-D5ED-FFCF988D8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9031"/>
            <a:ext cx="9166325" cy="452117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6345C4-A013-2658-290E-9A9B0A391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251" y="5418730"/>
            <a:ext cx="8229600" cy="905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667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D064-E82A-57D9-3056-CEF76B5E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2A509-DA45-374D-5CC5-C614A584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 descr="A diagram of a program code&#10;&#10;Description automatically generated">
            <a:extLst>
              <a:ext uri="{FF2B5EF4-FFF2-40B4-BE49-F238E27FC236}">
                <a16:creationId xmlns:a16="http://schemas.microsoft.com/office/drawing/2014/main" id="{6130A24B-237E-5C86-D635-E76622AEC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275" y="0"/>
            <a:ext cx="5853325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EDD4B9-27E3-8648-D7E0-1DED1CF9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778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5AEE-F3ED-F65D-82B2-1A483DA1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7391400" cy="655638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Content Placeholder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34568B1-D40F-5A86-71B3-C3A2FB79D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866" y="0"/>
            <a:ext cx="3962400" cy="14097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E06ED-CA44-C6DC-6D90-D740F807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59293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4BA362-1D60-D25B-935B-72F0EFDD4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09700"/>
            <a:ext cx="7772400" cy="813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DCCDC2-3B8B-9B54-6D4A-9E4BA63DA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5187"/>
            <a:ext cx="7772400" cy="8647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769E6C-3CE0-C3F2-41AD-9DD9ABAC3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178860"/>
            <a:ext cx="7772400" cy="7935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E9CE08-D639-3DB7-489E-28B8D1ADF4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191736"/>
            <a:ext cx="7772400" cy="7966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63DE75-EBF2-F18C-E458-77AACD8654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5621"/>
            <a:ext cx="7772400" cy="8968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1DDA1A-93C1-6FD0-6D78-98C550CA07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5952725"/>
            <a:ext cx="7772400" cy="8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42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493E-F5CB-2FEB-DE28-DF2F2021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close-up of a computer code&#10;&#10;Description automatically generated">
            <a:extLst>
              <a:ext uri="{FF2B5EF4-FFF2-40B4-BE49-F238E27FC236}">
                <a16:creationId xmlns:a16="http://schemas.microsoft.com/office/drawing/2014/main" id="{26EE523B-2F1E-91D1-A8C1-626FAD424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29600" cy="309225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22AAC-6657-E819-B4E4-E3E17D20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12319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6583-45FF-105B-A764-B7321538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paper with text and black text&#10;&#10;Description automatically generated">
            <a:extLst>
              <a:ext uri="{FF2B5EF4-FFF2-40B4-BE49-F238E27FC236}">
                <a16:creationId xmlns:a16="http://schemas.microsoft.com/office/drawing/2014/main" id="{43953997-8528-4448-4EDB-A9F500078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0"/>
            <a:ext cx="8538800" cy="67818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C9A6B-68E9-D3EF-4674-88F07FD3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180369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D14C-84A8-0557-085F-FA237598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4576537-DCC5-B602-D9DA-F2610A3EF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30" y="76200"/>
            <a:ext cx="7810500" cy="41021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4B0B2-1444-8266-9E1B-7276A5DF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400588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21F0-B053-374D-D1EF-982B9D30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D66C65B-36D1-41CA-DB07-981B77B1C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6325644" cy="635911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FAA8C-AE9A-BCFA-16C1-1061E601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474517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91C2-17CA-0ECE-48FD-44A9204F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white paper with black text&#10;&#10;Description automatically generated">
            <a:extLst>
              <a:ext uri="{FF2B5EF4-FFF2-40B4-BE49-F238E27FC236}">
                <a16:creationId xmlns:a16="http://schemas.microsoft.com/office/drawing/2014/main" id="{6C98313D-CBEE-FD28-8774-67B040C2DA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4" y="0"/>
            <a:ext cx="9030612" cy="45753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B22E3-2436-0D01-70AE-FAAEE611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7" name="Content Placeholder 5" descr="A diagram of a running process&#10;&#10;Description automatically generated">
            <a:extLst>
              <a:ext uri="{FF2B5EF4-FFF2-40B4-BE49-F238E27FC236}">
                <a16:creationId xmlns:a16="http://schemas.microsoft.com/office/drawing/2014/main" id="{DF371274-E958-DD3A-39F0-F1341BB2E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6198" y="4810364"/>
            <a:ext cx="8229600" cy="1971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179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CDF5-7DCF-61C5-BE49-29A25B07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16B60-3CE8-4EB0-F773-2D408C6F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10" name="Content Placeholder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4B16832-9621-9CB9-62A7-47EB1C656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3" y="546860"/>
            <a:ext cx="5850507" cy="5633457"/>
          </a:xfrm>
        </p:spPr>
      </p:pic>
    </p:spTree>
    <p:extLst>
      <p:ext uri="{BB962C8B-B14F-4D97-AF65-F5344CB8AC3E}">
        <p14:creationId xmlns:p14="http://schemas.microsoft.com/office/powerpoint/2010/main" val="1959989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49E0-2C01-DFA7-C8AD-BD709F9D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wedding card&#10;&#10;Description automatically generated">
            <a:extLst>
              <a:ext uri="{FF2B5EF4-FFF2-40B4-BE49-F238E27FC236}">
                <a16:creationId xmlns:a16="http://schemas.microsoft.com/office/drawing/2014/main" id="{8C83D9F4-D299-523A-4458-2CAF4841B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71163"/>
            <a:ext cx="8229600" cy="467767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7C5A-4880-EDFB-DF7E-46B2294C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378424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A2F9-CDFF-8EF8-5609-678262FE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running process&#10;&#10;Description automatically generated">
            <a:extLst>
              <a:ext uri="{FF2B5EF4-FFF2-40B4-BE49-F238E27FC236}">
                <a16:creationId xmlns:a16="http://schemas.microsoft.com/office/drawing/2014/main" id="{975C7A72-3723-820F-85BB-C3FA14B04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21793"/>
            <a:ext cx="8229600" cy="357641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CD5A9-E2EE-C6B7-F801-78626F11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6582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59AE-2295-1858-1E83-DB52072D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7FBA676-8A13-0181-6959-677D8E957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212407"/>
            <a:ext cx="9153034" cy="134081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96F90-FC77-9EAD-FC05-D3260E88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230A338-0F62-3DCB-9F6F-5BBEDAA0C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180"/>
            <a:ext cx="9031266" cy="1629295"/>
          </a:xfrm>
          <a:prstGeom prst="rect">
            <a:avLst/>
          </a:prstGeom>
        </p:spPr>
      </p:pic>
      <p:pic>
        <p:nvPicPr>
          <p:cNvPr id="10" name="Picture 9" descr="A diagram of a running process&#10;&#10;Description automatically generated">
            <a:extLst>
              <a:ext uri="{FF2B5EF4-FFF2-40B4-BE49-F238E27FC236}">
                <a16:creationId xmlns:a16="http://schemas.microsoft.com/office/drawing/2014/main" id="{BDC7BCCE-4B25-A5E0-A8B2-62962715F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3424898"/>
            <a:ext cx="8902460" cy="312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55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4268-096E-1851-3BD1-D3B99B01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DA795D-9D2F-6D5C-80E1-E88E09BD8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487361"/>
            <a:ext cx="9196326" cy="100323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2DD4A-AE98-D829-D761-848DB8DB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8" name="Picture 7" descr="A close up of black text&#10;&#10;Description automatically generated">
            <a:extLst>
              <a:ext uri="{FF2B5EF4-FFF2-40B4-BE49-F238E27FC236}">
                <a16:creationId xmlns:a16="http://schemas.microsoft.com/office/drawing/2014/main" id="{EE4285DE-E66C-021C-D081-3723FB955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" y="1490596"/>
            <a:ext cx="8880755" cy="1290182"/>
          </a:xfrm>
          <a:prstGeom prst="rect">
            <a:avLst/>
          </a:prstGeom>
        </p:spPr>
      </p:pic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2CF773CD-FE36-3727-809C-CFE609D8B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699" y="3219959"/>
            <a:ext cx="8229600" cy="91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1205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9ADE-5085-F993-D878-D33D0DCD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B4A73-B303-9780-D13C-08F0E018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83ECF6B4-8E64-0A16-E08B-A9C3CC0DA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9492"/>
            <a:ext cx="9127611" cy="2538448"/>
          </a:xfrm>
          <a:prstGeom prst="rect">
            <a:avLst/>
          </a:prstGeom>
        </p:spPr>
      </p:pic>
      <p:pic>
        <p:nvPicPr>
          <p:cNvPr id="9" name="Picture 8" descr="A close-up of a document&#10;&#10;Description automatically generated">
            <a:extLst>
              <a:ext uri="{FF2B5EF4-FFF2-40B4-BE49-F238E27FC236}">
                <a16:creationId xmlns:a16="http://schemas.microsoft.com/office/drawing/2014/main" id="{1C9F040F-C4AA-F1B9-BBC7-91082785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75720"/>
            <a:ext cx="8544810" cy="400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73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9519-F987-8830-0234-3A9241E2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close up of text&#10;&#10;Description automatically generated">
            <a:extLst>
              <a:ext uri="{FF2B5EF4-FFF2-40B4-BE49-F238E27FC236}">
                <a16:creationId xmlns:a16="http://schemas.microsoft.com/office/drawing/2014/main" id="{E4DBDF99-ED3C-14EB-C6AF-5CF575EBE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54" y="543589"/>
            <a:ext cx="8938054" cy="351484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6EAB4-0BF3-710E-F564-673AFE17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445696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6333-5B12-ECF7-7052-858A669E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diagram of a process&#10;&#10;Description automatically generated">
            <a:extLst>
              <a:ext uri="{FF2B5EF4-FFF2-40B4-BE49-F238E27FC236}">
                <a16:creationId xmlns:a16="http://schemas.microsoft.com/office/drawing/2014/main" id="{F8AD8932-7114-DF84-8917-F7346DF19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361"/>
            <a:ext cx="9141750" cy="523703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BF8A7-9B85-4183-EB0F-F6A5464B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102259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1E53-3151-E79B-D1C1-50F0BE0C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close-up of a document&#10;&#10;Description automatically generated">
            <a:extLst>
              <a:ext uri="{FF2B5EF4-FFF2-40B4-BE49-F238E27FC236}">
                <a16:creationId xmlns:a16="http://schemas.microsoft.com/office/drawing/2014/main" id="{1A0D9735-B71B-F820-E5B2-26AA2B33E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754221" cy="68580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780AC-B410-4ED9-4B09-A78690D3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3047612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916B7-F9F4-1432-1174-0B17BC76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324600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Display{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synchronized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wish(String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=0; </a:t>
            </a:r>
            <a:r>
              <a:rPr lang="en-IN" sz="16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&lt;5; </a:t>
            </a:r>
            <a:r>
              <a:rPr lang="en-IN" sz="16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6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"good morning:"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Thread.</a:t>
            </a:r>
            <a:r>
              <a:rPr lang="en-IN" sz="160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sleep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(1000);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catch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InterruptedException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 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System.</a:t>
            </a:r>
            <a:r>
              <a:rPr lang="en-IN" sz="1600" b="1" i="1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.println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}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extends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Thread{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Display </a:t>
            </a:r>
            <a:r>
              <a:rPr lang="en-IN" sz="16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 </a:t>
            </a:r>
            <a:r>
              <a:rPr lang="en-IN" sz="16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(Display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String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 err="1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this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N" sz="1600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run(){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.wish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00C0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}</a:t>
            </a:r>
            <a:b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N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SynchronizedDemo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main(String[] </a:t>
            </a:r>
            <a:r>
              <a:rPr lang="en-IN" sz="1600" dirty="0" err="1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Display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d1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Display();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t1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d1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"Dhoni"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t2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N" sz="1600" b="1" dirty="0">
                <a:solidFill>
                  <a:srgbClr val="7F0055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MyThread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d1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2A00FF"/>
                </a:solidFill>
                <a:effectLst/>
                <a:latin typeface="Menlo" panose="020B0609030804020204" pitchFamily="49" charset="0"/>
              </a:rPr>
              <a:t>"Yuvraj"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t1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.start();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rgbClr val="6A3E3E"/>
                </a:solidFill>
                <a:effectLst/>
                <a:latin typeface="Menlo" panose="020B0609030804020204" pitchFamily="49" charset="0"/>
              </a:rPr>
              <a:t>t2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.start(); }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3B825-BD4F-0104-C7AB-B7221BB1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055758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2C68-E1C2-6DD9-44BB-D0C4551FD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58C-4AA3-5C07-E96C-54092305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are not declaring wish() method as synchronized then both Threads will be executed simultaneously and we will get irregular output.</a:t>
            </a:r>
          </a:p>
          <a:p>
            <a:r>
              <a:rPr lang="en-US" dirty="0"/>
              <a:t>If we declare wish() method as synchronized then the Threads will be be </a:t>
            </a:r>
            <a:r>
              <a:rPr lang="en-US" dirty="0" err="1"/>
              <a:t>exected</a:t>
            </a:r>
            <a:r>
              <a:rPr lang="en-US" dirty="0"/>
              <a:t> one by one </a:t>
            </a:r>
            <a:r>
              <a:rPr lang="en-US" dirty="0" err="1"/>
              <a:t>ie</a:t>
            </a:r>
            <a:r>
              <a:rPr lang="en-US" dirty="0"/>
              <a:t> until completing 1</a:t>
            </a:r>
            <a:r>
              <a:rPr lang="en-US" baseline="30000" dirty="0"/>
              <a:t>st</a:t>
            </a:r>
            <a:r>
              <a:rPr lang="en-US" dirty="0"/>
              <a:t> thread the 2</a:t>
            </a:r>
            <a:r>
              <a:rPr lang="en-US" baseline="30000" dirty="0"/>
              <a:t>nd</a:t>
            </a:r>
            <a:r>
              <a:rPr lang="en-US" dirty="0"/>
              <a:t> thread will wait.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C1B37-7119-D2BF-B97E-C1FE436C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2168027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CDB2-79F5-8D7E-A746-88672065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close-up of a document&#10;&#10;Description automatically generated">
            <a:extLst>
              <a:ext uri="{FF2B5EF4-FFF2-40B4-BE49-F238E27FC236}">
                <a16:creationId xmlns:a16="http://schemas.microsoft.com/office/drawing/2014/main" id="{A45F5516-3421-6675-528D-28B41C227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9150364" cy="55372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09F5A-1F97-3B2A-AB1A-A6132EFE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3470186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5B036-8593-94D0-B976-ABA393E8F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/>
          <a:lstStyle/>
          <a:p>
            <a:r>
              <a:rPr lang="en-US" dirty="0"/>
              <a:t>Ex1: to get lock of current object we can declare synchronized block as </a:t>
            </a:r>
            <a:r>
              <a:rPr lang="en-US" b="1" dirty="0"/>
              <a:t>synchronized(this) { }</a:t>
            </a:r>
          </a:p>
          <a:p>
            <a:r>
              <a:rPr lang="en-US" dirty="0"/>
              <a:t>Ex2: to get the lock of a particular object ‘obj’ we have to declare a synchronized block as </a:t>
            </a:r>
            <a:r>
              <a:rPr lang="en-US" b="1" dirty="0"/>
              <a:t>synchronized(obj) {  }</a:t>
            </a:r>
          </a:p>
          <a:p>
            <a:r>
              <a:rPr lang="en-US" dirty="0"/>
              <a:t>Ex3: to get class level lock we have to declare synchronized block as </a:t>
            </a:r>
            <a:r>
              <a:rPr lang="en-US" b="1" dirty="0"/>
              <a:t>synchronized(</a:t>
            </a:r>
            <a:r>
              <a:rPr lang="en-US" b="1" dirty="0" err="1"/>
              <a:t>Display.class</a:t>
            </a:r>
            <a:r>
              <a:rPr lang="en-US" b="1" dirty="0"/>
              <a:t>){   }</a:t>
            </a:r>
          </a:p>
          <a:p>
            <a:r>
              <a:rPr lang="en-US" b="1" dirty="0"/>
              <a:t>Note: we can not pass primitive datatype in synchronized as parameter.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75FD4-2E6F-B431-A2B8-683B9D22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8437184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2311C-2327-45BA-8A94-AB7E0F94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73F3-0445-4917-8154-FA39514F8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9440"/>
            <a:ext cx="8229600" cy="2966720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 algn="ctr">
              <a:buNone/>
            </a:pPr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F29A4-15AC-4EDA-B3C2-BBE51723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304" y="6312157"/>
            <a:ext cx="8731876" cy="469643"/>
          </a:xfrm>
        </p:spPr>
        <p:txBody>
          <a:bodyPr/>
          <a:lstStyle/>
          <a:p>
            <a:pPr>
              <a:defRPr/>
            </a:pPr>
            <a:r>
              <a:rPr 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Naveen Kumar, Associate Professor, AIIT, AUP</a:t>
            </a:r>
            <a:endParaRPr 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59859</TotalTime>
  <Words>1835</Words>
  <Application>Microsoft Macintosh PowerPoint</Application>
  <PresentationFormat>On-screen Show (4:3)</PresentationFormat>
  <Paragraphs>183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Arial,BoldItalic</vt:lpstr>
      <vt:lpstr>Calibri</vt:lpstr>
      <vt:lpstr>Calibri,Bold</vt:lpstr>
      <vt:lpstr>Calibri,BoldItalic</vt:lpstr>
      <vt:lpstr>Calibri,Italic</vt:lpstr>
      <vt:lpstr>Cambria</vt:lpstr>
      <vt:lpstr>Menlo</vt:lpstr>
      <vt:lpstr>Times New Roman</vt:lpstr>
      <vt:lpstr>klu</vt:lpstr>
      <vt:lpstr> </vt:lpstr>
      <vt:lpstr>Multithreading</vt:lpstr>
      <vt:lpstr>PowerPoint Presentation</vt:lpstr>
      <vt:lpstr>Advantages of multiprogramming</vt:lpstr>
      <vt:lpstr>Thread</vt:lpstr>
      <vt:lpstr>PowerPoint Presentation</vt:lpstr>
      <vt:lpstr>About main Thread</vt:lpstr>
      <vt:lpstr>Single threaded model</vt:lpstr>
      <vt:lpstr>PowerPoint Presentation</vt:lpstr>
      <vt:lpstr>Create thread extending Thread class</vt:lpstr>
      <vt:lpstr>PowerPoint Presentation</vt:lpstr>
      <vt:lpstr>Flow of execution</vt:lpstr>
      <vt:lpstr>Thread Scheduler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1657</cp:revision>
  <cp:lastPrinted>1999-01-11T10:11:19Z</cp:lastPrinted>
  <dcterms:created xsi:type="dcterms:W3CDTF">1999-01-07T21:51:57Z</dcterms:created>
  <dcterms:modified xsi:type="dcterms:W3CDTF">2024-11-19T00:15:25Z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