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61"/>
  </p:notesMasterIdLst>
  <p:sldIdLst>
    <p:sldId id="856" r:id="rId2"/>
    <p:sldId id="913" r:id="rId3"/>
    <p:sldId id="914" r:id="rId4"/>
    <p:sldId id="915" r:id="rId5"/>
    <p:sldId id="916" r:id="rId6"/>
    <p:sldId id="917" r:id="rId7"/>
    <p:sldId id="918" r:id="rId8"/>
    <p:sldId id="919" r:id="rId9"/>
    <p:sldId id="944" r:id="rId10"/>
    <p:sldId id="943" r:id="rId11"/>
    <p:sldId id="942" r:id="rId12"/>
    <p:sldId id="941" r:id="rId13"/>
    <p:sldId id="940" r:id="rId14"/>
    <p:sldId id="939" r:id="rId15"/>
    <p:sldId id="938" r:id="rId16"/>
    <p:sldId id="920" r:id="rId17"/>
    <p:sldId id="921" r:id="rId18"/>
    <p:sldId id="922" r:id="rId19"/>
    <p:sldId id="923" r:id="rId20"/>
    <p:sldId id="924" r:id="rId21"/>
    <p:sldId id="925" r:id="rId22"/>
    <p:sldId id="926" r:id="rId23"/>
    <p:sldId id="927" r:id="rId24"/>
    <p:sldId id="928" r:id="rId25"/>
    <p:sldId id="929" r:id="rId26"/>
    <p:sldId id="930" r:id="rId27"/>
    <p:sldId id="931" r:id="rId28"/>
    <p:sldId id="932" r:id="rId29"/>
    <p:sldId id="946" r:id="rId30"/>
    <p:sldId id="947" r:id="rId31"/>
    <p:sldId id="933" r:id="rId32"/>
    <p:sldId id="934" r:id="rId33"/>
    <p:sldId id="935" r:id="rId34"/>
    <p:sldId id="936" r:id="rId35"/>
    <p:sldId id="937" r:id="rId36"/>
    <p:sldId id="948" r:id="rId37"/>
    <p:sldId id="949" r:id="rId38"/>
    <p:sldId id="950" r:id="rId39"/>
    <p:sldId id="951" r:id="rId40"/>
    <p:sldId id="952" r:id="rId41"/>
    <p:sldId id="953" r:id="rId42"/>
    <p:sldId id="954" r:id="rId43"/>
    <p:sldId id="955" r:id="rId44"/>
    <p:sldId id="956" r:id="rId45"/>
    <p:sldId id="957" r:id="rId46"/>
    <p:sldId id="958" r:id="rId47"/>
    <p:sldId id="959" r:id="rId48"/>
    <p:sldId id="960" r:id="rId49"/>
    <p:sldId id="961" r:id="rId50"/>
    <p:sldId id="962" r:id="rId51"/>
    <p:sldId id="963" r:id="rId52"/>
    <p:sldId id="964" r:id="rId53"/>
    <p:sldId id="965" r:id="rId54"/>
    <p:sldId id="966" r:id="rId55"/>
    <p:sldId id="967" r:id="rId56"/>
    <p:sldId id="968" r:id="rId57"/>
    <p:sldId id="969" r:id="rId58"/>
    <p:sldId id="970" r:id="rId59"/>
    <p:sldId id="912" r:id="rId6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6" autoAdjust="0"/>
    <p:restoredTop sz="94560"/>
  </p:normalViewPr>
  <p:slideViewPr>
    <p:cSldViewPr snapToGrid="0">
      <p:cViewPr varScale="1">
        <p:scale>
          <a:sx n="102" d="100"/>
          <a:sy n="102" d="100"/>
        </p:scale>
        <p:origin x="136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10/15/24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7EF12-65BD-7C4F-9F7B-34D4C4081BE4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2E714-9726-5648-9805-25298B5CD9CE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9BDA7-1C76-B64C-BFBB-2DD8FC0B0462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B5F28-82C4-1145-9D91-07DC8A145CD6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9DB47-0C5F-214C-984E-9FA2FDCE5959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5A5C6-3EDE-F34D-8A0B-B78A5ED65DBC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2BB3-4F7C-364E-8373-EEF309789028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8D0D7-D7EC-A246-AF20-4745B06F0BA4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9B953-6580-D14A-A678-2705D9C7652D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3EAFF8-687A-514E-B383-6E43393718A3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D9C74-6258-E24C-8933-2C029557A4C8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09DFE74-1456-C246-9145-41276736739F}" type="datetime2">
              <a:rPr lang="en-IN" smtClean="0"/>
              <a:t>Tuesday, 15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IN" sz="2400" dirty="0"/>
              <a:t>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D7860-D0D8-4767-99A5-DFFBF448064D}"/>
              </a:ext>
            </a:extLst>
          </p:cNvPr>
          <p:cNvSpPr txBox="1"/>
          <p:nvPr/>
        </p:nvSpPr>
        <p:spPr>
          <a:xfrm>
            <a:off x="457200" y="1685542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Session 25:</a:t>
            </a:r>
          </a:p>
          <a:p>
            <a:r>
              <a:rPr lang="en-IN" sz="4800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Exception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DF755-1DE6-424B-B8B9-C195C91D5CC5}"/>
              </a:ext>
            </a:extLst>
          </p:cNvPr>
          <p:cNvSpPr txBox="1"/>
          <p:nvPr/>
        </p:nvSpPr>
        <p:spPr>
          <a:xfrm>
            <a:off x="739036" y="3235049"/>
            <a:ext cx="7540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Dr. Naveen Kumar</a:t>
            </a:r>
          </a:p>
          <a:p>
            <a:pPr algn="ctr"/>
            <a:r>
              <a:rPr lang="en-US" sz="2000" b="1" dirty="0"/>
              <a:t>Associate Professor</a:t>
            </a:r>
          </a:p>
          <a:p>
            <a:pPr algn="ctr"/>
            <a:r>
              <a:rPr lang="en-US" sz="2000" b="1" dirty="0"/>
              <a:t>Amity Institute of Information Technology</a:t>
            </a:r>
          </a:p>
          <a:p>
            <a:pPr algn="ctr"/>
            <a:r>
              <a:rPr lang="en-US" sz="2000" b="1" dirty="0"/>
              <a:t>Amity University Patna</a:t>
            </a:r>
            <a:endParaRPr lang="en-IN" sz="2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41F89-2F46-263A-7BD5-4B60238E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36626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26"/>
    </mc:Choice>
    <mc:Fallback xmlns="">
      <p:transition spd="slow" advTm="352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56FC-8FA8-1731-F242-ECD4C375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Exception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D5A16-0914-A317-7421-888C0B3B5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Abnormal termination called Exception.</a:t>
            </a:r>
          </a:p>
          <a:p>
            <a:r>
              <a:rPr lang="en-US" sz="2000" dirty="0"/>
              <a:t>An exception is raised due </a:t>
            </a:r>
            <a:r>
              <a:rPr lang="en-US" sz="2000" b="1" dirty="0"/>
              <a:t>risky code</a:t>
            </a:r>
            <a:r>
              <a:rPr lang="en-US" sz="2000" dirty="0"/>
              <a:t>.</a:t>
            </a:r>
          </a:p>
          <a:p>
            <a:r>
              <a:rPr lang="en-US" sz="2000" dirty="0"/>
              <a:t>An exception is an event that occurs during execution of the program that disturbs normal flow of the program instructions.</a:t>
            </a:r>
          </a:p>
          <a:p>
            <a:r>
              <a:rPr lang="en-US" sz="2000" dirty="0"/>
              <a:t>If the application contains </a:t>
            </a:r>
            <a:r>
              <a:rPr lang="en-US" sz="2000" b="1" dirty="0"/>
              <a:t>exception</a:t>
            </a:r>
            <a:r>
              <a:rPr lang="en-US" sz="2000" dirty="0"/>
              <a:t> then the program </a:t>
            </a:r>
            <a:r>
              <a:rPr lang="en-US" sz="2000" b="1" dirty="0"/>
              <a:t>terminated abnormally</a:t>
            </a:r>
            <a:r>
              <a:rPr lang="en-US" sz="2000" dirty="0"/>
              <a:t> then the rest of the </a:t>
            </a:r>
            <a:r>
              <a:rPr lang="en-US" sz="2000" b="1" dirty="0"/>
              <a:t>application is not executed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To overcome above limitation the program need to be executed in smooth manner &amp; to get normal termination of the application we must handle the exception properly.</a:t>
            </a:r>
          </a:p>
          <a:p>
            <a:endParaRPr lang="en-US" sz="2000" dirty="0"/>
          </a:p>
          <a:p>
            <a:r>
              <a:rPr lang="en-US" sz="2000" dirty="0"/>
              <a:t>There are two ways to handle the exceptions in java.</a:t>
            </a:r>
          </a:p>
          <a:p>
            <a:r>
              <a:rPr lang="en-US" sz="2000" dirty="0"/>
              <a:t>1) By using try-catch block.</a:t>
            </a:r>
          </a:p>
          <a:p>
            <a:r>
              <a:rPr lang="en-US" sz="2000" dirty="0"/>
              <a:t>2) By using throws keyword.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288EA-6244-BC4F-D4FF-C13C8081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115561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71EF-B363-E562-8839-0CD03695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Calibri,BoldItalic"/>
              </a:rPr>
              <a:t>Reasons for exceptions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B45DD-4CBF-7A9B-0490-E3FEC16B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effectLst/>
                <a:latin typeface="Calibri,Italic"/>
              </a:rPr>
              <a:t>opening a non-existing file.</a:t>
            </a:r>
            <a:endParaRPr lang="en-IN" sz="2400" dirty="0">
              <a:latin typeface="Calibri,Italic"/>
            </a:endParaRPr>
          </a:p>
          <a:p>
            <a:r>
              <a:rPr lang="en-IN" sz="2400" dirty="0">
                <a:effectLst/>
                <a:latin typeface="Calibri,Italic"/>
              </a:rPr>
              <a:t>Network connection problems. </a:t>
            </a:r>
            <a:endParaRPr lang="en-IN" sz="2400" dirty="0">
              <a:latin typeface="Wingdings" pitchFamily="2" charset="2"/>
            </a:endParaRPr>
          </a:p>
          <a:p>
            <a:r>
              <a:rPr lang="en-IN" sz="2400" dirty="0">
                <a:effectLst/>
                <a:latin typeface="Calibri,Italic"/>
              </a:rPr>
              <a:t>Values are out of range values.</a:t>
            </a:r>
          </a:p>
          <a:p>
            <a:r>
              <a:rPr lang="en-IN" sz="2400" dirty="0">
                <a:effectLst/>
                <a:latin typeface="Calibri,Italic"/>
              </a:rPr>
              <a:t>End user input mistakes.......etc </a:t>
            </a:r>
            <a:endParaRPr lang="en-IN" sz="4000" dirty="0"/>
          </a:p>
          <a:p>
            <a:r>
              <a:rPr lang="en-IN" sz="2400" dirty="0">
                <a:effectLst/>
                <a:latin typeface="Calibri,BoldItalic"/>
              </a:rPr>
              <a:t>Exception Handling:- </a:t>
            </a:r>
            <a:endParaRPr lang="en-IN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BoldItalic"/>
              </a:rPr>
              <a:t>The main objective of exception handling is to get normal termination of the application in order to execute rest of the application code. </a:t>
            </a:r>
            <a:endParaRPr lang="en-IN" sz="36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Exception handling means to </a:t>
            </a:r>
            <a:r>
              <a:rPr lang="en-IN" sz="2400" b="1" dirty="0">
                <a:effectLst/>
                <a:latin typeface="Calibri,Italic"/>
              </a:rPr>
              <a:t>providing alternate code</a:t>
            </a:r>
            <a:r>
              <a:rPr lang="en-IN" sz="2400" dirty="0">
                <a:effectLst/>
                <a:latin typeface="Calibri,Italic"/>
              </a:rPr>
              <a:t> to continue the execution of remaining code &amp; to get normal termination of the application. </a:t>
            </a:r>
            <a:endParaRPr lang="en-IN" sz="3600" dirty="0">
              <a:effectLst/>
            </a:endParaRPr>
          </a:p>
          <a:p>
            <a:endParaRPr lang="en-US" sz="4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4D4E4-BFE2-36DF-D888-BCD205BA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12983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FE38-9598-0679-2D66-7C804B36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A5631-C131-9094-5767-6E219C2BE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Every Exception is a predefined class present in different packages.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java.lang.ArithmeticException</a:t>
            </a:r>
            <a:r>
              <a:rPr lang="en-US" sz="2400" dirty="0"/>
              <a:t> 		 </a:t>
            </a:r>
            <a:r>
              <a:rPr lang="en-US" sz="2400" dirty="0" err="1"/>
              <a:t>java.lang</a:t>
            </a:r>
            <a:endParaRPr lang="en-US" sz="2400" dirty="0"/>
          </a:p>
          <a:p>
            <a:r>
              <a:rPr lang="en-US" sz="2400" dirty="0" err="1"/>
              <a:t>java.io.IOException</a:t>
            </a:r>
            <a:r>
              <a:rPr lang="en-US" sz="2400" dirty="0"/>
              <a:t> 			 </a:t>
            </a:r>
            <a:r>
              <a:rPr lang="en-US" sz="2400" dirty="0" err="1"/>
              <a:t>java.io</a:t>
            </a:r>
            <a:endParaRPr lang="en-US" sz="2400" dirty="0"/>
          </a:p>
          <a:p>
            <a:r>
              <a:rPr lang="en-US" sz="2400" dirty="0" err="1"/>
              <a:t>java.sql.SQLException</a:t>
            </a:r>
            <a:r>
              <a:rPr lang="en-US" sz="2400" dirty="0"/>
              <a:t> 			 </a:t>
            </a:r>
            <a:r>
              <a:rPr lang="en-US" sz="2400" dirty="0" err="1"/>
              <a:t>java.sql</a:t>
            </a:r>
            <a:endParaRPr lang="en-US" sz="2400" dirty="0"/>
          </a:p>
          <a:p>
            <a:r>
              <a:rPr lang="en-US" sz="2400" dirty="0" err="1"/>
              <a:t>javax.servlet.ServletException</a:t>
            </a:r>
            <a:r>
              <a:rPr lang="en-US" sz="2400" dirty="0"/>
              <a:t>		 </a:t>
            </a:r>
            <a:r>
              <a:rPr lang="en-US" sz="2400" dirty="0" err="1"/>
              <a:t>javax.servlet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Types of Exceptions:-</a:t>
            </a:r>
          </a:p>
          <a:p>
            <a:r>
              <a:rPr lang="en-US" sz="2400" dirty="0"/>
              <a:t> As per the sun micro systems standards The Exceptions are divided into three types</a:t>
            </a:r>
          </a:p>
          <a:p>
            <a:r>
              <a:rPr lang="en-US" sz="2400" dirty="0"/>
              <a:t>1) Checked Exception</a:t>
            </a:r>
          </a:p>
          <a:p>
            <a:r>
              <a:rPr lang="en-US" sz="2400" dirty="0"/>
              <a:t>2) Unchecked Exception</a:t>
            </a:r>
          </a:p>
          <a:p>
            <a:r>
              <a:rPr lang="en-US" sz="2400" dirty="0"/>
              <a:t>3) Error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5C5A0-66DA-4BE2-7228-69F005EC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172839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F323-9CE0-5CC1-57CF-EEB39749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Bookman Old Style,BoldItalic"/>
              </a:rPr>
              <a:t>Checked 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8410-340D-AAFA-37E1-FDF4A36AF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The Exceptions which are </a:t>
            </a:r>
            <a:r>
              <a:rPr lang="en-IN" sz="2400" b="1" dirty="0">
                <a:effectLst/>
                <a:latin typeface="Calibri,Italic"/>
              </a:rPr>
              <a:t>checked by the compiler</a:t>
            </a:r>
            <a:r>
              <a:rPr lang="en-IN" sz="2400" dirty="0">
                <a:effectLst/>
                <a:latin typeface="Calibri,Italic"/>
              </a:rPr>
              <a:t> at the time of </a:t>
            </a:r>
            <a:r>
              <a:rPr lang="en-IN" sz="2400" b="1" dirty="0">
                <a:effectLst/>
                <a:latin typeface="Calibri,Italic"/>
              </a:rPr>
              <a:t>compilation</a:t>
            </a:r>
            <a:r>
              <a:rPr lang="en-IN" sz="2400" dirty="0">
                <a:effectLst/>
                <a:latin typeface="Calibri,Italic"/>
              </a:rPr>
              <a:t> are called Checked Exceptions. </a:t>
            </a:r>
            <a:endParaRPr lang="en-IN" sz="4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>
              <a:effectLst/>
              <a:latin typeface="Calibri,Italic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,Italic"/>
              </a:rPr>
              <a:t>Examples:- </a:t>
            </a:r>
            <a:r>
              <a:rPr lang="en-IN" sz="2400" b="1" dirty="0" err="1">
                <a:effectLst/>
                <a:latin typeface="Calibri,Italic"/>
              </a:rPr>
              <a:t>IOException</a:t>
            </a:r>
            <a:r>
              <a:rPr lang="en-IN" sz="2400" b="1" dirty="0">
                <a:effectLst/>
                <a:latin typeface="Calibri,Italic"/>
              </a:rPr>
              <a:t>, </a:t>
            </a:r>
            <a:r>
              <a:rPr lang="en-IN" sz="2400" b="1" dirty="0" err="1">
                <a:effectLst/>
                <a:latin typeface="Calibri,Italic"/>
              </a:rPr>
              <a:t>SQLException</a:t>
            </a:r>
            <a:r>
              <a:rPr lang="en-IN" sz="2400" b="1" dirty="0">
                <a:effectLst/>
                <a:latin typeface="Calibri,Italic"/>
              </a:rPr>
              <a:t>, </a:t>
            </a:r>
            <a:r>
              <a:rPr lang="en-IN" sz="2400" b="1" dirty="0" err="1">
                <a:effectLst/>
                <a:latin typeface="Calibri,Italic"/>
              </a:rPr>
              <a:t>InterruptedException</a:t>
            </a:r>
            <a:r>
              <a:rPr lang="en-IN" sz="2400" b="1" dirty="0">
                <a:effectLst/>
                <a:latin typeface="Calibri,Italic"/>
              </a:rPr>
              <a:t>, </a:t>
            </a:r>
            <a:r>
              <a:rPr lang="en-IN" sz="2400" b="1" dirty="0" err="1">
                <a:effectLst/>
                <a:latin typeface="Calibri,Italic"/>
              </a:rPr>
              <a:t>ClassNotFoundException</a:t>
            </a:r>
            <a:r>
              <a:rPr lang="en-IN" sz="2400" b="1" dirty="0">
                <a:effectLst/>
                <a:latin typeface="Calibri,Italic"/>
              </a:rPr>
              <a:t>........etc </a:t>
            </a:r>
            <a:endParaRPr lang="en-IN" sz="40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If the application contains checked Exception the compiler is able to check it and it will give intimation to developer regarding Exception in the form of compilation error. </a:t>
            </a:r>
            <a:endParaRPr lang="en-IN" sz="4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effectLst/>
              <a:latin typeface="Calibri,Italic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Handle the checked Exception in two ways </a:t>
            </a:r>
            <a:endParaRPr lang="en-IN" sz="4000" dirty="0">
              <a:effectLst/>
            </a:endParaRPr>
          </a:p>
          <a:p>
            <a:pPr lvl="1"/>
            <a:r>
              <a:rPr lang="en-IN" sz="1800" dirty="0">
                <a:effectLst/>
                <a:latin typeface="Calibri,Italic"/>
              </a:rPr>
              <a:t>By using try-catch block. </a:t>
            </a:r>
            <a:endParaRPr lang="en-IN" sz="1800" dirty="0">
              <a:effectLst/>
              <a:latin typeface="Courier New" panose="02070309020205020404" pitchFamily="49" charset="0"/>
            </a:endParaRPr>
          </a:p>
          <a:p>
            <a:pPr lvl="1"/>
            <a:r>
              <a:rPr lang="en-IN" sz="1800" dirty="0">
                <a:effectLst/>
                <a:latin typeface="Calibri,Italic"/>
              </a:rPr>
              <a:t>By using throws keyword.</a:t>
            </a:r>
            <a:endParaRPr lang="en-IN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236DE-B993-B74D-09A3-018ED9CD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901605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9605-EA9A-7243-1C3F-3507B8D6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Bookman Old Style,BoldItalic"/>
              </a:rPr>
              <a:t>Checked 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C29C-382B-2646-6284-B2CB53B0C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Calibri,Italic"/>
              </a:rPr>
              <a:t>In our application whenever we are using </a:t>
            </a:r>
            <a:r>
              <a:rPr lang="en-IN" sz="2800" b="1" dirty="0">
                <a:effectLst/>
                <a:latin typeface="Calibri,Italic"/>
              </a:rPr>
              <a:t>exceptional methods</a:t>
            </a:r>
            <a:r>
              <a:rPr lang="en-IN" sz="2800" dirty="0">
                <a:effectLst/>
                <a:latin typeface="Calibri,Italic"/>
              </a:rPr>
              <a:t> the code is not compiled because these methods throws checked exception hence must handle the exception by using</a:t>
            </a:r>
            <a:r>
              <a:rPr lang="en-IN" sz="2800" b="1" dirty="0">
                <a:effectLst/>
                <a:latin typeface="Calibri,Italic"/>
              </a:rPr>
              <a:t> try-catch or throws </a:t>
            </a:r>
            <a:r>
              <a:rPr lang="en-IN" sz="2800" dirty="0">
                <a:effectLst/>
                <a:latin typeface="Calibri,Italic"/>
              </a:rPr>
              <a:t>keywords. </a:t>
            </a:r>
          </a:p>
          <a:p>
            <a:endParaRPr lang="en-IN" sz="2800" dirty="0">
              <a:effectLst/>
              <a:latin typeface="Calibri,Italic"/>
            </a:endParaRPr>
          </a:p>
          <a:p>
            <a:r>
              <a:rPr lang="en-IN" sz="2800" dirty="0">
                <a:effectLst/>
                <a:latin typeface="Calibri,Italic"/>
              </a:rPr>
              <a:t>Note: - If application contains </a:t>
            </a:r>
            <a:r>
              <a:rPr lang="en-IN" sz="2800" b="1" dirty="0">
                <a:effectLst/>
                <a:latin typeface="Calibri,Italic"/>
              </a:rPr>
              <a:t>checked Exception</a:t>
            </a:r>
            <a:r>
              <a:rPr lang="en-IN" sz="2800" dirty="0">
                <a:effectLst/>
                <a:latin typeface="Calibri,Italic"/>
              </a:rPr>
              <a:t> then at the compile time </a:t>
            </a:r>
            <a:r>
              <a:rPr lang="en-IN" sz="2800" b="1" dirty="0">
                <a:effectLst/>
                <a:latin typeface="Calibri,Italic"/>
              </a:rPr>
              <a:t>compiler displays exception information</a:t>
            </a:r>
            <a:r>
              <a:rPr lang="en-IN" sz="2800" b="1" dirty="0">
                <a:latin typeface="Calibri,Italic"/>
              </a:rPr>
              <a:t> </a:t>
            </a:r>
            <a:r>
              <a:rPr lang="en-IN" sz="2800" dirty="0">
                <a:effectLst/>
                <a:latin typeface="Calibri,Italic"/>
              </a:rPr>
              <a:t>for handling the exception </a:t>
            </a:r>
            <a:r>
              <a:rPr lang="en-IN" sz="2800" dirty="0">
                <a:effectLst/>
                <a:latin typeface="Calibri,BoldItalic"/>
              </a:rPr>
              <a:t>but the </a:t>
            </a:r>
            <a:r>
              <a:rPr lang="en-IN" sz="2800" b="1" dirty="0">
                <a:effectLst/>
                <a:latin typeface="Calibri,BoldItalic"/>
              </a:rPr>
              <a:t>exception raised at runtime</a:t>
            </a:r>
            <a:r>
              <a:rPr lang="en-IN" sz="2800" dirty="0">
                <a:effectLst/>
                <a:latin typeface="Calibri,BoldItalic"/>
              </a:rPr>
              <a:t> </a:t>
            </a:r>
            <a:r>
              <a:rPr lang="en-IN" sz="2800" dirty="0">
                <a:effectLst/>
                <a:latin typeface="Calibri,Italic"/>
              </a:rPr>
              <a:t>if the required resources are not available. </a:t>
            </a:r>
            <a:endParaRPr lang="en-IN" sz="4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3A74B-E332-370D-4EE9-C2F7B1D7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332123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2923-C2BA-4F84-C7BA-E6D1B12C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Calibri,BoldItalic"/>
              </a:rPr>
              <a:t>Checked 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C33A1-F527-BA4E-35A4-8C0D99EE4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>
                <a:effectLst/>
                <a:latin typeface="Calibri,BoldItalic"/>
              </a:rPr>
              <a:t>1) </a:t>
            </a:r>
            <a:r>
              <a:rPr lang="en-IN" sz="1800" b="1" dirty="0" err="1">
                <a:effectLst/>
                <a:latin typeface="Calibri,BoldItalic"/>
              </a:rPr>
              <a:t>java.lang.InterruptedException</a:t>
            </a:r>
            <a:r>
              <a:rPr lang="en-IN" sz="1800" b="1" dirty="0">
                <a:effectLst/>
                <a:latin typeface="Calibri,BoldItalic"/>
              </a:rPr>
              <a:t> </a:t>
            </a:r>
            <a:endParaRPr lang="en-IN" b="1" dirty="0">
              <a:effectLst/>
            </a:endParaRPr>
          </a:p>
          <a:p>
            <a:r>
              <a:rPr lang="en-IN" sz="1800" dirty="0">
                <a:effectLst/>
                <a:latin typeface="Calibri,Italic"/>
              </a:rPr>
              <a:t>When we use </a:t>
            </a:r>
            <a:r>
              <a:rPr lang="en-IN" sz="1800" dirty="0" err="1">
                <a:effectLst/>
                <a:latin typeface="Calibri,BoldItalic"/>
              </a:rPr>
              <a:t>Thread.sleep</a:t>
            </a:r>
            <a:r>
              <a:rPr lang="en-IN" sz="1800" dirty="0">
                <a:effectLst/>
                <a:latin typeface="Calibri,BoldItalic"/>
              </a:rPr>
              <a:t>(2000); </a:t>
            </a:r>
            <a:r>
              <a:rPr lang="en-IN" sz="1800" dirty="0">
                <a:effectLst/>
                <a:latin typeface="Calibri,Italic"/>
              </a:rPr>
              <a:t>your thread is entered into sleeping mode then other threads are able to interrupt the program is terminated abnormally &amp; rest of the application is not executed. </a:t>
            </a:r>
            <a:endParaRPr lang="en-IN" dirty="0">
              <a:effectLst/>
            </a:endParaRPr>
          </a:p>
          <a:p>
            <a:r>
              <a:rPr lang="en-IN" sz="1800" dirty="0">
                <a:effectLst/>
                <a:latin typeface="Calibri,Italic"/>
              </a:rPr>
              <a:t>To overcome above problem compile time compiler is checking that exception &amp; displaying exception information in the form of compilation error. </a:t>
            </a:r>
            <a:endParaRPr lang="en-IN" dirty="0">
              <a:effectLst/>
            </a:endParaRPr>
          </a:p>
          <a:p>
            <a:r>
              <a:rPr lang="en-IN" sz="1800" dirty="0">
                <a:effectLst/>
                <a:latin typeface="Calibri,Italic"/>
              </a:rPr>
              <a:t>Based on compiler generated error message write the try-catch blocks or throws , if runtime any exception raised the try-catch or throws keyword executed program is terminated normally. </a:t>
            </a:r>
            <a:endParaRPr lang="en-IN" dirty="0">
              <a:effectLst/>
            </a:endParaRPr>
          </a:p>
          <a:p>
            <a:r>
              <a:rPr lang="en-IN" sz="1800" b="1" dirty="0">
                <a:effectLst/>
                <a:latin typeface="Calibri,BoldItalic"/>
              </a:rPr>
              <a:t>2)  </a:t>
            </a:r>
            <a:r>
              <a:rPr lang="en-IN" sz="1800" b="1" dirty="0" err="1">
                <a:effectLst/>
                <a:latin typeface="Calibri,BoldItalic"/>
              </a:rPr>
              <a:t>Java.io.FileNotFoundException</a:t>
            </a:r>
            <a:r>
              <a:rPr lang="en-IN" sz="1800" b="1" dirty="0">
                <a:effectLst/>
                <a:latin typeface="Calibri,BoldItalic"/>
              </a:rPr>
              <a:t> </a:t>
            </a:r>
            <a:endParaRPr lang="en-IN" b="1" dirty="0">
              <a:effectLst/>
            </a:endParaRPr>
          </a:p>
          <a:p>
            <a:r>
              <a:rPr lang="en-IN" sz="1800" dirty="0">
                <a:effectLst/>
                <a:latin typeface="Calibri,Italic"/>
              </a:rPr>
              <a:t>If we are trying to read the file from local disk but at runtime if the file is not available then program is terminated abnormally rest of the application is not executed. </a:t>
            </a:r>
            <a:endParaRPr lang="en-IN" dirty="0">
              <a:effectLst/>
            </a:endParaRPr>
          </a:p>
          <a:p>
            <a:r>
              <a:rPr lang="en-IN" sz="1800" dirty="0">
                <a:effectLst/>
                <a:latin typeface="Calibri,Italic"/>
              </a:rPr>
              <a:t>To overcome above problem compile time compiler is checking that exception &amp; displaying exception information in the form of compilation error. </a:t>
            </a:r>
            <a:endParaRPr lang="en-IN" dirty="0">
              <a:effectLst/>
            </a:endParaRPr>
          </a:p>
          <a:p>
            <a:r>
              <a:rPr lang="en-IN" sz="1800" dirty="0">
                <a:effectLst/>
                <a:latin typeface="Calibri,Italic"/>
              </a:rPr>
              <a:t>Based on compiler generated error message write the try-catch blocks or throws , if at runtime any exception raised the try-catch or throws keyword executed program is terminated normally. </a:t>
            </a:r>
            <a:endParaRPr lang="en-IN" dirty="0">
              <a:effectLst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57808-CAB1-6324-682B-73C8079C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5957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5C6FB-B117-2B82-77A3-9ACA7A18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A7D1-C62D-F435-9A98-0A098D89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Calibri,BoldItalic"/>
              </a:rPr>
              <a:t>Checked 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8D0C-5A8C-C611-80A3-65B484964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>
                <a:effectLst/>
                <a:latin typeface="Calibri,BoldItalic"/>
              </a:rPr>
              <a:t>3)  </a:t>
            </a:r>
            <a:r>
              <a:rPr lang="en-IN" sz="1800" b="1" dirty="0" err="1">
                <a:effectLst/>
                <a:latin typeface="Calibri,BoldItalic"/>
              </a:rPr>
              <a:t>Java.sql.SQLException</a:t>
            </a:r>
            <a:r>
              <a:rPr lang="en-IN" sz="1800" b="1" dirty="0">
                <a:effectLst/>
                <a:latin typeface="Calibri,BoldItalic"/>
              </a:rPr>
              <a:t> </a:t>
            </a:r>
            <a:endParaRPr lang="en-IN" b="1" dirty="0">
              <a:effectLst/>
            </a:endParaRPr>
          </a:p>
          <a:p>
            <a:r>
              <a:rPr lang="en-IN" sz="1800" dirty="0">
                <a:effectLst/>
                <a:latin typeface="Calibri,Italic"/>
              </a:rPr>
              <a:t>If we are trying to connect to database but at runtime data base is not </a:t>
            </a:r>
            <a:r>
              <a:rPr lang="en-IN" sz="1800" dirty="0" err="1">
                <a:effectLst/>
                <a:latin typeface="Calibri,Italic"/>
              </a:rPr>
              <a:t>availablethen</a:t>
            </a:r>
            <a:r>
              <a:rPr lang="en-IN" sz="1800" dirty="0">
                <a:effectLst/>
                <a:latin typeface="Calibri,Italic"/>
              </a:rPr>
              <a:t> program is terminated abnormally rest of the application is not executed. </a:t>
            </a:r>
            <a:endParaRPr lang="en-IN" dirty="0">
              <a:effectLst/>
            </a:endParaRPr>
          </a:p>
          <a:p>
            <a:r>
              <a:rPr lang="en-IN" sz="2400" b="1" dirty="0">
                <a:effectLst/>
                <a:latin typeface="Calibri,BoldItalic"/>
              </a:rPr>
              <a:t>Note: In above scenarios compile time compiler is display just exception information but exception raised at runtime. </a:t>
            </a:r>
            <a:endParaRPr lang="en-IN" sz="4000" b="1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9D75B-940C-6B2E-A25E-FCB09732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09588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5EC6-BFF2-8202-F930-0B1172D82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FileNotFoundException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5E7CF-D624-22B1-5E4B-1F44668BA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import </a:t>
            </a:r>
            <a:r>
              <a:rPr lang="en-US" sz="2800" dirty="0" err="1"/>
              <a:t>java.io.File</a:t>
            </a:r>
            <a:r>
              <a:rPr lang="en-US" sz="2800" dirty="0"/>
              <a:t>;</a:t>
            </a:r>
          </a:p>
          <a:p>
            <a:r>
              <a:rPr lang="en-US" sz="2800" dirty="0"/>
              <a:t>import </a:t>
            </a:r>
            <a:r>
              <a:rPr lang="en-US" sz="2800" dirty="0" err="1"/>
              <a:t>java.io.FileNotFoundException</a:t>
            </a:r>
            <a:r>
              <a:rPr lang="en-US" sz="2800" dirty="0"/>
              <a:t>;</a:t>
            </a:r>
          </a:p>
          <a:p>
            <a:r>
              <a:rPr lang="en-US" sz="2800" dirty="0"/>
              <a:t>import </a:t>
            </a:r>
            <a:r>
              <a:rPr lang="en-US" sz="2800" dirty="0" err="1"/>
              <a:t>java.util.Scanner</a:t>
            </a:r>
            <a:r>
              <a:rPr lang="en-US" sz="2800" dirty="0"/>
              <a:t>;</a:t>
            </a:r>
          </a:p>
          <a:p>
            <a:r>
              <a:rPr lang="en-US" sz="2800" dirty="0"/>
              <a:t>public class </a:t>
            </a:r>
            <a:r>
              <a:rPr lang="en-US" sz="2800" dirty="0" err="1"/>
              <a:t>FileNotFoundExceptionExample</a:t>
            </a:r>
            <a:r>
              <a:rPr lang="en-US" sz="2800" dirty="0"/>
              <a:t> {  </a:t>
            </a:r>
          </a:p>
          <a:p>
            <a:r>
              <a:rPr lang="en-US" sz="2800" dirty="0"/>
              <a:t>    public static void main(String[] </a:t>
            </a:r>
            <a:r>
              <a:rPr lang="en-US" sz="2800" dirty="0" err="1"/>
              <a:t>args</a:t>
            </a:r>
            <a:r>
              <a:rPr lang="en-US" sz="2800" dirty="0"/>
              <a:t>) {  </a:t>
            </a:r>
          </a:p>
          <a:p>
            <a:r>
              <a:rPr lang="en-US" sz="2800" dirty="0"/>
              <a:t>            File file = new File("</a:t>
            </a:r>
            <a:r>
              <a:rPr lang="en-US" sz="2800" dirty="0" err="1"/>
              <a:t>nonexistent_file.txt</a:t>
            </a:r>
            <a:r>
              <a:rPr lang="en-US" sz="2800" dirty="0"/>
              <a:t>");  </a:t>
            </a:r>
          </a:p>
          <a:p>
            <a:r>
              <a:rPr lang="en-US" sz="2800" dirty="0"/>
              <a:t>            Scanner scanner = new Scanner(file);  </a:t>
            </a:r>
          </a:p>
          <a:p>
            <a:r>
              <a:rPr lang="en-US" sz="2800" dirty="0"/>
              <a:t>    }  </a:t>
            </a:r>
          </a:p>
          <a:p>
            <a:r>
              <a:rPr lang="en-US" sz="2800" dirty="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97C09-3120-217E-E937-F5443834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4160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9374-FAF5-56FB-2519-37E0F7C3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IOException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46BB5-3EB5-66AE-869F-23A4CE3E4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import </a:t>
            </a:r>
            <a:r>
              <a:rPr lang="en-US" sz="1600" dirty="0" err="1"/>
              <a:t>java.io.BufferedReader</a:t>
            </a:r>
            <a:r>
              <a:rPr lang="en-US" sz="1600" dirty="0"/>
              <a:t>;  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java.io.FileReader</a:t>
            </a:r>
            <a:r>
              <a:rPr lang="en-US" sz="1600" dirty="0"/>
              <a:t>;  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java.io.IOException</a:t>
            </a:r>
            <a:r>
              <a:rPr lang="en-US" sz="1600" dirty="0"/>
              <a:t>;  </a:t>
            </a:r>
          </a:p>
          <a:p>
            <a:r>
              <a:rPr lang="en-US" sz="1600" dirty="0"/>
              <a:t>public class </a:t>
            </a:r>
            <a:r>
              <a:rPr lang="en-US" sz="1600" dirty="0" err="1"/>
              <a:t>IOExceptionExample</a:t>
            </a:r>
            <a:r>
              <a:rPr lang="en-US" sz="1600" dirty="0"/>
              <a:t> {  </a:t>
            </a:r>
          </a:p>
          <a:p>
            <a:r>
              <a:rPr lang="en-US" sz="1600" dirty="0"/>
              <a:t>    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){ 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BufferedReader</a:t>
            </a:r>
            <a:r>
              <a:rPr lang="en-US" sz="1600" dirty="0"/>
              <a:t> reader = null;  </a:t>
            </a:r>
          </a:p>
          <a:p>
            <a:r>
              <a:rPr lang="en-US" sz="1600" dirty="0"/>
              <a:t>            reader = new </a:t>
            </a:r>
            <a:r>
              <a:rPr lang="en-US" sz="1600" dirty="0" err="1"/>
              <a:t>BufferedReader</a:t>
            </a:r>
            <a:r>
              <a:rPr lang="en-US" sz="1600" dirty="0"/>
              <a:t>(new </a:t>
            </a:r>
            <a:r>
              <a:rPr lang="en-US" sz="1600" dirty="0" err="1"/>
              <a:t>FileReader</a:t>
            </a:r>
            <a:r>
              <a:rPr lang="en-US" sz="1600" dirty="0"/>
              <a:t>("</a:t>
            </a:r>
            <a:r>
              <a:rPr lang="en-US" sz="1600" dirty="0" err="1"/>
              <a:t>nonexistent_file.txt</a:t>
            </a:r>
            <a:r>
              <a:rPr lang="en-US" sz="1600" dirty="0"/>
              <a:t>"));  </a:t>
            </a:r>
          </a:p>
          <a:p>
            <a:r>
              <a:rPr lang="en-US" sz="1600" dirty="0"/>
              <a:t>            String line;  </a:t>
            </a:r>
          </a:p>
          <a:p>
            <a:r>
              <a:rPr lang="en-US" sz="1600" dirty="0"/>
              <a:t>            while ((line = </a:t>
            </a:r>
            <a:r>
              <a:rPr lang="en-US" sz="1600" dirty="0" err="1"/>
              <a:t>reader.readLine</a:t>
            </a:r>
            <a:r>
              <a:rPr lang="en-US" sz="1600" dirty="0"/>
              <a:t>()) != null) {  </a:t>
            </a:r>
          </a:p>
          <a:p>
            <a:r>
              <a:rPr lang="en-US" sz="1600" dirty="0"/>
              <a:t>                </a:t>
            </a:r>
            <a:r>
              <a:rPr lang="en-US" sz="1600" dirty="0" err="1"/>
              <a:t>System.out.println</a:t>
            </a:r>
            <a:r>
              <a:rPr lang="en-US" sz="1600" dirty="0"/>
              <a:t>(line);  </a:t>
            </a:r>
          </a:p>
          <a:p>
            <a:r>
              <a:rPr lang="en-US" sz="1600" dirty="0"/>
              <a:t>            } </a:t>
            </a:r>
          </a:p>
          <a:p>
            <a:r>
              <a:rPr lang="en-US" sz="1600" dirty="0"/>
              <a:t>                    </a:t>
            </a:r>
            <a:r>
              <a:rPr lang="en-US" sz="1600" dirty="0" err="1"/>
              <a:t>reader.close</a:t>
            </a:r>
            <a:r>
              <a:rPr lang="en-US" sz="1600" dirty="0"/>
              <a:t>();  </a:t>
            </a:r>
          </a:p>
          <a:p>
            <a:r>
              <a:rPr lang="en-US" sz="1600" dirty="0"/>
              <a:t>    }  </a:t>
            </a:r>
          </a:p>
          <a:p>
            <a:r>
              <a:rPr lang="en-US" sz="1600" dirty="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C82A44-09E0-E856-37B4-A29FB245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29446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FB6E-59CA-28F9-88B7-D16EF098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ClassNotFoundException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D6A4-F498-F6BA-06C5-5FA8DD50C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public class </a:t>
            </a:r>
            <a:r>
              <a:rPr lang="en-US" sz="2400" dirty="0" err="1"/>
              <a:t>ClassNotFoundExceptionExample</a:t>
            </a:r>
            <a:r>
              <a:rPr lang="en-US" sz="2400" dirty="0"/>
              <a:t> {  </a:t>
            </a:r>
          </a:p>
          <a:p>
            <a:r>
              <a:rPr lang="en-US" sz="2400" dirty="0"/>
              <a:t>    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 {  </a:t>
            </a:r>
          </a:p>
          <a:p>
            <a:r>
              <a:rPr lang="en-US" sz="2400" dirty="0"/>
              <a:t>            Class&lt;?&gt; </a:t>
            </a:r>
            <a:r>
              <a:rPr lang="en-US" sz="2400" dirty="0" err="1"/>
              <a:t>clazz</a:t>
            </a:r>
            <a:r>
              <a:rPr lang="en-US" sz="2400" dirty="0"/>
              <a:t> = </a:t>
            </a:r>
            <a:r>
              <a:rPr lang="en-US" sz="2400" dirty="0" err="1"/>
              <a:t>Class.forName</a:t>
            </a:r>
            <a:r>
              <a:rPr lang="en-US" sz="2400" dirty="0"/>
              <a:t>("</a:t>
            </a:r>
            <a:r>
              <a:rPr lang="en-US" sz="2400" dirty="0" err="1"/>
              <a:t>com.example.NonExistentClass</a:t>
            </a:r>
            <a:r>
              <a:rPr lang="en-US" sz="2400" dirty="0"/>
              <a:t>");  </a:t>
            </a:r>
          </a:p>
          <a:p>
            <a:r>
              <a:rPr lang="en-US" sz="2400" dirty="0"/>
              <a:t>    }  </a:t>
            </a:r>
          </a:p>
          <a:p>
            <a:r>
              <a:rPr lang="en-US" sz="2400" dirty="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C5872-B500-2945-C920-7F14ED66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283905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DAB7-6D26-ECB5-418C-1A7C46B59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SQLException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824A-34F1-F96C-0392-DCC337E6F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import </a:t>
            </a:r>
            <a:r>
              <a:rPr lang="en-US" sz="2400" dirty="0" err="1"/>
              <a:t>java.sql.Connection</a:t>
            </a:r>
            <a:r>
              <a:rPr lang="en-US" sz="2400" dirty="0"/>
              <a:t>;  </a:t>
            </a:r>
          </a:p>
          <a:p>
            <a:r>
              <a:rPr lang="en-US" sz="2400" dirty="0"/>
              <a:t>import </a:t>
            </a:r>
            <a:r>
              <a:rPr lang="en-US" sz="2400" dirty="0" err="1"/>
              <a:t>java.sql.DriverManager</a:t>
            </a:r>
            <a:r>
              <a:rPr lang="en-US" sz="2400" dirty="0"/>
              <a:t>;  </a:t>
            </a:r>
          </a:p>
          <a:p>
            <a:r>
              <a:rPr lang="en-US" sz="2400" dirty="0"/>
              <a:t>import </a:t>
            </a:r>
            <a:r>
              <a:rPr lang="en-US" sz="2400" dirty="0" err="1"/>
              <a:t>java.sql.SQLException</a:t>
            </a:r>
            <a:r>
              <a:rPr lang="en-US" sz="2400" dirty="0"/>
              <a:t>;  </a:t>
            </a:r>
          </a:p>
          <a:p>
            <a:r>
              <a:rPr lang="en-US" sz="2400" dirty="0"/>
              <a:t>public class </a:t>
            </a:r>
            <a:r>
              <a:rPr lang="en-US" sz="2400" dirty="0" err="1"/>
              <a:t>SQLExceptionExample</a:t>
            </a:r>
            <a:r>
              <a:rPr lang="en-US" sz="2400" dirty="0"/>
              <a:t> {  </a:t>
            </a:r>
          </a:p>
          <a:p>
            <a:r>
              <a:rPr lang="en-US" sz="2400" dirty="0"/>
              <a:t>    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 {  </a:t>
            </a:r>
          </a:p>
          <a:p>
            <a:r>
              <a:rPr lang="en-US" sz="2400" dirty="0"/>
              <a:t>            Connection connection = </a:t>
            </a:r>
            <a:r>
              <a:rPr lang="en-US" sz="2400" dirty="0" err="1"/>
              <a:t>DriverManager.getConnection</a:t>
            </a:r>
            <a:r>
              <a:rPr lang="en-US" sz="2400" dirty="0"/>
              <a:t>("</a:t>
            </a:r>
            <a:r>
              <a:rPr lang="en-US" sz="2400" dirty="0" err="1"/>
              <a:t>jdbc:mysql</a:t>
            </a:r>
            <a:r>
              <a:rPr lang="en-US" sz="2400" dirty="0"/>
              <a:t>://localhost:3306/</a:t>
            </a:r>
            <a:r>
              <a:rPr lang="en-US" sz="2400" dirty="0" err="1"/>
              <a:t>mydatabase</a:t>
            </a:r>
            <a:r>
              <a:rPr lang="en-US" sz="2400" dirty="0"/>
              <a:t>", "username", "password");  </a:t>
            </a:r>
          </a:p>
          <a:p>
            <a:r>
              <a:rPr lang="en-US" sz="2400" dirty="0"/>
              <a:t>         </a:t>
            </a:r>
          </a:p>
          <a:p>
            <a:r>
              <a:rPr lang="en-US" sz="2400" dirty="0"/>
              <a:t>    }  </a:t>
            </a:r>
          </a:p>
          <a:p>
            <a:r>
              <a:rPr lang="en-US" sz="2400" dirty="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091F-C405-9E53-7F24-EE80489A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064378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72E0-C6AB-1718-E756-E90C948F7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ParseException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066F-AE94-ADC2-0960-EA9E6E46C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import </a:t>
            </a:r>
            <a:r>
              <a:rPr lang="en-US" sz="1800" dirty="0" err="1"/>
              <a:t>java.text.DateFormat</a:t>
            </a:r>
            <a:r>
              <a:rPr lang="en-US" sz="1800" dirty="0"/>
              <a:t>;  </a:t>
            </a:r>
          </a:p>
          <a:p>
            <a:r>
              <a:rPr lang="en-US" sz="1800" dirty="0"/>
              <a:t>import </a:t>
            </a:r>
            <a:r>
              <a:rPr lang="en-US" sz="1800" dirty="0" err="1"/>
              <a:t>java.text.ParseException</a:t>
            </a:r>
            <a:r>
              <a:rPr lang="en-US" sz="1800" dirty="0"/>
              <a:t>;  </a:t>
            </a:r>
          </a:p>
          <a:p>
            <a:r>
              <a:rPr lang="en-US" sz="1800" dirty="0"/>
              <a:t>import </a:t>
            </a:r>
            <a:r>
              <a:rPr lang="en-US" sz="1800" dirty="0" err="1"/>
              <a:t>java.text.SimpleDateFormat</a:t>
            </a:r>
            <a:r>
              <a:rPr lang="en-US" sz="1800" dirty="0"/>
              <a:t>;  </a:t>
            </a:r>
          </a:p>
          <a:p>
            <a:r>
              <a:rPr lang="en-US" sz="1800" dirty="0"/>
              <a:t>import </a:t>
            </a:r>
            <a:r>
              <a:rPr lang="en-US" sz="1800" dirty="0" err="1"/>
              <a:t>java.util.Date</a:t>
            </a:r>
            <a:r>
              <a:rPr lang="en-US" sz="1800" dirty="0"/>
              <a:t>;  </a:t>
            </a:r>
          </a:p>
          <a:p>
            <a:r>
              <a:rPr lang="en-US" sz="1800" dirty="0"/>
              <a:t>public class </a:t>
            </a:r>
            <a:r>
              <a:rPr lang="en-US" sz="1800" dirty="0" err="1"/>
              <a:t>ParseExceptionExample</a:t>
            </a:r>
            <a:r>
              <a:rPr lang="en-US" sz="1800" dirty="0"/>
              <a:t> {  </a:t>
            </a:r>
          </a:p>
          <a:p>
            <a:r>
              <a:rPr lang="en-US" sz="1800" dirty="0"/>
              <a:t>    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{  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DateFormat</a:t>
            </a:r>
            <a:r>
              <a:rPr lang="en-US" sz="1800" dirty="0"/>
              <a:t> </a:t>
            </a:r>
            <a:r>
              <a:rPr lang="en-US" sz="1800" dirty="0" err="1"/>
              <a:t>dateFormat</a:t>
            </a:r>
            <a:r>
              <a:rPr lang="en-US" sz="1800" dirty="0"/>
              <a:t> = new </a:t>
            </a:r>
            <a:r>
              <a:rPr lang="en-US" sz="1800" dirty="0" err="1"/>
              <a:t>SimpleDateFormat</a:t>
            </a:r>
            <a:r>
              <a:rPr lang="en-US" sz="1800" dirty="0"/>
              <a:t>("</a:t>
            </a:r>
            <a:r>
              <a:rPr lang="en-US" sz="1800" dirty="0" err="1"/>
              <a:t>yyyy</a:t>
            </a:r>
            <a:r>
              <a:rPr lang="en-US" sz="1800" dirty="0"/>
              <a:t>-MM-dd");  </a:t>
            </a:r>
          </a:p>
          <a:p>
            <a:r>
              <a:rPr lang="en-US" sz="1800" dirty="0"/>
              <a:t>        String </a:t>
            </a:r>
            <a:r>
              <a:rPr lang="en-US" sz="1800" dirty="0" err="1"/>
              <a:t>invalidDate</a:t>
            </a:r>
            <a:r>
              <a:rPr lang="en-US" sz="1800" dirty="0"/>
              <a:t> = "2023-13-45";  </a:t>
            </a:r>
          </a:p>
          <a:p>
            <a:r>
              <a:rPr lang="en-US" sz="1800" dirty="0"/>
              <a:t>            Date </a:t>
            </a:r>
            <a:r>
              <a:rPr lang="en-US" sz="1800" dirty="0" err="1"/>
              <a:t>parsedDate</a:t>
            </a:r>
            <a:r>
              <a:rPr lang="en-US" sz="1800" dirty="0"/>
              <a:t> = </a:t>
            </a:r>
            <a:r>
              <a:rPr lang="en-US" sz="1800" dirty="0" err="1"/>
              <a:t>dateFormat.parse</a:t>
            </a:r>
            <a:r>
              <a:rPr lang="en-US" sz="1800" dirty="0"/>
              <a:t>(</a:t>
            </a:r>
            <a:r>
              <a:rPr lang="en-US" sz="1800" dirty="0" err="1"/>
              <a:t>invalidDate</a:t>
            </a:r>
            <a:r>
              <a:rPr lang="en-US" sz="1800" dirty="0"/>
              <a:t>);  </a:t>
            </a:r>
          </a:p>
          <a:p>
            <a:r>
              <a:rPr lang="en-US" sz="1800" dirty="0"/>
              <a:t>            </a:t>
            </a:r>
            <a:r>
              <a:rPr lang="en-US" sz="1800" dirty="0" err="1"/>
              <a:t>System.out.println</a:t>
            </a:r>
            <a:r>
              <a:rPr lang="en-US" sz="1800" dirty="0"/>
              <a:t>("Parsed date: " + </a:t>
            </a:r>
            <a:r>
              <a:rPr lang="en-US" sz="1800" dirty="0" err="1"/>
              <a:t>parsedDate</a:t>
            </a:r>
            <a:r>
              <a:rPr lang="en-US" sz="1800" dirty="0"/>
              <a:t>);  </a:t>
            </a:r>
          </a:p>
          <a:p>
            <a:r>
              <a:rPr lang="en-US" sz="1800" dirty="0"/>
              <a:t>    }  </a:t>
            </a:r>
          </a:p>
          <a:p>
            <a:r>
              <a:rPr lang="en-US" sz="1800" dirty="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FD1FC-5C8F-B6E4-AEE9-A5312153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580714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E2E9-BFC9-3DBA-08D5-2FD773C97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InterruptedException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A310-C63B-E6A6-4EC1-503092098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public class </a:t>
            </a:r>
            <a:r>
              <a:rPr lang="en-US" sz="2800" dirty="0" err="1"/>
              <a:t>InterruptedExceptionExample</a:t>
            </a:r>
            <a:r>
              <a:rPr lang="en-US" sz="2800" dirty="0"/>
              <a:t> {  </a:t>
            </a:r>
          </a:p>
          <a:p>
            <a:r>
              <a:rPr lang="en-US" sz="2800" dirty="0"/>
              <a:t>    public static void main(String[] </a:t>
            </a:r>
            <a:r>
              <a:rPr lang="en-US" sz="2800" dirty="0" err="1"/>
              <a:t>args</a:t>
            </a:r>
            <a:r>
              <a:rPr lang="en-US" sz="2800" dirty="0"/>
              <a:t>) {</a:t>
            </a:r>
          </a:p>
          <a:p>
            <a:r>
              <a:rPr lang="en-US" sz="2800" dirty="0" err="1"/>
              <a:t>Thread.sleep</a:t>
            </a:r>
            <a:r>
              <a:rPr lang="en-US" sz="2800" dirty="0"/>
              <a:t>(5000); </a:t>
            </a:r>
          </a:p>
          <a:p>
            <a:r>
              <a:rPr lang="en-US" sz="2800" dirty="0"/>
              <a:t>    }  </a:t>
            </a:r>
          </a:p>
          <a:p>
            <a:r>
              <a:rPr lang="en-US" sz="2800" dirty="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7E479-D081-978D-2F2A-4688F743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44782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867D-3F2E-6B84-8C84-C95A28C0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MalformedURLException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57DCE-DCDC-C579-0DA1-E14F078D6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import </a:t>
            </a:r>
            <a:r>
              <a:rPr lang="en-US" sz="2000" dirty="0" err="1"/>
              <a:t>java.net.MalformedURLException</a:t>
            </a:r>
            <a:r>
              <a:rPr lang="en-US" sz="2000" dirty="0"/>
              <a:t>;  </a:t>
            </a:r>
          </a:p>
          <a:p>
            <a:r>
              <a:rPr lang="en-US" sz="2000" dirty="0"/>
              <a:t>import </a:t>
            </a:r>
            <a:r>
              <a:rPr lang="en-US" sz="2000" dirty="0" err="1"/>
              <a:t>java.net.URL</a:t>
            </a:r>
            <a:r>
              <a:rPr lang="en-US" sz="2000" dirty="0"/>
              <a:t>;  </a:t>
            </a:r>
          </a:p>
          <a:p>
            <a:r>
              <a:rPr lang="en-US" sz="2000" dirty="0"/>
              <a:t>public class </a:t>
            </a:r>
            <a:r>
              <a:rPr lang="en-US" sz="2000" dirty="0" err="1"/>
              <a:t>MalformedURLExceptionExample</a:t>
            </a:r>
            <a:r>
              <a:rPr lang="en-US" sz="2000" dirty="0"/>
              <a:t> {  </a:t>
            </a:r>
          </a:p>
          <a:p>
            <a:r>
              <a:rPr lang="en-US" sz="2000" dirty="0"/>
              <a:t>  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  </a:t>
            </a:r>
          </a:p>
          <a:p>
            <a:r>
              <a:rPr lang="en-US" sz="2000" dirty="0"/>
              <a:t>        String </a:t>
            </a:r>
            <a:r>
              <a:rPr lang="en-US" sz="2000" dirty="0" err="1"/>
              <a:t>invalidURL</a:t>
            </a:r>
            <a:r>
              <a:rPr lang="en-US" sz="2000" dirty="0"/>
              <a:t> = "</a:t>
            </a:r>
            <a:r>
              <a:rPr lang="en-US" sz="2000" dirty="0" err="1"/>
              <a:t>htp</a:t>
            </a:r>
            <a:r>
              <a:rPr lang="en-US" sz="2000" dirty="0"/>
              <a:t>://</a:t>
            </a:r>
            <a:r>
              <a:rPr lang="en-US" sz="2000" dirty="0" err="1"/>
              <a:t>example.com</a:t>
            </a:r>
            <a:r>
              <a:rPr lang="en-US" sz="2000" dirty="0"/>
              <a:t>";  </a:t>
            </a:r>
          </a:p>
          <a:p>
            <a:r>
              <a:rPr lang="en-US" sz="2000" dirty="0"/>
              <a:t>            URL </a:t>
            </a:r>
            <a:r>
              <a:rPr lang="en-US" sz="2000" dirty="0" err="1"/>
              <a:t>url</a:t>
            </a:r>
            <a:r>
              <a:rPr lang="en-US" sz="2000" dirty="0"/>
              <a:t> = new URL(</a:t>
            </a:r>
            <a:r>
              <a:rPr lang="en-US" sz="2000" dirty="0" err="1"/>
              <a:t>invalidURL</a:t>
            </a:r>
            <a:r>
              <a:rPr lang="en-US" sz="2000" dirty="0"/>
              <a:t>);  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("Valid URL: " + </a:t>
            </a:r>
            <a:r>
              <a:rPr lang="en-US" sz="2000" dirty="0" err="1"/>
              <a:t>url.toString</a:t>
            </a:r>
            <a:r>
              <a:rPr lang="en-US" sz="2000" dirty="0"/>
              <a:t>());  </a:t>
            </a:r>
          </a:p>
          <a:p>
            <a:r>
              <a:rPr lang="en-US" sz="2000" dirty="0"/>
              <a:t>    } </a:t>
            </a:r>
          </a:p>
          <a:p>
            <a:r>
              <a:rPr lang="en-US" sz="2000" dirty="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DE478-5036-03F3-326B-A4E8DC0DE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264363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6104-0D64-4F77-8716-BD9F4833E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E078-857B-B710-D174-3882B39A2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Calibri,Italic"/>
              </a:rPr>
              <a:t>import </a:t>
            </a:r>
            <a:r>
              <a:rPr lang="en-IN" sz="1800" dirty="0" err="1">
                <a:effectLst/>
                <a:latin typeface="Calibri,Italic"/>
              </a:rPr>
              <a:t>java.io</a:t>
            </a:r>
            <a:r>
              <a:rPr lang="en-IN" sz="1800" dirty="0">
                <a:effectLst/>
                <a:latin typeface="Calibri,Italic"/>
              </a:rPr>
              <a:t>.*;</a:t>
            </a:r>
            <a:br>
              <a:rPr lang="en-IN" sz="1800" dirty="0">
                <a:effectLst/>
                <a:latin typeface="Calibri,Italic"/>
              </a:rPr>
            </a:br>
            <a:r>
              <a:rPr lang="en-IN" sz="1800" dirty="0">
                <a:effectLst/>
                <a:latin typeface="Calibri,Italic"/>
              </a:rPr>
              <a:t>class Test</a:t>
            </a:r>
            <a:br>
              <a:rPr lang="en-IN" sz="1800" dirty="0">
                <a:effectLst/>
                <a:latin typeface="Calibri,Italic"/>
              </a:rPr>
            </a:br>
            <a:r>
              <a:rPr lang="en-IN" sz="1800" dirty="0">
                <a:effectLst/>
                <a:latin typeface="Calibri,Italic"/>
              </a:rPr>
              <a:t>{ public static void main(String[] </a:t>
            </a:r>
            <a:r>
              <a:rPr lang="en-IN" sz="1800" dirty="0" err="1">
                <a:effectLst/>
                <a:latin typeface="Calibri,Italic"/>
              </a:rPr>
              <a:t>args</a:t>
            </a:r>
            <a:r>
              <a:rPr lang="en-IN" sz="1800" dirty="0">
                <a:effectLst/>
                <a:latin typeface="Calibri,Italic"/>
              </a:rPr>
              <a:t>) </a:t>
            </a:r>
            <a:endParaRPr lang="en-IN" dirty="0"/>
          </a:p>
          <a:p>
            <a:r>
              <a:rPr lang="en-IN" sz="1800" dirty="0">
                <a:effectLst/>
                <a:latin typeface="Calibri,Italic"/>
              </a:rPr>
              <a:t>{ File f = new File("</a:t>
            </a:r>
            <a:r>
              <a:rPr lang="en-IN" sz="1800" dirty="0" err="1">
                <a:effectLst/>
                <a:latin typeface="Calibri,Italic"/>
              </a:rPr>
              <a:t>abc.txt</a:t>
            </a:r>
            <a:r>
              <a:rPr lang="en-IN" sz="1800" dirty="0">
                <a:effectLst/>
                <a:latin typeface="Calibri,Italic"/>
              </a:rPr>
              <a:t>"); </a:t>
            </a:r>
            <a:r>
              <a:rPr lang="en-IN" sz="1800" dirty="0" err="1">
                <a:effectLst/>
                <a:latin typeface="Calibri,Italic"/>
              </a:rPr>
              <a:t>FileReader</a:t>
            </a:r>
            <a:r>
              <a:rPr lang="en-IN" sz="1800" dirty="0">
                <a:effectLst/>
                <a:latin typeface="Calibri,Italic"/>
              </a:rPr>
              <a:t> </a:t>
            </a:r>
            <a:r>
              <a:rPr lang="en-IN" sz="1800" dirty="0" err="1">
                <a:effectLst/>
                <a:latin typeface="Calibri,Italic"/>
              </a:rPr>
              <a:t>fr</a:t>
            </a:r>
            <a:r>
              <a:rPr lang="en-IN" sz="1800" dirty="0">
                <a:effectLst/>
                <a:latin typeface="Calibri,Italic"/>
              </a:rPr>
              <a:t> = new </a:t>
            </a:r>
            <a:r>
              <a:rPr lang="en-IN" sz="1800" dirty="0" err="1">
                <a:effectLst/>
                <a:latin typeface="Calibri,Italic"/>
              </a:rPr>
              <a:t>FileReader</a:t>
            </a:r>
            <a:r>
              <a:rPr lang="en-IN" sz="1800" dirty="0">
                <a:effectLst/>
                <a:latin typeface="Calibri,Italic"/>
              </a:rPr>
              <a:t>(f); </a:t>
            </a:r>
            <a:endParaRPr lang="en-IN" dirty="0"/>
          </a:p>
          <a:p>
            <a:r>
              <a:rPr lang="en-IN" sz="1800" dirty="0">
                <a:effectLst/>
                <a:latin typeface="Calibri,Italic"/>
              </a:rPr>
              <a:t>} } </a:t>
            </a:r>
            <a:endParaRPr lang="en-IN" dirty="0"/>
          </a:p>
          <a:p>
            <a:r>
              <a:rPr lang="en-IN" sz="1800" dirty="0">
                <a:effectLst/>
                <a:latin typeface="Calibri,Italic"/>
              </a:rPr>
              <a:t>If you are trying to compile the above compilation the compiler will show the compilation error. </a:t>
            </a:r>
            <a:endParaRPr lang="en-IN" dirty="0"/>
          </a:p>
          <a:p>
            <a:endParaRPr lang="en-IN" sz="1800" dirty="0">
              <a:effectLst/>
              <a:latin typeface="Calibri,BoldItalic"/>
            </a:endParaRPr>
          </a:p>
          <a:p>
            <a:r>
              <a:rPr lang="en-IN" sz="1800" dirty="0">
                <a:latin typeface="Calibri,BoldItalic"/>
              </a:rPr>
              <a:t>C</a:t>
            </a:r>
            <a:r>
              <a:rPr lang="en-IN" sz="1800" dirty="0">
                <a:effectLst/>
                <a:latin typeface="Calibri,BoldItalic"/>
              </a:rPr>
              <a:t>:\&gt;</a:t>
            </a:r>
            <a:r>
              <a:rPr lang="en-IN" sz="1800" dirty="0" err="1">
                <a:effectLst/>
                <a:latin typeface="Calibri,BoldItalic"/>
              </a:rPr>
              <a:t>javac</a:t>
            </a:r>
            <a:r>
              <a:rPr lang="en-IN" sz="1800" dirty="0">
                <a:effectLst/>
                <a:latin typeface="Calibri,BoldItalic"/>
              </a:rPr>
              <a:t> </a:t>
            </a:r>
            <a:r>
              <a:rPr lang="en-IN" sz="1800" dirty="0" err="1">
                <a:effectLst/>
                <a:latin typeface="Calibri,BoldItalic"/>
              </a:rPr>
              <a:t>Test.java</a:t>
            </a:r>
            <a:br>
              <a:rPr lang="en-IN" sz="1800" dirty="0">
                <a:effectLst/>
                <a:latin typeface="Calibri,BoldItalic"/>
              </a:rPr>
            </a:br>
            <a:r>
              <a:rPr lang="en-IN" sz="1800" dirty="0">
                <a:effectLst/>
                <a:latin typeface="Calibri,BoldItalic"/>
              </a:rPr>
              <a:t>Test.java:5: error: unreported exception </a:t>
            </a:r>
            <a:r>
              <a:rPr lang="en-IN" sz="1800" dirty="0" err="1">
                <a:effectLst/>
                <a:latin typeface="Calibri,BoldItalic"/>
              </a:rPr>
              <a:t>FileNotFoundException</a:t>
            </a:r>
            <a:r>
              <a:rPr lang="en-IN" sz="1800" dirty="0">
                <a:effectLst/>
                <a:latin typeface="Calibri,BoldItalic"/>
              </a:rPr>
              <a:t>; must be caught or declared to be thrown </a:t>
            </a:r>
            <a:endParaRPr lang="en-IN" dirty="0"/>
          </a:p>
          <a:p>
            <a:r>
              <a:rPr lang="en-IN" sz="1800" dirty="0" err="1">
                <a:effectLst/>
                <a:latin typeface="Calibri,BoldItalic"/>
              </a:rPr>
              <a:t>FileReader</a:t>
            </a:r>
            <a:r>
              <a:rPr lang="en-IN" sz="1800" dirty="0">
                <a:effectLst/>
                <a:latin typeface="Calibri,BoldItalic"/>
              </a:rPr>
              <a:t> </a:t>
            </a:r>
            <a:r>
              <a:rPr lang="en-IN" sz="1800" dirty="0" err="1">
                <a:effectLst/>
                <a:latin typeface="Calibri,BoldItalic"/>
              </a:rPr>
              <a:t>fr</a:t>
            </a:r>
            <a:r>
              <a:rPr lang="en-IN" sz="1800" dirty="0">
                <a:effectLst/>
                <a:latin typeface="Calibri,BoldItalic"/>
              </a:rPr>
              <a:t> = new </a:t>
            </a:r>
            <a:r>
              <a:rPr lang="en-IN" sz="1800" dirty="0" err="1">
                <a:effectLst/>
                <a:latin typeface="Calibri,BoldItalic"/>
              </a:rPr>
              <a:t>FileReader</a:t>
            </a:r>
            <a:r>
              <a:rPr lang="en-IN" sz="1800" dirty="0">
                <a:effectLst/>
                <a:latin typeface="Calibri,BoldItalic"/>
              </a:rPr>
              <a:t>(f);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6C635-F1C9-7673-7789-13134B4DB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480707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6C23-7B63-DC68-B8BE-1C762870F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Baskerville Old Face" panose="02020602080505020303" pitchFamily="18" charset="77"/>
              </a:rPr>
              <a:t>Unchecked 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95BC3-E960-453C-7CBB-5C5181436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The exceptions which are </a:t>
            </a:r>
            <a:r>
              <a:rPr lang="en-IN" sz="2400" b="1" dirty="0">
                <a:effectLst/>
                <a:latin typeface="Calibri,Italic"/>
              </a:rPr>
              <a:t>not checked by the compiler</a:t>
            </a:r>
            <a:r>
              <a:rPr lang="en-IN" sz="2400" dirty="0">
                <a:effectLst/>
                <a:latin typeface="Calibri,Italic"/>
              </a:rPr>
              <a:t> at the time of compilation are called unchecked Exception. </a:t>
            </a:r>
            <a:endParaRPr lang="en-IN" sz="4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,Italic"/>
              </a:rPr>
              <a:t>ArithmeticException,ArrayIndexOutOfBoundsException,NumberFormatException....etc </a:t>
            </a:r>
            <a:endParaRPr lang="en-IN" sz="40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If the application contains un-checked Exception then the code is compiled but at runtime JVM (Default Exception handler) display exception message then program terminated abnormally. </a:t>
            </a:r>
            <a:endParaRPr lang="en-IN" sz="4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To overcome runtime problem must handle the exception in two ways. </a:t>
            </a:r>
            <a:endParaRPr lang="en-IN" sz="4000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en-IN" sz="2400" dirty="0">
                <a:effectLst/>
                <a:latin typeface="Calibri,Italic"/>
              </a:rPr>
              <a:t>By using try-catch blocks.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effectLst/>
                <a:latin typeface="Calibri,Italic"/>
              </a:rPr>
              <a:t>By using throws keyword. </a:t>
            </a:r>
            <a:endParaRPr lang="en-IN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A51EF-DA00-1D27-D34C-8E445B5A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719388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DFB9-0BA1-B9F2-E7B6-A9D270469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200D1-CACC-4370-49FB-E8374F058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effectLst/>
                <a:latin typeface="Calibri,Italic"/>
              </a:rPr>
              <a:t>class Test</a:t>
            </a:r>
            <a:br>
              <a:rPr lang="en-IN" sz="2000" dirty="0">
                <a:effectLst/>
                <a:latin typeface="Calibri,Italic"/>
              </a:rPr>
            </a:br>
            <a:r>
              <a:rPr lang="en-IN" sz="2000" dirty="0">
                <a:effectLst/>
                <a:latin typeface="Calibri,Italic"/>
              </a:rPr>
              <a:t>{ public static void main(String[] </a:t>
            </a:r>
            <a:r>
              <a:rPr lang="en-IN" sz="2000" dirty="0" err="1">
                <a:effectLst/>
                <a:latin typeface="Calibri,Italic"/>
              </a:rPr>
              <a:t>args</a:t>
            </a:r>
            <a:r>
              <a:rPr lang="en-IN" sz="2000" dirty="0">
                <a:effectLst/>
                <a:latin typeface="Calibri,Italic"/>
              </a:rPr>
              <a:t>) </a:t>
            </a:r>
            <a:endParaRPr lang="en-IN" sz="3600" dirty="0"/>
          </a:p>
          <a:p>
            <a:r>
              <a:rPr lang="en-IN" sz="2000" dirty="0">
                <a:effectLst/>
                <a:latin typeface="Calibri,Italic"/>
              </a:rPr>
              <a:t>{ int[] a ={10,20,30}; </a:t>
            </a:r>
            <a:r>
              <a:rPr lang="en-IN" sz="2000" dirty="0" err="1">
                <a:effectLst/>
                <a:latin typeface="Calibri,Italic"/>
              </a:rPr>
              <a:t>System.out.println</a:t>
            </a:r>
            <a:r>
              <a:rPr lang="en-IN" sz="2000" dirty="0">
                <a:effectLst/>
                <a:latin typeface="Calibri,Italic"/>
              </a:rPr>
              <a:t>(a[6]); </a:t>
            </a:r>
            <a:endParaRPr lang="en-IN" sz="3600" dirty="0"/>
          </a:p>
          <a:p>
            <a:r>
              <a:rPr lang="en-IN" sz="2000" dirty="0">
                <a:effectLst/>
                <a:latin typeface="Calibri,Italic"/>
              </a:rPr>
              <a:t>} } </a:t>
            </a:r>
            <a:endParaRPr lang="en-IN" sz="3600" dirty="0"/>
          </a:p>
          <a:p>
            <a:r>
              <a:rPr lang="en-IN" sz="2000" dirty="0">
                <a:latin typeface="Calibri,Italic"/>
              </a:rPr>
              <a:t>C</a:t>
            </a:r>
            <a:r>
              <a:rPr lang="en-IN" sz="2000" dirty="0">
                <a:effectLst/>
                <a:latin typeface="Calibri,Italic"/>
              </a:rPr>
              <a:t>:\&gt;java Test</a:t>
            </a:r>
            <a:br>
              <a:rPr lang="en-IN" sz="2000" dirty="0">
                <a:effectLst/>
                <a:latin typeface="Calibri,Italic"/>
              </a:rPr>
            </a:br>
            <a:r>
              <a:rPr lang="en-IN" sz="2000" dirty="0">
                <a:effectLst/>
                <a:latin typeface="Calibri,Italic"/>
              </a:rPr>
              <a:t>Exception in thread "main" </a:t>
            </a:r>
            <a:r>
              <a:rPr lang="en-IN" sz="2000" dirty="0" err="1">
                <a:effectLst/>
                <a:latin typeface="Calibri,Italic"/>
              </a:rPr>
              <a:t>java.lang.ArrayIndexOutOfBoundsException</a:t>
            </a:r>
            <a:r>
              <a:rPr lang="en-IN" sz="2000" dirty="0">
                <a:effectLst/>
                <a:latin typeface="Calibri,Italic"/>
              </a:rPr>
              <a:t>: 6 </a:t>
            </a:r>
            <a:endParaRPr lang="en-IN" sz="3600" dirty="0"/>
          </a:p>
          <a:p>
            <a:endParaRPr lang="en-IN" sz="2000" b="1" dirty="0">
              <a:effectLst/>
              <a:latin typeface="Calibri,BoldItalic"/>
            </a:endParaRPr>
          </a:p>
          <a:p>
            <a:r>
              <a:rPr lang="en-IN" sz="2000" b="1" dirty="0">
                <a:effectLst/>
                <a:latin typeface="Calibri,BoldItalic"/>
              </a:rPr>
              <a:t>Note-1</a:t>
            </a:r>
            <a:r>
              <a:rPr lang="en-IN" sz="2000" dirty="0">
                <a:effectLst/>
                <a:latin typeface="Calibri,BoldItalic"/>
              </a:rPr>
              <a:t>:- </a:t>
            </a:r>
            <a:r>
              <a:rPr lang="en-IN" sz="2000" dirty="0">
                <a:effectLst/>
                <a:latin typeface="Calibri,Italic"/>
              </a:rPr>
              <a:t>Whether it is a checked Exception or unchecked exception, exceptions are raised at runtime but not compile time. </a:t>
            </a:r>
            <a:endParaRPr lang="en-IN" sz="3600" dirty="0"/>
          </a:p>
          <a:p>
            <a:r>
              <a:rPr lang="en-IN" sz="2000" b="1" dirty="0">
                <a:effectLst/>
                <a:latin typeface="Calibri,BoldItalic"/>
              </a:rPr>
              <a:t>Note-2</a:t>
            </a:r>
            <a:r>
              <a:rPr lang="en-IN" sz="2000" dirty="0">
                <a:effectLst/>
                <a:latin typeface="Calibri,BoldItalic"/>
              </a:rPr>
              <a:t>:- </a:t>
            </a:r>
            <a:r>
              <a:rPr lang="en-IN" sz="2000" dirty="0">
                <a:effectLst/>
                <a:latin typeface="Calibri,Italic"/>
              </a:rPr>
              <a:t>In java whether it is a checked Exception or unchecked Exception must handle the Exception by using try-catch blocks or throws keyword to get normal termination of application &amp; to execute rest of the application. </a:t>
            </a:r>
            <a:endParaRPr lang="en-IN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80D-C3E1-10CA-6F00-DD9A2EF0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199868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7ED30-8553-BDFF-4496-A63DFBBF2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Bookman Old Style,BoldItalic"/>
              </a:rPr>
              <a:t>Exception vs Error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39875-09B8-EC45-AB65-4313A5111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effectLst/>
                <a:latin typeface="Calibri,Italic"/>
              </a:rPr>
              <a:t>The exception are occurred due to several reasons </a:t>
            </a:r>
          </a:p>
          <a:p>
            <a:pPr marL="457200" lvl="1" indent="0">
              <a:buNone/>
            </a:pPr>
            <a:r>
              <a:rPr lang="en-IN" sz="1800" dirty="0">
                <a:effectLst/>
                <a:latin typeface="Calibri,Italic"/>
              </a:rPr>
              <a:t>a. Developer mistakes </a:t>
            </a:r>
            <a:endParaRPr lang="en-IN" sz="3600" dirty="0"/>
          </a:p>
          <a:p>
            <a:pPr marL="457200" lvl="1" indent="0">
              <a:buNone/>
            </a:pPr>
            <a:r>
              <a:rPr lang="en-IN" sz="1800" dirty="0">
                <a:effectLst/>
                <a:latin typeface="Calibri,Italic"/>
              </a:rPr>
              <a:t>b. End-user input mistakes. </a:t>
            </a:r>
          </a:p>
          <a:p>
            <a:pPr marL="457200" lvl="1" indent="0">
              <a:buNone/>
            </a:pPr>
            <a:r>
              <a:rPr lang="en-IN" sz="1800" dirty="0">
                <a:effectLst/>
                <a:latin typeface="Calibri,Italic"/>
              </a:rPr>
              <a:t>c. Resource is not available </a:t>
            </a:r>
          </a:p>
          <a:p>
            <a:pPr marL="457200" lvl="1" indent="0">
              <a:buNone/>
            </a:pPr>
            <a:r>
              <a:rPr lang="en-IN" sz="1800" dirty="0">
                <a:effectLst/>
                <a:latin typeface="Calibri,Italic"/>
              </a:rPr>
              <a:t>d. Networking problems. </a:t>
            </a:r>
            <a:endParaRPr lang="en-IN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Exceptions are caused to several reasons like developer mistakes, end user input mistakes, network problems. But error is caused due to lack of system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Example: - </a:t>
            </a:r>
            <a:r>
              <a:rPr lang="en-IN" sz="2400" dirty="0" err="1">
                <a:effectLst/>
                <a:latin typeface="Calibri,Italic"/>
              </a:rPr>
              <a:t>StackOverFlowError</a:t>
            </a:r>
            <a:r>
              <a:rPr lang="en-IN" sz="2400" dirty="0">
                <a:effectLst/>
                <a:latin typeface="Calibri,Italic"/>
              </a:rPr>
              <a:t>, </a:t>
            </a:r>
            <a:r>
              <a:rPr lang="en-IN" sz="2400" dirty="0" err="1">
                <a:effectLst/>
                <a:latin typeface="Calibri,Italic"/>
              </a:rPr>
              <a:t>OutOfMemoryError</a:t>
            </a:r>
            <a:r>
              <a:rPr lang="en-IN" sz="2400" dirty="0">
                <a:effectLst/>
                <a:latin typeface="Calibri,Italic"/>
              </a:rPr>
              <a:t>, </a:t>
            </a:r>
            <a:r>
              <a:rPr lang="en-IN" sz="2400" dirty="0" err="1">
                <a:effectLst/>
                <a:latin typeface="Calibri,Italic"/>
              </a:rPr>
              <a:t>AssertionError</a:t>
            </a:r>
            <a:r>
              <a:rPr lang="en-IN" sz="2400" dirty="0">
                <a:effectLst/>
                <a:latin typeface="Calibri,Italic"/>
              </a:rPr>
              <a:t>............etc </a:t>
            </a:r>
            <a:endParaRPr lang="en-IN" sz="4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It is possible to handle the exceptions by using try-catch blocks or throws keyword but it is not possible to handle the errors. </a:t>
            </a:r>
            <a:endParaRPr lang="en-IN" sz="4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,Italic"/>
              </a:rPr>
              <a:t>Error is an un-checked type exception. </a:t>
            </a:r>
            <a:endParaRPr lang="en-IN" sz="4000" dirty="0">
              <a:effectLst/>
            </a:endParaRPr>
          </a:p>
          <a:p>
            <a:endParaRPr lang="en-US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8DA39-0272-50A5-4D2B-1FECE96D2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815394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4A111-70F5-61B3-DA86-32D46E1E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870FB-0309-F9E3-4F4C-C07229B78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,BoldItalic"/>
              </a:rPr>
              <a:t>Example:- </a:t>
            </a:r>
            <a:endParaRPr lang="en-IN" sz="36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,Italic"/>
              </a:rPr>
              <a:t>class Test </a:t>
            </a:r>
            <a:endParaRPr lang="en-IN" sz="3600" dirty="0">
              <a:effectLst/>
            </a:endParaRPr>
          </a:p>
          <a:p>
            <a:r>
              <a:rPr lang="en-IN" sz="2000" dirty="0">
                <a:effectLst/>
                <a:latin typeface="Calibri,Italic"/>
              </a:rPr>
              <a:t>{ public static void main(String[] </a:t>
            </a:r>
            <a:r>
              <a:rPr lang="en-IN" sz="2000" dirty="0" err="1">
                <a:effectLst/>
                <a:latin typeface="Calibri,Italic"/>
              </a:rPr>
              <a:t>args</a:t>
            </a:r>
            <a:r>
              <a:rPr lang="en-IN" sz="2000" dirty="0">
                <a:effectLst/>
                <a:latin typeface="Calibri,Italic"/>
              </a:rPr>
              <a:t>) </a:t>
            </a:r>
            <a:endParaRPr lang="en-IN" sz="3600" dirty="0"/>
          </a:p>
          <a:p>
            <a:r>
              <a:rPr lang="en-IN" sz="2000" dirty="0">
                <a:effectLst/>
                <a:latin typeface="Calibri,Italic"/>
              </a:rPr>
              <a:t>{ Test[] t = new Test[100000000]; </a:t>
            </a:r>
            <a:endParaRPr lang="en-IN" sz="3600" dirty="0"/>
          </a:p>
          <a:p>
            <a:r>
              <a:rPr lang="en-IN" sz="2000" dirty="0">
                <a:effectLst/>
                <a:latin typeface="Calibri,Italic"/>
              </a:rPr>
              <a:t>} }; </a:t>
            </a:r>
            <a:endParaRPr lang="en-IN" sz="3600" dirty="0"/>
          </a:p>
          <a:p>
            <a:r>
              <a:rPr lang="en-IN" sz="2000" dirty="0">
                <a:effectLst/>
                <a:latin typeface="Calibri,BoldItalic"/>
              </a:rPr>
              <a:t>Exception in thread "main" </a:t>
            </a:r>
            <a:r>
              <a:rPr lang="en-IN" sz="2000" dirty="0" err="1">
                <a:effectLst/>
                <a:latin typeface="Calibri,BoldItalic"/>
              </a:rPr>
              <a:t>java.lang.OutOfMemoryError</a:t>
            </a:r>
            <a:r>
              <a:rPr lang="en-IN" sz="2000" dirty="0">
                <a:effectLst/>
                <a:latin typeface="Calibri,BoldItalic"/>
              </a:rPr>
              <a:t>: Java heap space </a:t>
            </a:r>
            <a:endParaRPr lang="en-IN" sz="3600" dirty="0"/>
          </a:p>
          <a:p>
            <a:endParaRPr lang="en-IN" sz="2000" dirty="0">
              <a:effectLst/>
              <a:latin typeface="Calibri,Italic"/>
            </a:endParaRPr>
          </a:p>
          <a:p>
            <a:r>
              <a:rPr lang="en-IN" sz="2000" dirty="0">
                <a:effectLst/>
                <a:latin typeface="Calibri,Italic"/>
              </a:rPr>
              <a:t>In tree Structure </a:t>
            </a:r>
            <a:r>
              <a:rPr lang="en-IN" sz="2000" b="1" dirty="0" err="1">
                <a:effectLst/>
                <a:latin typeface="Calibri,Italic"/>
              </a:rPr>
              <a:t>RuntimeException</a:t>
            </a:r>
            <a:r>
              <a:rPr lang="en-IN" sz="2000" b="1" dirty="0">
                <a:effectLst/>
                <a:latin typeface="Calibri,Italic"/>
              </a:rPr>
              <a:t> its child classes </a:t>
            </a:r>
            <a:r>
              <a:rPr lang="en-IN" sz="2000" dirty="0">
                <a:effectLst/>
                <a:latin typeface="Calibri,Italic"/>
              </a:rPr>
              <a:t>&amp; </a:t>
            </a:r>
            <a:r>
              <a:rPr lang="en-IN" sz="2000" b="1" dirty="0">
                <a:effectLst/>
                <a:latin typeface="Calibri,Italic"/>
              </a:rPr>
              <a:t>Error its child classes </a:t>
            </a:r>
            <a:r>
              <a:rPr lang="en-IN" sz="2000" dirty="0">
                <a:effectLst/>
                <a:latin typeface="Calibri,Italic"/>
              </a:rPr>
              <a:t>are </a:t>
            </a:r>
            <a:r>
              <a:rPr lang="en-IN" sz="2000" b="1" dirty="0">
                <a:effectLst/>
                <a:latin typeface="Calibri,Italic"/>
              </a:rPr>
              <a:t>Unchecked</a:t>
            </a:r>
            <a:r>
              <a:rPr lang="en-IN" sz="2000" dirty="0">
                <a:effectLst/>
                <a:latin typeface="Calibri,Italic"/>
              </a:rPr>
              <a:t> Exception remaining all exceptions are </a:t>
            </a:r>
            <a:r>
              <a:rPr lang="en-IN" sz="2000" b="1" dirty="0">
                <a:effectLst/>
                <a:latin typeface="Calibri,Italic"/>
              </a:rPr>
              <a:t>checked</a:t>
            </a:r>
            <a:r>
              <a:rPr lang="en-IN" sz="2000" dirty="0">
                <a:effectLst/>
                <a:latin typeface="Calibri,Italic"/>
              </a:rPr>
              <a:t> Exceptions. </a:t>
            </a:r>
            <a:endParaRPr lang="en-IN" sz="2000" dirty="0">
              <a:effectLst/>
              <a:latin typeface="Wingdings" pitchFamily="2" charset="2"/>
            </a:endParaRPr>
          </a:p>
          <a:p>
            <a:r>
              <a:rPr lang="en-IN" sz="2000" dirty="0">
                <a:effectLst/>
                <a:latin typeface="Calibri,Italic"/>
              </a:rPr>
              <a:t>The root class of exception handling is </a:t>
            </a:r>
            <a:r>
              <a:rPr lang="en-IN" sz="2000" dirty="0">
                <a:effectLst/>
                <a:latin typeface="Calibri,BoldItalic"/>
              </a:rPr>
              <a:t>Throwable </a:t>
            </a:r>
            <a:r>
              <a:rPr lang="en-IN" sz="2000" dirty="0">
                <a:effectLst/>
                <a:latin typeface="Calibri,Italic"/>
              </a:rPr>
              <a:t>class. </a:t>
            </a:r>
            <a:endParaRPr lang="en-IN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83C15-3F85-417D-8C8E-564BC3B75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961413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30245-0BCA-2CB1-238D-13FEEC1E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AF148-0880-A283-FED2-F17A5FEF4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DF9E8-C473-9191-83A4-C6E87C73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2049" name="Picture 1" descr="page186image51944144">
            <a:extLst>
              <a:ext uri="{FF2B5EF4-FFF2-40B4-BE49-F238E27FC236}">
                <a16:creationId xmlns:a16="http://schemas.microsoft.com/office/drawing/2014/main" id="{981D3C56-78BC-D8B4-0286-70A63622A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352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age186image51938528">
            <a:extLst>
              <a:ext uri="{FF2B5EF4-FFF2-40B4-BE49-F238E27FC236}">
                <a16:creationId xmlns:a16="http://schemas.microsoft.com/office/drawing/2014/main" id="{597809BA-7BD7-5A13-7F59-BE8F03BDF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7300"/>
            <a:ext cx="9178515" cy="40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319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50618-41AE-8493-8905-091A0BF6F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08A5-C967-FF6C-76F1-FED3936A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BD9F-B62B-8C62-EE3D-39C5B809A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7DAC7-D153-81A8-E459-674DA944E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2049" name="Picture 1" descr="page186image51944144">
            <a:extLst>
              <a:ext uri="{FF2B5EF4-FFF2-40B4-BE49-F238E27FC236}">
                <a16:creationId xmlns:a16="http://schemas.microsoft.com/office/drawing/2014/main" id="{13D58450-840A-BF72-28AA-2585D8622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352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page186image51940816">
            <a:extLst>
              <a:ext uri="{FF2B5EF4-FFF2-40B4-BE49-F238E27FC236}">
                <a16:creationId xmlns:a16="http://schemas.microsoft.com/office/drawing/2014/main" id="{E3377EB3-6744-D525-EBE5-E55809C06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8794922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664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C6D1-9A38-2D13-ABA5-7CF3B59C5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Calibri,BoldItalic"/>
              </a:rPr>
              <a:t>Fully Checked vs Partially </a:t>
            </a:r>
            <a:r>
              <a:rPr lang="en-IN" dirty="0">
                <a:latin typeface="Calibri,BoldItalic"/>
              </a:rPr>
              <a:t>C</a:t>
            </a:r>
            <a:r>
              <a:rPr lang="en-IN" sz="4400" dirty="0">
                <a:effectLst/>
                <a:latin typeface="Calibri,BoldItalic"/>
              </a:rPr>
              <a:t>hecked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9E73E-B553-0988-8FA0-004076A0D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effectLst/>
                <a:latin typeface="Calibri,Italic"/>
              </a:rPr>
              <a:t>The root class &amp; all its child class are checked then that root class is called </a:t>
            </a:r>
            <a:r>
              <a:rPr lang="en-IN" sz="2400" dirty="0">
                <a:effectLst/>
                <a:latin typeface="Calibri,BoldItalic"/>
              </a:rPr>
              <a:t>fully checked exception. </a:t>
            </a:r>
            <a:endParaRPr lang="en-IN" sz="4000" dirty="0"/>
          </a:p>
          <a:p>
            <a:r>
              <a:rPr lang="en-IN" sz="2400" dirty="0">
                <a:effectLst/>
                <a:latin typeface="Calibri,Italic"/>
              </a:rPr>
              <a:t>Example :- </a:t>
            </a:r>
            <a:r>
              <a:rPr lang="en-IN" sz="2400" dirty="0" err="1">
                <a:effectLst/>
                <a:latin typeface="Calibri,Italic"/>
              </a:rPr>
              <a:t>IOException,SQLException</a:t>
            </a:r>
            <a:r>
              <a:rPr lang="en-IN" sz="2400" dirty="0">
                <a:effectLst/>
                <a:latin typeface="Calibri,Italic"/>
              </a:rPr>
              <a:t>....etc</a:t>
            </a:r>
            <a:endParaRPr lang="en-IN" sz="2400" dirty="0">
              <a:latin typeface="Calibri,Italic"/>
            </a:endParaRPr>
          </a:p>
          <a:p>
            <a:r>
              <a:rPr lang="en-IN" sz="2400" dirty="0">
                <a:effectLst/>
                <a:latin typeface="Calibri,Italic"/>
              </a:rPr>
              <a:t>The root class contains some child classes are checked exceptions &amp; some child classes are un- </a:t>
            </a:r>
            <a:endParaRPr lang="en-IN" sz="4000" dirty="0"/>
          </a:p>
          <a:p>
            <a:r>
              <a:rPr lang="en-IN" sz="2400" dirty="0">
                <a:effectLst/>
                <a:latin typeface="Calibri,Italic"/>
              </a:rPr>
              <a:t>checked exception then that root class is called partially checked exception. Example :- Exception , </a:t>
            </a:r>
            <a:r>
              <a:rPr lang="en-IN" sz="2400" dirty="0" err="1">
                <a:effectLst/>
                <a:latin typeface="Calibri,Italic"/>
              </a:rPr>
              <a:t>Throwable..etc</a:t>
            </a:r>
            <a:r>
              <a:rPr lang="en-IN" sz="2400" dirty="0">
                <a:effectLst/>
                <a:latin typeface="Calibri,Italic"/>
              </a:rPr>
              <a:t> </a:t>
            </a:r>
            <a:endParaRPr lang="en-IN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A3C74-581B-2B96-0198-245441C0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526089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709A8-A55D-B275-371F-AE01D4E59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Calibri,BoldItalic"/>
              </a:rPr>
              <a:t>Exception handling key words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BA5DE-B27A-6D03-0E5E-D7BAAF835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effectLst/>
                <a:latin typeface="Calibri,Italic"/>
              </a:rPr>
              <a:t>1)  try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,Italic"/>
              </a:rPr>
              <a:t>2)  catch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,Italic"/>
              </a:rPr>
              <a:t>3)  finally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,Italic"/>
              </a:rPr>
              <a:t>4)  throw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,Italic"/>
              </a:rPr>
              <a:t>5)  throws </a:t>
            </a:r>
          </a:p>
          <a:p>
            <a:pPr marL="0" indent="0">
              <a:buNone/>
            </a:pPr>
            <a:endParaRPr lang="en-IN" sz="4000" dirty="0">
              <a:effectLst/>
            </a:endParaRPr>
          </a:p>
          <a:p>
            <a:r>
              <a:rPr lang="en-IN" sz="2400" b="1" dirty="0">
                <a:effectLst/>
                <a:latin typeface="Calibri,Italic"/>
              </a:rPr>
              <a:t>There are two ways to handle the exceptions in java. </a:t>
            </a:r>
            <a:endParaRPr lang="en-IN" sz="4000" b="1" dirty="0"/>
          </a:p>
          <a:p>
            <a:pPr marL="0" indent="0">
              <a:buNone/>
            </a:pPr>
            <a:r>
              <a:rPr lang="en-IN" sz="2400" dirty="0">
                <a:effectLst/>
                <a:latin typeface="Calibri,Italic"/>
              </a:rPr>
              <a:t>1)  By using try-catch block.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,Italic"/>
              </a:rPr>
              <a:t>2)  By using throws keyword. </a:t>
            </a:r>
            <a:endParaRPr lang="en-IN" sz="4000" dirty="0">
              <a:effectLst/>
            </a:endParaRPr>
          </a:p>
          <a:p>
            <a:endParaRPr lang="en-US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88B12-1C25-1EDA-A87D-2334D196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90992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D29B-7837-FF33-706C-D0C455B6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Bodoni MT,BoldItalic"/>
              </a:rPr>
              <a:t>Exception handling by using Try –catch blocks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61CF2-327C-8651-0477-9B09D5093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dirty="0">
                <a:effectLst/>
                <a:latin typeface="Calibri,BoldItalic"/>
              </a:rPr>
              <a:t>Syntax:- 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try</a:t>
            </a:r>
            <a:b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</a:b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{ 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exceptional code; </a:t>
            </a:r>
            <a:endParaRPr lang="en-IN" sz="4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}</a:t>
            </a:r>
            <a:b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</a:b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catch (</a:t>
            </a:r>
            <a:r>
              <a:rPr lang="en-IN" sz="2400" b="1" dirty="0" err="1">
                <a:solidFill>
                  <a:srgbClr val="00B050"/>
                </a:solidFill>
                <a:effectLst/>
                <a:latin typeface="Calibri,Italic"/>
              </a:rPr>
              <a:t>ExceptionName</a:t>
            </a: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 </a:t>
            </a:r>
            <a:r>
              <a:rPr lang="en-IN" sz="2400" b="1" dirty="0" err="1">
                <a:solidFill>
                  <a:srgbClr val="00B050"/>
                </a:solidFill>
                <a:effectLst/>
                <a:latin typeface="Calibri,Italic"/>
              </a:rPr>
              <a:t>reference_variable</a:t>
            </a: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)</a:t>
            </a:r>
            <a:b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</a:b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{ 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Code to run if an exception is raised (alternate code); 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  <a:effectLst/>
                <a:latin typeface="Calibri,Italic"/>
              </a:rPr>
              <a:t>} </a:t>
            </a:r>
            <a:endParaRPr lang="en-IN" sz="4000" b="1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1B020-A365-315B-8B78-DD997FC04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146759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3941-0344-75F3-7E03-BFD47E2B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Application without try-catch blocks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59279-C522-813A-E658-B21AF7B1A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class Test</a:t>
            </a:r>
          </a:p>
          <a:p>
            <a:r>
              <a:rPr lang="en-US" sz="1600" dirty="0"/>
              <a:t>{ 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</a:t>
            </a:r>
          </a:p>
          <a:p>
            <a:r>
              <a:rPr lang="en-US" sz="1600" dirty="0"/>
              <a:t>{ </a:t>
            </a:r>
            <a:r>
              <a:rPr lang="en-US" sz="1600" dirty="0" err="1"/>
              <a:t>System.out.println</a:t>
            </a:r>
            <a:r>
              <a:rPr lang="en-US" sz="1600" dirty="0"/>
              <a:t>("ratan"); </a:t>
            </a:r>
            <a:r>
              <a:rPr lang="en-US" sz="1600" dirty="0" err="1"/>
              <a:t>System.out.println</a:t>
            </a:r>
            <a:r>
              <a:rPr lang="en-US" sz="1600" dirty="0"/>
              <a:t>(10/0);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System.out.println</a:t>
            </a:r>
            <a:r>
              <a:rPr lang="en-US" sz="1600" dirty="0"/>
              <a:t>("rest of the application");</a:t>
            </a:r>
          </a:p>
          <a:p>
            <a:r>
              <a:rPr lang="en-US" sz="1600" dirty="0"/>
              <a:t>} }</a:t>
            </a:r>
          </a:p>
          <a:p>
            <a:r>
              <a:rPr lang="en-US" sz="1600" dirty="0"/>
              <a:t>C:\&gt;java Test</a:t>
            </a:r>
          </a:p>
          <a:p>
            <a:r>
              <a:rPr lang="en-US" sz="1600" dirty="0"/>
              <a:t>Exception in Thread “main” </a:t>
            </a:r>
            <a:r>
              <a:rPr lang="en-US" sz="1600" dirty="0" err="1"/>
              <a:t>java.lang.ArithmeticException</a:t>
            </a:r>
            <a:r>
              <a:rPr lang="en-US" sz="1600" dirty="0"/>
              <a:t>: / by zero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Handled by JVM                 type of the Exception.                 description</a:t>
            </a:r>
          </a:p>
          <a:p>
            <a:endParaRPr lang="en-US" sz="1600" dirty="0"/>
          </a:p>
          <a:p>
            <a:r>
              <a:rPr lang="en-US" sz="1600" dirty="0"/>
              <a:t>In above example exception raised program is terminated abnormally &amp; rest of the application is not executed.</a:t>
            </a:r>
          </a:p>
          <a:p>
            <a:r>
              <a:rPr lang="en-US" sz="1600" dirty="0"/>
              <a:t>Whenever the exception raised the default exception handler is responsible to handle the exception &amp; it is component of the JVM.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14B41-104F-F236-5BBF-A03E5531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9C5245A-CFA2-96AB-414A-2165FFE031EE}"/>
              </a:ext>
            </a:extLst>
          </p:cNvPr>
          <p:cNvSpPr/>
          <p:nvPr/>
        </p:nvSpPr>
        <p:spPr>
          <a:xfrm rot="16200000">
            <a:off x="1816100" y="2603500"/>
            <a:ext cx="546100" cy="2413000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90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DC3B10D8-0E28-29B8-DD89-87F201B64BF9}"/>
              </a:ext>
            </a:extLst>
          </p:cNvPr>
          <p:cNvSpPr/>
          <p:nvPr/>
        </p:nvSpPr>
        <p:spPr>
          <a:xfrm rot="16200000">
            <a:off x="4368801" y="2717800"/>
            <a:ext cx="546100" cy="2413000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900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E71AED0-3F00-5AF6-51A9-DD2441FC52B7}"/>
              </a:ext>
            </a:extLst>
          </p:cNvPr>
          <p:cNvSpPr/>
          <p:nvPr/>
        </p:nvSpPr>
        <p:spPr>
          <a:xfrm rot="16200000">
            <a:off x="6324600" y="3530600"/>
            <a:ext cx="546100" cy="647700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900"/>
          </a:p>
        </p:txBody>
      </p:sp>
    </p:spTree>
    <p:extLst>
      <p:ext uri="{BB962C8B-B14F-4D97-AF65-F5344CB8AC3E}">
        <p14:creationId xmlns:p14="http://schemas.microsoft.com/office/powerpoint/2010/main" val="3596165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A2FA-2B7F-BB55-2554-184A9931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Calibri,BoldItalic"/>
              </a:rPr>
              <a:t>Application with try-catch blocks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D8CE2-0D9F-3D2B-790F-6D69B2CA7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effectLst/>
                <a:latin typeface="Calibri,Italic"/>
              </a:rPr>
              <a:t>Whenever the exception is raised in the try block JVM won’t terminate the program immediately it will search corresponding catch block. </a:t>
            </a:r>
            <a:endParaRPr lang="en-IN" sz="3600" dirty="0"/>
          </a:p>
          <a:p>
            <a:pPr>
              <a:buFont typeface="+mj-lt"/>
              <a:buAutoNum type="arabicPeriod"/>
            </a:pPr>
            <a:r>
              <a:rPr lang="en-IN" sz="2000" dirty="0">
                <a:effectLst/>
                <a:latin typeface="Calibri,Italic"/>
              </a:rPr>
              <a:t>If the catch block is matched then that block will be executed &amp; rest of the application executed &amp; program is terminated normally.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effectLst/>
                <a:latin typeface="Calibri,Italic"/>
              </a:rPr>
              <a:t>If the catch block is not matched program is terminated abnormally. </a:t>
            </a:r>
          </a:p>
          <a:p>
            <a:r>
              <a:rPr lang="en-IN" sz="2000" dirty="0">
                <a:effectLst/>
                <a:latin typeface="Calibri,Italic"/>
              </a:rPr>
              <a:t>class Test </a:t>
            </a:r>
            <a:endParaRPr lang="en-IN" sz="3600" dirty="0"/>
          </a:p>
          <a:p>
            <a:r>
              <a:rPr lang="en-IN" sz="2000" dirty="0">
                <a:effectLst/>
                <a:latin typeface="Calibri,Italic"/>
              </a:rPr>
              <a:t>{ public static void main(String[] </a:t>
            </a:r>
            <a:r>
              <a:rPr lang="en-IN" sz="2000" dirty="0" err="1">
                <a:effectLst/>
                <a:latin typeface="Calibri,Italic"/>
              </a:rPr>
              <a:t>args</a:t>
            </a:r>
            <a:r>
              <a:rPr lang="en-IN" sz="2000" dirty="0">
                <a:effectLst/>
                <a:latin typeface="Calibri,Italic"/>
              </a:rPr>
              <a:t>) { </a:t>
            </a:r>
            <a:r>
              <a:rPr lang="en-IN" sz="2000" dirty="0" err="1">
                <a:effectLst/>
                <a:latin typeface="Calibri,Italic"/>
              </a:rPr>
              <a:t>System.out.println</a:t>
            </a:r>
            <a:r>
              <a:rPr lang="en-IN" sz="2000" dirty="0">
                <a:effectLst/>
                <a:latin typeface="Calibri,Italic"/>
              </a:rPr>
              <a:t>("ratan"); </a:t>
            </a:r>
            <a:endParaRPr lang="en-IN" sz="3600" dirty="0"/>
          </a:p>
          <a:p>
            <a:r>
              <a:rPr lang="en-IN" sz="2000" dirty="0">
                <a:effectLst/>
                <a:latin typeface="Calibri,Italic"/>
              </a:rPr>
              <a:t>try</a:t>
            </a:r>
            <a:br>
              <a:rPr lang="en-IN" sz="2000" dirty="0">
                <a:effectLst/>
                <a:latin typeface="Calibri,Italic"/>
              </a:rPr>
            </a:br>
            <a:r>
              <a:rPr lang="en-IN" sz="2000" dirty="0">
                <a:effectLst/>
                <a:latin typeface="Calibri,Italic"/>
              </a:rPr>
              <a:t>{ </a:t>
            </a:r>
            <a:r>
              <a:rPr lang="en-IN" sz="2000" dirty="0" err="1">
                <a:solidFill>
                  <a:srgbClr val="FF0000"/>
                </a:solidFill>
                <a:effectLst/>
                <a:latin typeface="Calibri,Italic"/>
              </a:rPr>
              <a:t>System.out.println</a:t>
            </a:r>
            <a:r>
              <a:rPr lang="en-IN" sz="2000" dirty="0">
                <a:solidFill>
                  <a:srgbClr val="FF0000"/>
                </a:solidFill>
                <a:effectLst/>
                <a:latin typeface="Calibri,Italic"/>
              </a:rPr>
              <a:t>(10/0);</a:t>
            </a:r>
            <a:br>
              <a:rPr lang="en-IN" sz="2000" dirty="0">
                <a:effectLst/>
                <a:latin typeface="Calibri,Italic"/>
              </a:rPr>
            </a:br>
            <a:r>
              <a:rPr lang="en-IN" sz="2000" dirty="0">
                <a:effectLst/>
                <a:latin typeface="Calibri,Italic"/>
              </a:rPr>
              <a:t>}</a:t>
            </a:r>
            <a:br>
              <a:rPr lang="en-IN" sz="2000" dirty="0">
                <a:effectLst/>
                <a:latin typeface="Calibri,Italic"/>
              </a:rPr>
            </a:br>
            <a:r>
              <a:rPr lang="en-IN" sz="2000" dirty="0">
                <a:solidFill>
                  <a:srgbClr val="00B050"/>
                </a:solidFill>
                <a:effectLst/>
                <a:latin typeface="Calibri,Italic"/>
              </a:rPr>
              <a:t>catch (</a:t>
            </a:r>
            <a:r>
              <a:rPr lang="en-IN" sz="2000" dirty="0" err="1">
                <a:solidFill>
                  <a:srgbClr val="00B050"/>
                </a:solidFill>
                <a:effectLst/>
                <a:latin typeface="Calibri,Italic"/>
              </a:rPr>
              <a:t>ArithmeticException</a:t>
            </a:r>
            <a:r>
              <a:rPr lang="en-IN" sz="2000" dirty="0">
                <a:solidFill>
                  <a:srgbClr val="00B050"/>
                </a:solidFill>
                <a:effectLst/>
                <a:latin typeface="Calibri,Italic"/>
              </a:rPr>
              <a:t> ae)</a:t>
            </a:r>
            <a:br>
              <a:rPr lang="en-IN" sz="2000" dirty="0">
                <a:effectLst/>
                <a:latin typeface="Calibri,Italic"/>
              </a:rPr>
            </a:br>
            <a:r>
              <a:rPr lang="en-IN" sz="2000" dirty="0">
                <a:effectLst/>
                <a:latin typeface="Calibri,Italic"/>
              </a:rPr>
              <a:t>{ </a:t>
            </a:r>
            <a:r>
              <a:rPr lang="en-IN" sz="2000" dirty="0" err="1">
                <a:effectLst/>
                <a:latin typeface="Calibri,Italic"/>
              </a:rPr>
              <a:t>System.out.println</a:t>
            </a:r>
            <a:r>
              <a:rPr lang="en-IN" sz="2000" dirty="0">
                <a:effectLst/>
                <a:latin typeface="Calibri,Italic"/>
              </a:rPr>
              <a:t>(10/2);</a:t>
            </a:r>
            <a:br>
              <a:rPr lang="en-IN" sz="2000" dirty="0">
                <a:effectLst/>
                <a:latin typeface="Calibri,Italic"/>
              </a:rPr>
            </a:br>
            <a:r>
              <a:rPr lang="en-IN" sz="2000" dirty="0">
                <a:effectLst/>
                <a:latin typeface="Calibri,Italic"/>
              </a:rPr>
              <a:t>}</a:t>
            </a:r>
            <a:br>
              <a:rPr lang="en-IN" sz="2000" dirty="0">
                <a:effectLst/>
                <a:latin typeface="Calibri,Italic"/>
              </a:rPr>
            </a:br>
            <a:r>
              <a:rPr lang="en-IN" sz="2000" dirty="0" err="1">
                <a:effectLst/>
                <a:latin typeface="Calibri,Italic"/>
              </a:rPr>
              <a:t>System.out.println</a:t>
            </a:r>
            <a:r>
              <a:rPr lang="en-IN" sz="2000" dirty="0">
                <a:effectLst/>
                <a:latin typeface="Calibri,Italic"/>
              </a:rPr>
              <a:t>("rest of the application"); </a:t>
            </a:r>
            <a:endParaRPr lang="en-IN" sz="3600" dirty="0"/>
          </a:p>
          <a:p>
            <a:r>
              <a:rPr lang="en-IN" sz="2000" dirty="0">
                <a:effectLst/>
                <a:latin typeface="Calibri,Italic"/>
              </a:rPr>
              <a:t>} }</a:t>
            </a:r>
            <a:endParaRPr lang="en-US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6F14A-AEFB-18AD-696E-D7F5EA44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731868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E0C3B-4C1D-092A-9A10-F98192AF8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9812-CF61-39A8-D72C-481FCC54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Calibri,BoldItalic"/>
              </a:rPr>
              <a:t>Application with try-catch blocks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3FE53-EC5D-A1CC-D30A-E98F5BAEB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sz="1800" dirty="0">
                <a:effectLst/>
                <a:latin typeface="Calibri,Italic"/>
              </a:rPr>
              <a:t>E:\&gt;java Test</a:t>
            </a:r>
            <a:br>
              <a:rPr lang="en-IN" sz="1800" dirty="0">
                <a:effectLst/>
                <a:latin typeface="Calibri,Italic"/>
              </a:rPr>
            </a:br>
            <a:r>
              <a:rPr lang="en-IN" sz="1800" dirty="0">
                <a:effectLst/>
                <a:latin typeface="Calibri,Italic"/>
              </a:rPr>
              <a:t>ratan</a:t>
            </a:r>
            <a:br>
              <a:rPr lang="en-IN" sz="1800" dirty="0">
                <a:effectLst/>
                <a:latin typeface="Calibri,Italic"/>
              </a:rPr>
            </a:br>
            <a:r>
              <a:rPr lang="en-IN" sz="1800" dirty="0">
                <a:effectLst/>
                <a:latin typeface="Calibri,Italic"/>
              </a:rPr>
              <a:t>5</a:t>
            </a:r>
            <a:br>
              <a:rPr lang="en-IN" sz="1800" dirty="0">
                <a:effectLst/>
                <a:latin typeface="Calibri,Italic"/>
              </a:rPr>
            </a:br>
            <a:r>
              <a:rPr lang="en-IN" sz="1800" dirty="0">
                <a:effectLst/>
                <a:latin typeface="Calibri,Italic"/>
              </a:rPr>
              <a:t>rest of the application </a:t>
            </a:r>
            <a:endParaRPr lang="en-IN" dirty="0"/>
          </a:p>
          <a:p>
            <a:r>
              <a:rPr lang="en-IN" sz="1800" dirty="0">
                <a:effectLst/>
                <a:latin typeface="Calibri,BoldItalic"/>
              </a:rPr>
              <a:t>In above example we are handling exception by using try-catch block hence the program is terminated normally &amp; rest of the application is executed.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F758A-F69C-B745-34CE-92F7F12A3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358731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5F6C5-0D09-EEA9-EB1D-428870183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0937"/>
            <a:ext cx="8229600" cy="5873663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1.a Application without </a:t>
            </a:r>
            <a:r>
              <a:rPr lang="en-IN" sz="24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24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IN" sz="24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24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IN" sz="2400" b="1" dirty="0">
              <a:solidFill>
                <a:srgbClr val="7F0055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20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20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"ratan"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20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(10/0);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20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"rest of the application"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84BE4-26D7-0B15-8702-787BBBE3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196415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7BE06-6024-1C62-0553-108A3FD39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1041"/>
            <a:ext cx="8229600" cy="582355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1.b Whenever the exception is raised in the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JVM won’t terminate the program immediately it will search corresponding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a. If the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is matched then that block will be executed &amp; rest of the application executed &amp; program is terminated normally.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b. If the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is not matched program is terminated abnormally.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 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"ratan"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(10/0);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ArithmeticException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(10/2);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"rest of the application"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6569E-A095-0B76-3E29-1023B76A9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0724841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C073-F3B4-9BA5-812C-38B00B43F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63463"/>
            <a:ext cx="8229600" cy="5861137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1. catch block is not matched hence program is terminated abnormally. </a:t>
            </a:r>
          </a:p>
          <a:p>
            <a:r>
              <a:rPr lang="en-US" sz="1800" dirty="0"/>
              <a:t>class Test</a:t>
            </a:r>
          </a:p>
          <a:p>
            <a:r>
              <a:rPr lang="en-US" sz="1800" dirty="0"/>
              <a:t>{ 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</a:t>
            </a:r>
          </a:p>
          <a:p>
            <a:r>
              <a:rPr lang="en-US" sz="1800" dirty="0"/>
              <a:t>{ try</a:t>
            </a:r>
          </a:p>
          <a:p>
            <a:r>
              <a:rPr lang="en-US" sz="1800" dirty="0"/>
              <a:t>{ </a:t>
            </a:r>
            <a:r>
              <a:rPr lang="en-US" sz="1800" dirty="0" err="1"/>
              <a:t>System.out.println</a:t>
            </a:r>
            <a:r>
              <a:rPr lang="en-US" sz="1800" dirty="0"/>
              <a:t>("</a:t>
            </a:r>
            <a:r>
              <a:rPr lang="en-US" sz="1800" dirty="0" err="1"/>
              <a:t>sravya</a:t>
            </a:r>
            <a:r>
              <a:rPr lang="en-US" sz="1800" dirty="0"/>
              <a:t>");</a:t>
            </a:r>
          </a:p>
          <a:p>
            <a:r>
              <a:rPr lang="en-US" sz="1800" dirty="0"/>
              <a:t> } }</a:t>
            </a:r>
          </a:p>
          <a:p>
            <a:r>
              <a:rPr lang="en-US" sz="1800" dirty="0" err="1"/>
              <a:t>System.out.println</a:t>
            </a:r>
            <a:r>
              <a:rPr lang="en-US" sz="1800" dirty="0"/>
              <a:t>(10/0);</a:t>
            </a:r>
          </a:p>
          <a:p>
            <a:r>
              <a:rPr lang="en-US" sz="1800" dirty="0"/>
              <a:t>}</a:t>
            </a:r>
          </a:p>
          <a:p>
            <a:r>
              <a:rPr lang="en-US" sz="1800" dirty="0"/>
              <a:t>catch(</a:t>
            </a:r>
            <a:r>
              <a:rPr lang="en-US" sz="1800" dirty="0" err="1"/>
              <a:t>NullPointerException</a:t>
            </a:r>
            <a:r>
              <a:rPr lang="en-US" sz="1800" dirty="0"/>
              <a:t> e)</a:t>
            </a:r>
          </a:p>
          <a:p>
            <a:r>
              <a:rPr lang="en-US" sz="1800" dirty="0"/>
              <a:t>{ </a:t>
            </a:r>
            <a:r>
              <a:rPr lang="en-US" sz="1800" dirty="0" err="1"/>
              <a:t>System.out.println</a:t>
            </a:r>
            <a:r>
              <a:rPr lang="en-US" sz="1800" dirty="0"/>
              <a:t>(10/2);</a:t>
            </a:r>
          </a:p>
          <a:p>
            <a:r>
              <a:rPr lang="en-US" sz="1800" dirty="0"/>
              <a:t>}</a:t>
            </a:r>
          </a:p>
          <a:p>
            <a:r>
              <a:rPr lang="en-US" sz="1800" dirty="0" err="1"/>
              <a:t>System.out.println</a:t>
            </a:r>
            <a:r>
              <a:rPr lang="en-US" sz="1800" dirty="0"/>
              <a:t>("rest of the app");</a:t>
            </a:r>
          </a:p>
          <a:p>
            <a:r>
              <a:rPr lang="en-US" sz="1800" dirty="0"/>
              <a:t>}}</a:t>
            </a:r>
          </a:p>
          <a:p>
            <a:r>
              <a:rPr lang="en-US" sz="1800" dirty="0"/>
              <a:t>C:\</a:t>
            </a:r>
            <a:r>
              <a:rPr lang="en-US" sz="1800" dirty="0" err="1"/>
              <a:t>sravya</a:t>
            </a:r>
            <a:r>
              <a:rPr lang="en-US" sz="1800" dirty="0"/>
              <a:t>&gt;java Test</a:t>
            </a:r>
          </a:p>
          <a:p>
            <a:r>
              <a:rPr lang="en-US" sz="1800" dirty="0" err="1"/>
              <a:t>sravya</a:t>
            </a:r>
            <a:endParaRPr lang="en-US" sz="1800" dirty="0"/>
          </a:p>
          <a:p>
            <a:r>
              <a:rPr lang="en-US" sz="1800" dirty="0"/>
              <a:t>Exception in thread "main" </a:t>
            </a:r>
            <a:r>
              <a:rPr lang="en-US" sz="1800" dirty="0" err="1"/>
              <a:t>java.lang.ArithmeticException</a:t>
            </a:r>
            <a:r>
              <a:rPr lang="en-US" sz="1800" dirty="0"/>
              <a:t>: / by zero</a:t>
            </a:r>
          </a:p>
        </p:txBody>
      </p:sp>
    </p:spTree>
    <p:extLst>
      <p:ext uri="{BB962C8B-B14F-4D97-AF65-F5344CB8AC3E}">
        <p14:creationId xmlns:p14="http://schemas.microsoft.com/office/powerpoint/2010/main" val="1267775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D79BB-D8F5-38D7-7B90-A3ACA4770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0937"/>
            <a:ext cx="8229600" cy="5873663"/>
          </a:xfrm>
        </p:spPr>
        <p:txBody>
          <a:bodyPr/>
          <a:lstStyle/>
          <a:p>
            <a:r>
              <a:rPr lang="en-US" sz="2000" b="1" dirty="0">
                <a:solidFill>
                  <a:srgbClr val="FF0000"/>
                </a:solidFill>
              </a:rPr>
              <a:t>2. If there is no exception in try block the corresponding catch blocks are not checked. </a:t>
            </a:r>
          </a:p>
          <a:p>
            <a:r>
              <a:rPr lang="en-US" sz="2000" dirty="0"/>
              <a:t>class Test{ </a:t>
            </a:r>
          </a:p>
          <a:p>
            <a:r>
              <a:rPr lang="en-US" sz="2000" dirty="0"/>
              <a:t>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){ </a:t>
            </a:r>
          </a:p>
          <a:p>
            <a:r>
              <a:rPr lang="en-US" sz="2000" dirty="0"/>
              <a:t>try{ </a:t>
            </a:r>
          </a:p>
          <a:p>
            <a:r>
              <a:rPr lang="en-US" sz="2000" dirty="0" err="1">
                <a:solidFill>
                  <a:srgbClr val="00B050"/>
                </a:solidFill>
              </a:rPr>
              <a:t>System.out.println</a:t>
            </a:r>
            <a:r>
              <a:rPr lang="en-US" sz="2000" dirty="0">
                <a:solidFill>
                  <a:srgbClr val="00B050"/>
                </a:solidFill>
              </a:rPr>
              <a:t>("</a:t>
            </a:r>
            <a:r>
              <a:rPr lang="en-US" sz="2000" dirty="0" err="1">
                <a:solidFill>
                  <a:srgbClr val="00B050"/>
                </a:solidFill>
              </a:rPr>
              <a:t>sravya</a:t>
            </a:r>
            <a:r>
              <a:rPr lang="en-US" sz="2000" dirty="0">
                <a:solidFill>
                  <a:srgbClr val="00B050"/>
                </a:solidFill>
              </a:rPr>
              <a:t>");</a:t>
            </a:r>
          </a:p>
          <a:p>
            <a:r>
              <a:rPr lang="en-US" sz="2000" dirty="0" err="1">
                <a:solidFill>
                  <a:srgbClr val="00B050"/>
                </a:solidFill>
              </a:rPr>
              <a:t>System.out.pri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ntln</a:t>
            </a:r>
            <a:r>
              <a:rPr lang="en-US" sz="2000" dirty="0">
                <a:solidFill>
                  <a:srgbClr val="00B050"/>
                </a:solidFill>
              </a:rPr>
              <a:t>("anu");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catch(</a:t>
            </a:r>
            <a:r>
              <a:rPr lang="en-US" sz="2000" dirty="0" err="1"/>
              <a:t>NullPointerException</a:t>
            </a:r>
            <a:r>
              <a:rPr lang="en-US" sz="2000" dirty="0"/>
              <a:t> e)</a:t>
            </a:r>
          </a:p>
          <a:p>
            <a:r>
              <a:rPr lang="en-US" sz="2000" dirty="0"/>
              <a:t>{ </a:t>
            </a:r>
            <a:r>
              <a:rPr lang="en-US" sz="2000" dirty="0" err="1"/>
              <a:t>System.out.println</a:t>
            </a:r>
            <a:r>
              <a:rPr lang="en-US" sz="2000" dirty="0"/>
              <a:t>(10/2);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 err="1"/>
              <a:t>System.out.println</a:t>
            </a:r>
            <a:r>
              <a:rPr lang="en-US" sz="2000" dirty="0"/>
              <a:t>("rest of the app");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10632-883B-FF12-2DC3-C3104BC6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769230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4FBA-6F05-ABD9-1737-803D4172A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13567"/>
            <a:ext cx="8229600" cy="5811033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3. In Exception handling independent try blocks declaration are not allowed must declare </a:t>
            </a:r>
            <a:r>
              <a:rPr lang="en-US" sz="2400" b="1" dirty="0">
                <a:solidFill>
                  <a:srgbClr val="FF0000"/>
                </a:solidFill>
              </a:rPr>
              <a:t>try-catch</a:t>
            </a:r>
            <a:r>
              <a:rPr lang="en-US" sz="2400" dirty="0">
                <a:solidFill>
                  <a:srgbClr val="FF0000"/>
                </a:solidFill>
              </a:rPr>
              <a:t> or </a:t>
            </a:r>
            <a:r>
              <a:rPr lang="en-US" sz="2400" b="1" dirty="0">
                <a:solidFill>
                  <a:srgbClr val="FF0000"/>
                </a:solidFill>
              </a:rPr>
              <a:t>try- finally</a:t>
            </a:r>
            <a:r>
              <a:rPr lang="en-US" sz="2400" dirty="0">
                <a:solidFill>
                  <a:srgbClr val="FF0000"/>
                </a:solidFill>
              </a:rPr>
              <a:t> or </a:t>
            </a:r>
            <a:r>
              <a:rPr lang="en-US" sz="2400" b="1" dirty="0">
                <a:solidFill>
                  <a:srgbClr val="FF0000"/>
                </a:solidFill>
              </a:rPr>
              <a:t>try-catch-finally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  <a:p>
            <a:r>
              <a:rPr lang="en-US" sz="2800" dirty="0"/>
              <a:t>class Test { </a:t>
            </a:r>
          </a:p>
          <a:p>
            <a:r>
              <a:rPr lang="en-US" sz="2800" dirty="0"/>
              <a:t>public static void main(String[] </a:t>
            </a:r>
            <a:r>
              <a:rPr lang="en-US" sz="2800" dirty="0" err="1"/>
              <a:t>args</a:t>
            </a:r>
            <a:r>
              <a:rPr lang="en-US" sz="2800" dirty="0"/>
              <a:t>) {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try { </a:t>
            </a:r>
          </a:p>
          <a:p>
            <a:r>
              <a:rPr lang="en-US" sz="2800" dirty="0" err="1">
                <a:solidFill>
                  <a:srgbClr val="FF0000"/>
                </a:solidFill>
              </a:rPr>
              <a:t>System.out.println</a:t>
            </a:r>
            <a:r>
              <a:rPr lang="en-US" sz="2800" dirty="0">
                <a:solidFill>
                  <a:srgbClr val="FF0000"/>
                </a:solidFill>
              </a:rPr>
              <a:t>("</a:t>
            </a:r>
            <a:r>
              <a:rPr lang="en-US" sz="2800" dirty="0" err="1">
                <a:solidFill>
                  <a:srgbClr val="FF0000"/>
                </a:solidFill>
              </a:rPr>
              <a:t>sravya</a:t>
            </a:r>
            <a:r>
              <a:rPr lang="en-US" sz="2800" dirty="0">
                <a:solidFill>
                  <a:srgbClr val="FF0000"/>
                </a:solidFill>
              </a:rPr>
              <a:t>");</a:t>
            </a:r>
          </a:p>
          <a:p>
            <a:r>
              <a:rPr lang="en-US" sz="2800" dirty="0" err="1">
                <a:solidFill>
                  <a:srgbClr val="FF0000"/>
                </a:solidFill>
              </a:rPr>
              <a:t>System.out.println</a:t>
            </a:r>
            <a:r>
              <a:rPr lang="en-US" sz="2800" dirty="0">
                <a:solidFill>
                  <a:srgbClr val="FF0000"/>
                </a:solidFill>
              </a:rPr>
              <a:t>("anu");</a:t>
            </a:r>
          </a:p>
          <a:p>
            <a:r>
              <a:rPr lang="en-US" sz="2800" dirty="0">
                <a:solidFill>
                  <a:srgbClr val="FF0000"/>
                </a:solidFill>
              </a:rPr>
              <a:t>} </a:t>
            </a:r>
          </a:p>
          <a:p>
            <a:r>
              <a:rPr lang="en-US" sz="2800" dirty="0" err="1"/>
              <a:t>System.out.println</a:t>
            </a:r>
            <a:r>
              <a:rPr lang="en-US" sz="2800" dirty="0"/>
              <a:t>("rest of the app");</a:t>
            </a:r>
          </a:p>
          <a:p>
            <a:r>
              <a:rPr lang="en-US" sz="2800" dirty="0"/>
              <a:t> }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5D934-7FEE-E08C-F777-74A9C351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762827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A4231-9A17-F0C3-12F7-7C47C5DC3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8515"/>
            <a:ext cx="8229600" cy="5836085"/>
          </a:xfrm>
        </p:spPr>
        <p:txBody>
          <a:bodyPr/>
          <a:lstStyle/>
          <a:p>
            <a:r>
              <a:rPr lang="en-US" sz="2000" dirty="0">
                <a:solidFill>
                  <a:srgbClr val="FF0000"/>
                </a:solidFill>
              </a:rPr>
              <a:t>4. In between try-catch blocks it is not possible to declare any statements, if we are declaring statements compiler will generate error message.</a:t>
            </a:r>
          </a:p>
          <a:p>
            <a:r>
              <a:rPr lang="en-US" sz="2000" dirty="0"/>
              <a:t>In exception handling must declare try with immediate catch block. class Test { </a:t>
            </a:r>
          </a:p>
          <a:p>
            <a:pPr marL="0" indent="0">
              <a:buNone/>
            </a:pPr>
            <a:r>
              <a:rPr lang="en-US" sz="2000" dirty="0"/>
              <a:t>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 </a:t>
            </a:r>
          </a:p>
          <a:p>
            <a:pPr marL="0" indent="0">
              <a:buNone/>
            </a:pPr>
            <a:r>
              <a:rPr lang="en-US" sz="2000" dirty="0"/>
              <a:t>try { </a:t>
            </a:r>
            <a:r>
              <a:rPr lang="en-US" sz="2000" dirty="0" err="1"/>
              <a:t>System.out.println</a:t>
            </a:r>
            <a:r>
              <a:rPr lang="en-US" sz="2000" dirty="0"/>
              <a:t>(10/0);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0000"/>
                </a:solidFill>
              </a:rPr>
              <a:t>System.out.println</a:t>
            </a:r>
            <a:r>
              <a:rPr lang="en-US" sz="2000" dirty="0">
                <a:solidFill>
                  <a:srgbClr val="FF0000"/>
                </a:solidFill>
              </a:rPr>
              <a:t>("anu"); </a:t>
            </a:r>
          </a:p>
          <a:p>
            <a:pPr marL="0" indent="0">
              <a:buNone/>
            </a:pPr>
            <a:r>
              <a:rPr lang="en-US" sz="2000" dirty="0"/>
              <a:t>catch(</a:t>
            </a:r>
            <a:r>
              <a:rPr lang="en-US" sz="2000" dirty="0" err="1"/>
              <a:t>ArithmeticException</a:t>
            </a:r>
            <a:r>
              <a:rPr lang="en-US" sz="2000" dirty="0"/>
              <a:t> e)</a:t>
            </a:r>
          </a:p>
          <a:p>
            <a:pPr marL="0" indent="0">
              <a:buNone/>
            </a:pPr>
            <a:r>
              <a:rPr lang="en-US" sz="2000" dirty="0"/>
              <a:t>{ </a:t>
            </a:r>
            <a:r>
              <a:rPr lang="en-US" sz="2000" dirty="0" err="1"/>
              <a:t>System.out.println</a:t>
            </a:r>
            <a:r>
              <a:rPr lang="en-US" sz="2000" dirty="0"/>
              <a:t>(10/2);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 err="1"/>
              <a:t>System.out.println</a:t>
            </a:r>
            <a:r>
              <a:rPr lang="en-US" sz="2000" dirty="0"/>
              <a:t>("rest of the app");</a:t>
            </a:r>
          </a:p>
          <a:p>
            <a:pPr marL="0" indent="0">
              <a:buNone/>
            </a:pPr>
            <a:r>
              <a:rPr lang="en-US" sz="2000" dirty="0"/>
              <a:t>}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CF806-7E1A-CCAF-34AB-26A06955C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248761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FF25E-ED0A-FC30-62B7-61FC9B367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r>
              <a:rPr lang="en-IN" sz="1800" b="1" dirty="0">
                <a:solidFill>
                  <a:srgbClr val="FF0000"/>
                </a:solidFill>
                <a:effectLst/>
                <a:latin typeface="Calibri,Italic"/>
              </a:rPr>
              <a:t>5. If the exception raised in try block </a:t>
            </a:r>
            <a:r>
              <a:rPr lang="en-IN" sz="1800" b="1" dirty="0" err="1">
                <a:solidFill>
                  <a:srgbClr val="FF0000"/>
                </a:solidFill>
                <a:effectLst/>
                <a:latin typeface="Calibri,Italic"/>
              </a:rPr>
              <a:t>jvm</a:t>
            </a:r>
            <a:r>
              <a:rPr lang="en-IN" sz="1800" b="1" dirty="0">
                <a:solidFill>
                  <a:srgbClr val="FF0000"/>
                </a:solidFill>
                <a:effectLst/>
                <a:latin typeface="Calibri,Italic"/>
              </a:rPr>
              <a:t> will search corresponding catch block but if the exception raised other than try-catch blocks it is always abnormal termination. 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sz="1800" b="1" dirty="0">
                <a:solidFill>
                  <a:srgbClr val="FF0000"/>
                </a:solidFill>
                <a:effectLst/>
                <a:latin typeface="Calibri,Italic"/>
              </a:rPr>
              <a:t>If the exception raised in other than try block it is always abnormal termination.</a:t>
            </a:r>
            <a:endParaRPr lang="en-IN" sz="1800" b="1" dirty="0">
              <a:solidFill>
                <a:srgbClr val="FF0000"/>
              </a:solidFill>
              <a:latin typeface="Calibri,Italic"/>
            </a:endParaRPr>
          </a:p>
          <a:p>
            <a:r>
              <a:rPr lang="en-IN" sz="1800" b="1" dirty="0">
                <a:solidFill>
                  <a:srgbClr val="FF0000"/>
                </a:solidFill>
                <a:effectLst/>
                <a:latin typeface="Calibri,Italic"/>
              </a:rPr>
              <a:t>In below example exception raised in catch block hence program is terminated abnormally. </a:t>
            </a:r>
            <a:endParaRPr lang="en-IN" b="1" dirty="0">
              <a:solidFill>
                <a:srgbClr val="FF0000"/>
              </a:solidFill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sravya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(10/0);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ArithmeticException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(10/0);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"rest of the app"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82F3F-DD16-78DC-9710-162041C6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3267556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0EA4-50DD-849D-01A5-43B9387F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315A5-BCDE-1A1F-B18D-7E513E0EE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6. If the exception raised in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the remaining code of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is not executed.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Once the control is out of the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the control never entered into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once again.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So do not take normal code inside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because there is no guarantee all statements in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-block will be executed or not.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(10/0);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sravya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"ratan"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ArithmeticException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(10/2);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"rest of the app"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2CE68-CA2F-3DDA-F9EF-D311EC2D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9684995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0C2A-EE0D-AC68-E885-0276F7B5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10347-938F-AB6F-0B83-F7483B5EC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7. The way of handling the exception is varied from exception to the exception hence it is recommended to provide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with multiple number of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blocks.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Scanner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Scanner(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endParaRPr lang="en-IN" sz="1800" dirty="0">
              <a:solidFill>
                <a:srgbClr val="3F7F5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System.out.println</a:t>
            </a:r>
            <a:r>
              <a:rPr lang="en-IN" sz="1800" dirty="0">
                <a:solidFill>
                  <a:srgbClr val="000000"/>
                </a:solidFill>
                <a:latin typeface="Menlo" panose="020B0609030804020204" pitchFamily="49" charset="0"/>
              </a:rPr>
              <a:t>("provide the division value");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.nextInt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"ratan"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charAt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ArithmeticException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"Ratan soft"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StringIndexOutOfBoundsException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se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durga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soft"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"rest of the code"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746AF-B328-01FF-377D-B5E41DF9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7640858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DE7E-7A2C-DEDF-428E-56E8B852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5CCF5-C183-8D66-4502-6C6280744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8. By using Exception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it is possible to hold any type of exceptions.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20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Scanner </a:t>
            </a:r>
            <a:r>
              <a:rPr lang="en-IN" sz="20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Scanner(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20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IN" sz="2000" dirty="0" err="1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20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("provide the division value");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.nextInt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20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</a:t>
            </a:r>
            <a:r>
              <a:rPr lang="en-IN" sz="20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20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"ratan"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charAt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(Exception </a:t>
            </a:r>
            <a:r>
              <a:rPr lang="en-IN" sz="2000" b="1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ae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20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20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Ratansoft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20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"rest of the code"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1582C-3223-9773-4E7F-B776F3E9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106309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E937-AE83-9C20-C6F4-56EFAE0A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559E1-3C5F-B40D-C5C1-087670C9F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9. When we declare multiple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blocks then the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order must be child-parent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but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we are declaring parent to child compiler will generate error message.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b="1" dirty="0" err="1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Nocompilationerror</a:t>
            </a:r>
            <a:r>
              <a:rPr lang="en-IN" sz="1800" b="1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b="1" dirty="0" err="1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catchblockorderchildtoparenttype</a:t>
            </a:r>
            <a:r>
              <a:rPr lang="en-IN" sz="1800" b="1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"provide the division </a:t>
            </a:r>
            <a:r>
              <a:rPr lang="en-IN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.nextInt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.length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//catch block order is child to parent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ArithmeticException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Exception"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(Exception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Exception"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"rest of the code"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0C5FC-4B91-A566-5B1B-9A3B8150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337159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58F21-1B07-E04A-3C40-61770308A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504DF-427F-1D98-0275-252316171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9. When we declare multiple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blocks then the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block order must be child-parent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but </a:t>
            </a:r>
            <a:r>
              <a:rPr lang="en-IN" sz="18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we are declaring parent to child compiler will generate error message.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b="1" dirty="0" err="1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Nocompilationerror</a:t>
            </a:r>
            <a:r>
              <a:rPr lang="en-IN" sz="1800" b="1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 (catch block order child to parent type)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800" b="1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Compilation error (catch block order is parent to child)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//catch block order is parent to child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(Exception ae){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</a:t>
            </a:r>
            <a:r>
              <a:rPr lang="en-IN" sz="1800" u="sn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Exception"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+ae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ArithmeticException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ne){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</a:t>
            </a:r>
            <a:r>
              <a:rPr lang="en-IN" sz="1800" u="sn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Exception"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+ne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ACAA1-3615-5D76-C340-D8C7521C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4444444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61EC-BFDC-69BC-F5BF-2995497C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8FF6C-9277-340D-C533-D38DB0A55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10. There are three methods to print Exception information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80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toString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80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getMessage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80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printStackTrace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()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m1(){ m2(); 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m2(){ m3(); 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m3()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(10/0);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ArithmeticException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ae)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u="sn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ae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.toString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u="sn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ae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.getMessage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ae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.printStackTrace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u="sng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Test1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 =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Test1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t.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m1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221EC-6832-2996-3E1C-82AB4799E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7706207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796E-2F5E-0F22-E7DB-8110C84E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38F32-DE22-E2A0-EAEC-32CD4D1F5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r>
              <a:rPr lang="en-IN" sz="1800" dirty="0">
                <a:latin typeface="Calibri,Italic"/>
              </a:rPr>
              <a:t>C</a:t>
            </a:r>
            <a:r>
              <a:rPr lang="en-IN" sz="1800" dirty="0">
                <a:effectLst/>
                <a:latin typeface="Calibri,Italic"/>
              </a:rPr>
              <a:t>:\DP&gt;java Test </a:t>
            </a:r>
            <a:r>
              <a:rPr lang="en-IN" sz="1800" dirty="0" err="1">
                <a:effectLst/>
                <a:latin typeface="Calibri,Italic"/>
              </a:rPr>
              <a:t>java.lang.ArithmeticException</a:t>
            </a:r>
            <a:r>
              <a:rPr lang="en-IN" sz="1800" dirty="0">
                <a:effectLst/>
                <a:latin typeface="Calibri,Italic"/>
              </a:rPr>
              <a:t>: / by zero </a:t>
            </a:r>
            <a:r>
              <a:rPr lang="en-IN" sz="1800" b="1" dirty="0">
                <a:solidFill>
                  <a:srgbClr val="92D050"/>
                </a:solidFill>
                <a:effectLst/>
                <a:latin typeface="Calibri,BoldItalic"/>
              </a:rPr>
              <a:t>//</a:t>
            </a:r>
            <a:r>
              <a:rPr lang="en-IN" sz="1800" b="1" dirty="0" err="1">
                <a:solidFill>
                  <a:srgbClr val="92D050"/>
                </a:solidFill>
                <a:effectLst/>
                <a:latin typeface="Calibri,BoldItalic"/>
              </a:rPr>
              <a:t>toString</a:t>
            </a:r>
            <a:r>
              <a:rPr lang="en-IN" sz="1800" b="1" dirty="0">
                <a:solidFill>
                  <a:srgbClr val="92D050"/>
                </a:solidFill>
                <a:effectLst/>
                <a:latin typeface="Calibri,BoldItalic"/>
              </a:rPr>
              <a:t>() method output </a:t>
            </a:r>
          </a:p>
          <a:p>
            <a:endParaRPr lang="en-IN" sz="1800" b="1" dirty="0">
              <a:solidFill>
                <a:srgbClr val="92D050"/>
              </a:solidFill>
              <a:effectLst/>
              <a:latin typeface="Calibri,Italic"/>
            </a:endParaRPr>
          </a:p>
          <a:p>
            <a:r>
              <a:rPr lang="en-IN" sz="1800" dirty="0">
                <a:effectLst/>
                <a:latin typeface="Calibri,Italic"/>
              </a:rPr>
              <a:t>/ by zero				</a:t>
            </a:r>
            <a:r>
              <a:rPr lang="en-IN" sz="1800" b="1" dirty="0">
                <a:solidFill>
                  <a:srgbClr val="92D050"/>
                </a:solidFill>
                <a:effectLst/>
                <a:latin typeface="Calibri,BoldItalic"/>
              </a:rPr>
              <a:t>//</a:t>
            </a:r>
            <a:r>
              <a:rPr lang="en-IN" sz="1800" b="1" dirty="0" err="1">
                <a:solidFill>
                  <a:srgbClr val="92D050"/>
                </a:solidFill>
                <a:effectLst/>
                <a:latin typeface="Calibri,BoldItalic"/>
              </a:rPr>
              <a:t>getMessage</a:t>
            </a:r>
            <a:r>
              <a:rPr lang="en-IN" sz="1800" b="1" dirty="0">
                <a:solidFill>
                  <a:srgbClr val="92D050"/>
                </a:solidFill>
                <a:effectLst/>
                <a:latin typeface="Calibri,BoldItalic"/>
              </a:rPr>
              <a:t>() method output</a:t>
            </a:r>
            <a:endParaRPr lang="en-IN" sz="1800" b="1" dirty="0">
              <a:solidFill>
                <a:srgbClr val="92D050"/>
              </a:solidFill>
              <a:effectLst/>
              <a:latin typeface="Calibri,Italic"/>
            </a:endParaRPr>
          </a:p>
          <a:p>
            <a:r>
              <a:rPr lang="en-IN" sz="1800" dirty="0">
                <a:effectLst/>
                <a:latin typeface="Calibri,Italic"/>
              </a:rPr>
              <a:t> </a:t>
            </a:r>
            <a:r>
              <a:rPr lang="en-IN" sz="1800" dirty="0" err="1">
                <a:effectLst/>
                <a:latin typeface="Calibri,Italic"/>
              </a:rPr>
              <a:t>java.lang.ArithmeticException</a:t>
            </a:r>
            <a:r>
              <a:rPr lang="en-IN" sz="1800" dirty="0">
                <a:effectLst/>
                <a:latin typeface="Calibri,Italic"/>
              </a:rPr>
              <a:t>: / by zero </a:t>
            </a:r>
          </a:p>
          <a:p>
            <a:r>
              <a:rPr lang="en-IN" sz="1800" dirty="0">
                <a:effectLst/>
                <a:latin typeface="Calibri,Italic"/>
              </a:rPr>
              <a:t>	</a:t>
            </a:r>
            <a:endParaRPr lang="en-IN" dirty="0"/>
          </a:p>
          <a:p>
            <a:r>
              <a:rPr lang="en-IN" sz="1800" dirty="0">
                <a:effectLst/>
                <a:latin typeface="Calibri,Italic"/>
              </a:rPr>
              <a:t>at Test1.m3(Test1.java:8)			</a:t>
            </a:r>
            <a:r>
              <a:rPr lang="en-IN" sz="1800" dirty="0">
                <a:effectLst/>
                <a:latin typeface="Calibri,BoldItalic"/>
              </a:rPr>
              <a:t> </a:t>
            </a:r>
            <a:r>
              <a:rPr lang="en-IN" sz="1800" b="1" dirty="0">
                <a:solidFill>
                  <a:srgbClr val="92D050"/>
                </a:solidFill>
                <a:effectLst/>
                <a:latin typeface="Calibri,BoldItalic"/>
              </a:rPr>
              <a:t>//</a:t>
            </a:r>
            <a:r>
              <a:rPr lang="en-IN" sz="1800" b="1" dirty="0" err="1">
                <a:solidFill>
                  <a:srgbClr val="92D050"/>
                </a:solidFill>
                <a:effectLst/>
                <a:latin typeface="Calibri,BoldItalic"/>
              </a:rPr>
              <a:t>printStackTrace</a:t>
            </a:r>
            <a:r>
              <a:rPr lang="en-IN" sz="1800" b="1" dirty="0">
                <a:solidFill>
                  <a:srgbClr val="92D050"/>
                </a:solidFill>
                <a:effectLst/>
                <a:latin typeface="Calibri,BoldItalic"/>
              </a:rPr>
              <a:t>() method </a:t>
            </a:r>
            <a:br>
              <a:rPr lang="en-IN" sz="1800" dirty="0">
                <a:effectLst/>
                <a:latin typeface="Calibri,Italic"/>
              </a:rPr>
            </a:br>
            <a:r>
              <a:rPr lang="en-IN" sz="1800" dirty="0">
                <a:effectLst/>
                <a:latin typeface="Calibri,Italic"/>
              </a:rPr>
              <a:t>at Test1.m2(Test1.java:5)</a:t>
            </a:r>
            <a:br>
              <a:rPr lang="en-IN" sz="1800" dirty="0">
                <a:effectLst/>
                <a:latin typeface="Calibri,Italic"/>
              </a:rPr>
            </a:br>
            <a:r>
              <a:rPr lang="en-IN" sz="1800" dirty="0">
                <a:effectLst/>
                <a:latin typeface="Calibri,Italic"/>
              </a:rPr>
              <a:t>at Test1.m1(Test1.java:3)</a:t>
            </a:r>
            <a:br>
              <a:rPr lang="en-IN" sz="1800" dirty="0">
                <a:effectLst/>
                <a:latin typeface="Calibri,Italic"/>
              </a:rPr>
            </a:br>
            <a:r>
              <a:rPr lang="en-IN" sz="1800" dirty="0">
                <a:effectLst/>
                <a:latin typeface="Calibri,Italic"/>
              </a:rPr>
              <a:t>at Test1.main(Test1.java:17) 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77721-BC4D-19CC-28BF-4BA5CBAE1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73185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A044-DDB7-A800-04BA-67E37A88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05F50-07FF-2E13-26A7-0A53F599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11. Internally</a:t>
            </a:r>
            <a:r>
              <a:rPr lang="en-IN" sz="180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JVM </a:t>
            </a:r>
            <a:r>
              <a:rPr lang="en-IN" sz="1800" u="sng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printStackTrace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en-IN" sz="1800" u="sng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method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u="sng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to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print </a:t>
            </a:r>
            <a:r>
              <a:rPr lang="en-IN" sz="1800" u="sng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exception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u="sng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information.</a:t>
            </a:r>
            <a:r>
              <a:rPr lang="en-IN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m3() { 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8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(10/0); 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m2() { m3(); 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m1() { m2(); 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Test().m1();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C: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\&gt;java Test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Exception in thread </a:t>
            </a:r>
            <a:r>
              <a:rPr lang="en-IN" sz="18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"main"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u="sn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java.lang.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ArithmeticException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zero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Test.m3(Test.java:3)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Test.m2(Test.java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6)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Test.m1(Test.java:9)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Test.main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(Test.java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7EE2A-A0C0-05F8-CBDB-1BB757F33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7389863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12EBE-B95F-BAC3-447E-7729F457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F346F-B736-23ED-7E41-FD10D3CC9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36E45-832E-20DF-6E39-BF3E693C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57689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14CC-434D-FE53-402D-763ACE355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BB9CA-F3E8-56CA-C364-5C2B2EACD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99636-FA97-A64B-E650-21730C13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21807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78F0C-A74F-0E38-C823-40DF11BD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C4D8-EF01-FB2E-9AE5-4D7196101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B3282-A782-0080-11A1-5693982D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82000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C9E7-ED3B-40F8-1F1F-C8F48D54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0282-00C7-1AC8-4D23-01B136F3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4AF7C-6D2B-21B5-D93E-7478D2A5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975243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3AB3-1650-AD45-2507-946C06D2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ED65D-ACFF-0161-C569-DED31F5ED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E6E36-E8F0-4D0F-9DB3-A3802EE1E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9873055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94073-F826-40A9-C9B1-AB289D94E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AA6AF-BC98-CEC3-B375-E19FB8A6A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EA3AB-8FBB-9E6E-4452-C506CD8FC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7314263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FF49-9E63-C090-FB91-82037FCF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0ADDE-3134-84B9-C7BE-86C4086EE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8BF85-3AEB-32E5-CC8B-EE92C233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8477129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9EC3-9321-3C7D-1411-0FDD985A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7CFB-B3E9-5178-24E8-76F767F99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E9E27-1184-8368-3687-A4DD366D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2149370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2C48-158E-3165-4398-3E66F590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005E-3925-8A81-8676-C44D23CD2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3EFE1-D05C-BF3E-974F-D0477DAA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5868839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CFFB-0375-6F24-62A8-5F6159418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E6744-9C83-E3FF-928B-D5D3D5209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67528-B9E0-7239-1DB5-D2FADC1F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7574972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0AAB-0CBA-BBE9-4762-259D961A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26F84-743C-6076-250F-2CA5DFAA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411"/>
            <a:ext cx="8229600" cy="5886189"/>
          </a:xfrm>
        </p:spPr>
        <p:txBody>
          <a:bodyPr/>
          <a:lstStyle/>
          <a:p>
            <a:r>
              <a:rPr lang="en-IN" sz="1100" dirty="0">
                <a:effectLst/>
                <a:latin typeface="Calibri,Italic"/>
              </a:rPr>
              <a:t>statement 1 statement 2 try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effectLst/>
                <a:latin typeface="Calibri,Italic"/>
              </a:rPr>
              <a:t>{  statement 3 </a:t>
            </a:r>
            <a:endParaRPr lang="en-IN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effectLst/>
                <a:latin typeface="Calibri,Italic"/>
              </a:rPr>
              <a:t>statement 4 try </a:t>
            </a:r>
            <a:endParaRPr lang="en-IN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>
                <a:effectLst/>
                <a:latin typeface="Calibri,Italic"/>
              </a:rPr>
              <a:t>{  statement 5 </a:t>
            </a:r>
            <a:endParaRPr lang="en-IN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>
                <a:effectLst/>
                <a:latin typeface="Calibri,Italic"/>
              </a:rPr>
              <a:t>statement 6 } </a:t>
            </a:r>
            <a:endParaRPr lang="en-IN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>
                <a:effectLst/>
                <a:latin typeface="Calibri,Italic"/>
              </a:rPr>
              <a:t>catch () </a:t>
            </a:r>
            <a:endParaRPr lang="en-IN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>
                <a:effectLst/>
                <a:latin typeface="Calibri,Italic"/>
              </a:rPr>
              <a:t>{  statement 7 </a:t>
            </a:r>
            <a:endParaRPr lang="en-IN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>
                <a:effectLst/>
                <a:latin typeface="Calibri,Italic"/>
              </a:rPr>
              <a:t>statement 8 </a:t>
            </a:r>
            <a:endParaRPr lang="en-IN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7F324-57E8-679C-8AFC-39248B58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479617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1F7EB-3262-0E75-4B7B-31C2CBF1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effectLst/>
                <a:latin typeface="Calibri,BoldItalic"/>
              </a:rPr>
              <a:t>Different types of exceptions</a:t>
            </a: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0812B-1F01-BE13-00D5-B59AF9F25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ArrayIndexOutOfBoundsException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endParaRPr lang="en-I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en-IN" sz="2000" u="sng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={10,20,30};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(a[4]);</a:t>
            </a:r>
            <a:r>
              <a:rPr lang="en-IN" sz="20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IN" sz="2000" dirty="0" err="1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ArrayIndexOutOfBoundsException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NumberFormatException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endParaRPr lang="en-I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 </a:t>
            </a:r>
            <a:r>
              <a:rPr lang="en-IN" sz="2000" u="sng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str1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20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abc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u="sng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Integer.</a:t>
            </a:r>
            <a:r>
              <a:rPr lang="en-IN" sz="2000" i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parseInt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str1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(b);</a:t>
            </a:r>
            <a:r>
              <a:rPr lang="en-IN" sz="20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IN" sz="2000" dirty="0" err="1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NumberFormatException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NullPointerException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endParaRPr lang="en-I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 </a:t>
            </a:r>
            <a:r>
              <a:rPr lang="en-IN" sz="20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str1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(str1.length());</a:t>
            </a:r>
            <a:r>
              <a:rPr lang="en-IN" sz="20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IN" sz="2000" dirty="0" err="1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NullPointerException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2C27E-DF03-AED5-C708-248AFFAB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2932521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1E55-9C4A-D991-2711-8310CB952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D948-BEA0-CD26-FE42-772A5B24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effectLst/>
                <a:latin typeface="Calibri,BoldItalic"/>
              </a:rPr>
              <a:t>Different types of exceptions</a:t>
            </a: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D5E5B-9898-515E-F09C-0B593E27B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ArithmeticException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endParaRPr lang="en-I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=10/0;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(b);</a:t>
            </a:r>
            <a:r>
              <a:rPr lang="en-IN" sz="20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IN" sz="2000" dirty="0" err="1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ArithmeticExceptiom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IllegalArgumentException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endParaRPr lang="en-I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Thread 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priority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1-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I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1 --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low 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priority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10 --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high 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priority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Thread </a:t>
            </a:r>
            <a:r>
              <a:rPr lang="en-IN" sz="2000" u="sng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Thread();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t.setPriority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(11);</a:t>
            </a:r>
            <a:r>
              <a:rPr lang="en-IN" sz="20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IN" sz="2000" dirty="0" err="1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IllegalArgumentException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IllegalThreadStateException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endParaRPr lang="en-I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Thread </a:t>
            </a:r>
            <a:r>
              <a:rPr lang="en-IN" sz="20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Thread();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t.start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t.start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  <a:r>
              <a:rPr lang="en-IN" sz="20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IN" sz="2000" dirty="0" err="1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IllegalThreadStateException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698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D00E2-7CD2-079C-77AB-D60C322E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F879C-6ABA-FE02-1583-3FA08CAC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effectLst/>
                <a:latin typeface="Calibri,BoldItalic"/>
              </a:rPr>
              <a:t>Different types of exceptions</a:t>
            </a: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E84E1-A516-7958-E41F-63895DF3C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StringIndexOutOfBoundsException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endParaRPr lang="en-I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 </a:t>
            </a:r>
            <a:r>
              <a:rPr lang="en-IN" sz="2000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”amity"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str.charAt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(13));</a:t>
            </a:r>
            <a:r>
              <a:rPr lang="en-IN" sz="20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IN" sz="2000" dirty="0" err="1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StringIndexOutOfBoundsException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NegativeArraySizeException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en-IN" sz="20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[-9];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a.length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r>
              <a:rPr lang="en-IN" sz="2000" dirty="0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IN" sz="2000" dirty="0" err="1">
                <a:solidFill>
                  <a:srgbClr val="3F7F5F"/>
                </a:solidFill>
                <a:effectLst/>
                <a:latin typeface="Menlo" panose="020B0609030804020204" pitchFamily="49" charset="0"/>
              </a:rPr>
              <a:t>NegativeArraySizeException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InputMismatchException</a:t>
            </a:r>
            <a:r>
              <a:rPr lang="en-I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IN" sz="2000" b="1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endParaRPr lang="en-I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20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20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"enter first number"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20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IN" sz="2000" u="sn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-IN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.nextInt</a:t>
            </a:r>
            <a:r>
              <a:rPr lang="en-IN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IN" sz="20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IN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33B0F-A4C7-A2A3-BD34-97FD0665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542444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DF318-DF17-7454-F651-42DCD345C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"/>
            <a:ext cx="3905794" cy="6248400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1 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2 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b="1" u="sng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3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4 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b="1" u="sng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5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6 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b="1" u="sng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</a:t>
            </a: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7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8 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b="1" u="sng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9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10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11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statement 12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1050E-59EF-25B8-F310-400683A2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AE2C30-E9C3-6E31-F489-6A3A7AB3BA95}"/>
              </a:ext>
            </a:extLst>
          </p:cNvPr>
          <p:cNvSpPr txBox="1">
            <a:spLocks/>
          </p:cNvSpPr>
          <p:nvPr/>
        </p:nvSpPr>
        <p:spPr bwMode="auto">
          <a:xfrm>
            <a:off x="4572000" y="76200"/>
            <a:ext cx="3905794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b="1" dirty="0">
                <a:solidFill>
                  <a:srgbClr val="7F0055"/>
                </a:solidFill>
                <a:latin typeface="Menlo" panose="020B0609030804020204" pitchFamily="49" charset="0"/>
              </a:rPr>
              <a:t>catch</a:t>
            </a:r>
            <a:r>
              <a:rPr lang="en-IN" sz="1800" u="sng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8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latin typeface="Menlo" panose="020B0609030804020204" pitchFamily="49" charset="0"/>
              </a:rPr>
              <a:t>statement 13</a:t>
            </a:r>
            <a:endParaRPr lang="en-IN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latin typeface="Menlo" panose="020B0609030804020204" pitchFamily="49" charset="0"/>
              </a:rPr>
              <a:t>statement 14</a:t>
            </a:r>
            <a:endParaRPr lang="en-IN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b="1" dirty="0">
                <a:solidFill>
                  <a:srgbClr val="7F0055"/>
                </a:solidFill>
                <a:latin typeface="Menlo" panose="020B0609030804020204" pitchFamily="49" charset="0"/>
              </a:rPr>
              <a:t>finally</a:t>
            </a:r>
            <a:r>
              <a:rPr lang="en-IN" sz="1800" dirty="0">
                <a:solidFill>
                  <a:srgbClr val="000000"/>
                </a:solidFill>
                <a:latin typeface="Menlo" panose="020B0609030804020204" pitchFamily="49" charset="0"/>
              </a:rPr>
              <a:t>{ 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latin typeface="Menlo" panose="020B0609030804020204" pitchFamily="49" charset="0"/>
              </a:rPr>
              <a:t>statement 15 </a:t>
            </a:r>
            <a:endParaRPr lang="en-IN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latin typeface="Menlo" panose="020B0609030804020204" pitchFamily="49" charset="0"/>
              </a:rPr>
              <a:t>statement 16 </a:t>
            </a:r>
            <a:endParaRPr lang="en-IN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latin typeface="Menlo" panose="020B0609030804020204" pitchFamily="49" charset="0"/>
              </a:rPr>
              <a:t>Statement -17 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solidFill>
                  <a:srgbClr val="000000"/>
                </a:solidFill>
                <a:latin typeface="Menlo" panose="020B0609030804020204" pitchFamily="49" charset="0"/>
              </a:rPr>
              <a:t>Statement</a:t>
            </a:r>
            <a:r>
              <a:rPr lang="en-IN" sz="1800" dirty="0">
                <a:solidFill>
                  <a:srgbClr val="000000"/>
                </a:solidFill>
                <a:latin typeface="Menlo" panose="020B0609030804020204" pitchFamily="49" charset="0"/>
              </a:rPr>
              <a:t> -</a:t>
            </a:r>
            <a:r>
              <a:rPr lang="en-IN" sz="1800" u="sng" dirty="0">
                <a:solidFill>
                  <a:srgbClr val="000000"/>
                </a:solidFill>
                <a:latin typeface="Menlo" panose="020B0609030804020204" pitchFamily="49" charset="0"/>
              </a:rPr>
              <a:t>18</a:t>
            </a:r>
            <a:endParaRPr lang="en-IN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0553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311C-2327-45BA-8A94-AB7E0F94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73F3-0445-4917-8154-FA39514F8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9440"/>
            <a:ext cx="8229600" cy="2966720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marL="0" indent="0" algn="ctr">
              <a:buNone/>
            </a:pPr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F29A4-15AC-4EDA-B3C2-BBE51723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304" y="6312157"/>
            <a:ext cx="8731876" cy="469643"/>
          </a:xfrm>
        </p:spPr>
        <p:txBody>
          <a:bodyPr/>
          <a:lstStyle/>
          <a:p>
            <a:pPr>
              <a:defRPr/>
            </a:pPr>
            <a:r>
              <a:rPr 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Naveen Kumar, Associate Professor, AIIT, AUP</a:t>
            </a:r>
            <a:endParaRPr lang="en-US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00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58274</TotalTime>
  <Words>4514</Words>
  <Application>Microsoft Macintosh PowerPoint</Application>
  <PresentationFormat>On-screen Show (4:3)</PresentationFormat>
  <Paragraphs>584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2" baseType="lpstr">
      <vt:lpstr>Arial</vt:lpstr>
      <vt:lpstr>Baskerville Old Face</vt:lpstr>
      <vt:lpstr>Bodoni MT,BoldItalic</vt:lpstr>
      <vt:lpstr>Bookman Old Style,BoldItalic</vt:lpstr>
      <vt:lpstr>Calibri</vt:lpstr>
      <vt:lpstr>Calibri,BoldItalic</vt:lpstr>
      <vt:lpstr>Calibri,Italic</vt:lpstr>
      <vt:lpstr>Cambria</vt:lpstr>
      <vt:lpstr>Courier New</vt:lpstr>
      <vt:lpstr>Menlo</vt:lpstr>
      <vt:lpstr>Times New Roman</vt:lpstr>
      <vt:lpstr>Wingdings</vt:lpstr>
      <vt:lpstr>klu</vt:lpstr>
      <vt:lpstr> </vt:lpstr>
      <vt:lpstr>Exception Handling</vt:lpstr>
      <vt:lpstr>Reasons for exceptions</vt:lpstr>
      <vt:lpstr>PowerPoint Presentation</vt:lpstr>
      <vt:lpstr>Checked Exception</vt:lpstr>
      <vt:lpstr>Checked Exception</vt:lpstr>
      <vt:lpstr>Checked Exception</vt:lpstr>
      <vt:lpstr>Checked Exception</vt:lpstr>
      <vt:lpstr>FileNotFoundException</vt:lpstr>
      <vt:lpstr>IOException</vt:lpstr>
      <vt:lpstr>ClassNotFoundException</vt:lpstr>
      <vt:lpstr>SQLException</vt:lpstr>
      <vt:lpstr>ParseException</vt:lpstr>
      <vt:lpstr>InterruptedException</vt:lpstr>
      <vt:lpstr>MalformedURLException</vt:lpstr>
      <vt:lpstr>PowerPoint Presentation</vt:lpstr>
      <vt:lpstr>Unchecked Exception</vt:lpstr>
      <vt:lpstr>PowerPoint Presentation</vt:lpstr>
      <vt:lpstr>Exception vs Error</vt:lpstr>
      <vt:lpstr>PowerPoint Presentation</vt:lpstr>
      <vt:lpstr>PowerPoint Presentation</vt:lpstr>
      <vt:lpstr>PowerPoint Presentation</vt:lpstr>
      <vt:lpstr>Fully Checked vs Partially Checked</vt:lpstr>
      <vt:lpstr>Exception handling key words</vt:lpstr>
      <vt:lpstr>Exception handling by using Try –catch blocks</vt:lpstr>
      <vt:lpstr>Application without try-catch blocks</vt:lpstr>
      <vt:lpstr>Application with try-catch blocks</vt:lpstr>
      <vt:lpstr>Application with try-catch blocks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types of exceptions</vt:lpstr>
      <vt:lpstr>Different types of exceptions</vt:lpstr>
      <vt:lpstr>Different types of exceptions</vt:lpstr>
      <vt:lpstr>PowerPoint Presentation</vt:lpstr>
      <vt:lpstr>                           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1582</cp:revision>
  <cp:lastPrinted>1999-01-11T10:11:19Z</cp:lastPrinted>
  <dcterms:created xsi:type="dcterms:W3CDTF">1999-01-07T21:51:57Z</dcterms:created>
  <dcterms:modified xsi:type="dcterms:W3CDTF">2024-10-15T15:29:54Z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