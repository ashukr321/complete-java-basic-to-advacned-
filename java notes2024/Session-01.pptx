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89" r:id="rId2"/>
    <p:sldId id="317" r:id="rId3"/>
    <p:sldId id="276" r:id="rId4"/>
    <p:sldId id="291" r:id="rId5"/>
    <p:sldId id="308" r:id="rId6"/>
    <p:sldId id="309" r:id="rId7"/>
    <p:sldId id="311" r:id="rId8"/>
    <p:sldId id="312" r:id="rId9"/>
    <p:sldId id="313" r:id="rId10"/>
    <p:sldId id="322" r:id="rId11"/>
    <p:sldId id="314" r:id="rId12"/>
    <p:sldId id="310" r:id="rId13"/>
    <p:sldId id="315" r:id="rId14"/>
    <p:sldId id="316" r:id="rId15"/>
    <p:sldId id="318" r:id="rId16"/>
    <p:sldId id="320" r:id="rId17"/>
    <p:sldId id="319" r:id="rId18"/>
    <p:sldId id="325" r:id="rId19"/>
    <p:sldId id="326" r:id="rId20"/>
    <p:sldId id="327" r:id="rId21"/>
    <p:sldId id="328" r:id="rId22"/>
    <p:sldId id="329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9/12/24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Java language is a high-level language, but Java bytecode is a low-level language. The bytecode is similar to machine instructions but is architecture neutral and can run on any platform that has a Java Virtual Machine (JVM), the virtual machine is a program that interprets Java </a:t>
            </a:r>
            <a:r>
              <a:rPr lang="en-GB" dirty="0" err="1"/>
              <a:t>bytecode.JVM</a:t>
            </a:r>
            <a:r>
              <a:rPr lang="en-GB" dirty="0"/>
              <a:t> is an interpreter, It translates the individual instructions in the bytecode into the target machine language code one at a time rather than the whole program as a single 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B2480-0B44-4D46-9059-5946A3BBAC6A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781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20CC4-F56F-B58B-98DD-63B7E828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1F2392-0628-EA42-B7B7-439C03D2F184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D01F0-6193-D115-B01D-E2EB8F99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99253-4634-7885-7D91-C2CC773F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7807A9-12E1-47F0-9E96-6DDF5CA19C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10B68E2-CC98-BD12-6044-559AFA04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29789-2A94-F043-9EB3-ED47244F0AF9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F1FA-B413-4D46-B713-665BD4F1C10E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16C62-FC2A-A542-8AE8-B50E192C67CC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2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95402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5919A-9A1F-254C-8DB8-4F23632F4EA4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6BA74-1547-4BDE-C434-28766554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5AF8A7-C1F9-6F44-929E-15E5B10B3040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8AF25-43F5-C9DD-B87B-4E0AA613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30332-C200-5F31-6AE7-84D53613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7807A9-12E1-47F0-9E96-6DDF5CA19C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1827424-7865-C7DB-1DD1-1DFE307D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583FD-29B4-CF4F-A819-63A49B905C7D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4775F-3314-4A43-BF1A-2EFE3E4381B1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51D7C-83C0-0C4F-AA47-CD42BAF11826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60D74-08A1-A54F-9FD1-FD1433DDFA93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2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51A75-CD5B-374C-9137-EAAB1418FE6A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5A914E-DEEA-7D42-BD90-11675DAF7949}" type="datetime2">
              <a:rPr lang="en-IN" smtClean="0"/>
              <a:t>Thursday, 12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675" y="92093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Session-01: Object Oriented Paradigm</a:t>
            </a:r>
            <a:b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vs.</a:t>
            </a:r>
            <a:b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Procedural Paradigm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9349" y="2782391"/>
            <a:ext cx="6622868" cy="3069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A2A12-272B-0D71-0940-70E4EBEA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Paradigm shifted from Procedural Oriented Programming towards Object Oriented Programming. 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Principles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AEE59-6BC5-1F41-1B16-24FF625F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3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406" y="1449979"/>
            <a:ext cx="7421824" cy="3885159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POP?</a:t>
            </a: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OOP?</a:t>
            </a: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Languages for POP and OOP</a:t>
            </a: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POP  vs. OOP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5942E-0554-9724-AA5A-8A529057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What is POP?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4" y="914401"/>
            <a:ext cx="7798528" cy="1998617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Procedure Oriented Programming is based on the concept of breaking a problem into modules and combining all those modules as a single unit.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2755" y="3278778"/>
            <a:ext cx="3931920" cy="264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0A59D-8F40-A035-CDE9-9D3FEA76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6" y="435110"/>
            <a:ext cx="7132320" cy="1001804"/>
          </a:xfrm>
        </p:spPr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Structure of 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Procedure Oriented Programming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5874" y="1632857"/>
            <a:ext cx="4219303" cy="4624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8356"/>
            <a:ext cx="4114800" cy="4454435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 programming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Pre-defined Functions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variables (Local/Global)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moves freely from one function to another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–Purpose Programming</a:t>
            </a: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BB8D4-E7EB-03EE-40F1-D2A17B53E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509" y="1948543"/>
            <a:ext cx="3840481" cy="3185160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OOP is based on the idea of “objects” to represent data and methods.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approach is used to create a reusable code instead of redundancy</a:t>
            </a: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8457" y="1371602"/>
            <a:ext cx="3788229" cy="451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B06C9-870A-8350-2253-ECAF26CC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" y="487362"/>
            <a:ext cx="8242663" cy="655638"/>
          </a:xfrm>
        </p:spPr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Structure of Object Oriented Paradigm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1383" y="1743214"/>
            <a:ext cx="51816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A6E65F-DABD-7BBC-C17F-F5C48107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for OOP vs. POP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3782" y="2300971"/>
            <a:ext cx="2547257" cy="214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09452" y="3894911"/>
            <a:ext cx="3814355" cy="2532017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Company name ----Maruti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name ----- Swift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Fuel type ------ Diesel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Mileage ---- 20km/ liter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Price ---- 20 lakhs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576" y="1468514"/>
            <a:ext cx="46373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Times New Roman" pitchFamily="18" charset="0"/>
              </a:rPr>
              <a:t>Let us consider a car with different characteristics like company name, model name, fuel type, mileage and price.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349" y="500425"/>
            <a:ext cx="2534194" cy="655638"/>
          </a:xfrm>
        </p:spPr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POP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885509" y="1293223"/>
            <a:ext cx="3840481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395" y="1175658"/>
            <a:ext cx="3291839" cy="4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2606" y="2233748"/>
            <a:ext cx="2766331" cy="2338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Oval Callout 10"/>
          <p:cNvSpPr/>
          <p:nvPr/>
        </p:nvSpPr>
        <p:spPr>
          <a:xfrm>
            <a:off x="3526971" y="1031965"/>
            <a:ext cx="2913018" cy="1737360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happens if we want to display for 100 variety of models ?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722915" y="4754880"/>
            <a:ext cx="4362995" cy="1345474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Need to create 500 different variables which makes our code tedious.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2960" y="992778"/>
            <a:ext cx="2168436" cy="2063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036423" y="1423852"/>
            <a:ext cx="4062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overcome that we can implement using structures concept 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0504" y="4384767"/>
            <a:ext cx="443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But, No Data Security available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OOP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2786" y="1091432"/>
            <a:ext cx="28670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888274" y="2742882"/>
            <a:ext cx="1580606" cy="43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B0F0"/>
                </a:solidFill>
                <a:ea typeface="+mj-ea"/>
                <a:cs typeface="Times New Roman" pitchFamily="18" charset="0"/>
              </a:rPr>
              <a:t>model1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647405" y="4332196"/>
            <a:ext cx="1580606" cy="43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B0F0"/>
                </a:solidFill>
                <a:ea typeface="+mj-ea"/>
                <a:cs typeface="Times New Roman" pitchFamily="18" charset="0"/>
              </a:rPr>
              <a:t>model2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801187" y="5777819"/>
            <a:ext cx="1580606" cy="43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B0F0"/>
                </a:solidFill>
                <a:ea typeface="+mj-ea"/>
                <a:cs typeface="Times New Roman" pitchFamily="18" charset="0"/>
              </a:rPr>
              <a:t>model3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29629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7551" y="1965143"/>
            <a:ext cx="14763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0271" y="3582489"/>
            <a:ext cx="15811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9158" y="5060905"/>
            <a:ext cx="15335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263" y="774745"/>
            <a:ext cx="3605349" cy="655638"/>
          </a:xfrm>
        </p:spPr>
        <p:txBody>
          <a:bodyPr/>
          <a:lstStyle/>
          <a:p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451" y="1489165"/>
            <a:ext cx="3775166" cy="4506686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paradigm is based on the concept of procedures or functions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POP follows Top-Down approach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Overloading is not possible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POP needs less memory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doesn't have any access specifiers.</a:t>
            </a:r>
          </a:p>
          <a:p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 data Security</a:t>
            </a:r>
          </a:p>
          <a:p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Ex: C,FORTRAN,PASCAL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371703" y="718140"/>
            <a:ext cx="3605349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OOP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606834" y="1497874"/>
            <a:ext cx="3775166" cy="440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This paradigm is based on the concept of 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classes/objects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800" dirty="0">
                <a:cs typeface="Times New Roman" pitchFamily="18" charset="0"/>
              </a:rPr>
              <a:t>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 follows Bottom-Up approach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Overloading is possible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800" dirty="0">
                <a:cs typeface="Times New Roman" pitchFamily="18" charset="0"/>
              </a:rPr>
              <a:t>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 needs more memory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800" dirty="0">
                <a:cs typeface="Times New Roman" pitchFamily="18" charset="0"/>
              </a:rPr>
              <a:t>OOP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have access specifiers.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dirty="0">
                <a:cs typeface="Times New Roman" pitchFamily="18" charset="0"/>
              </a:rPr>
              <a:t>private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dirty="0">
                <a:cs typeface="Times New Roman" pitchFamily="18" charset="0"/>
              </a:rPr>
              <a:t>public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1800" dirty="0">
                <a:cs typeface="Times New Roman" pitchFamily="18" charset="0"/>
              </a:rPr>
              <a:t>protected	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OOP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provide data hiding so it provides more security.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Ex: C++,JAVA,PYTHON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OOPS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5" y="1959431"/>
            <a:ext cx="2651759" cy="195942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Polymorphism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2651" y="1593669"/>
            <a:ext cx="5290458" cy="354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Inheritance is a mechanism of extracting the properties and  methods of one class to another class.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for example let us consider a problem to implement program for two watches one is normal watch and the another is digital watch.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9703" y="3801292"/>
            <a:ext cx="1110344" cy="197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2259875" y="3291522"/>
            <a:ext cx="158060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displayDate()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ea typeface="+mj-ea"/>
                <a:cs typeface="Times New Roman" pitchFamily="18" charset="0"/>
              </a:rPr>
              <a:t>displayTime()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displayDay()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5394962" y="4232367"/>
            <a:ext cx="1667692" cy="136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displayDate()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ea typeface="+mj-ea"/>
                <a:cs typeface="Times New Roman" pitchFamily="18" charset="0"/>
              </a:rPr>
              <a:t>displayTime()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diaplayDay()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ea typeface="+mj-ea"/>
                <a:cs typeface="Times New Roman" pitchFamily="18" charset="0"/>
              </a:rPr>
              <a:t>setAlarm()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setTimer()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cxnSp>
        <p:nvCxnSpPr>
          <p:cNvPr id="12" name="Elbow Connector 11"/>
          <p:cNvCxnSpPr/>
          <p:nvPr/>
        </p:nvCxnSpPr>
        <p:spPr>
          <a:xfrm>
            <a:off x="1894115" y="4911634"/>
            <a:ext cx="3278777" cy="757646"/>
          </a:xfrm>
          <a:prstGeom prst="bentConnector3">
            <a:avLst>
              <a:gd name="adj1" fmla="val -59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77441" y="4558938"/>
            <a:ext cx="25080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Instead of  writing the 3 methods again in DigitalWatch class we can inherit them from NormalWatch class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5555" y="3390496"/>
            <a:ext cx="13239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9" grpId="1"/>
      <p:bldP spid="10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463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Polymorphism means “many forms". It refers to differentiate between entities with the same name efficiently.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9875" y="2481945"/>
            <a:ext cx="4624252" cy="3526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22424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9027" y="3265715"/>
            <a:ext cx="5172075" cy="2129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110343" y="1705433"/>
            <a:ext cx="7210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	Encapsulation</a:t>
            </a:r>
            <a:r>
              <a:rPr lang="en-US" dirty="0"/>
              <a:t> is a process of wrapping of data and methods in a single unit is called encapsulation.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10" y="1907179"/>
            <a:ext cx="4153988" cy="2677887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Abstraction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is a process of  hiding the implementation details and showing only functionality to the user.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34149" y="1815737"/>
            <a:ext cx="3004457" cy="367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A54D-0C38-41B1-A077-1720E883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Java Byte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2F1D-326B-4B9F-A910-A132C9882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Java Bytecode</a:t>
            </a: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The Compiler class supports the creation of Java environments in which Java bytecode is compiled into executable code rather than interpreted. </a:t>
            </a:r>
          </a:p>
          <a:p>
            <a:pPr>
              <a:buNone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Bytecode</a:t>
            </a: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highly optimized set of instructions designed to be executed by the Java run-time system, which is called the Java Virtual Machine (JVM). In essence, the original JVM was designed as an interpreter for bytecode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82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F48C-AEE7-4F0F-8504-BAD0CA3B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6320"/>
          </a:xfrm>
        </p:spPr>
        <p:txBody>
          <a:bodyPr>
            <a:normAutofit fontScale="90000"/>
          </a:bodyPr>
          <a:lstStyle/>
          <a:p>
            <a:r>
              <a:rPr lang="en-GB"/>
              <a:t> 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BA92BE-643F-4925-AA89-E5C7BCA24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8442" y="1005840"/>
            <a:ext cx="8694839" cy="53316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30EB51-4674-52B9-461A-9D081511F1AC}"/>
              </a:ext>
            </a:extLst>
          </p:cNvPr>
          <p:cNvSpPr/>
          <p:nvPr/>
        </p:nvSpPr>
        <p:spPr>
          <a:xfrm>
            <a:off x="4821382" y="1211283"/>
            <a:ext cx="1911927" cy="273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7BA1F-AD57-B82A-0D8C-65FB7919421B}"/>
              </a:ext>
            </a:extLst>
          </p:cNvPr>
          <p:cNvSpPr/>
          <p:nvPr/>
        </p:nvSpPr>
        <p:spPr>
          <a:xfrm>
            <a:off x="458849" y="1484416"/>
            <a:ext cx="3970647" cy="1306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4B6309-0327-3C32-CEB1-1AB62878DA72}"/>
              </a:ext>
            </a:extLst>
          </p:cNvPr>
          <p:cNvSpPr/>
          <p:nvPr/>
        </p:nvSpPr>
        <p:spPr>
          <a:xfrm>
            <a:off x="468580" y="2790701"/>
            <a:ext cx="3970647" cy="2054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06119-2B65-6748-CF07-78CF675102B8}"/>
              </a:ext>
            </a:extLst>
          </p:cNvPr>
          <p:cNvSpPr/>
          <p:nvPr/>
        </p:nvSpPr>
        <p:spPr>
          <a:xfrm>
            <a:off x="468580" y="5373584"/>
            <a:ext cx="3970647" cy="6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0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DF47-21E8-4359-9B49-8658730C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5419725"/>
            <a:ext cx="7703820" cy="9366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4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72E92C-D6EA-40BE-94E0-7E8FBDF4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466" r="2" b="2"/>
          <a:stretch/>
        </p:blipFill>
        <p:spPr>
          <a:xfrm>
            <a:off x="404947" y="1018902"/>
            <a:ext cx="8321041" cy="5330651"/>
          </a:xfrm>
          <a:prstGeom prst="rect">
            <a:avLst/>
          </a:prstGeom>
          <a:effectLst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65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C537-3FF9-4892-97C9-FE7815FA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2050" name="Picture 2" descr="Java Bytecode">
            <a:extLst>
              <a:ext uri="{FF2B5EF4-FFF2-40B4-BE49-F238E27FC236}">
                <a16:creationId xmlns:a16="http://schemas.microsoft.com/office/drawing/2014/main" id="{6781809F-4966-44E3-A53F-3280A23F20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63" y="1280161"/>
            <a:ext cx="78867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5F318-DE06-A896-0A68-E7BAB522A1EE}"/>
              </a:ext>
            </a:extLst>
          </p:cNvPr>
          <p:cNvSpPr/>
          <p:nvPr/>
        </p:nvSpPr>
        <p:spPr>
          <a:xfrm>
            <a:off x="2689883" y="1945593"/>
            <a:ext cx="3970647" cy="1189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51C82-23DC-5F74-4AB5-D02016587EF9}"/>
              </a:ext>
            </a:extLst>
          </p:cNvPr>
          <p:cNvSpPr/>
          <p:nvPr/>
        </p:nvSpPr>
        <p:spPr>
          <a:xfrm>
            <a:off x="2689882" y="3128168"/>
            <a:ext cx="3970647" cy="1189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E23F3-EF21-4B3A-FE37-715A6F4FD755}"/>
              </a:ext>
            </a:extLst>
          </p:cNvPr>
          <p:cNvSpPr/>
          <p:nvPr/>
        </p:nvSpPr>
        <p:spPr>
          <a:xfrm>
            <a:off x="481891" y="4318296"/>
            <a:ext cx="7927072" cy="1991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3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684E-B84C-44B4-8BF4-139B6B21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Architectural neutrality and JVM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6609-9F38-4959-92E4-BE689C7B5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Unlike many other programming languages including C and C++, when Java is compiled, it is not compiled into platform specific machine, rather into platform-independent byte code. </a:t>
            </a:r>
          </a:p>
          <a:p>
            <a:pPr marL="0" indent="0">
              <a:buNone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byte code is distributed over the web and interpreted by the Virtual Machine (JVM) on whichever platform it is being run on.</a:t>
            </a:r>
          </a:p>
          <a:p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short, Java compiler generates an architecture-neutral object file format, which makes the compiled code executable on many processors, with the presence of Java runtime system</a:t>
            </a:r>
          </a:p>
          <a:p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6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38289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51671</TotalTime>
  <Words>976</Words>
  <Application>Microsoft Macintosh PowerPoint</Application>
  <PresentationFormat>On-screen Show (4:3)</PresentationFormat>
  <Paragraphs>132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klu</vt:lpstr>
      <vt:lpstr>Session-01: Object Oriented Paradigm vs. Procedural Paradigm</vt:lpstr>
      <vt:lpstr>Objectives</vt:lpstr>
      <vt:lpstr>    Agenda</vt:lpstr>
      <vt:lpstr>What is POP?</vt:lpstr>
      <vt:lpstr>Structure of  Procedure Oriented Programming</vt:lpstr>
      <vt:lpstr>What is OOP?</vt:lpstr>
      <vt:lpstr>Structure of Object Oriented Paradigm</vt:lpstr>
      <vt:lpstr>Example for OOP vs. POP</vt:lpstr>
      <vt:lpstr>POP</vt:lpstr>
      <vt:lpstr>PowerPoint Presentation</vt:lpstr>
      <vt:lpstr>OOP</vt:lpstr>
      <vt:lpstr>POP</vt:lpstr>
      <vt:lpstr>OOPS CONCEPTS</vt:lpstr>
      <vt:lpstr>Inheritance</vt:lpstr>
      <vt:lpstr>Polymorphism</vt:lpstr>
      <vt:lpstr>Encapsulation</vt:lpstr>
      <vt:lpstr>Abstraction</vt:lpstr>
      <vt:lpstr>  Java Byte code</vt:lpstr>
      <vt:lpstr> </vt:lpstr>
      <vt:lpstr>PowerPoint Presentation</vt:lpstr>
      <vt:lpstr> </vt:lpstr>
      <vt:lpstr> Architectural neutrality and JVM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1125</cp:revision>
  <cp:lastPrinted>1999-01-11T10:11:19Z</cp:lastPrinted>
  <dcterms:created xsi:type="dcterms:W3CDTF">1999-01-07T21:51:57Z</dcterms:created>
  <dcterms:modified xsi:type="dcterms:W3CDTF">2024-09-12T09:34:52Z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