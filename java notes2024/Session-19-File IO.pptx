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0" r:id="rId1"/>
  </p:sldMasterIdLst>
  <p:notesMasterIdLst>
    <p:notesMasterId r:id="rId41"/>
  </p:notesMasterIdLst>
  <p:sldIdLst>
    <p:sldId id="856" r:id="rId2"/>
    <p:sldId id="916" r:id="rId3"/>
    <p:sldId id="917" r:id="rId4"/>
    <p:sldId id="952" r:id="rId5"/>
    <p:sldId id="918" r:id="rId6"/>
    <p:sldId id="919" r:id="rId7"/>
    <p:sldId id="920" r:id="rId8"/>
    <p:sldId id="921" r:id="rId9"/>
    <p:sldId id="922" r:id="rId10"/>
    <p:sldId id="923" r:id="rId11"/>
    <p:sldId id="924" r:id="rId12"/>
    <p:sldId id="925" r:id="rId13"/>
    <p:sldId id="926" r:id="rId14"/>
    <p:sldId id="927" r:id="rId15"/>
    <p:sldId id="928" r:id="rId16"/>
    <p:sldId id="929" r:id="rId17"/>
    <p:sldId id="930" r:id="rId18"/>
    <p:sldId id="931" r:id="rId19"/>
    <p:sldId id="932" r:id="rId20"/>
    <p:sldId id="933" r:id="rId21"/>
    <p:sldId id="934" r:id="rId22"/>
    <p:sldId id="935" r:id="rId23"/>
    <p:sldId id="936" r:id="rId24"/>
    <p:sldId id="937" r:id="rId25"/>
    <p:sldId id="938" r:id="rId26"/>
    <p:sldId id="939" r:id="rId27"/>
    <p:sldId id="940" r:id="rId28"/>
    <p:sldId id="941" r:id="rId29"/>
    <p:sldId id="942" r:id="rId30"/>
    <p:sldId id="943" r:id="rId31"/>
    <p:sldId id="944" r:id="rId32"/>
    <p:sldId id="945" r:id="rId33"/>
    <p:sldId id="946" r:id="rId34"/>
    <p:sldId id="947" r:id="rId35"/>
    <p:sldId id="948" r:id="rId36"/>
    <p:sldId id="949" r:id="rId37"/>
    <p:sldId id="950" r:id="rId38"/>
    <p:sldId id="951" r:id="rId39"/>
    <p:sldId id="912" r:id="rId4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8" autoAdjust="0"/>
    <p:restoredTop sz="94720"/>
  </p:normalViewPr>
  <p:slideViewPr>
    <p:cSldViewPr snapToGrid="0">
      <p:cViewPr varScale="1">
        <p:scale>
          <a:sx n="102" d="100"/>
          <a:sy n="102" d="100"/>
        </p:scale>
        <p:origin x="1888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C08F098-34A8-4532-9C69-38DECEB33B3C}" type="datetimeFigureOut">
              <a:rPr lang="en-US"/>
              <a:pPr>
                <a:defRPr/>
              </a:pPr>
              <a:t>9/16/24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31F2AAD-F00E-4B2B-A58E-1BBB485431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9185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47EF12-65BD-7C4F-9F7B-34D4C4081BE4}" type="datetime2">
              <a:rPr lang="en-IN" smtClean="0"/>
              <a:t>Monday, 16 September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129DB-8D41-4066-AA93-1DAF03F26E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C2E714-9726-5648-9805-25298B5CD9CE}" type="datetime2">
              <a:rPr lang="en-IN" smtClean="0"/>
              <a:t>Monday, 16 September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FD8EC-3A04-483A-AD2E-8D598A4DA8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F9BDA7-1C76-B64C-BFBB-2DD8FC0B0462}" type="datetime2">
              <a:rPr lang="en-IN" smtClean="0"/>
              <a:t>Monday, 16 September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89411-C56C-40F4-B66E-D512662E7E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3914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8B5F28-82C4-1145-9D91-07DC8A145CD6}" type="datetime2">
              <a:rPr lang="en-IN" smtClean="0"/>
              <a:t>Monday, 16 September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9E7CF-FAD9-49DF-99E0-EAA77C32AE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4040188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4"/>
            <a:ext cx="4040188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95400"/>
            <a:ext cx="4041775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041775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69DB47-0C5F-214C-984E-9FA2FDCE5959}" type="datetime2">
              <a:rPr lang="en-IN" smtClean="0"/>
              <a:t>Monday, 16 September 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7AD7C-0654-469F-AEFA-E806C2E841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15A5C6-3EDE-F34D-8A0B-B78A5ED65DBC}" type="datetime2">
              <a:rPr lang="en-IN" smtClean="0"/>
              <a:t>Monday, 16 September 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A0E5E-4093-4CD3-BA7B-F97E5E4A51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E72BB3-4F7C-364E-8373-EEF309789028}" type="datetime2">
              <a:rPr lang="en-IN" smtClean="0"/>
              <a:t>Monday, 16 September 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6A58B-23FE-4F42-857E-74F19373BE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3008313" cy="6731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4322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889500"/>
          </a:xfrm>
        </p:spPr>
        <p:txBody>
          <a:bodyPr/>
          <a:lstStyle>
            <a:lvl1pPr marL="0" indent="0">
              <a:buNone/>
              <a:defRPr sz="1400">
                <a:solidFill>
                  <a:srgbClr val="00B0F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98D0D7-D7EC-A246-AF20-4745B06F0BA4}" type="datetime2">
              <a:rPr lang="en-IN" smtClean="0"/>
              <a:t>Monday, 16 September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302C-7341-4EFD-A7BE-94A6EA3ED8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A9B953-6580-D14A-A678-2705D9C7652D}" type="datetime2">
              <a:rPr lang="en-IN" smtClean="0"/>
              <a:t>Monday, 16 September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EE4BA-9FC8-42B3-9170-29EB164472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95400"/>
            <a:ext cx="8229600" cy="5029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3EAFF8-687A-514E-B383-6E43393718A3}" type="datetime2">
              <a:rPr lang="en-IN" smtClean="0"/>
              <a:t>Monday, 16 September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11CB4-3CE4-427D-9B5B-DA68271F1F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66800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19800" cy="5592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4D9C74-6258-E24C-8933-2C029557A4C8}" type="datetime2">
              <a:rPr lang="en-IN" smtClean="0"/>
              <a:t>Monday, 16 September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C8231-EDB7-4A03-BDA6-FF052D201C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7391400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09DFE74-1456-C246-9145-41276736739F}" type="datetime2">
              <a:rPr lang="en-IN" smtClean="0"/>
              <a:t>Monday, 16 September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27807A9-12E1-47F0-9E96-6DDF5CA19C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7981950" y="977900"/>
            <a:ext cx="1143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Arc 15"/>
          <p:cNvSpPr/>
          <p:nvPr/>
        </p:nvSpPr>
        <p:spPr>
          <a:xfrm>
            <a:off x="7010400" y="444500"/>
            <a:ext cx="990600" cy="1066800"/>
          </a:xfrm>
          <a:prstGeom prst="arc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7" name="Straight Connector 16"/>
          <p:cNvCxnSpPr>
            <a:stCxn id="16" idx="0"/>
          </p:cNvCxnSpPr>
          <p:nvPr/>
        </p:nvCxnSpPr>
        <p:spPr>
          <a:xfrm flipH="1">
            <a:off x="228600" y="444500"/>
            <a:ext cx="72771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E46C0A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rgbClr val="59595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rgbClr val="595959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59595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595959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IN" sz="2400" dirty="0"/>
              <a:t>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FD7860-D0D8-4767-99A5-DFFBF448064D}"/>
              </a:ext>
            </a:extLst>
          </p:cNvPr>
          <p:cNvSpPr txBox="1"/>
          <p:nvPr/>
        </p:nvSpPr>
        <p:spPr>
          <a:xfrm>
            <a:off x="457197" y="545842"/>
            <a:ext cx="8229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Session 19:</a:t>
            </a:r>
          </a:p>
          <a:p>
            <a:r>
              <a:rPr lang="en-IN" sz="6600" dirty="0" err="1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IOStreams</a:t>
            </a:r>
            <a:r>
              <a:rPr lang="en-IN" sz="6600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 and </a:t>
            </a:r>
            <a:r>
              <a:rPr lang="en-US" sz="6600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File IO</a:t>
            </a:r>
            <a:endParaRPr lang="en-IN" sz="6600" dirty="0">
              <a:solidFill>
                <a:srgbClr val="C00000"/>
              </a:solidFill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IN" sz="6600" dirty="0">
              <a:solidFill>
                <a:srgbClr val="C00000"/>
              </a:solidFill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6DF755-1DE6-424B-B8B9-C195C91D5CC5}"/>
              </a:ext>
            </a:extLst>
          </p:cNvPr>
          <p:cNvSpPr txBox="1"/>
          <p:nvPr/>
        </p:nvSpPr>
        <p:spPr>
          <a:xfrm>
            <a:off x="457194" y="3435221"/>
            <a:ext cx="82295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/>
              <a:t>Dr.</a:t>
            </a:r>
            <a:r>
              <a:rPr lang="en-IN" b="1" dirty="0"/>
              <a:t> Naveen Kumar</a:t>
            </a:r>
          </a:p>
          <a:p>
            <a:pPr algn="ctr"/>
            <a:r>
              <a:rPr lang="en-IN" b="1" dirty="0"/>
              <a:t>Associate Professor,</a:t>
            </a:r>
          </a:p>
          <a:p>
            <a:pPr algn="ctr"/>
            <a:r>
              <a:rPr lang="en-IN" b="1" dirty="0"/>
              <a:t>Amity Institute of Information Technology, </a:t>
            </a:r>
          </a:p>
          <a:p>
            <a:pPr algn="ctr"/>
            <a:r>
              <a:rPr lang="en-IN" b="1" dirty="0"/>
              <a:t>Amity University Patna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41F89-2F46-263A-7BD5-4B60238E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366266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226"/>
    </mc:Choice>
    <mc:Fallback xmlns="">
      <p:transition spd="slow" advTm="352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97BA-6344-3093-736D-DA47C376C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of Streams</a:t>
            </a:r>
          </a:p>
        </p:txBody>
      </p:sp>
      <p:pic>
        <p:nvPicPr>
          <p:cNvPr id="6" name="Content Placeholder 5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77BDC5C7-F0F2-563A-F629-1BFD024AC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11162"/>
            <a:ext cx="8229600" cy="319767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679CC0-682B-CD29-DAE4-61885800E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791470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445A0-99E3-EA74-5306-D2523AE1A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IOStream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E08A6-6A53-4E10-BB26-6225E8273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Verdana" panose="020B0604030504040204" pitchFamily="34" charset="0"/>
              </a:rPr>
              <a:t>In Java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IOStreams</a:t>
            </a:r>
            <a:r>
              <a:rPr lang="en-IN" sz="1800" dirty="0">
                <a:effectLst/>
                <a:latin typeface="Verdana" panose="020B0604030504040204" pitchFamily="34" charset="0"/>
              </a:rPr>
              <a:t> are divided into following ways: </a:t>
            </a: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1.Byte oriented Streams.</a:t>
            </a: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2.Character-Oriented Streams </a:t>
            </a:r>
            <a:endParaRPr lang="en-IN" sz="1800" dirty="0"/>
          </a:p>
          <a:p>
            <a:endParaRPr lang="en-IN" sz="1800" dirty="0">
              <a:latin typeface="Verdana" panose="020B0604030504040204" pitchFamily="34" charset="0"/>
            </a:endParaRPr>
          </a:p>
          <a:p>
            <a:pPr marL="0" indent="0">
              <a:buNone/>
            </a:pPr>
            <a:endParaRPr lang="en-IN" sz="1800" dirty="0">
              <a:effectLst/>
              <a:latin typeface="Verdana" panose="020B0604030504040204" pitchFamily="34" charset="0"/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1F12B-71B4-18EA-957E-67F90584F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811862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39BED-F295-B85B-D6A4-3A6AF367D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Byte Oriented Stream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B54DD-A424-967C-AC80-BCF3886B6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>
                <a:latin typeface="Verdana" panose="020B0604030504040204" pitchFamily="34" charset="0"/>
              </a:rPr>
              <a:t>Byte Stream </a:t>
            </a:r>
            <a:r>
              <a:rPr lang="en-IN" sz="2400" dirty="0">
                <a:effectLst/>
                <a:latin typeface="Verdana" panose="020B0604030504040204" pitchFamily="34" charset="0"/>
              </a:rPr>
              <a:t>allows the data in the form of </a:t>
            </a:r>
            <a:r>
              <a:rPr lang="en-IN" sz="2400" b="1" dirty="0">
                <a:effectLst/>
                <a:latin typeface="Verdana" panose="020B0604030504040204" pitchFamily="34" charset="0"/>
              </a:rPr>
              <a:t>bytes</a:t>
            </a:r>
            <a:r>
              <a:rPr lang="en-IN" sz="2400" dirty="0">
                <a:effectLst/>
                <a:latin typeface="Verdana" panose="020B0604030504040204" pitchFamily="34" charset="0"/>
              </a:rPr>
              <a:t> </a:t>
            </a:r>
            <a:r>
              <a:rPr lang="en-IN" sz="2400" b="1" dirty="0">
                <a:effectLst/>
                <a:latin typeface="Verdana" panose="020B0604030504040204" pitchFamily="34" charset="0"/>
              </a:rPr>
              <a:t>from input devices to Java program</a:t>
            </a:r>
            <a:r>
              <a:rPr lang="en-IN" sz="2400" dirty="0">
                <a:effectLst/>
                <a:latin typeface="Verdana" panose="020B0604030504040204" pitchFamily="34" charset="0"/>
              </a:rPr>
              <a:t> and </a:t>
            </a:r>
            <a:r>
              <a:rPr lang="en-IN" sz="2400" b="1" dirty="0">
                <a:effectLst/>
                <a:latin typeface="Verdana" panose="020B0604030504040204" pitchFamily="34" charset="0"/>
              </a:rPr>
              <a:t>from java program to output devices</a:t>
            </a:r>
            <a:r>
              <a:rPr lang="en-IN" sz="2400" dirty="0">
                <a:effectLst/>
                <a:latin typeface="Verdana" panose="020B0604030504040204" pitchFamily="34" charset="0"/>
              </a:rPr>
              <a:t>. </a:t>
            </a:r>
            <a:endParaRPr lang="en-IN" sz="1400" dirty="0"/>
          </a:p>
          <a:p>
            <a:endParaRPr lang="en-IN" sz="2400" dirty="0">
              <a:effectLst/>
              <a:latin typeface="Verdana" panose="020B0604030504040204" pitchFamily="34" charset="0"/>
            </a:endParaRPr>
          </a:p>
          <a:p>
            <a:r>
              <a:rPr lang="en-IN" sz="2400" dirty="0">
                <a:effectLst/>
                <a:latin typeface="Verdana" panose="020B0604030504040204" pitchFamily="34" charset="0"/>
              </a:rPr>
              <a:t>The length of the data in byte-oriented streams is 1 byte. </a:t>
            </a:r>
          </a:p>
          <a:p>
            <a:r>
              <a:rPr lang="en-IN" sz="2400" dirty="0">
                <a:effectLst/>
                <a:latin typeface="Verdana" panose="020B0604030504040204" pitchFamily="34" charset="0"/>
              </a:rPr>
              <a:t>There are two types of Byte-Oriented Streams </a:t>
            </a:r>
            <a:endParaRPr lang="en-IN" sz="1400" dirty="0"/>
          </a:p>
          <a:p>
            <a:r>
              <a:rPr lang="en-IN" sz="2400" dirty="0" err="1">
                <a:effectLst/>
                <a:latin typeface="Verdana" panose="020B0604030504040204" pitchFamily="34" charset="0"/>
              </a:rPr>
              <a:t>i</a:t>
            </a:r>
            <a:r>
              <a:rPr lang="en-IN" sz="2400" dirty="0">
                <a:effectLst/>
                <a:latin typeface="Verdana" panose="020B0604030504040204" pitchFamily="34" charset="0"/>
              </a:rPr>
              <a:t>. </a:t>
            </a:r>
            <a:r>
              <a:rPr lang="en-IN" sz="2400" dirty="0" err="1">
                <a:effectLst/>
                <a:latin typeface="Verdana" panose="020B0604030504040204" pitchFamily="34" charset="0"/>
              </a:rPr>
              <a:t>InputStream</a:t>
            </a:r>
            <a:endParaRPr lang="en-IN" sz="2400" dirty="0">
              <a:effectLst/>
              <a:latin typeface="Verdana" panose="020B0604030504040204" pitchFamily="34" charset="0"/>
            </a:endParaRPr>
          </a:p>
          <a:p>
            <a:r>
              <a:rPr lang="en-IN" sz="2400" dirty="0">
                <a:latin typeface="Verdana" panose="020B0604030504040204" pitchFamily="34" charset="0"/>
              </a:rPr>
              <a:t>ii. </a:t>
            </a:r>
            <a:r>
              <a:rPr lang="en-IN" sz="2400" dirty="0" err="1">
                <a:latin typeface="Verdana" panose="020B0604030504040204" pitchFamily="34" charset="0"/>
              </a:rPr>
              <a:t>OutputStream</a:t>
            </a: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95891D-BE87-C227-B27A-A27B939ED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586207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25242-AC39-80DF-151B-2B070BA5C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</a:t>
            </a:r>
            <a:r>
              <a:rPr lang="en-US" dirty="0"/>
              <a:t>. </a:t>
            </a:r>
            <a:r>
              <a:rPr lang="en-US" dirty="0" err="1"/>
              <a:t>InputStream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047F4-5F5C-361D-CBBE-2C6FD20C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Verdana" panose="020B0604030504040204" pitchFamily="34" charset="0"/>
              </a:rPr>
              <a:t>It is a byte-oriented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Stream,it</a:t>
            </a:r>
            <a:r>
              <a:rPr lang="en-IN" sz="1800" dirty="0">
                <a:effectLst/>
                <a:latin typeface="Verdana" panose="020B0604030504040204" pitchFamily="34" charset="0"/>
              </a:rPr>
              <a:t> will allow the data in the form of bytes from input devices to Java program. </a:t>
            </a:r>
            <a:endParaRPr lang="en-IN" dirty="0"/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ByteArrayInputStream</a:t>
            </a:r>
            <a:r>
              <a:rPr lang="en-IN" sz="1800" dirty="0">
                <a:effectLst/>
                <a:latin typeface="Verdana" panose="020B0604030504040204" pitchFamily="34" charset="0"/>
              </a:rPr>
              <a:t> </a:t>
            </a:r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FilterInputStream</a:t>
            </a:r>
            <a:r>
              <a:rPr lang="en-IN" sz="1800" dirty="0">
                <a:effectLst/>
                <a:latin typeface="Verdana" panose="020B0604030504040204" pitchFamily="34" charset="0"/>
              </a:rPr>
              <a:t> </a:t>
            </a:r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DataInputStream</a:t>
            </a:r>
            <a:r>
              <a:rPr lang="en-IN" sz="1800" dirty="0">
                <a:effectLst/>
                <a:latin typeface="Verdana" panose="020B0604030504040204" pitchFamily="34" charset="0"/>
              </a:rPr>
              <a:t> </a:t>
            </a:r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ObjectInputStream</a:t>
            </a:r>
            <a:r>
              <a:rPr lang="en-IN" sz="1800" dirty="0">
                <a:effectLst/>
                <a:latin typeface="Verdana" panose="020B0604030504040204" pitchFamily="34" charset="0"/>
              </a:rPr>
              <a:t> </a:t>
            </a:r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FileInputStream</a:t>
            </a:r>
            <a:r>
              <a:rPr lang="en-IN" sz="1800" dirty="0">
                <a:effectLst/>
                <a:latin typeface="Verdana" panose="020B0604030504040204" pitchFamily="34" charset="0"/>
              </a:rPr>
              <a:t> </a:t>
            </a:r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StringBufferInputStream</a:t>
            </a:r>
            <a:r>
              <a:rPr lang="en-IN" sz="1800" dirty="0">
                <a:effectLst/>
                <a:latin typeface="Verdana" panose="020B0604030504040204" pitchFamily="34" charset="0"/>
              </a:rPr>
              <a:t> </a:t>
            </a:r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BufferedInputStream</a:t>
            </a:r>
            <a:r>
              <a:rPr lang="en-IN" sz="1800" dirty="0">
                <a:effectLst/>
                <a:latin typeface="Verdana" panose="020B0604030504040204" pitchFamily="34" charset="0"/>
              </a:rPr>
              <a:t>.... </a:t>
            </a:r>
            <a:endParaRPr lang="en-IN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1A724C-46E2-0F82-F225-72C96620D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004015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2173B-3CD1-EA4A-2622-6D20353FC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</a:t>
            </a:r>
            <a:r>
              <a:rPr lang="en-US" dirty="0" err="1"/>
              <a:t>OutputStream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09875-31FA-52D0-D130-30960611A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Verdana" panose="020B0604030504040204" pitchFamily="34" charset="0"/>
              </a:rPr>
              <a:t>It is a byte-oriented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Stream,it</a:t>
            </a:r>
            <a:r>
              <a:rPr lang="en-IN" sz="1800" dirty="0">
                <a:effectLst/>
                <a:latin typeface="Verdana" panose="020B0604030504040204" pitchFamily="34" charset="0"/>
              </a:rPr>
              <a:t> will allow the data in the form of bytes from Java programmes to output devices.</a:t>
            </a:r>
            <a:br>
              <a:rPr lang="en-IN" sz="1800" dirty="0">
                <a:effectLst/>
                <a:latin typeface="Verdana" panose="020B0604030504040204" pitchFamily="34" charset="0"/>
              </a:rPr>
            </a:br>
            <a:endParaRPr lang="en-IN" dirty="0"/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ByteArrayOutputStream</a:t>
            </a:r>
            <a:endParaRPr lang="en-IN" sz="1800" dirty="0">
              <a:effectLst/>
              <a:latin typeface="Verdana" panose="020B0604030504040204" pitchFamily="34" charset="0"/>
            </a:endParaRPr>
          </a:p>
          <a:p>
            <a:r>
              <a:rPr lang="en-IN" sz="1800" dirty="0" err="1">
                <a:latin typeface="Verdana" panose="020B0604030504040204" pitchFamily="34" charset="0"/>
              </a:rPr>
              <a:t>FilterOutputStream</a:t>
            </a:r>
            <a:endParaRPr lang="en-IN" sz="1800" dirty="0">
              <a:latin typeface="Verdana" panose="020B0604030504040204" pitchFamily="34" charset="0"/>
            </a:endParaRPr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DataOutputStream</a:t>
            </a:r>
            <a:r>
              <a:rPr lang="en-IN" sz="1800" dirty="0">
                <a:effectLst/>
                <a:latin typeface="Verdana" panose="020B0604030504040204" pitchFamily="34" charset="0"/>
              </a:rPr>
              <a:t> </a:t>
            </a:r>
            <a:endParaRPr lang="en-IN" dirty="0"/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FileOutputStream</a:t>
            </a:r>
            <a:r>
              <a:rPr lang="en-IN" sz="1800" dirty="0">
                <a:effectLst/>
                <a:latin typeface="Verdana" panose="020B0604030504040204" pitchFamily="34" charset="0"/>
              </a:rPr>
              <a:t> </a:t>
            </a:r>
            <a:endParaRPr lang="en-IN" dirty="0"/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PrintStream</a:t>
            </a:r>
            <a:r>
              <a:rPr lang="en-IN" sz="1800" dirty="0">
                <a:effectLst/>
                <a:latin typeface="Verdana" panose="020B0604030504040204" pitchFamily="34" charset="0"/>
              </a:rPr>
              <a:t> </a:t>
            </a:r>
            <a:endParaRPr lang="en-IN" dirty="0"/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BufferedOutputStream</a:t>
            </a:r>
            <a:r>
              <a:rPr lang="en-IN" sz="1800" dirty="0">
                <a:effectLst/>
                <a:latin typeface="Verdana" panose="020B0604030504040204" pitchFamily="34" charset="0"/>
              </a:rPr>
              <a:t>.. </a:t>
            </a:r>
            <a:endParaRPr lang="en-IN" dirty="0"/>
          </a:p>
          <a:p>
            <a:endParaRPr lang="en-US" dirty="0"/>
          </a:p>
          <a:p>
            <a:r>
              <a:rPr lang="en-IN" sz="1800" b="1" dirty="0" err="1">
                <a:effectLst/>
                <a:latin typeface="Verdana" panose="020B0604030504040204" pitchFamily="34" charset="0"/>
              </a:rPr>
              <a:t>NOTE:All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 the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ByteOrientedStream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 classes are ends with "Stream" word. </a:t>
            </a:r>
            <a:endParaRPr lang="en-IN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1A7AD8-F9AD-B0FD-6CC5-F0C1D3554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33846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AE9E3-E077-50FF-3196-C472EABD4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Character Oriented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89F5E-BACC-95CB-6E0C-0B2DE01C9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Verdana" panose="020B0604030504040204" pitchFamily="34" charset="0"/>
              </a:rPr>
              <a:t>These Streams allows the data in the form of 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characters from input devices to java program</a:t>
            </a:r>
            <a:r>
              <a:rPr lang="en-IN" sz="1800" dirty="0">
                <a:effectLst/>
                <a:latin typeface="Verdana" panose="020B0604030504040204" pitchFamily="34" charset="0"/>
              </a:rPr>
              <a:t> and 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form java program to output devices</a:t>
            </a:r>
            <a:r>
              <a:rPr lang="en-IN" sz="1800" dirty="0">
                <a:effectLst/>
                <a:latin typeface="Verdana" panose="020B0604030504040204" pitchFamily="34" charset="0"/>
              </a:rPr>
              <a:t>.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The length of the data in characters-oriented stream is 2 bytes. There are two bytes of character-oriented streams</a:t>
            </a:r>
            <a:br>
              <a:rPr lang="en-IN" sz="1800" dirty="0">
                <a:effectLst/>
                <a:latin typeface="Verdana" panose="020B0604030504040204" pitchFamily="34" charset="0"/>
              </a:rPr>
            </a:br>
            <a:r>
              <a:rPr lang="en-IN" sz="1800" dirty="0">
                <a:effectLst/>
                <a:latin typeface="Verdana" panose="020B0604030504040204" pitchFamily="34" charset="0"/>
              </a:rPr>
              <a:t>1.Reader</a:t>
            </a:r>
            <a:br>
              <a:rPr lang="en-IN" sz="1800" dirty="0">
                <a:effectLst/>
                <a:latin typeface="Verdana" panose="020B0604030504040204" pitchFamily="34" charset="0"/>
              </a:rPr>
            </a:br>
            <a:r>
              <a:rPr lang="en-IN" sz="1800" dirty="0">
                <a:effectLst/>
                <a:latin typeface="Verdana" panose="020B0604030504040204" pitchFamily="34" charset="0"/>
              </a:rPr>
              <a:t>2.Writer </a:t>
            </a:r>
            <a:endParaRPr lang="en-IN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6EEF32-91F3-541B-08A5-26F48A506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890394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81AE0-B142-729D-7077-B0F3C8C88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</a:t>
            </a:r>
            <a:r>
              <a:rPr lang="en-US" dirty="0"/>
              <a:t>. Reader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4D29E-FA0B-B6FF-6E8F-F84C8497B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Verdana" panose="020B0604030504040204" pitchFamily="34" charset="0"/>
              </a:rPr>
              <a:t>The </a:t>
            </a:r>
            <a:r>
              <a:rPr lang="en-IN" sz="1800" dirty="0">
                <a:effectLst/>
                <a:latin typeface="Verdana" panose="020B0604030504040204" pitchFamily="34" charset="0"/>
              </a:rPr>
              <a:t>character-oriented stream allows the data in the form of 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characters from input devices to java program</a:t>
            </a:r>
            <a:r>
              <a:rPr lang="en-IN" sz="1800" dirty="0">
                <a:effectLst/>
                <a:latin typeface="Verdana" panose="020B0604030504040204" pitchFamily="34" charset="0"/>
              </a:rPr>
              <a:t>. </a:t>
            </a:r>
            <a:endParaRPr lang="en-IN" dirty="0"/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CharArrayReader</a:t>
            </a:r>
            <a:r>
              <a:rPr lang="en-IN" sz="1800" dirty="0">
                <a:effectLst/>
                <a:latin typeface="Verdana" panose="020B0604030504040204" pitchFamily="34" charset="0"/>
              </a:rPr>
              <a:t> </a:t>
            </a:r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FilterReader</a:t>
            </a:r>
            <a:r>
              <a:rPr lang="en-IN" sz="1800" dirty="0">
                <a:effectLst/>
                <a:latin typeface="Verdana" panose="020B0604030504040204" pitchFamily="34" charset="0"/>
              </a:rPr>
              <a:t> </a:t>
            </a:r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BufferedReader</a:t>
            </a:r>
            <a:r>
              <a:rPr lang="en-IN" sz="1800" dirty="0">
                <a:effectLst/>
                <a:latin typeface="Verdana" panose="020B0604030504040204" pitchFamily="34" charset="0"/>
              </a:rPr>
              <a:t> </a:t>
            </a:r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FileReader</a:t>
            </a:r>
            <a:r>
              <a:rPr lang="en-IN" sz="1800" dirty="0">
                <a:effectLst/>
                <a:latin typeface="Verdana" panose="020B0604030504040204" pitchFamily="34" charset="0"/>
              </a:rPr>
              <a:t> </a:t>
            </a:r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InputStreamReader</a:t>
            </a:r>
            <a:r>
              <a:rPr lang="en-IN" sz="1800" dirty="0">
                <a:effectLst/>
                <a:latin typeface="Verdana" panose="020B0604030504040204" pitchFamily="34" charset="0"/>
              </a:rPr>
              <a:t> .... </a:t>
            </a:r>
            <a:endParaRPr lang="en-IN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F4875D-1979-7196-63EF-6D52F50AA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636487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960A5-3B73-0A27-635E-A1047A30A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Writer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F46E3-831C-2EB9-EF91-724A473A0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Verdana" panose="020B0604030504040204" pitchFamily="34" charset="0"/>
              </a:rPr>
              <a:t>The character-oriented stream  allows the data in the form of 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characters from java program to output devices</a:t>
            </a:r>
            <a:r>
              <a:rPr lang="en-IN" sz="1800" dirty="0">
                <a:effectLst/>
                <a:latin typeface="Verdana" panose="020B0604030504040204" pitchFamily="34" charset="0"/>
              </a:rPr>
              <a:t>.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Ex: </a:t>
            </a:r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CharArrayWriter</a:t>
            </a:r>
            <a:r>
              <a:rPr lang="en-IN" sz="1800" dirty="0">
                <a:effectLst/>
                <a:latin typeface="Verdana" panose="020B0604030504040204" pitchFamily="34" charset="0"/>
              </a:rPr>
              <a:t> </a:t>
            </a:r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FilterWriter</a:t>
            </a:r>
            <a:r>
              <a:rPr lang="en-IN" sz="1800" dirty="0">
                <a:effectLst/>
                <a:latin typeface="Verdana" panose="020B0604030504040204" pitchFamily="34" charset="0"/>
              </a:rPr>
              <a:t> </a:t>
            </a:r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FileWriter</a:t>
            </a:r>
            <a:r>
              <a:rPr lang="en-IN" sz="1800" dirty="0">
                <a:effectLst/>
                <a:latin typeface="Verdana" panose="020B0604030504040204" pitchFamily="34" charset="0"/>
              </a:rPr>
              <a:t> </a:t>
            </a:r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PrintWriter</a:t>
            </a:r>
            <a:r>
              <a:rPr lang="en-IN" sz="1800" dirty="0">
                <a:effectLst/>
                <a:latin typeface="Verdana" panose="020B0604030504040204" pitchFamily="34" charset="0"/>
              </a:rPr>
              <a:t> </a:t>
            </a:r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BufferedWriter</a:t>
            </a:r>
            <a:r>
              <a:rPr lang="en-IN" sz="1800" dirty="0">
                <a:effectLst/>
                <a:latin typeface="Verdana" panose="020B0604030504040204" pitchFamily="34" charset="0"/>
              </a:rPr>
              <a:t>.... </a:t>
            </a:r>
            <a:endParaRPr lang="en-IN" dirty="0"/>
          </a:p>
          <a:p>
            <a:endParaRPr lang="en-US" dirty="0"/>
          </a:p>
          <a:p>
            <a:endParaRPr lang="en-US" dirty="0"/>
          </a:p>
          <a:p>
            <a:r>
              <a:rPr lang="en-IN" sz="1800" b="1" dirty="0" err="1">
                <a:effectLst/>
                <a:latin typeface="Verdana" panose="020B0604030504040204" pitchFamily="34" charset="0"/>
              </a:rPr>
              <a:t>NOTE:All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 the predefined Classes of character-oriented streams are ends with either Reader or Writer. </a:t>
            </a:r>
            <a:endParaRPr lang="en-IN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D9457E-B1F2-86D9-EDAD-4BDF203B4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481627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98D73-9321-E0E6-3652-FC4EDA7FB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 err="1">
                <a:solidFill>
                  <a:srgbClr val="16355B"/>
                </a:solidFill>
                <a:effectLst/>
                <a:latin typeface="TimesNewRomanPSMT"/>
              </a:rPr>
              <a:t>FileOutPutStream</a:t>
            </a:r>
            <a:r>
              <a:rPr lang="en-IN" sz="4400" dirty="0">
                <a:solidFill>
                  <a:srgbClr val="16355B"/>
                </a:solidFill>
                <a:effectLst/>
                <a:latin typeface="TimesNewRomanPSMT"/>
              </a:rPr>
              <a:t>: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2637F-8649-EC82-D838-8741263D5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Verdana" panose="020B0604030504040204" pitchFamily="34" charset="0"/>
              </a:rPr>
              <a:t>The byte-oriented Stream used to transfer the data from Java program to a particular target file.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To transfer the data from Java program to a particular target file by using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FileOutPutstream</a:t>
            </a:r>
            <a:r>
              <a:rPr lang="en-IN" sz="1800" dirty="0">
                <a:effectLst/>
                <a:latin typeface="Verdana" panose="020B0604030504040204" pitchFamily="34" charset="0"/>
              </a:rPr>
              <a:t> we have to use the following Steps. </a:t>
            </a:r>
          </a:p>
          <a:p>
            <a:r>
              <a:rPr lang="en-IN" sz="2400" dirty="0">
                <a:solidFill>
                  <a:srgbClr val="00B050"/>
                </a:solidFill>
                <a:effectLst/>
                <a:latin typeface="TimesNewRomanPSMT"/>
              </a:rPr>
              <a:t>1.Create </a:t>
            </a:r>
            <a:r>
              <a:rPr lang="en-IN" sz="2400" dirty="0" err="1">
                <a:solidFill>
                  <a:srgbClr val="00B050"/>
                </a:solidFill>
                <a:effectLst/>
                <a:latin typeface="TimesNewRomanPSMT"/>
              </a:rPr>
              <a:t>FileOutPutStream</a:t>
            </a:r>
            <a:r>
              <a:rPr lang="en-IN" sz="2400" dirty="0">
                <a:solidFill>
                  <a:srgbClr val="00B050"/>
                </a:solidFill>
                <a:effectLst/>
                <a:latin typeface="TimesNewRomanPSMT"/>
              </a:rPr>
              <a:t> between Java programme and target file: </a:t>
            </a:r>
            <a:endParaRPr lang="en-IN" sz="4000" dirty="0">
              <a:solidFill>
                <a:srgbClr val="00B050"/>
              </a:solidFill>
            </a:endParaRPr>
          </a:p>
          <a:p>
            <a:endParaRPr lang="en-IN" sz="1800" dirty="0">
              <a:effectLst/>
              <a:latin typeface="Verdana" panose="020B0604030504040204" pitchFamily="34" charset="0"/>
            </a:endParaRPr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FileOutPutStream</a:t>
            </a:r>
            <a:r>
              <a:rPr lang="en-IN" sz="1800" dirty="0">
                <a:effectLst/>
                <a:latin typeface="Verdana" panose="020B0604030504040204" pitchFamily="34" charset="0"/>
              </a:rPr>
              <a:t> constructors:</a:t>
            </a:r>
            <a:endParaRPr lang="en-IN" dirty="0"/>
          </a:p>
          <a:p>
            <a:r>
              <a:rPr lang="en-IN" sz="1800" b="1" dirty="0">
                <a:effectLst/>
                <a:latin typeface="Verdana" panose="020B0604030504040204" pitchFamily="34" charset="0"/>
              </a:rPr>
              <a:t>public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FileOutPutStream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(String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target_File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)</a:t>
            </a:r>
          </a:p>
          <a:p>
            <a:r>
              <a:rPr lang="en-IN" sz="1800" b="1" dirty="0">
                <a:effectLst/>
                <a:latin typeface="Verdana" panose="020B0604030504040204" pitchFamily="34" charset="0"/>
              </a:rPr>
              <a:t>public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FileOutPutStream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(String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target_File,boolean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 b) </a:t>
            </a:r>
            <a:endParaRPr lang="en-IN" sz="1800" dirty="0">
              <a:effectLst/>
              <a:latin typeface="Verdana" panose="020B0604030504040204" pitchFamily="34" charset="0"/>
            </a:endParaRP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Ex:</a:t>
            </a:r>
          </a:p>
          <a:p>
            <a:r>
              <a:rPr lang="en-IN" sz="1800" b="1" dirty="0" err="1">
                <a:effectLst/>
                <a:latin typeface="Verdana" panose="020B0604030504040204" pitchFamily="34" charset="0"/>
              </a:rPr>
              <a:t>FileOutPutStream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fos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=new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FileOutPutStream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("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abc.txt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"); </a:t>
            </a:r>
            <a:endParaRPr lang="en-IN" b="1" dirty="0"/>
          </a:p>
          <a:p>
            <a:r>
              <a:rPr lang="en-IN" sz="2000" dirty="0">
                <a:effectLst/>
                <a:latin typeface="Verdana" panose="020B0604030504040204" pitchFamily="34" charset="0"/>
              </a:rPr>
              <a:t>It will overwrites the existed data in the target file at each and every write operation. </a:t>
            </a:r>
            <a:endParaRPr lang="en-IN" sz="2000" dirty="0"/>
          </a:p>
          <a:p>
            <a:endParaRPr lang="en-IN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06DBE0-698E-FF70-B128-07FB6EA8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11082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E31A5-A419-241D-699B-DDAABE1B4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2E64A-247A-CE3E-118E-64CE005C6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600" b="1" dirty="0" err="1">
                <a:effectLst/>
                <a:latin typeface="Verdana" panose="020B0604030504040204" pitchFamily="34" charset="0"/>
              </a:rPr>
              <a:t>FileOutPutStream</a:t>
            </a:r>
            <a:r>
              <a:rPr lang="en-IN" sz="1600" b="1" dirty="0">
                <a:effectLst/>
                <a:latin typeface="Verdana" panose="020B0604030504040204" pitchFamily="34" charset="0"/>
              </a:rPr>
              <a:t> </a:t>
            </a:r>
            <a:r>
              <a:rPr lang="en-IN" sz="1600" b="1" dirty="0" err="1">
                <a:effectLst/>
                <a:latin typeface="Verdana" panose="020B0604030504040204" pitchFamily="34" charset="0"/>
              </a:rPr>
              <a:t>fos</a:t>
            </a:r>
            <a:r>
              <a:rPr lang="en-IN" sz="1600" b="1" dirty="0">
                <a:effectLst/>
                <a:latin typeface="Verdana" panose="020B0604030504040204" pitchFamily="34" charset="0"/>
              </a:rPr>
              <a:t>=new </a:t>
            </a:r>
            <a:r>
              <a:rPr lang="en-IN" sz="1600" b="1" dirty="0" err="1">
                <a:effectLst/>
                <a:latin typeface="Verdana" panose="020B0604030504040204" pitchFamily="34" charset="0"/>
              </a:rPr>
              <a:t>FileOutPutStream</a:t>
            </a:r>
            <a:r>
              <a:rPr lang="en-IN" sz="1600" b="1" dirty="0">
                <a:effectLst/>
                <a:latin typeface="Verdana" panose="020B0604030504040204" pitchFamily="34" charset="0"/>
              </a:rPr>
              <a:t>("</a:t>
            </a:r>
            <a:r>
              <a:rPr lang="en-IN" sz="1600" b="1" dirty="0" err="1">
                <a:effectLst/>
                <a:latin typeface="Verdana" panose="020B0604030504040204" pitchFamily="34" charset="0"/>
              </a:rPr>
              <a:t>abc.txt",true</a:t>
            </a:r>
            <a:r>
              <a:rPr lang="en-IN" sz="1600" b="1" dirty="0">
                <a:effectLst/>
                <a:latin typeface="Verdana" panose="020B0604030504040204" pitchFamily="34" charset="0"/>
              </a:rPr>
              <a:t>); </a:t>
            </a:r>
            <a:endParaRPr lang="en-IN" sz="2800" b="1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It will not overwrite the existed data in the target file, it will append the specified new data to the existed data in the target file.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When JVM encounter the above instruction, JVM will perform the following tasks.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a)JVM will take the specified target file.</a:t>
            </a:r>
            <a:br>
              <a:rPr lang="en-IN" sz="1800" dirty="0">
                <a:effectLst/>
                <a:latin typeface="Verdana" panose="020B0604030504040204" pitchFamily="34" charset="0"/>
              </a:rPr>
            </a:br>
            <a:r>
              <a:rPr lang="en-IN" sz="1800" dirty="0">
                <a:effectLst/>
                <a:latin typeface="Verdana" panose="020B0604030504040204" pitchFamily="34" charset="0"/>
              </a:rPr>
              <a:t>b)JVM will search for the specified target file at the respective location.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c)If the specified target file is available then JVM will establish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FileOutPutStream</a:t>
            </a:r>
            <a:r>
              <a:rPr lang="en-IN" sz="1800" dirty="0">
                <a:effectLst/>
                <a:latin typeface="Verdana" panose="020B0604030504040204" pitchFamily="34" charset="0"/>
              </a:rPr>
              <a:t> from java program to target file.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d)If the specified target file is not available then JVM will create a file with the target file name and establish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FileOutPutStream</a:t>
            </a:r>
            <a:r>
              <a:rPr lang="en-IN" sz="1800" dirty="0">
                <a:effectLst/>
                <a:latin typeface="Verdana" panose="020B0604030504040204" pitchFamily="34" charset="0"/>
              </a:rPr>
              <a:t> from Java program to target file. </a:t>
            </a:r>
            <a:endParaRPr lang="en-IN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C0B37B-D42E-BE4E-D178-CBC0E3C2A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628337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85061-B0CC-0C7B-408E-2BE389A71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B9D87-A828-C251-51CD-9973E303A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>
                <a:solidFill>
                  <a:srgbClr val="00B050"/>
                </a:solidFill>
                <a:effectLst/>
                <a:latin typeface="TimesNewRomanPSMT"/>
              </a:rPr>
              <a:t>2)Declare the data and convert into byte[]: </a:t>
            </a:r>
            <a:endParaRPr lang="en-IN" b="1" dirty="0">
              <a:solidFill>
                <a:srgbClr val="00B050"/>
              </a:solidFill>
            </a:endParaRP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String data="Hello";</a:t>
            </a: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byte[] b=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data.getBytes</a:t>
            </a:r>
            <a:r>
              <a:rPr lang="en-IN" sz="1800" dirty="0">
                <a:effectLst/>
                <a:latin typeface="Verdana" panose="020B0604030504040204" pitchFamily="34" charset="0"/>
              </a:rPr>
              <a:t>();</a:t>
            </a:r>
          </a:p>
          <a:p>
            <a:endParaRPr lang="en-IN" sz="1800" dirty="0">
              <a:latin typeface="Verdana" panose="020B0604030504040204" pitchFamily="34" charset="0"/>
            </a:endParaRPr>
          </a:p>
          <a:p>
            <a:r>
              <a:rPr lang="en-IN" sz="1800" b="1" dirty="0">
                <a:solidFill>
                  <a:srgbClr val="00B050"/>
                </a:solidFill>
                <a:effectLst/>
                <a:latin typeface="TimesNewRomanPSMT"/>
              </a:rPr>
              <a:t>3)Write Byte Array data into </a:t>
            </a:r>
            <a:r>
              <a:rPr lang="en-IN" sz="1800" b="1" dirty="0" err="1">
                <a:solidFill>
                  <a:srgbClr val="00B050"/>
                </a:solidFill>
                <a:effectLst/>
                <a:latin typeface="TimesNewRomanPSMT"/>
              </a:rPr>
              <a:t>FileOutPutStream</a:t>
            </a:r>
            <a:r>
              <a:rPr lang="en-IN" sz="1800" b="1" dirty="0">
                <a:solidFill>
                  <a:srgbClr val="00B050"/>
                </a:solidFill>
                <a:effectLst/>
                <a:latin typeface="TimesNewRomanPSMT"/>
              </a:rPr>
              <a:t>: </a:t>
            </a:r>
            <a:endParaRPr lang="en-IN" b="1" dirty="0">
              <a:solidFill>
                <a:srgbClr val="00B050"/>
              </a:solidFill>
            </a:endParaRP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To write byte[] data into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FileOutPutStream</a:t>
            </a:r>
            <a:r>
              <a:rPr lang="en-IN" sz="1800" dirty="0">
                <a:effectLst/>
                <a:latin typeface="Verdana" panose="020B0604030504040204" pitchFamily="34" charset="0"/>
              </a:rPr>
              <a:t>, we have to use the following method. </a:t>
            </a:r>
            <a:endParaRPr lang="en-IN" dirty="0"/>
          </a:p>
          <a:p>
            <a:r>
              <a:rPr lang="en-IN" sz="1800" b="1" dirty="0">
                <a:effectLst/>
                <a:latin typeface="Verdana" panose="020B0604030504040204" pitchFamily="34" charset="0"/>
              </a:rPr>
              <a:t>public void write(byte[] b)</a:t>
            </a:r>
            <a:r>
              <a:rPr lang="en-IN" sz="1800" dirty="0">
                <a:effectLst/>
                <a:latin typeface="Verdana" panose="020B0604030504040204" pitchFamily="34" charset="0"/>
              </a:rPr>
              <a:t> throws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IOException</a:t>
            </a:r>
            <a:r>
              <a:rPr lang="en-IN" sz="1800" dirty="0">
                <a:effectLst/>
                <a:latin typeface="Verdana" panose="020B0604030504040204" pitchFamily="34" charset="0"/>
              </a:rPr>
              <a:t> </a:t>
            </a: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Ex: </a:t>
            </a:r>
            <a:endParaRPr lang="en-IN" dirty="0"/>
          </a:p>
          <a:p>
            <a:r>
              <a:rPr lang="en-IN" sz="1800" b="1" dirty="0" err="1">
                <a:effectLst/>
                <a:latin typeface="Verdana" panose="020B0604030504040204" pitchFamily="34" charset="0"/>
              </a:rPr>
              <a:t>fos.write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(b); </a:t>
            </a:r>
            <a:endParaRPr lang="en-IN" b="1" dirty="0"/>
          </a:p>
          <a:p>
            <a:endParaRPr lang="en-IN" sz="1800" dirty="0">
              <a:solidFill>
                <a:srgbClr val="16355B"/>
              </a:solidFill>
              <a:effectLst/>
              <a:latin typeface="TimesNewRomanPSMT"/>
            </a:endParaRPr>
          </a:p>
          <a:p>
            <a:r>
              <a:rPr lang="en-IN" sz="1800" b="1" dirty="0">
                <a:solidFill>
                  <a:srgbClr val="00B050"/>
                </a:solidFill>
                <a:effectLst/>
                <a:latin typeface="TimesNewRomanPSMT"/>
              </a:rPr>
              <a:t>4)Close </a:t>
            </a:r>
            <a:r>
              <a:rPr lang="en-IN" sz="1800" b="1" dirty="0" err="1">
                <a:solidFill>
                  <a:srgbClr val="00B050"/>
                </a:solidFill>
                <a:effectLst/>
                <a:latin typeface="TimesNewRomanPSMT"/>
              </a:rPr>
              <a:t>FileOutPutStream</a:t>
            </a:r>
            <a:r>
              <a:rPr lang="en-IN" sz="1800" b="1" dirty="0">
                <a:solidFill>
                  <a:srgbClr val="00B050"/>
                </a:solidFill>
                <a:effectLst/>
                <a:latin typeface="TimesNewRomanPSMT"/>
              </a:rPr>
              <a:t>: </a:t>
            </a:r>
            <a:endParaRPr lang="en-IN" b="1" dirty="0">
              <a:solidFill>
                <a:srgbClr val="00B050"/>
              </a:solidFill>
            </a:endParaRPr>
          </a:p>
          <a:p>
            <a:r>
              <a:rPr lang="en-IN" sz="1800" b="1" dirty="0" err="1">
                <a:effectLst/>
                <a:latin typeface="Verdana" panose="020B0604030504040204" pitchFamily="34" charset="0"/>
              </a:rPr>
              <a:t>fos.close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(); </a:t>
            </a:r>
            <a:endParaRPr lang="en-IN" b="1" dirty="0"/>
          </a:p>
          <a:p>
            <a:endParaRPr lang="en-IN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BC5574-9105-634D-CBED-0B90473A8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1303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ECAF5-A375-3AA9-3A2C-E389B22C3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rgbClr val="16355B"/>
                </a:solidFill>
                <a:effectLst/>
                <a:latin typeface="TimesNewRomanPSMT"/>
              </a:rPr>
              <a:t>2.FileInputStream: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AF2CF-2775-44AA-2C9E-D756B7593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Verdana" panose="020B0604030504040204" pitchFamily="34" charset="0"/>
              </a:rPr>
              <a:t>It is a byte-oriented Stream, it can be used to 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transfer the data from a particular source file to Java Program</a:t>
            </a:r>
            <a:r>
              <a:rPr lang="en-IN" sz="1800" dirty="0">
                <a:effectLst/>
                <a:latin typeface="Verdana" panose="020B0604030504040204" pitchFamily="34" charset="0"/>
              </a:rPr>
              <a:t>.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If we want to transfer the data from source file to java programme by using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FileInputStream</a:t>
            </a:r>
            <a:r>
              <a:rPr lang="en-IN" sz="1800" dirty="0">
                <a:effectLst/>
                <a:latin typeface="Verdana" panose="020B0604030504040204" pitchFamily="34" charset="0"/>
              </a:rPr>
              <a:t>, we have to use the following Steps: </a:t>
            </a:r>
            <a:endParaRPr lang="en-US" dirty="0"/>
          </a:p>
          <a:p>
            <a:r>
              <a:rPr lang="en-IN" sz="1800" b="1" dirty="0">
                <a:solidFill>
                  <a:srgbClr val="00B050"/>
                </a:solidFill>
                <a:effectLst/>
                <a:latin typeface="TimesNewRomanPSMT"/>
              </a:rPr>
              <a:t>1.Create </a:t>
            </a:r>
            <a:r>
              <a:rPr lang="en-IN" sz="1800" b="1" dirty="0" err="1">
                <a:solidFill>
                  <a:srgbClr val="00B050"/>
                </a:solidFill>
                <a:effectLst/>
                <a:latin typeface="TimesNewRomanPSMT"/>
              </a:rPr>
              <a:t>FileInputStream</a:t>
            </a:r>
            <a:r>
              <a:rPr lang="en-IN" sz="1800" b="1" dirty="0">
                <a:solidFill>
                  <a:srgbClr val="00B050"/>
                </a:solidFill>
                <a:effectLst/>
                <a:latin typeface="TimesNewRomanPSMT"/>
              </a:rPr>
              <a:t> class Object: </a:t>
            </a:r>
            <a:endParaRPr lang="en-IN" b="1" dirty="0">
              <a:solidFill>
                <a:srgbClr val="00B050"/>
              </a:solidFill>
            </a:endParaRP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To create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FileInputStream</a:t>
            </a:r>
            <a:r>
              <a:rPr lang="en-IN" sz="1800" dirty="0">
                <a:effectLst/>
                <a:latin typeface="Verdana" panose="020B0604030504040204" pitchFamily="34" charset="0"/>
              </a:rPr>
              <a:t> constructor from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java.io.FileInputStream</a:t>
            </a:r>
            <a:r>
              <a:rPr lang="en-IN" sz="1800" dirty="0">
                <a:effectLst/>
                <a:latin typeface="Verdana" panose="020B0604030504040204" pitchFamily="34" charset="0"/>
              </a:rPr>
              <a:t> class. </a:t>
            </a:r>
            <a:endParaRPr lang="en-IN" dirty="0"/>
          </a:p>
          <a:p>
            <a:r>
              <a:rPr lang="en-IN" sz="1800" b="1" dirty="0">
                <a:effectLst/>
                <a:latin typeface="Verdana" panose="020B0604030504040204" pitchFamily="34" charset="0"/>
              </a:rPr>
              <a:t>public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FileInputStream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(String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file_name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) throws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FileNotFoundException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 </a:t>
            </a:r>
            <a:endParaRPr lang="en-IN" b="1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Ex: </a:t>
            </a:r>
            <a:endParaRPr lang="en-IN" dirty="0"/>
          </a:p>
          <a:p>
            <a:r>
              <a:rPr lang="en-IN" sz="1800" b="1" dirty="0" err="1">
                <a:effectLst/>
                <a:latin typeface="Verdana" panose="020B0604030504040204" pitchFamily="34" charset="0"/>
              </a:rPr>
              <a:t>FileInputStream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fis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=new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FileInputStream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("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abc.txt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"); </a:t>
            </a:r>
            <a:endParaRPr lang="en-IN" b="1" dirty="0"/>
          </a:p>
          <a:p>
            <a:endParaRPr lang="en-IN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AC05AE-0D2E-76F0-283C-717D6964F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4284922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866BB-1290-0E02-6296-54EBC8266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7F0E0-4D37-8881-CBD0-04F18E8D8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>
                <a:latin typeface="Verdana" panose="020B0604030504040204" pitchFamily="34" charset="0"/>
              </a:rPr>
              <a:t>When JVM encounter the above instruction then JVM will perform the following actions. </a:t>
            </a:r>
          </a:p>
          <a:p>
            <a:pPr marL="0" indent="0">
              <a:buNone/>
            </a:pPr>
            <a:r>
              <a:rPr lang="en-IN" sz="2000" dirty="0">
                <a:latin typeface="Verdana" panose="020B0604030504040204" pitchFamily="34" charset="0"/>
              </a:rPr>
              <a:t>1. JVM will take the specified source file name.</a:t>
            </a:r>
          </a:p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2.JVM will search for the specified source file at the respective location. </a:t>
            </a:r>
            <a:endParaRPr lang="en-IN" sz="3600" dirty="0"/>
          </a:p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3.If the source file is not available at the respective location then JVM will raise an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excpetion</a:t>
            </a:r>
            <a:r>
              <a:rPr lang="en-IN" sz="2000" dirty="0">
                <a:effectLst/>
                <a:latin typeface="Verdana" panose="020B0604030504040204" pitchFamily="34" charset="0"/>
              </a:rPr>
              <a:t> like "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java.io.FileNotFoundException</a:t>
            </a:r>
            <a:r>
              <a:rPr lang="en-IN" sz="2000" dirty="0">
                <a:effectLst/>
                <a:latin typeface="Verdana" panose="020B0604030504040204" pitchFamily="34" charset="0"/>
              </a:rPr>
              <a:t>". </a:t>
            </a:r>
            <a:endParaRPr lang="en-IN" sz="3600" dirty="0"/>
          </a:p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4.If the required source file is available then JVM will establish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FileInputStream</a:t>
            </a:r>
            <a:r>
              <a:rPr lang="en-IN" sz="2000" dirty="0">
                <a:effectLst/>
                <a:latin typeface="Verdana" panose="020B0604030504040204" pitchFamily="34" charset="0"/>
              </a:rPr>
              <a:t> from source file to JAVA program. </a:t>
            </a:r>
            <a:endParaRPr lang="en-IN" sz="3600" dirty="0"/>
          </a:p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5.After creating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FileInputStream,JVM</a:t>
            </a:r>
            <a:r>
              <a:rPr lang="en-IN" sz="2000" dirty="0">
                <a:effectLst/>
                <a:latin typeface="Verdana" panose="020B0604030504040204" pitchFamily="34" charset="0"/>
              </a:rPr>
              <a:t> will transfer the data from source file to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FileInputStream</a:t>
            </a:r>
            <a:r>
              <a:rPr lang="en-IN" sz="2000" dirty="0">
                <a:effectLst/>
                <a:latin typeface="Verdana" panose="020B0604030504040204" pitchFamily="34" charset="0"/>
              </a:rPr>
              <a:t> in the form bytes. </a:t>
            </a:r>
            <a:endParaRPr lang="en-IN" sz="3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96F7B2-EBAA-564C-BE25-C4E22E66B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526410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8C459-AB18-2209-3D68-469811252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48430-C1A6-526E-F07E-A07215542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>
                <a:solidFill>
                  <a:srgbClr val="00B050"/>
                </a:solidFill>
                <a:effectLst/>
                <a:latin typeface="TimesNewRomanPSMT"/>
              </a:rPr>
              <a:t>2.Get the size of the data from </a:t>
            </a:r>
            <a:r>
              <a:rPr lang="en-IN" sz="2000" b="1" dirty="0" err="1">
                <a:solidFill>
                  <a:srgbClr val="00B050"/>
                </a:solidFill>
                <a:effectLst/>
                <a:latin typeface="TimesNewRomanPSMT"/>
              </a:rPr>
              <a:t>FileInputStream</a:t>
            </a:r>
            <a:r>
              <a:rPr lang="en-IN" sz="2000" b="1" dirty="0">
                <a:solidFill>
                  <a:srgbClr val="00B050"/>
                </a:solidFill>
                <a:effectLst/>
                <a:latin typeface="TimesNewRomanPSMT"/>
              </a:rPr>
              <a:t> and prepare byte[] with the data size: </a:t>
            </a:r>
            <a:endParaRPr lang="en-IN" sz="3600" b="1" dirty="0">
              <a:solidFill>
                <a:srgbClr val="00B050"/>
              </a:solidFill>
            </a:endParaRP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To get the size of the data from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FileInputStream,we</a:t>
            </a:r>
            <a:r>
              <a:rPr lang="en-IN" sz="1800" dirty="0">
                <a:effectLst/>
                <a:latin typeface="Verdana" panose="020B0604030504040204" pitchFamily="34" charset="0"/>
              </a:rPr>
              <a:t> have to use the following method </a:t>
            </a:r>
            <a:endParaRPr lang="en-IN" dirty="0"/>
          </a:p>
          <a:p>
            <a:r>
              <a:rPr lang="en-IN" sz="1800" b="1" dirty="0">
                <a:effectLst/>
                <a:latin typeface="Verdana" panose="020B0604030504040204" pitchFamily="34" charset="0"/>
              </a:rPr>
              <a:t>public int available()</a:t>
            </a:r>
            <a:br>
              <a:rPr lang="en-IN" sz="1800" dirty="0">
                <a:effectLst/>
                <a:latin typeface="Verdana" panose="020B0604030504040204" pitchFamily="34" charset="0"/>
              </a:rPr>
            </a:br>
            <a:r>
              <a:rPr lang="en-IN" sz="1800" dirty="0">
                <a:effectLst/>
                <a:latin typeface="Verdana" panose="020B0604030504040204" pitchFamily="34" charset="0"/>
              </a:rPr>
              <a:t>Ex:</a:t>
            </a:r>
            <a:br>
              <a:rPr lang="en-IN" sz="1800" dirty="0">
                <a:effectLst/>
                <a:latin typeface="Verdana" panose="020B0604030504040204" pitchFamily="34" charset="0"/>
              </a:rPr>
            </a:br>
            <a:r>
              <a:rPr lang="en-IN" sz="1800" b="1" dirty="0">
                <a:effectLst/>
                <a:latin typeface="Verdana" panose="020B0604030504040204" pitchFamily="34" charset="0"/>
              </a:rPr>
              <a:t>int size=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fis.available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();</a:t>
            </a:r>
            <a:br>
              <a:rPr lang="en-IN" sz="1800" dirty="0">
                <a:effectLst/>
                <a:latin typeface="Verdana" panose="020B0604030504040204" pitchFamily="34" charset="0"/>
              </a:rPr>
            </a:br>
            <a:r>
              <a:rPr lang="en-IN" sz="1800" dirty="0">
                <a:effectLst/>
                <a:latin typeface="Verdana" panose="020B0604030504040204" pitchFamily="34" charset="0"/>
              </a:rPr>
              <a:t>byte[] b=new byte[size];</a:t>
            </a:r>
            <a:br>
              <a:rPr lang="en-IN" sz="1800" dirty="0">
                <a:effectLst/>
                <a:latin typeface="Verdana" panose="020B0604030504040204" pitchFamily="34" charset="0"/>
              </a:rPr>
            </a:br>
            <a:endParaRPr lang="en-IN" sz="1800" dirty="0">
              <a:effectLst/>
              <a:latin typeface="Verdana" panose="020B0604030504040204" pitchFamily="34" charset="0"/>
            </a:endParaRPr>
          </a:p>
          <a:p>
            <a:r>
              <a:rPr lang="en-IN" sz="2000" b="1" dirty="0">
                <a:solidFill>
                  <a:srgbClr val="00B050"/>
                </a:solidFill>
                <a:effectLst/>
                <a:latin typeface="TimesNewRomanPSMT"/>
              </a:rPr>
              <a:t>3.Read the data from </a:t>
            </a:r>
            <a:r>
              <a:rPr lang="en-IN" sz="2000" b="1" dirty="0" err="1">
                <a:solidFill>
                  <a:srgbClr val="00B050"/>
                </a:solidFill>
                <a:effectLst/>
                <a:latin typeface="TimesNewRomanPSMT"/>
              </a:rPr>
              <a:t>FileInputStream</a:t>
            </a:r>
            <a:r>
              <a:rPr lang="en-IN" sz="2000" b="1" dirty="0">
                <a:solidFill>
                  <a:srgbClr val="00B050"/>
                </a:solidFill>
                <a:effectLst/>
                <a:latin typeface="TimesNewRomanPSMT"/>
              </a:rPr>
              <a:t> into byte[]: </a:t>
            </a:r>
            <a:endParaRPr lang="en-IN" sz="3600" b="1" dirty="0">
              <a:solidFill>
                <a:srgbClr val="00B050"/>
              </a:solidFill>
            </a:endParaRP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To read the data from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FileInputStream</a:t>
            </a:r>
            <a:r>
              <a:rPr lang="en-IN" sz="1800" dirty="0">
                <a:effectLst/>
                <a:latin typeface="Verdana" panose="020B0604030504040204" pitchFamily="34" charset="0"/>
              </a:rPr>
              <a:t> into byte[], we have to use the following method. </a:t>
            </a:r>
            <a:endParaRPr lang="en-IN" dirty="0"/>
          </a:p>
          <a:p>
            <a:r>
              <a:rPr lang="en-IN" sz="1800" b="1" dirty="0">
                <a:effectLst/>
                <a:latin typeface="Verdana" panose="020B0604030504040204" pitchFamily="34" charset="0"/>
              </a:rPr>
              <a:t>public void read(byte[] b)throws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IOException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 </a:t>
            </a: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Ex: </a:t>
            </a:r>
            <a:endParaRPr lang="en-IN" dirty="0"/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fis.read</a:t>
            </a:r>
            <a:r>
              <a:rPr lang="en-IN" sz="1800" dirty="0">
                <a:effectLst/>
                <a:latin typeface="Verdana" panose="020B0604030504040204" pitchFamily="34" charset="0"/>
              </a:rPr>
              <a:t>(b);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5F6F6D-2930-635E-72C6-703478C49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268823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4D7BE-11FE-FF8A-BDC6-3284CB009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FECA3-7CFF-E4DB-F806-862B09E30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200" dirty="0">
                <a:solidFill>
                  <a:srgbClr val="00B050"/>
                </a:solidFill>
                <a:effectLst/>
                <a:latin typeface="TimesNewRomanPSMT"/>
              </a:rPr>
              <a:t>4.Convert data from byte[] to String: </a:t>
            </a:r>
            <a:endParaRPr lang="en-IN" dirty="0">
              <a:solidFill>
                <a:srgbClr val="00B050"/>
              </a:solidFill>
            </a:endParaRPr>
          </a:p>
          <a:p>
            <a:r>
              <a:rPr lang="en-IN" sz="3200" dirty="0">
                <a:effectLst/>
                <a:latin typeface="Verdana" panose="020B0604030504040204" pitchFamily="34" charset="0"/>
              </a:rPr>
              <a:t>String data=new String(b); </a:t>
            </a:r>
            <a:r>
              <a:rPr lang="en-IN" sz="3200" dirty="0" err="1">
                <a:effectLst/>
                <a:latin typeface="Verdana" panose="020B0604030504040204" pitchFamily="34" charset="0"/>
              </a:rPr>
              <a:t>System.out.println</a:t>
            </a:r>
            <a:r>
              <a:rPr lang="en-IN" sz="3200" dirty="0">
                <a:effectLst/>
                <a:latin typeface="Verdana" panose="020B0604030504040204" pitchFamily="34" charset="0"/>
              </a:rPr>
              <a:t>(data); </a:t>
            </a:r>
          </a:p>
          <a:p>
            <a:endParaRPr lang="en-IN" dirty="0">
              <a:solidFill>
                <a:srgbClr val="16355B"/>
              </a:solidFill>
              <a:latin typeface="Verdana" panose="020B0604030504040204" pitchFamily="34" charset="0"/>
            </a:endParaRPr>
          </a:p>
          <a:p>
            <a:r>
              <a:rPr lang="en-IN" sz="3200" dirty="0">
                <a:solidFill>
                  <a:srgbClr val="00B050"/>
                </a:solidFill>
                <a:effectLst/>
                <a:latin typeface="TimesNewRomanPSMT"/>
              </a:rPr>
              <a:t>5.close </a:t>
            </a:r>
            <a:r>
              <a:rPr lang="en-IN" sz="3200" dirty="0" err="1">
                <a:solidFill>
                  <a:srgbClr val="00B050"/>
                </a:solidFill>
                <a:effectLst/>
                <a:latin typeface="TimesNewRomanPSMT"/>
              </a:rPr>
              <a:t>FileInputStream</a:t>
            </a:r>
            <a:r>
              <a:rPr lang="en-IN" sz="3200" dirty="0">
                <a:solidFill>
                  <a:srgbClr val="00B050"/>
                </a:solidFill>
                <a:effectLst/>
                <a:latin typeface="TimesNewRomanPSMT"/>
              </a:rPr>
              <a:t>: </a:t>
            </a:r>
            <a:endParaRPr lang="en-IN" dirty="0">
              <a:solidFill>
                <a:srgbClr val="00B050"/>
              </a:solidFill>
            </a:endParaRPr>
          </a:p>
          <a:p>
            <a:r>
              <a:rPr lang="en-IN" sz="3200" dirty="0" err="1">
                <a:effectLst/>
                <a:latin typeface="Verdana" panose="020B0604030504040204" pitchFamily="34" charset="0"/>
              </a:rPr>
              <a:t>fis.close</a:t>
            </a:r>
            <a:r>
              <a:rPr lang="en-IN" sz="3200" dirty="0">
                <a:effectLst/>
                <a:latin typeface="Verdana" panose="020B0604030504040204" pitchFamily="34" charset="0"/>
              </a:rPr>
              <a:t>(); </a:t>
            </a:r>
            <a:endParaRPr lang="en-IN" dirty="0"/>
          </a:p>
          <a:p>
            <a:endParaRPr lang="en-I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63F6E1-CAD5-6484-9CD4-039FC80F0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323681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DA145-A65F-B42F-9EA6-DDEB34917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82DEF-8261-2660-2CCB-602103C59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Verdana" panose="020B0604030504040204" pitchFamily="34" charset="0"/>
              </a:rPr>
              <a:t>Write a Java program to display a particular file content on command prompt by taking filename as command line input?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Write a Java program to count no of words available in a particular text file and how many times the word "is" is repeated?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Write a Java program to copy an image from a source file to a particular target file? </a:t>
            </a:r>
            <a:endParaRPr lang="en-IN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17325A-954F-DD9F-8A9E-7FBB5E6BF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73670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570E2-23E7-DE6C-9FC2-304751B2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 err="1">
                <a:solidFill>
                  <a:srgbClr val="16355B"/>
                </a:solidFill>
                <a:effectLst/>
                <a:latin typeface="TimesNewRomanPSMT"/>
              </a:rPr>
              <a:t>FileWriter</a:t>
            </a:r>
            <a:r>
              <a:rPr lang="en-IN" sz="4400" dirty="0">
                <a:solidFill>
                  <a:srgbClr val="16355B"/>
                </a:solidFill>
                <a:effectLst/>
                <a:latin typeface="TimesNewRomanPSMT"/>
              </a:rPr>
              <a:t>: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D64B9-D8AD-296E-F55F-6D5FE83DA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Verdana" panose="020B0604030504040204" pitchFamily="34" charset="0"/>
              </a:rPr>
              <a:t>This character-oriented Stream can be used to transfer the data from Java Application to a particular target File.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If we want to transfer the data from java application to a particular target file by using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FileWriter</a:t>
            </a:r>
            <a:r>
              <a:rPr lang="en-IN" sz="1800" dirty="0">
                <a:effectLst/>
                <a:latin typeface="Verdana" panose="020B0604030504040204" pitchFamily="34" charset="0"/>
              </a:rPr>
              <a:t> then we have to use the following steps: </a:t>
            </a:r>
            <a:endParaRPr lang="en-IN" dirty="0"/>
          </a:p>
          <a:p>
            <a:r>
              <a:rPr lang="en-IN" sz="1800" dirty="0">
                <a:solidFill>
                  <a:srgbClr val="00B050"/>
                </a:solidFill>
                <a:effectLst/>
                <a:latin typeface="TimesNewRomanPSMT"/>
              </a:rPr>
              <a:t>1.Create </a:t>
            </a:r>
            <a:r>
              <a:rPr lang="en-IN" sz="1800" dirty="0" err="1">
                <a:solidFill>
                  <a:srgbClr val="00B050"/>
                </a:solidFill>
                <a:effectLst/>
                <a:latin typeface="TimesNewRomanPSMT"/>
              </a:rPr>
              <a:t>FileWriter</a:t>
            </a:r>
            <a:r>
              <a:rPr lang="en-IN" sz="1800" dirty="0">
                <a:solidFill>
                  <a:srgbClr val="00B050"/>
                </a:solidFill>
                <a:effectLst/>
                <a:latin typeface="TimesNewRomanPSMT"/>
              </a:rPr>
              <a:t> object: </a:t>
            </a:r>
            <a:endParaRPr lang="en-IN" dirty="0">
              <a:solidFill>
                <a:srgbClr val="00B050"/>
              </a:solidFill>
            </a:endParaRPr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FileWriter</a:t>
            </a:r>
            <a:r>
              <a:rPr lang="en-IN" sz="1800" dirty="0">
                <a:effectLst/>
                <a:latin typeface="Verdana" panose="020B0604030504040204" pitchFamily="34" charset="0"/>
              </a:rPr>
              <a:t> constructor. </a:t>
            </a:r>
            <a:endParaRPr lang="en-IN" dirty="0"/>
          </a:p>
          <a:p>
            <a:r>
              <a:rPr lang="en-IN" sz="1800" b="1" dirty="0">
                <a:effectLst/>
                <a:latin typeface="Verdana" panose="020B0604030504040204" pitchFamily="34" charset="0"/>
              </a:rPr>
              <a:t>public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FileWriter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(String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target_File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) </a:t>
            </a:r>
            <a:endParaRPr lang="en-IN" b="1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Ex:</a:t>
            </a:r>
          </a:p>
          <a:p>
            <a:r>
              <a:rPr lang="en-IN" sz="1800" b="1" dirty="0" err="1">
                <a:effectLst/>
                <a:latin typeface="Verdana" panose="020B0604030504040204" pitchFamily="34" charset="0"/>
              </a:rPr>
              <a:t>FileWriter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fw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=new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FileWriter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("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abc.txt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"); </a:t>
            </a:r>
            <a:endParaRPr lang="en-IN" b="1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It will overwrites the existed content with the new content at each and every write operation.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public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FileWriter</a:t>
            </a:r>
            <a:r>
              <a:rPr lang="en-IN" sz="1800" dirty="0">
                <a:effectLst/>
                <a:latin typeface="Verdana" panose="020B0604030504040204" pitchFamily="34" charset="0"/>
              </a:rPr>
              <a:t>(String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target_File,boolean</a:t>
            </a:r>
            <a:r>
              <a:rPr lang="en-IN" sz="1800" dirty="0">
                <a:effectLst/>
                <a:latin typeface="Verdana" panose="020B0604030504040204" pitchFamily="34" charset="0"/>
              </a:rPr>
              <a:t> b) </a:t>
            </a: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Ex:</a:t>
            </a:r>
          </a:p>
          <a:p>
            <a:r>
              <a:rPr lang="en-IN" sz="1800" b="1" dirty="0" err="1">
                <a:effectLst/>
                <a:latin typeface="Verdana" panose="020B0604030504040204" pitchFamily="34" charset="0"/>
              </a:rPr>
              <a:t>FileWriter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fw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=new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FileWriter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("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abc.txt",true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); </a:t>
            </a:r>
            <a:endParaRPr lang="en-IN" b="1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It will append new content to the existed content available in the file at each and every write operation. </a:t>
            </a:r>
            <a:endParaRPr lang="en-IN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B23B7E-7689-17C3-1FF4-743FA7025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544723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BAE60-C96C-0DE0-2702-6069BCBE3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C4DCE-18BA-2CC4-4367-B3C3FC298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Verdana" panose="020B0604030504040204" pitchFamily="34" charset="0"/>
              </a:rPr>
              <a:t>When JVM encounter the above instructions, </a:t>
            </a: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JVM will take the specified file and JVM search for the specified file at the respective location</a:t>
            </a:r>
            <a:r>
              <a:rPr lang="en-IN" sz="1800" dirty="0">
                <a:latin typeface="Verdana" panose="020B0604030504040204" pitchFamily="34" charset="0"/>
              </a:rPr>
              <a:t>.</a:t>
            </a:r>
            <a:endParaRPr lang="en-IN" sz="1800" dirty="0">
              <a:effectLst/>
              <a:latin typeface="Verdana" panose="020B0604030504040204" pitchFamily="34" charset="0"/>
            </a:endParaRP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if the required target file is available then JVM will establish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FileWriter</a:t>
            </a:r>
            <a:r>
              <a:rPr lang="en-IN" sz="1800" dirty="0">
                <a:effectLst/>
                <a:latin typeface="Verdana" panose="020B0604030504040204" pitchFamily="34" charset="0"/>
              </a:rPr>
              <a:t> from Java application to the target file.</a:t>
            </a: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If the required target file is not available at the respective location then JVM will create a new file with the same specified file name and establish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FileWriter</a:t>
            </a:r>
            <a:r>
              <a:rPr lang="en-IN" sz="1800" dirty="0">
                <a:effectLst/>
                <a:latin typeface="Verdana" panose="020B0604030504040204" pitchFamily="34" charset="0"/>
              </a:rPr>
              <a:t> from Java application to the target file. </a:t>
            </a:r>
            <a:endParaRPr lang="en-IN" dirty="0"/>
          </a:p>
          <a:p>
            <a:r>
              <a:rPr lang="en-IN" sz="2000" b="1" dirty="0">
                <a:solidFill>
                  <a:srgbClr val="00B050"/>
                </a:solidFill>
                <a:effectLst/>
                <a:latin typeface="TimesNewRomanPSMT"/>
              </a:rPr>
              <a:t>2.Declare the data which we want to transfer and convert that data into char[]: </a:t>
            </a:r>
            <a:endParaRPr lang="en-IN" sz="3600" b="1" dirty="0">
              <a:solidFill>
                <a:srgbClr val="00B050"/>
              </a:solidFill>
            </a:endParaRP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String data="Hello";</a:t>
            </a:r>
            <a:br>
              <a:rPr lang="en-IN" sz="1800" dirty="0">
                <a:effectLst/>
                <a:latin typeface="Verdana" panose="020B0604030504040204" pitchFamily="34" charset="0"/>
              </a:rPr>
            </a:br>
            <a:r>
              <a:rPr lang="en-IN" sz="1800" dirty="0">
                <a:effectLst/>
                <a:latin typeface="Verdana" panose="020B0604030504040204" pitchFamily="34" charset="0"/>
              </a:rPr>
              <a:t>char[]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ch</a:t>
            </a:r>
            <a:r>
              <a:rPr lang="en-IN" sz="1800" dirty="0">
                <a:effectLst/>
                <a:latin typeface="Verdana" panose="020B0604030504040204" pitchFamily="34" charset="0"/>
              </a:rPr>
              <a:t>=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data.toCharArray</a:t>
            </a:r>
            <a:r>
              <a:rPr lang="en-IN" sz="1800" dirty="0">
                <a:effectLst/>
                <a:latin typeface="Verdana" panose="020B0604030504040204" pitchFamily="34" charset="0"/>
              </a:rPr>
              <a:t>(); </a:t>
            </a:r>
            <a:endParaRPr lang="en-IN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50C818-012D-20D9-2304-8E7AB1EB8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459366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FA1EC-07EF-2DC0-E80D-2794B130E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E71B7-27DB-92F5-640A-860BB88C9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>
                <a:solidFill>
                  <a:srgbClr val="00B050"/>
                </a:solidFill>
                <a:effectLst/>
                <a:latin typeface="TimesNewRomanPSMT"/>
              </a:rPr>
              <a:t>3.Write char[] data into </a:t>
            </a:r>
            <a:r>
              <a:rPr lang="en-IN" sz="2000" b="1" dirty="0" err="1">
                <a:solidFill>
                  <a:srgbClr val="00B050"/>
                </a:solidFill>
                <a:effectLst/>
                <a:latin typeface="TimesNewRomanPSMT"/>
              </a:rPr>
              <a:t>FileWriter</a:t>
            </a:r>
            <a:r>
              <a:rPr lang="en-IN" sz="2000" b="1" dirty="0">
                <a:solidFill>
                  <a:srgbClr val="00B050"/>
                </a:solidFill>
                <a:effectLst/>
                <a:latin typeface="TimesNewRomanPSMT"/>
              </a:rPr>
              <a:t>: </a:t>
            </a:r>
            <a:endParaRPr lang="en-IN" sz="3600" b="1" dirty="0">
              <a:solidFill>
                <a:srgbClr val="00B050"/>
              </a:solidFill>
            </a:endParaRP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To write char[] data into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FileWriter,we</a:t>
            </a:r>
            <a:r>
              <a:rPr lang="en-IN" sz="1800" dirty="0">
                <a:effectLst/>
                <a:latin typeface="Verdana" panose="020B0604030504040204" pitchFamily="34" charset="0"/>
              </a:rPr>
              <a:t> have to use the following method. </a:t>
            </a: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public void write(char[]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ch</a:t>
            </a:r>
            <a:r>
              <a:rPr lang="en-IN" sz="1800" dirty="0">
                <a:effectLst/>
                <a:latin typeface="Verdana" panose="020B0604030504040204" pitchFamily="34" charset="0"/>
              </a:rPr>
              <a:t>)throws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IOException</a:t>
            </a:r>
            <a:br>
              <a:rPr lang="en-IN" sz="1800" dirty="0">
                <a:effectLst/>
                <a:latin typeface="Verdana" panose="020B0604030504040204" pitchFamily="34" charset="0"/>
              </a:rPr>
            </a:br>
            <a:r>
              <a:rPr lang="en-IN" sz="1800" dirty="0" err="1">
                <a:effectLst/>
                <a:latin typeface="Verdana" panose="020B0604030504040204" pitchFamily="34" charset="0"/>
              </a:rPr>
              <a:t>Ex:fw.write</a:t>
            </a:r>
            <a:r>
              <a:rPr lang="en-IN" sz="1800" dirty="0">
                <a:effectLst/>
                <a:latin typeface="Verdana" panose="020B0604030504040204" pitchFamily="34" charset="0"/>
              </a:rPr>
              <a:t>(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ch</a:t>
            </a:r>
            <a:r>
              <a:rPr lang="en-IN" sz="1800" dirty="0">
                <a:effectLst/>
                <a:latin typeface="Verdana" panose="020B0604030504040204" pitchFamily="34" charset="0"/>
              </a:rPr>
              <a:t>);</a:t>
            </a:r>
            <a:br>
              <a:rPr lang="en-IN" sz="1800" dirty="0">
                <a:effectLst/>
                <a:latin typeface="Verdana" panose="020B0604030504040204" pitchFamily="34" charset="0"/>
              </a:rPr>
            </a:br>
            <a:endParaRPr lang="en-IN" dirty="0"/>
          </a:p>
          <a:p>
            <a:r>
              <a:rPr lang="en-IN" sz="2000" b="1" dirty="0">
                <a:solidFill>
                  <a:srgbClr val="00B050"/>
                </a:solidFill>
                <a:effectLst/>
                <a:latin typeface="TimesNewRomanPSMT"/>
              </a:rPr>
              <a:t>4.Close </a:t>
            </a:r>
            <a:r>
              <a:rPr lang="en-IN" sz="2000" b="1" dirty="0" err="1">
                <a:solidFill>
                  <a:srgbClr val="00B050"/>
                </a:solidFill>
                <a:effectLst/>
                <a:latin typeface="TimesNewRomanPSMT"/>
              </a:rPr>
              <a:t>FileWriter</a:t>
            </a:r>
            <a:r>
              <a:rPr lang="en-IN" sz="2000" b="1" dirty="0">
                <a:solidFill>
                  <a:srgbClr val="00B050"/>
                </a:solidFill>
                <a:effectLst/>
                <a:latin typeface="TimesNewRomanPSMT"/>
              </a:rPr>
              <a:t>: </a:t>
            </a:r>
            <a:endParaRPr lang="en-IN" sz="3600" b="1" dirty="0">
              <a:solidFill>
                <a:srgbClr val="00B050"/>
              </a:solidFill>
            </a:endParaRPr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fw.close</a:t>
            </a:r>
            <a:r>
              <a:rPr lang="en-IN" sz="1800" dirty="0">
                <a:effectLst/>
                <a:latin typeface="Verdana" panose="020B0604030504040204" pitchFamily="34" charset="0"/>
              </a:rPr>
              <a:t>(); </a:t>
            </a:r>
            <a:endParaRPr lang="en-IN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6FAAC9-0185-F9B1-17DC-37C7D563B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7391419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2251-C97E-02DA-791D-24974C37B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B60CC-9414-C2E0-A310-CA3421E70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import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java.util</a:t>
            </a:r>
            <a:r>
              <a:rPr lang="en-IN" sz="2000" dirty="0">
                <a:effectLst/>
                <a:latin typeface="Verdana" panose="020B0604030504040204" pitchFamily="34" charset="0"/>
              </a:rPr>
              <a:t>.*;</a:t>
            </a:r>
            <a:br>
              <a:rPr lang="en-IN" sz="2000" dirty="0">
                <a:effectLst/>
                <a:latin typeface="Verdana" panose="020B0604030504040204" pitchFamily="34" charset="0"/>
              </a:rPr>
            </a:br>
            <a:r>
              <a:rPr lang="en-IN" sz="2000" dirty="0">
                <a:effectLst/>
                <a:latin typeface="Verdana" panose="020B0604030504040204" pitchFamily="34" charset="0"/>
              </a:rPr>
              <a:t>public class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FWEx</a:t>
            </a:r>
            <a:r>
              <a:rPr lang="en-IN" sz="2000" dirty="0">
                <a:effectLst/>
                <a:latin typeface="Verdana" panose="020B0604030504040204" pitchFamily="34" charset="0"/>
              </a:rPr>
              <a:t>{</a:t>
            </a:r>
            <a:br>
              <a:rPr lang="en-IN" sz="2000" dirty="0">
                <a:effectLst/>
                <a:latin typeface="Verdana" panose="020B0604030504040204" pitchFamily="34" charset="0"/>
              </a:rPr>
            </a:br>
            <a:r>
              <a:rPr lang="en-IN" sz="2000" dirty="0">
                <a:effectLst/>
                <a:latin typeface="Verdana" panose="020B0604030504040204" pitchFamily="34" charset="0"/>
              </a:rPr>
              <a:t>public static void main(String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args</a:t>
            </a:r>
            <a:r>
              <a:rPr lang="en-IN" sz="2000" dirty="0">
                <a:effectLst/>
                <a:latin typeface="Verdana" panose="020B0604030504040204" pitchFamily="34" charset="0"/>
              </a:rPr>
              <a:t>[])throws Exception{ </a:t>
            </a:r>
          </a:p>
          <a:p>
            <a:pPr marL="0" indent="0">
              <a:buNone/>
            </a:pPr>
            <a:r>
              <a:rPr lang="en-IN" sz="2000" dirty="0" err="1">
                <a:effectLst/>
                <a:latin typeface="Verdana" panose="020B0604030504040204" pitchFamily="34" charset="0"/>
              </a:rPr>
              <a:t>FileWriter</a:t>
            </a:r>
            <a:r>
              <a:rPr lang="en-IN" sz="2000" dirty="0">
                <a:effectLst/>
                <a:latin typeface="Verdana" panose="020B0604030504040204" pitchFamily="34" charset="0"/>
              </a:rPr>
              <a:t>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fw</a:t>
            </a:r>
            <a:r>
              <a:rPr lang="en-IN" sz="2000" dirty="0">
                <a:effectLst/>
                <a:latin typeface="Verdana" panose="020B0604030504040204" pitchFamily="34" charset="0"/>
              </a:rPr>
              <a:t>=new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FileWriter</a:t>
            </a:r>
            <a:r>
              <a:rPr lang="en-IN" sz="2000" dirty="0">
                <a:effectLst/>
                <a:latin typeface="Verdana" panose="020B0604030504040204" pitchFamily="34" charset="0"/>
              </a:rPr>
              <a:t>("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abc.txt",true</a:t>
            </a:r>
            <a:r>
              <a:rPr lang="en-IN" sz="2000" dirty="0">
                <a:effectLst/>
                <a:latin typeface="Verdana" panose="020B0604030504040204" pitchFamily="34" charset="0"/>
              </a:rPr>
              <a:t>); </a:t>
            </a:r>
            <a:endParaRPr lang="en-IN" sz="2000" dirty="0"/>
          </a:p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String data=”Welcome to Amity University"; </a:t>
            </a:r>
          </a:p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char[]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ch</a:t>
            </a:r>
            <a:r>
              <a:rPr lang="en-IN" sz="2000" dirty="0">
                <a:effectLst/>
                <a:latin typeface="Verdana" panose="020B0604030504040204" pitchFamily="34" charset="0"/>
              </a:rPr>
              <a:t>=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data.toCharArray</a:t>
            </a:r>
            <a:r>
              <a:rPr lang="en-IN" sz="2000" dirty="0">
                <a:effectLst/>
                <a:latin typeface="Verdana" panose="020B0604030504040204" pitchFamily="34" charset="0"/>
              </a:rPr>
              <a:t>(); </a:t>
            </a:r>
          </a:p>
          <a:p>
            <a:pPr marL="0" indent="0">
              <a:buNone/>
            </a:pPr>
            <a:r>
              <a:rPr lang="en-IN" sz="2000" dirty="0" err="1">
                <a:effectLst/>
                <a:latin typeface="Verdana" panose="020B0604030504040204" pitchFamily="34" charset="0"/>
              </a:rPr>
              <a:t>fw.write</a:t>
            </a:r>
            <a:r>
              <a:rPr lang="en-IN" sz="2000" dirty="0">
                <a:effectLst/>
                <a:latin typeface="Verdana" panose="020B0604030504040204" pitchFamily="34" charset="0"/>
              </a:rPr>
              <a:t>(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ch</a:t>
            </a:r>
            <a:r>
              <a:rPr lang="en-IN" sz="2000" dirty="0">
                <a:effectLst/>
                <a:latin typeface="Verdana" panose="020B0604030504040204" pitchFamily="34" charset="0"/>
              </a:rPr>
              <a:t>);</a:t>
            </a:r>
            <a:br>
              <a:rPr lang="en-IN" sz="2000" dirty="0">
                <a:effectLst/>
                <a:latin typeface="Verdana" panose="020B0604030504040204" pitchFamily="34" charset="0"/>
              </a:rPr>
            </a:br>
            <a:r>
              <a:rPr lang="en-IN" sz="2000" dirty="0" err="1">
                <a:effectLst/>
                <a:latin typeface="Verdana" panose="020B0604030504040204" pitchFamily="34" charset="0"/>
              </a:rPr>
              <a:t>fw.close</a:t>
            </a:r>
            <a:r>
              <a:rPr lang="en-IN" sz="2000" dirty="0">
                <a:effectLst/>
                <a:latin typeface="Verdana" panose="020B0604030504040204" pitchFamily="34" charset="0"/>
              </a:rPr>
              <a:t>(); </a:t>
            </a:r>
            <a:endParaRPr lang="en-IN" sz="2000" dirty="0"/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8FF38-C410-771E-9CF8-31E85C143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277573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2B629-0FB8-3824-72B2-0870B7402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diagram of a computer network&#10;&#10;Description automatically generated">
            <a:extLst>
              <a:ext uri="{FF2B5EF4-FFF2-40B4-BE49-F238E27FC236}">
                <a16:creationId xmlns:a16="http://schemas.microsoft.com/office/drawing/2014/main" id="{174D1AA9-1504-C63F-0085-815935F5E1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81799"/>
            <a:ext cx="8229600" cy="3656401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99732C-F2EC-37B9-4A7D-38DC6AB0D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4243155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DE17-928B-45A8-6831-40B3E4DB3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 err="1">
                <a:solidFill>
                  <a:srgbClr val="16355B"/>
                </a:solidFill>
                <a:effectLst/>
                <a:latin typeface="TimesNewRomanPSMT"/>
              </a:rPr>
              <a:t>FileReader</a:t>
            </a:r>
            <a:r>
              <a:rPr lang="en-IN" sz="4400" dirty="0">
                <a:solidFill>
                  <a:srgbClr val="16355B"/>
                </a:solidFill>
                <a:effectLst/>
                <a:latin typeface="TimesNewRomanPSMT"/>
              </a:rPr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2565C-3DD5-AA17-7ED8-249F5B351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Verdana" panose="020B0604030504040204" pitchFamily="34" charset="0"/>
              </a:rPr>
              <a:t>This character-oriented stream can be used to transfer the data from a particular source file to Java program.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If we want to transfer the data from a particular source file to Java program by using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FileReader</a:t>
            </a:r>
            <a:r>
              <a:rPr lang="en-IN" sz="1800" dirty="0">
                <a:effectLst/>
                <a:latin typeface="Verdana" panose="020B0604030504040204" pitchFamily="34" charset="0"/>
              </a:rPr>
              <a:t> then we have to use the following steps: </a:t>
            </a:r>
          </a:p>
          <a:p>
            <a:r>
              <a:rPr lang="en-IN" sz="2000" b="1" dirty="0">
                <a:solidFill>
                  <a:srgbClr val="00B050"/>
                </a:solidFill>
                <a:effectLst/>
                <a:latin typeface="TimesNewRomanPSMT"/>
              </a:rPr>
              <a:t>1.Create </a:t>
            </a:r>
            <a:r>
              <a:rPr lang="en-IN" sz="2000" b="1" dirty="0" err="1">
                <a:solidFill>
                  <a:srgbClr val="00B050"/>
                </a:solidFill>
                <a:effectLst/>
                <a:latin typeface="TimesNewRomanPSMT"/>
              </a:rPr>
              <a:t>FileReader</a:t>
            </a:r>
            <a:r>
              <a:rPr lang="en-IN" sz="2000" b="1" dirty="0">
                <a:solidFill>
                  <a:srgbClr val="00B050"/>
                </a:solidFill>
                <a:effectLst/>
                <a:latin typeface="TimesNewRomanPSMT"/>
              </a:rPr>
              <a:t> class Object: </a:t>
            </a:r>
            <a:endParaRPr lang="en-IN" sz="3600" b="1" dirty="0">
              <a:solidFill>
                <a:srgbClr val="00B050"/>
              </a:solidFill>
            </a:endParaRP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To create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FileReader</a:t>
            </a:r>
            <a:r>
              <a:rPr lang="en-IN" sz="1800" dirty="0">
                <a:effectLst/>
                <a:latin typeface="Verdana" panose="020B0604030504040204" pitchFamily="34" charset="0"/>
              </a:rPr>
              <a:t> class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object,we</a:t>
            </a:r>
            <a:r>
              <a:rPr lang="en-IN" sz="1800" dirty="0">
                <a:effectLst/>
                <a:latin typeface="Verdana" panose="020B0604030504040204" pitchFamily="34" charset="0"/>
              </a:rPr>
              <a:t> have to use the following constructor. </a:t>
            </a: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public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FileReader</a:t>
            </a:r>
            <a:r>
              <a:rPr lang="en-IN" sz="1800" dirty="0">
                <a:effectLst/>
                <a:latin typeface="Verdana" panose="020B0604030504040204" pitchFamily="34" charset="0"/>
              </a:rPr>
              <a:t>(String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file_Name</a:t>
            </a:r>
            <a:r>
              <a:rPr lang="en-IN" sz="1800" dirty="0">
                <a:effectLst/>
                <a:latin typeface="Verdana" panose="020B0604030504040204" pitchFamily="34" charset="0"/>
              </a:rPr>
              <a:t>)throws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FileNotFoundException</a:t>
            </a:r>
            <a:r>
              <a:rPr lang="en-IN" sz="1800" dirty="0">
                <a:effectLst/>
                <a:latin typeface="Verdana" panose="020B0604030504040204" pitchFamily="34" charset="0"/>
              </a:rPr>
              <a:t> </a:t>
            </a: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Ex: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FileReader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fr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=new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FileReader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("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abc.txt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"); </a:t>
            </a:r>
            <a:endParaRPr lang="en-IN" b="1" dirty="0"/>
          </a:p>
          <a:p>
            <a:endParaRPr lang="en-IN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B33069-AC8A-9764-E32B-29477E2F6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1343299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8F29D-17D0-45E4-C4A9-95467EE3F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001F1-B005-C0A2-FA59-B672A6161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Verdana" panose="020B0604030504040204" pitchFamily="34" charset="0"/>
              </a:rPr>
              <a:t>when JVM encounter the above instruction, JVM will perform the following steps.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a)JVM will take source file name from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FileReader</a:t>
            </a:r>
            <a:r>
              <a:rPr lang="en-IN" sz="1800" dirty="0">
                <a:effectLst/>
                <a:latin typeface="Verdana" panose="020B0604030504040204" pitchFamily="34" charset="0"/>
              </a:rPr>
              <a:t> constructor.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b)JVM will check whether the specified file is available or not at the respective location.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c)If the specified source file is not available at the respective location then JVM will rise an exception like "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java.io.FileNotFoundException</a:t>
            </a:r>
            <a:r>
              <a:rPr lang="en-IN" sz="1800" dirty="0">
                <a:effectLst/>
                <a:latin typeface="Verdana" panose="020B0604030504040204" pitchFamily="34" charset="0"/>
              </a:rPr>
              <a:t>".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d)If the specified file is existed at the respective location then JVM will establish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FileReader</a:t>
            </a:r>
            <a:r>
              <a:rPr lang="en-IN" sz="1800" dirty="0">
                <a:effectLst/>
                <a:latin typeface="Verdana" panose="020B0604030504040204" pitchFamily="34" charset="0"/>
              </a:rPr>
              <a:t> from source file to Java program.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e)After creating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FileReader</a:t>
            </a:r>
            <a:r>
              <a:rPr lang="en-IN" sz="1800" dirty="0">
                <a:effectLst/>
                <a:latin typeface="Verdana" panose="020B0604030504040204" pitchFamily="34" charset="0"/>
              </a:rPr>
              <a:t>, JVM will transfer the content of source file to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FileReader</a:t>
            </a:r>
            <a:r>
              <a:rPr lang="en-IN" sz="1800" dirty="0">
                <a:effectLst/>
                <a:latin typeface="Verdana" panose="020B0604030504040204" pitchFamily="34" charset="0"/>
              </a:rPr>
              <a:t> object in the form of characters. </a:t>
            </a:r>
            <a:endParaRPr lang="en-IN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EE4D5-ECB9-617E-CB66-5575F38A2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636611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A3597-C5F9-EBD6-7D5E-C816E2408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908E4-EE3D-75E2-7C6D-33D2C53D7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>
                <a:solidFill>
                  <a:srgbClr val="00B050"/>
                </a:solidFill>
                <a:effectLst/>
                <a:latin typeface="TimesNewRomanPSMT"/>
              </a:rPr>
              <a:t>2.Read data from </a:t>
            </a:r>
            <a:r>
              <a:rPr lang="en-IN" sz="2000" b="1" dirty="0" err="1">
                <a:solidFill>
                  <a:srgbClr val="00B050"/>
                </a:solidFill>
                <a:effectLst/>
                <a:latin typeface="TimesNewRomanPSMT"/>
              </a:rPr>
              <a:t>FileReader</a:t>
            </a:r>
            <a:r>
              <a:rPr lang="en-IN" sz="2000" b="1" dirty="0">
                <a:solidFill>
                  <a:srgbClr val="00B050"/>
                </a:solidFill>
                <a:effectLst/>
                <a:latin typeface="TimesNewRomanPSMT"/>
              </a:rPr>
              <a:t>: </a:t>
            </a:r>
            <a:endParaRPr lang="en-IN" sz="3600" b="1" dirty="0">
              <a:solidFill>
                <a:srgbClr val="00B050"/>
              </a:solidFill>
            </a:endParaRP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To read data from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FileReader</a:t>
            </a:r>
            <a:r>
              <a:rPr lang="en-IN" sz="1800" dirty="0">
                <a:effectLst/>
                <a:latin typeface="Verdana" panose="020B0604030504040204" pitchFamily="34" charset="0"/>
              </a:rPr>
              <a:t>, we have to use the following steps.</a:t>
            </a: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a)Read character by character from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FileReader</a:t>
            </a:r>
            <a:r>
              <a:rPr lang="en-IN" sz="1800" dirty="0">
                <a:effectLst/>
                <a:latin typeface="Verdana" panose="020B0604030504040204" pitchFamily="34" charset="0"/>
              </a:rPr>
              <a:t> in the form of ASCII values. </a:t>
            </a: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b)Convert that ASCII values into the respective characters.</a:t>
            </a: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c)Append the converted characters to a String variable. </a:t>
            </a: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Repeat the above steps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upto</a:t>
            </a:r>
            <a:r>
              <a:rPr lang="en-IN" sz="1800" dirty="0">
                <a:effectLst/>
                <a:latin typeface="Verdana" panose="020B0604030504040204" pitchFamily="34" charset="0"/>
              </a:rPr>
              <a:t> all the characters which are available in the respective source file or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upto</a:t>
            </a:r>
            <a:r>
              <a:rPr lang="en-IN" sz="1800" dirty="0">
                <a:effectLst/>
                <a:latin typeface="Verdana" panose="020B0604030504040204" pitchFamily="34" charset="0"/>
              </a:rPr>
              <a:t> the end-of-file character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i.e</a:t>
            </a:r>
            <a:r>
              <a:rPr lang="en-IN" sz="1800" dirty="0">
                <a:effectLst/>
                <a:latin typeface="Verdana" panose="020B0604030504040204" pitchFamily="34" charset="0"/>
              </a:rPr>
              <a:t> "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-1</a:t>
            </a:r>
            <a:r>
              <a:rPr lang="en-IN" sz="1800" dirty="0">
                <a:effectLst/>
                <a:latin typeface="Verdana" panose="020B0604030504040204" pitchFamily="34" charset="0"/>
              </a:rPr>
              <a:t>". </a:t>
            </a:r>
          </a:p>
          <a:p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To read an ASCII value from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FileReader</a:t>
            </a:r>
            <a:r>
              <a:rPr lang="en-IN" sz="1800" dirty="0">
                <a:effectLst/>
                <a:latin typeface="Verdana" panose="020B0604030504040204" pitchFamily="34" charset="0"/>
              </a:rPr>
              <a:t>, we have to use the following method. </a:t>
            </a:r>
            <a:endParaRPr lang="en-IN" dirty="0"/>
          </a:p>
          <a:p>
            <a:r>
              <a:rPr lang="en-IN" sz="1800" b="1" dirty="0">
                <a:effectLst/>
                <a:latin typeface="Verdana" panose="020B0604030504040204" pitchFamily="34" charset="0"/>
              </a:rPr>
              <a:t>public int read() throws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IOException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 </a:t>
            </a:r>
            <a:endParaRPr lang="en-IN" b="1" dirty="0"/>
          </a:p>
          <a:p>
            <a:r>
              <a:rPr lang="en-IN" sz="2000" b="1" dirty="0">
                <a:solidFill>
                  <a:srgbClr val="00B050"/>
                </a:solidFill>
                <a:effectLst/>
                <a:latin typeface="TimesNewRomanPSMT"/>
              </a:rPr>
              <a:t>3.Close </a:t>
            </a:r>
            <a:r>
              <a:rPr lang="en-IN" sz="2000" b="1" dirty="0" err="1">
                <a:solidFill>
                  <a:srgbClr val="00B050"/>
                </a:solidFill>
                <a:effectLst/>
                <a:latin typeface="TimesNewRomanPSMT"/>
              </a:rPr>
              <a:t>FileReader</a:t>
            </a:r>
            <a:r>
              <a:rPr lang="en-IN" sz="2000" b="1" dirty="0">
                <a:solidFill>
                  <a:srgbClr val="00B050"/>
                </a:solidFill>
                <a:effectLst/>
                <a:latin typeface="TimesNewRomanPSMT"/>
              </a:rPr>
              <a:t>: </a:t>
            </a:r>
            <a:endParaRPr lang="en-IN" sz="3600" b="1" dirty="0">
              <a:solidFill>
                <a:srgbClr val="00B050"/>
              </a:solidFill>
            </a:endParaRPr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fr.close</a:t>
            </a:r>
            <a:r>
              <a:rPr lang="en-IN" sz="1800" dirty="0">
                <a:effectLst/>
                <a:latin typeface="Verdana" panose="020B0604030504040204" pitchFamily="34" charset="0"/>
              </a:rPr>
              <a:t>(); </a:t>
            </a:r>
            <a:endParaRPr lang="en-IN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1E5987-E12B-09C5-D5E7-751A3F020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6431862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A8FD3-6AAB-A9C7-B204-0DB55BAB4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E8F5E-B9C4-F74C-E247-8E44E9A46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>
                <a:effectLst/>
                <a:latin typeface="Verdana" panose="020B0604030504040204" pitchFamily="34" charset="0"/>
              </a:rPr>
              <a:t>import </a:t>
            </a:r>
            <a:r>
              <a:rPr lang="en-IN" sz="2400" dirty="0" err="1">
                <a:effectLst/>
                <a:latin typeface="Verdana" panose="020B0604030504040204" pitchFamily="34" charset="0"/>
              </a:rPr>
              <a:t>java.util</a:t>
            </a:r>
            <a:r>
              <a:rPr lang="en-IN" sz="2400" dirty="0">
                <a:effectLst/>
                <a:latin typeface="Verdana" panose="020B0604030504040204" pitchFamily="34" charset="0"/>
              </a:rPr>
              <a:t>.*;</a:t>
            </a:r>
            <a:br>
              <a:rPr lang="en-IN" sz="2400" dirty="0">
                <a:effectLst/>
                <a:latin typeface="Verdana" panose="020B0604030504040204" pitchFamily="34" charset="0"/>
              </a:rPr>
            </a:br>
            <a:r>
              <a:rPr lang="en-IN" sz="2400" dirty="0">
                <a:effectLst/>
                <a:latin typeface="Verdana" panose="020B0604030504040204" pitchFamily="34" charset="0"/>
              </a:rPr>
              <a:t>public class </a:t>
            </a:r>
            <a:r>
              <a:rPr lang="en-IN" sz="2400" dirty="0" err="1">
                <a:effectLst/>
                <a:latin typeface="Verdana" panose="020B0604030504040204" pitchFamily="34" charset="0"/>
              </a:rPr>
              <a:t>FREx</a:t>
            </a:r>
            <a:r>
              <a:rPr lang="en-IN" sz="2400" dirty="0">
                <a:effectLst/>
                <a:latin typeface="Verdana" panose="020B0604030504040204" pitchFamily="34" charset="0"/>
              </a:rPr>
              <a:t>{</a:t>
            </a:r>
            <a:br>
              <a:rPr lang="en-IN" sz="2400" dirty="0">
                <a:effectLst/>
                <a:latin typeface="Verdana" panose="020B0604030504040204" pitchFamily="34" charset="0"/>
              </a:rPr>
            </a:br>
            <a:r>
              <a:rPr lang="en-IN" sz="2400" dirty="0">
                <a:effectLst/>
                <a:latin typeface="Verdana" panose="020B0604030504040204" pitchFamily="34" charset="0"/>
              </a:rPr>
              <a:t>public static void main(String </a:t>
            </a:r>
            <a:r>
              <a:rPr lang="en-IN" sz="2400" dirty="0" err="1">
                <a:effectLst/>
                <a:latin typeface="Verdana" panose="020B0604030504040204" pitchFamily="34" charset="0"/>
              </a:rPr>
              <a:t>args</a:t>
            </a:r>
            <a:r>
              <a:rPr lang="en-IN" sz="2400" dirty="0">
                <a:effectLst/>
                <a:latin typeface="Verdana" panose="020B0604030504040204" pitchFamily="34" charset="0"/>
              </a:rPr>
              <a:t>[])throws Exception{ </a:t>
            </a:r>
          </a:p>
          <a:p>
            <a:r>
              <a:rPr lang="en-IN" sz="2400" dirty="0" err="1">
                <a:effectLst/>
                <a:latin typeface="Verdana" panose="020B0604030504040204" pitchFamily="34" charset="0"/>
              </a:rPr>
              <a:t>FileWriter</a:t>
            </a:r>
            <a:r>
              <a:rPr lang="en-IN" sz="2400" dirty="0">
                <a:effectLst/>
                <a:latin typeface="Verdana" panose="020B0604030504040204" pitchFamily="34" charset="0"/>
              </a:rPr>
              <a:t> </a:t>
            </a:r>
            <a:r>
              <a:rPr lang="en-IN" sz="2400" dirty="0" err="1">
                <a:effectLst/>
                <a:latin typeface="Verdana" panose="020B0604030504040204" pitchFamily="34" charset="0"/>
              </a:rPr>
              <a:t>fr</a:t>
            </a:r>
            <a:r>
              <a:rPr lang="en-IN" sz="2400" dirty="0">
                <a:effectLst/>
                <a:latin typeface="Verdana" panose="020B0604030504040204" pitchFamily="34" charset="0"/>
              </a:rPr>
              <a:t>=new </a:t>
            </a:r>
            <a:r>
              <a:rPr lang="en-IN" sz="2400" dirty="0" err="1">
                <a:effectLst/>
                <a:latin typeface="Verdana" panose="020B0604030504040204" pitchFamily="34" charset="0"/>
              </a:rPr>
              <a:t>FileWriter</a:t>
            </a:r>
            <a:r>
              <a:rPr lang="en-IN" sz="2400" dirty="0">
                <a:effectLst/>
                <a:latin typeface="Verdana" panose="020B0604030504040204" pitchFamily="34" charset="0"/>
              </a:rPr>
              <a:t>("</a:t>
            </a:r>
            <a:r>
              <a:rPr lang="en-IN" sz="2400" dirty="0" err="1">
                <a:effectLst/>
                <a:latin typeface="Verdana" panose="020B0604030504040204" pitchFamily="34" charset="0"/>
              </a:rPr>
              <a:t>abc.txt</a:t>
            </a:r>
            <a:r>
              <a:rPr lang="en-IN" sz="2400" dirty="0">
                <a:effectLst/>
                <a:latin typeface="Verdana" panose="020B0604030504040204" pitchFamily="34" charset="0"/>
              </a:rPr>
              <a:t>"); </a:t>
            </a:r>
            <a:endParaRPr lang="en-IN" sz="4000" dirty="0"/>
          </a:p>
          <a:p>
            <a:r>
              <a:rPr lang="en-IN" sz="2400" dirty="0">
                <a:effectLst/>
                <a:latin typeface="Verdana" panose="020B0604030504040204" pitchFamily="34" charset="0"/>
              </a:rPr>
              <a:t>String data="";</a:t>
            </a:r>
            <a:br>
              <a:rPr lang="en-IN" sz="2400" dirty="0">
                <a:effectLst/>
                <a:latin typeface="Verdana" panose="020B0604030504040204" pitchFamily="34" charset="0"/>
              </a:rPr>
            </a:br>
            <a:r>
              <a:rPr lang="en-IN" sz="2400" dirty="0">
                <a:effectLst/>
                <a:latin typeface="Verdana" panose="020B0604030504040204" pitchFamily="34" charset="0"/>
              </a:rPr>
              <a:t>int </a:t>
            </a:r>
            <a:r>
              <a:rPr lang="en-IN" sz="2400" dirty="0" err="1">
                <a:effectLst/>
                <a:latin typeface="Verdana" panose="020B0604030504040204" pitchFamily="34" charset="0"/>
              </a:rPr>
              <a:t>val</a:t>
            </a:r>
            <a:r>
              <a:rPr lang="en-IN" sz="2400" dirty="0">
                <a:effectLst/>
                <a:latin typeface="Verdana" panose="020B0604030504040204" pitchFamily="34" charset="0"/>
              </a:rPr>
              <a:t>=</a:t>
            </a:r>
            <a:r>
              <a:rPr lang="en-IN" sz="2400" dirty="0" err="1">
                <a:effectLst/>
                <a:latin typeface="Verdana" panose="020B0604030504040204" pitchFamily="34" charset="0"/>
              </a:rPr>
              <a:t>fr.read</a:t>
            </a:r>
            <a:r>
              <a:rPr lang="en-IN" sz="2400" dirty="0">
                <a:effectLst/>
                <a:latin typeface="Verdana" panose="020B0604030504040204" pitchFamily="34" charset="0"/>
              </a:rPr>
              <a:t>(); while(</a:t>
            </a:r>
            <a:r>
              <a:rPr lang="en-IN" sz="2400" dirty="0" err="1">
                <a:effectLst/>
                <a:latin typeface="Verdana" panose="020B0604030504040204" pitchFamily="34" charset="0"/>
              </a:rPr>
              <a:t>val</a:t>
            </a:r>
            <a:r>
              <a:rPr lang="en-IN" sz="2400" dirty="0">
                <a:effectLst/>
                <a:latin typeface="Verdana" panose="020B0604030504040204" pitchFamily="34" charset="0"/>
              </a:rPr>
              <a:t>!=-1){ </a:t>
            </a:r>
          </a:p>
          <a:p>
            <a:r>
              <a:rPr lang="en-IN" sz="2400" dirty="0">
                <a:effectLst/>
                <a:latin typeface="Verdana" panose="020B0604030504040204" pitchFamily="34" charset="0"/>
              </a:rPr>
              <a:t>data=data+(char)</a:t>
            </a:r>
            <a:r>
              <a:rPr lang="en-IN" sz="2400" dirty="0" err="1">
                <a:effectLst/>
                <a:latin typeface="Verdana" panose="020B0604030504040204" pitchFamily="34" charset="0"/>
              </a:rPr>
              <a:t>val</a:t>
            </a:r>
            <a:r>
              <a:rPr lang="en-IN" sz="2400" dirty="0">
                <a:effectLst/>
                <a:latin typeface="Verdana" panose="020B0604030504040204" pitchFamily="34" charset="0"/>
              </a:rPr>
              <a:t>; </a:t>
            </a:r>
          </a:p>
          <a:p>
            <a:r>
              <a:rPr lang="en-IN" sz="2400" dirty="0" err="1">
                <a:effectLst/>
                <a:latin typeface="Verdana" panose="020B0604030504040204" pitchFamily="34" charset="0"/>
              </a:rPr>
              <a:t>val</a:t>
            </a:r>
            <a:r>
              <a:rPr lang="en-IN" sz="2400" dirty="0">
                <a:effectLst/>
                <a:latin typeface="Verdana" panose="020B0604030504040204" pitchFamily="34" charset="0"/>
              </a:rPr>
              <a:t>=</a:t>
            </a:r>
            <a:r>
              <a:rPr lang="en-IN" sz="2400" dirty="0" err="1">
                <a:effectLst/>
                <a:latin typeface="Verdana" panose="020B0604030504040204" pitchFamily="34" charset="0"/>
              </a:rPr>
              <a:t>fr.read</a:t>
            </a:r>
            <a:r>
              <a:rPr lang="en-IN" sz="2400" dirty="0">
                <a:effectLst/>
                <a:latin typeface="Verdana" panose="020B0604030504040204" pitchFamily="34" charset="0"/>
              </a:rPr>
              <a:t>();</a:t>
            </a:r>
            <a:br>
              <a:rPr lang="en-IN" sz="2400" dirty="0">
                <a:effectLst/>
                <a:latin typeface="Verdana" panose="020B0604030504040204" pitchFamily="34" charset="0"/>
              </a:rPr>
            </a:br>
            <a:r>
              <a:rPr lang="en-IN" sz="2400" dirty="0">
                <a:effectLst/>
                <a:latin typeface="Verdana" panose="020B0604030504040204" pitchFamily="34" charset="0"/>
              </a:rPr>
              <a:t>} </a:t>
            </a:r>
            <a:r>
              <a:rPr lang="en-IN" sz="2400" dirty="0" err="1">
                <a:effectLst/>
                <a:latin typeface="Verdana" panose="020B0604030504040204" pitchFamily="34" charset="0"/>
              </a:rPr>
              <a:t>System.out.println</a:t>
            </a:r>
            <a:r>
              <a:rPr lang="en-IN" sz="2400" dirty="0">
                <a:effectLst/>
                <a:latin typeface="Verdana" panose="020B0604030504040204" pitchFamily="34" charset="0"/>
              </a:rPr>
              <a:t>(data); </a:t>
            </a:r>
          </a:p>
          <a:p>
            <a:r>
              <a:rPr lang="en-IN" sz="2400" dirty="0" err="1">
                <a:effectLst/>
                <a:latin typeface="Verdana" panose="020B0604030504040204" pitchFamily="34" charset="0"/>
              </a:rPr>
              <a:t>fr.close</a:t>
            </a:r>
            <a:r>
              <a:rPr lang="en-IN" sz="2400" dirty="0">
                <a:effectLst/>
                <a:latin typeface="Verdana" panose="020B0604030504040204" pitchFamily="34" charset="0"/>
              </a:rPr>
              <a:t>();</a:t>
            </a:r>
          </a:p>
          <a:p>
            <a:r>
              <a:rPr lang="en-IN" sz="2400" dirty="0">
                <a:effectLst/>
                <a:latin typeface="Verdana" panose="020B0604030504040204" pitchFamily="34" charset="0"/>
              </a:rPr>
              <a:t>}</a:t>
            </a:r>
          </a:p>
          <a:p>
            <a:r>
              <a:rPr lang="en-IN" sz="2400" dirty="0">
                <a:effectLst/>
                <a:latin typeface="Verdana" panose="020B0604030504040204" pitchFamily="34" charset="0"/>
              </a:rPr>
              <a:t>} </a:t>
            </a:r>
            <a:endParaRPr lang="en-IN" sz="4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8C38F5-4F9A-5086-9CA6-B060107E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6729727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67A11-9D43-82F8-EF1E-20E12DDC4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51ABEFA7-610C-186B-9DBD-95EC9F34BF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19146"/>
            <a:ext cx="8229600" cy="4181707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DA06B-047A-56B6-4176-9C402CC43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8439623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5E5AE-D7D1-A80B-012E-FD43D2906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D31A0-25B3-E778-027E-11110B678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Verdana" panose="020B0604030504040204" pitchFamily="34" charset="0"/>
              </a:rPr>
              <a:t>Write a JAVA programme to copy a document from one file to another file by using character oriented Streams? </a:t>
            </a:r>
            <a:endParaRPr lang="en-IN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93B380-B590-8A05-F168-07F803F61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5971395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5E568-20BA-D1FE-F633-EDBB0833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rgbClr val="16355B"/>
                </a:solidFill>
                <a:effectLst/>
                <a:latin typeface="TimesNewRomanPSMT"/>
              </a:rPr>
              <a:t>Approaches for dynamic input: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19A20-A15C-D6AB-45EE-F4256FB06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Verdana" panose="020B0604030504040204" pitchFamily="34" charset="0"/>
              </a:rPr>
              <a:t>There are three approaches to provide dynamic input in java applications. </a:t>
            </a: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1.BufferedReader</a:t>
            </a:r>
            <a:br>
              <a:rPr lang="en-IN" sz="1800" dirty="0">
                <a:effectLst/>
                <a:latin typeface="Verdana" panose="020B0604030504040204" pitchFamily="34" charset="0"/>
              </a:rPr>
            </a:br>
            <a:r>
              <a:rPr lang="en-IN" sz="1800" dirty="0">
                <a:effectLst/>
                <a:latin typeface="Verdana" panose="020B0604030504040204" pitchFamily="34" charset="0"/>
              </a:rPr>
              <a:t>2.Scanner</a:t>
            </a:r>
            <a:br>
              <a:rPr lang="en-IN" sz="1800" dirty="0">
                <a:effectLst/>
                <a:latin typeface="Verdana" panose="020B0604030504040204" pitchFamily="34" charset="0"/>
              </a:rPr>
            </a:br>
            <a:r>
              <a:rPr lang="en-IN" sz="1800" dirty="0">
                <a:effectLst/>
                <a:latin typeface="Verdana" panose="020B0604030504040204" pitchFamily="34" charset="0"/>
              </a:rPr>
              <a:t>3.Console </a:t>
            </a:r>
            <a:endParaRPr lang="en-IN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9ACD0-193F-4034-3CE8-962DE2806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1064277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A15DA-091C-0339-B901-10E536426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rgbClr val="16355B"/>
                </a:solidFill>
                <a:effectLst/>
                <a:latin typeface="TimesNewRomanPSMT"/>
              </a:rPr>
              <a:t>1.BufferedReader: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96C62-39F7-2B6E-C64E-E15A11441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Verdana" panose="020B0604030504040204" pitchFamily="34" charset="0"/>
              </a:rPr>
              <a:t>If we want to take dynamic input by using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BufferedReader</a:t>
            </a:r>
            <a:r>
              <a:rPr lang="en-IN" sz="1800" dirty="0">
                <a:effectLst/>
                <a:latin typeface="Verdana" panose="020B0604030504040204" pitchFamily="34" charset="0"/>
              </a:rPr>
              <a:t> in java applications then we have to use the following statement. </a:t>
            </a:r>
            <a:endParaRPr lang="en-IN" dirty="0"/>
          </a:p>
          <a:p>
            <a:r>
              <a:rPr lang="en-IN" sz="1800" b="1" dirty="0" err="1">
                <a:effectLst/>
                <a:latin typeface="Verdana" panose="020B0604030504040204" pitchFamily="34" charset="0"/>
              </a:rPr>
              <a:t>BufferedReader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br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=new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BufferedReader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(new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InputStreamReader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(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System.in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)); </a:t>
            </a:r>
            <a:endParaRPr lang="en-IN" b="1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where "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in</a:t>
            </a:r>
            <a:r>
              <a:rPr lang="en-IN" sz="1800" dirty="0">
                <a:effectLst/>
                <a:latin typeface="Verdana" panose="020B0604030504040204" pitchFamily="34" charset="0"/>
              </a:rPr>
              <a:t>" is static variable, it will refer a predefined "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InputStream</a:t>
            </a:r>
            <a:r>
              <a:rPr lang="en-IN" sz="1800" dirty="0">
                <a:effectLst/>
                <a:latin typeface="Verdana" panose="020B0604030504040204" pitchFamily="34" charset="0"/>
              </a:rPr>
              <a:t>" object which is connected with command prompt.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If we provide data on command prompt then that data will be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transfered</a:t>
            </a:r>
            <a:r>
              <a:rPr lang="en-IN" sz="1800" dirty="0">
                <a:effectLst/>
                <a:latin typeface="Verdana" panose="020B0604030504040204" pitchFamily="34" charset="0"/>
              </a:rPr>
              <a:t> to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InputStream</a:t>
            </a:r>
            <a:r>
              <a:rPr lang="en-IN" sz="1800" dirty="0">
                <a:effectLst/>
                <a:latin typeface="Verdana" panose="020B0604030504040204" pitchFamily="34" charset="0"/>
              </a:rPr>
              <a:t> object in the form of binary data.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where "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InputStreamReader</a:t>
            </a:r>
            <a:r>
              <a:rPr lang="en-IN" sz="1800" dirty="0">
                <a:effectLst/>
                <a:latin typeface="Verdana" panose="020B0604030504040204" pitchFamily="34" charset="0"/>
              </a:rPr>
              <a:t> can be used to convert the data from binary representation to character representation.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where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BufferedReader</a:t>
            </a:r>
            <a:r>
              <a:rPr lang="en-IN" sz="1800" dirty="0">
                <a:effectLst/>
                <a:latin typeface="Verdana" panose="020B0604030504040204" pitchFamily="34" charset="0"/>
              </a:rPr>
              <a:t> can be used to improve the performance of Java application while performing input operation. </a:t>
            </a:r>
            <a:endParaRPr lang="en-IN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953ACB-81B9-2A3D-0CA8-D817A3DBB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1392946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92E9B-6CAE-7B4D-70E5-595EDFF03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diagram of a machine&#10;&#10;Description automatically generated">
            <a:extLst>
              <a:ext uri="{FF2B5EF4-FFF2-40B4-BE49-F238E27FC236}">
                <a16:creationId xmlns:a16="http://schemas.microsoft.com/office/drawing/2014/main" id="{C26DAC36-A864-3E1F-6BFB-31D5AEBE3F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38102"/>
            <a:ext cx="8229600" cy="394379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6B3755-4B57-BA4D-F35F-280827EB4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6233065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F2F8B-B362-0563-0D8C-FA439C298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72B90-46A0-8188-81A2-DFE91F50A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Verdana" panose="020B0604030504040204" pitchFamily="34" charset="0"/>
              </a:rPr>
              <a:t>To read the data from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BufferedReader</a:t>
            </a:r>
            <a:r>
              <a:rPr lang="en-IN" sz="1800" dirty="0">
                <a:effectLst/>
                <a:latin typeface="Verdana" panose="020B0604030504040204" pitchFamily="34" charset="0"/>
              </a:rPr>
              <a:t>, we will use the following method </a:t>
            </a:r>
          </a:p>
          <a:p>
            <a:pPr marL="0" indent="0">
              <a:buNone/>
            </a:pPr>
            <a:r>
              <a:rPr lang="en-IN" sz="1800" b="1" dirty="0">
                <a:effectLst/>
                <a:latin typeface="Verdana" panose="020B0604030504040204" pitchFamily="34" charset="0"/>
              </a:rPr>
              <a:t>1.readLine()</a:t>
            </a:r>
          </a:p>
          <a:p>
            <a:pPr marL="0" indent="0">
              <a:buNone/>
            </a:pPr>
            <a:r>
              <a:rPr lang="en-IN" sz="1800" b="1" dirty="0">
                <a:effectLst/>
                <a:latin typeface="Verdana" panose="020B0604030504040204" pitchFamily="34" charset="0"/>
              </a:rPr>
              <a:t>2.read() </a:t>
            </a:r>
            <a:endParaRPr lang="en-IN" b="1" dirty="0"/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readLine</a:t>
            </a:r>
            <a:r>
              <a:rPr lang="en-IN" sz="1800" dirty="0">
                <a:effectLst/>
                <a:latin typeface="Verdana" panose="020B0604030504040204" pitchFamily="34" charset="0"/>
              </a:rPr>
              <a:t>() method will read a 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line of text</a:t>
            </a:r>
            <a:r>
              <a:rPr lang="en-IN" sz="1800" dirty="0">
                <a:effectLst/>
                <a:latin typeface="Verdana" panose="020B0604030504040204" pitchFamily="34" charset="0"/>
              </a:rPr>
              <a:t> from command prompt [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BufferedReader</a:t>
            </a:r>
            <a:r>
              <a:rPr lang="en-IN" sz="1800" dirty="0">
                <a:effectLst/>
                <a:latin typeface="Verdana" panose="020B0604030504040204" pitchFamily="34" charset="0"/>
              </a:rPr>
              <a:t>] and it will return that data in the form of String. </a:t>
            </a:r>
            <a:endParaRPr lang="en-IN" dirty="0"/>
          </a:p>
          <a:p>
            <a:r>
              <a:rPr lang="en-IN" sz="1800" b="1" dirty="0">
                <a:effectLst/>
                <a:latin typeface="Verdana" panose="020B0604030504040204" pitchFamily="34" charset="0"/>
              </a:rPr>
              <a:t>public String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readLine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() throws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IOException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 </a:t>
            </a:r>
            <a:endParaRPr lang="en-IN" b="1" dirty="0"/>
          </a:p>
          <a:p>
            <a:endParaRPr lang="en-IN" sz="1800" dirty="0">
              <a:effectLst/>
              <a:latin typeface="Verdana" panose="020B0604030504040204" pitchFamily="34" charset="0"/>
            </a:endParaRPr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read() method will read a 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single character</a:t>
            </a:r>
            <a:r>
              <a:rPr lang="en-IN" sz="1800" dirty="0">
                <a:effectLst/>
                <a:latin typeface="Verdana" panose="020B0604030504040204" pitchFamily="34" charset="0"/>
              </a:rPr>
              <a:t> from command prompt [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BufferedReader</a:t>
            </a:r>
            <a:r>
              <a:rPr lang="en-IN" sz="1800" dirty="0">
                <a:effectLst/>
                <a:latin typeface="Verdana" panose="020B0604030504040204" pitchFamily="34" charset="0"/>
              </a:rPr>
              <a:t>] and it will return that character in the form of its ASCII value. </a:t>
            </a:r>
            <a:endParaRPr lang="en-IN" dirty="0"/>
          </a:p>
          <a:p>
            <a:r>
              <a:rPr lang="en-IN" sz="1800" b="1" dirty="0">
                <a:effectLst/>
                <a:latin typeface="Verdana" panose="020B0604030504040204" pitchFamily="34" charset="0"/>
              </a:rPr>
              <a:t>public int read()throws </a:t>
            </a:r>
            <a:r>
              <a:rPr lang="en-IN" sz="1800" b="1" dirty="0" err="1">
                <a:effectLst/>
                <a:latin typeface="Verdana" panose="020B0604030504040204" pitchFamily="34" charset="0"/>
              </a:rPr>
              <a:t>IOException</a:t>
            </a:r>
            <a:r>
              <a:rPr lang="en-IN" sz="1800" b="1" dirty="0">
                <a:effectLst/>
                <a:latin typeface="Verdana" panose="020B0604030504040204" pitchFamily="34" charset="0"/>
              </a:rPr>
              <a:t> </a:t>
            </a:r>
            <a:endParaRPr lang="en-IN" b="1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CDCE8-D138-BCE3-F82B-EF0273B9E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1915300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1A5FC-C6C6-35B0-4873-F8CCCAB1F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EFAE4-EF4E-DC19-813F-20C0F6DB5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import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java.io</a:t>
            </a:r>
            <a:r>
              <a:rPr lang="en-IN" sz="2000" dirty="0">
                <a:effectLst/>
                <a:latin typeface="Verdana" panose="020B0604030504040204" pitchFamily="34" charset="0"/>
              </a:rPr>
              <a:t>.*; </a:t>
            </a:r>
            <a:endParaRPr lang="en-IN" sz="3600" dirty="0"/>
          </a:p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public class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BufferedReaderEx</a:t>
            </a:r>
            <a:r>
              <a:rPr lang="en-IN" sz="2000" dirty="0">
                <a:effectLst/>
                <a:latin typeface="Verdana" panose="020B0604030504040204" pitchFamily="34" charset="0"/>
              </a:rPr>
              <a:t>{ </a:t>
            </a:r>
            <a:endParaRPr lang="en-IN" sz="3600" dirty="0"/>
          </a:p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public static void main(String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args</a:t>
            </a:r>
            <a:r>
              <a:rPr lang="en-IN" sz="2000" dirty="0">
                <a:effectLst/>
                <a:latin typeface="Verdana" panose="020B0604030504040204" pitchFamily="34" charset="0"/>
              </a:rPr>
              <a:t>[])throws Exception{ </a:t>
            </a:r>
            <a:endParaRPr lang="en-IN" sz="3600" dirty="0"/>
          </a:p>
          <a:p>
            <a:pPr marL="0" indent="0">
              <a:buNone/>
            </a:pPr>
            <a:r>
              <a:rPr lang="en-IN" sz="2000" dirty="0" err="1">
                <a:effectLst/>
                <a:latin typeface="Verdana" panose="020B0604030504040204" pitchFamily="34" charset="0"/>
              </a:rPr>
              <a:t>BufferedReader</a:t>
            </a:r>
            <a:r>
              <a:rPr lang="en-IN" sz="2000" dirty="0">
                <a:effectLst/>
                <a:latin typeface="Verdana" panose="020B0604030504040204" pitchFamily="34" charset="0"/>
              </a:rPr>
              <a:t>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br</a:t>
            </a:r>
            <a:r>
              <a:rPr lang="en-IN" sz="2000" dirty="0">
                <a:effectLst/>
                <a:latin typeface="Verdana" panose="020B0604030504040204" pitchFamily="34" charset="0"/>
              </a:rPr>
              <a:t>=new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BufferedReader</a:t>
            </a:r>
            <a:r>
              <a:rPr lang="en-IN" sz="2000" dirty="0">
                <a:effectLst/>
                <a:latin typeface="Verdana" panose="020B0604030504040204" pitchFamily="34" charset="0"/>
              </a:rPr>
              <a:t>(new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InputStreamReader</a:t>
            </a:r>
            <a:r>
              <a:rPr lang="en-IN" sz="2000" dirty="0">
                <a:effectLst/>
                <a:latin typeface="Verdana" panose="020B0604030504040204" pitchFamily="34" charset="0"/>
              </a:rPr>
              <a:t>(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System.in</a:t>
            </a:r>
            <a:r>
              <a:rPr lang="en-IN" sz="2000" dirty="0">
                <a:effectLst/>
                <a:latin typeface="Verdana" panose="020B0604030504040204" pitchFamily="34" charset="0"/>
              </a:rPr>
              <a:t>)); </a:t>
            </a:r>
            <a:endParaRPr lang="en-IN" sz="3600" dirty="0"/>
          </a:p>
          <a:p>
            <a:pPr marL="0" indent="0">
              <a:buNone/>
            </a:pPr>
            <a:r>
              <a:rPr lang="en-IN" sz="2000" dirty="0" err="1">
                <a:effectLst/>
                <a:latin typeface="Verdana" panose="020B0604030504040204" pitchFamily="34" charset="0"/>
              </a:rPr>
              <a:t>System.out.println</a:t>
            </a:r>
            <a:r>
              <a:rPr lang="en-IN" sz="2000" dirty="0">
                <a:effectLst/>
                <a:latin typeface="Verdana" panose="020B0604030504040204" pitchFamily="34" charset="0"/>
              </a:rPr>
              <a:t>("Enter Text :"); </a:t>
            </a:r>
            <a:endParaRPr lang="en-IN" sz="3600" dirty="0"/>
          </a:p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String data1=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br.readLine</a:t>
            </a:r>
            <a:r>
              <a:rPr lang="en-IN" sz="2000" dirty="0">
                <a:effectLst/>
                <a:latin typeface="Verdana" panose="020B0604030504040204" pitchFamily="34" charset="0"/>
              </a:rPr>
              <a:t>(); </a:t>
            </a:r>
            <a:endParaRPr lang="en-IN" sz="3600" dirty="0"/>
          </a:p>
          <a:p>
            <a:pPr marL="0" indent="0">
              <a:buNone/>
            </a:pPr>
            <a:r>
              <a:rPr lang="en-IN" sz="2000" dirty="0" err="1">
                <a:effectLst/>
                <a:latin typeface="Verdana" panose="020B0604030504040204" pitchFamily="34" charset="0"/>
              </a:rPr>
              <a:t>System.out.println</a:t>
            </a:r>
            <a:r>
              <a:rPr lang="en-IN" sz="2000" dirty="0">
                <a:effectLst/>
                <a:latin typeface="Verdana" panose="020B0604030504040204" pitchFamily="34" charset="0"/>
              </a:rPr>
              <a:t>("Enter the same text again :"); </a:t>
            </a:r>
            <a:endParaRPr lang="en-IN" sz="3600" dirty="0"/>
          </a:p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int data2=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br.read</a:t>
            </a:r>
            <a:r>
              <a:rPr lang="en-IN" sz="2000" dirty="0">
                <a:effectLst/>
                <a:latin typeface="Verdana" panose="020B0604030504040204" pitchFamily="34" charset="0"/>
              </a:rPr>
              <a:t>();</a:t>
            </a:r>
            <a:br>
              <a:rPr lang="en-IN" sz="2000" dirty="0">
                <a:effectLst/>
                <a:latin typeface="Verdana" panose="020B0604030504040204" pitchFamily="34" charset="0"/>
              </a:rPr>
            </a:br>
            <a:r>
              <a:rPr lang="en-IN" sz="2000" dirty="0" err="1">
                <a:effectLst/>
                <a:latin typeface="Verdana" panose="020B0604030504040204" pitchFamily="34" charset="0"/>
              </a:rPr>
              <a:t>System.out.println</a:t>
            </a:r>
            <a:r>
              <a:rPr lang="en-IN" sz="2000" dirty="0">
                <a:effectLst/>
                <a:latin typeface="Verdana" panose="020B0604030504040204" pitchFamily="34" charset="0"/>
              </a:rPr>
              <a:t>("First Entered :"+data1);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System.out.println</a:t>
            </a:r>
            <a:r>
              <a:rPr lang="en-IN" sz="2000" dirty="0">
                <a:effectLst/>
                <a:latin typeface="Verdana" panose="020B0604030504040204" pitchFamily="34" charset="0"/>
              </a:rPr>
              <a:t>("Second Entered :"+data2+"---&gt;"+(char)data2); </a:t>
            </a:r>
          </a:p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}</a:t>
            </a:r>
          </a:p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DF51CE-8EB2-80EC-8CCC-F21E181FC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2836041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80CF1-EDE4-6EB5-E697-D2649F127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BD537-F4C5-C577-488D-EBF728A12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>
                <a:effectLst/>
                <a:latin typeface="Verdana" panose="020B0604030504040204" pitchFamily="34" charset="0"/>
              </a:rPr>
              <a:t>public class </a:t>
            </a:r>
            <a:r>
              <a:rPr lang="en-IN" sz="2400" dirty="0" err="1">
                <a:effectLst/>
                <a:latin typeface="Verdana" panose="020B0604030504040204" pitchFamily="34" charset="0"/>
              </a:rPr>
              <a:t>BufferedReaderEx</a:t>
            </a:r>
            <a:r>
              <a:rPr lang="en-IN" sz="2400" dirty="0">
                <a:effectLst/>
                <a:latin typeface="Verdana" panose="020B0604030504040204" pitchFamily="34" charset="0"/>
              </a:rPr>
              <a:t>{ </a:t>
            </a:r>
            <a:endParaRPr lang="en-IN" sz="4000" dirty="0"/>
          </a:p>
          <a:p>
            <a:pPr marL="0" indent="0">
              <a:buNone/>
            </a:pPr>
            <a:r>
              <a:rPr lang="en-IN" sz="2400" dirty="0">
                <a:effectLst/>
                <a:latin typeface="Verdana" panose="020B0604030504040204" pitchFamily="34" charset="0"/>
              </a:rPr>
              <a:t>public static void main(String </a:t>
            </a:r>
            <a:r>
              <a:rPr lang="en-IN" sz="2400" dirty="0" err="1">
                <a:effectLst/>
                <a:latin typeface="Verdana" panose="020B0604030504040204" pitchFamily="34" charset="0"/>
              </a:rPr>
              <a:t>args</a:t>
            </a:r>
            <a:r>
              <a:rPr lang="en-IN" sz="2400" dirty="0">
                <a:effectLst/>
                <a:latin typeface="Verdana" panose="020B0604030504040204" pitchFamily="34" charset="0"/>
              </a:rPr>
              <a:t>[])throws Exception{ </a:t>
            </a:r>
            <a:endParaRPr lang="en-IN" sz="4000" dirty="0"/>
          </a:p>
          <a:p>
            <a:pPr marL="0" indent="0">
              <a:buNone/>
            </a:pPr>
            <a:r>
              <a:rPr lang="en-IN" sz="2400" dirty="0" err="1">
                <a:effectLst/>
                <a:latin typeface="Verdana" panose="020B0604030504040204" pitchFamily="34" charset="0"/>
              </a:rPr>
              <a:t>BufferedReader</a:t>
            </a:r>
            <a:r>
              <a:rPr lang="en-IN" sz="2400" dirty="0">
                <a:effectLst/>
                <a:latin typeface="Verdana" panose="020B0604030504040204" pitchFamily="34" charset="0"/>
              </a:rPr>
              <a:t> </a:t>
            </a:r>
            <a:r>
              <a:rPr lang="en-IN" sz="2400" dirty="0" err="1">
                <a:effectLst/>
                <a:latin typeface="Verdana" panose="020B0604030504040204" pitchFamily="34" charset="0"/>
              </a:rPr>
              <a:t>br</a:t>
            </a:r>
            <a:r>
              <a:rPr lang="en-IN" sz="2400" dirty="0">
                <a:effectLst/>
                <a:latin typeface="Verdana" panose="020B0604030504040204" pitchFamily="34" charset="0"/>
              </a:rPr>
              <a:t>=new </a:t>
            </a:r>
            <a:r>
              <a:rPr lang="en-IN" sz="2400" dirty="0" err="1">
                <a:effectLst/>
                <a:latin typeface="Verdana" panose="020B0604030504040204" pitchFamily="34" charset="0"/>
              </a:rPr>
              <a:t>BufferedReader</a:t>
            </a:r>
            <a:r>
              <a:rPr lang="en-IN" sz="2400" dirty="0">
                <a:effectLst/>
                <a:latin typeface="Verdana" panose="020B0604030504040204" pitchFamily="34" charset="0"/>
              </a:rPr>
              <a:t>(new </a:t>
            </a:r>
            <a:r>
              <a:rPr lang="en-IN" sz="2400" dirty="0" err="1">
                <a:effectLst/>
                <a:latin typeface="Verdana" panose="020B0604030504040204" pitchFamily="34" charset="0"/>
              </a:rPr>
              <a:t>InputStreamReader</a:t>
            </a:r>
            <a:r>
              <a:rPr lang="en-IN" sz="2400" dirty="0">
                <a:effectLst/>
                <a:latin typeface="Verdana" panose="020B0604030504040204" pitchFamily="34" charset="0"/>
              </a:rPr>
              <a:t>(</a:t>
            </a:r>
            <a:r>
              <a:rPr lang="en-IN" sz="2400" dirty="0" err="1">
                <a:effectLst/>
                <a:latin typeface="Verdana" panose="020B0604030504040204" pitchFamily="34" charset="0"/>
              </a:rPr>
              <a:t>System.in</a:t>
            </a:r>
            <a:r>
              <a:rPr lang="en-IN" sz="2400" dirty="0">
                <a:effectLst/>
                <a:latin typeface="Verdana" panose="020B0604030504040204" pitchFamily="34" charset="0"/>
              </a:rPr>
              <a:t>)); </a:t>
            </a:r>
            <a:endParaRPr lang="en-IN" sz="4000" dirty="0"/>
          </a:p>
          <a:p>
            <a:pPr marL="0" indent="0">
              <a:buNone/>
            </a:pPr>
            <a:r>
              <a:rPr lang="en-IN" sz="2400" dirty="0" err="1">
                <a:effectLst/>
                <a:latin typeface="Verdana" panose="020B0604030504040204" pitchFamily="34" charset="0"/>
              </a:rPr>
              <a:t>System.out.println</a:t>
            </a:r>
            <a:r>
              <a:rPr lang="en-IN" sz="2400" dirty="0">
                <a:effectLst/>
                <a:latin typeface="Verdana" panose="020B0604030504040204" pitchFamily="34" charset="0"/>
              </a:rPr>
              <a:t>("First value :"); </a:t>
            </a:r>
            <a:endParaRPr lang="en-IN" sz="4000" dirty="0"/>
          </a:p>
          <a:p>
            <a:pPr marL="0" indent="0">
              <a:buNone/>
            </a:pPr>
            <a:r>
              <a:rPr lang="en-IN" sz="2400" dirty="0">
                <a:effectLst/>
                <a:latin typeface="Verdana" panose="020B0604030504040204" pitchFamily="34" charset="0"/>
              </a:rPr>
              <a:t>String val1=</a:t>
            </a:r>
            <a:r>
              <a:rPr lang="en-IN" sz="2400" dirty="0" err="1">
                <a:effectLst/>
                <a:latin typeface="Verdana" panose="020B0604030504040204" pitchFamily="34" charset="0"/>
              </a:rPr>
              <a:t>br.readLine</a:t>
            </a:r>
            <a:r>
              <a:rPr lang="en-IN" sz="2400" dirty="0">
                <a:effectLst/>
                <a:latin typeface="Verdana" panose="020B0604030504040204" pitchFamily="34" charset="0"/>
              </a:rPr>
              <a:t>(); </a:t>
            </a:r>
          </a:p>
          <a:p>
            <a:pPr marL="0" indent="0">
              <a:buNone/>
            </a:pPr>
            <a:r>
              <a:rPr lang="en-IN" sz="2400" dirty="0" err="1">
                <a:effectLst/>
                <a:latin typeface="Verdana" panose="020B0604030504040204" pitchFamily="34" charset="0"/>
              </a:rPr>
              <a:t>System.out.println</a:t>
            </a:r>
            <a:r>
              <a:rPr lang="en-IN" sz="2400" dirty="0">
                <a:effectLst/>
                <a:latin typeface="Verdana" panose="020B0604030504040204" pitchFamily="34" charset="0"/>
              </a:rPr>
              <a:t>("Second value :"); </a:t>
            </a:r>
          </a:p>
          <a:p>
            <a:pPr marL="0" indent="0">
              <a:buNone/>
            </a:pPr>
            <a:r>
              <a:rPr lang="en-IN" sz="2400" dirty="0">
                <a:effectLst/>
                <a:latin typeface="Verdana" panose="020B0604030504040204" pitchFamily="34" charset="0"/>
              </a:rPr>
              <a:t>String val2=</a:t>
            </a:r>
            <a:r>
              <a:rPr lang="en-IN" sz="2400" dirty="0" err="1">
                <a:effectLst/>
                <a:latin typeface="Verdana" panose="020B0604030504040204" pitchFamily="34" charset="0"/>
              </a:rPr>
              <a:t>br.readLine</a:t>
            </a:r>
            <a:r>
              <a:rPr lang="en-IN" sz="2400" dirty="0">
                <a:effectLst/>
                <a:latin typeface="Verdana" panose="020B0604030504040204" pitchFamily="34" charset="0"/>
              </a:rPr>
              <a:t>(); </a:t>
            </a:r>
          </a:p>
          <a:p>
            <a:pPr marL="0" indent="0">
              <a:buNone/>
            </a:pPr>
            <a:r>
              <a:rPr lang="en-IN" sz="2400" dirty="0" err="1">
                <a:effectLst/>
                <a:latin typeface="Verdana" panose="020B0604030504040204" pitchFamily="34" charset="0"/>
              </a:rPr>
              <a:t>System.out.println</a:t>
            </a:r>
            <a:r>
              <a:rPr lang="en-IN" sz="2400" dirty="0">
                <a:effectLst/>
                <a:latin typeface="Verdana" panose="020B0604030504040204" pitchFamily="34" charset="0"/>
              </a:rPr>
              <a:t>("Addition :"+val1+val2); </a:t>
            </a:r>
          </a:p>
          <a:p>
            <a:pPr marL="0" indent="0">
              <a:buNone/>
            </a:pPr>
            <a:r>
              <a:rPr lang="en-IN" sz="2400" dirty="0">
                <a:effectLst/>
                <a:latin typeface="Verdana" panose="020B0604030504040204" pitchFamily="34" charset="0"/>
              </a:rPr>
              <a:t>}</a:t>
            </a:r>
          </a:p>
          <a:p>
            <a:pPr marL="0" indent="0">
              <a:buNone/>
            </a:pPr>
            <a:r>
              <a:rPr lang="en-IN" sz="2400" dirty="0">
                <a:effectLst/>
                <a:latin typeface="Verdana" panose="020B0604030504040204" pitchFamily="34" charset="0"/>
              </a:rPr>
              <a:t>} </a:t>
            </a:r>
            <a:endParaRPr lang="en-IN" sz="4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4CDFCF-21B2-FC2B-D144-FC690BBD2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7223317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B0F54-C710-2396-37D5-88945560B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3C4F5-DE81-29FA-3DED-64D0E341A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public class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BufferedReaderEx</a:t>
            </a:r>
            <a:r>
              <a:rPr lang="en-IN" sz="2000" dirty="0">
                <a:effectLst/>
                <a:latin typeface="Verdana" panose="020B0604030504040204" pitchFamily="34" charset="0"/>
              </a:rPr>
              <a:t>{ </a:t>
            </a:r>
            <a:endParaRPr lang="en-IN" sz="3600" dirty="0"/>
          </a:p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public static void main(String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args</a:t>
            </a:r>
            <a:r>
              <a:rPr lang="en-IN" sz="2000" dirty="0">
                <a:effectLst/>
                <a:latin typeface="Verdana" panose="020B0604030504040204" pitchFamily="34" charset="0"/>
              </a:rPr>
              <a:t>[])throws Exception{ </a:t>
            </a:r>
            <a:endParaRPr lang="en-IN" sz="3600" dirty="0"/>
          </a:p>
          <a:p>
            <a:pPr marL="0" indent="0">
              <a:buNone/>
            </a:pPr>
            <a:r>
              <a:rPr lang="en-IN" sz="2000" dirty="0" err="1">
                <a:effectLst/>
                <a:latin typeface="Verdana" panose="020B0604030504040204" pitchFamily="34" charset="0"/>
              </a:rPr>
              <a:t>BufferedReader</a:t>
            </a:r>
            <a:r>
              <a:rPr lang="en-IN" sz="2000" dirty="0">
                <a:effectLst/>
                <a:latin typeface="Verdana" panose="020B0604030504040204" pitchFamily="34" charset="0"/>
              </a:rPr>
              <a:t>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br</a:t>
            </a:r>
            <a:r>
              <a:rPr lang="en-IN" sz="2000" dirty="0">
                <a:effectLst/>
                <a:latin typeface="Verdana" panose="020B0604030504040204" pitchFamily="34" charset="0"/>
              </a:rPr>
              <a:t>=new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BufferedReader</a:t>
            </a:r>
            <a:r>
              <a:rPr lang="en-IN" sz="2000" dirty="0">
                <a:effectLst/>
                <a:latin typeface="Verdana" panose="020B0604030504040204" pitchFamily="34" charset="0"/>
              </a:rPr>
              <a:t>(new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InputStreamReader</a:t>
            </a:r>
            <a:r>
              <a:rPr lang="en-IN" sz="2000" dirty="0">
                <a:effectLst/>
                <a:latin typeface="Verdana" panose="020B0604030504040204" pitchFamily="34" charset="0"/>
              </a:rPr>
              <a:t>(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System.in</a:t>
            </a:r>
            <a:r>
              <a:rPr lang="en-IN" sz="2000" dirty="0">
                <a:effectLst/>
                <a:latin typeface="Verdana" panose="020B0604030504040204" pitchFamily="34" charset="0"/>
              </a:rPr>
              <a:t>)); </a:t>
            </a:r>
            <a:endParaRPr lang="en-IN" sz="3600" dirty="0"/>
          </a:p>
          <a:p>
            <a:pPr marL="0" indent="0">
              <a:buNone/>
            </a:pPr>
            <a:r>
              <a:rPr lang="en-IN" sz="2000" dirty="0" err="1">
                <a:effectLst/>
                <a:latin typeface="Verdana" panose="020B0604030504040204" pitchFamily="34" charset="0"/>
              </a:rPr>
              <a:t>System.out.println</a:t>
            </a:r>
            <a:r>
              <a:rPr lang="en-IN" sz="2000" dirty="0">
                <a:effectLst/>
                <a:latin typeface="Verdana" panose="020B0604030504040204" pitchFamily="34" charset="0"/>
              </a:rPr>
              <a:t>("First value :"); </a:t>
            </a:r>
            <a:endParaRPr lang="en-IN" sz="3600" dirty="0"/>
          </a:p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String val1=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br.readLine</a:t>
            </a:r>
            <a:r>
              <a:rPr lang="en-IN" sz="2000" dirty="0">
                <a:effectLst/>
                <a:latin typeface="Verdana" panose="020B0604030504040204" pitchFamily="34" charset="0"/>
              </a:rPr>
              <a:t>(); </a:t>
            </a:r>
            <a:endParaRPr lang="en-IN" sz="3600" dirty="0"/>
          </a:p>
          <a:p>
            <a:pPr marL="0" indent="0">
              <a:buNone/>
            </a:pPr>
            <a:r>
              <a:rPr lang="en-IN" sz="2000" dirty="0" err="1">
                <a:effectLst/>
                <a:latin typeface="Verdana" panose="020B0604030504040204" pitchFamily="34" charset="0"/>
              </a:rPr>
              <a:t>System.out.println</a:t>
            </a:r>
            <a:r>
              <a:rPr lang="en-IN" sz="2000" dirty="0">
                <a:effectLst/>
                <a:latin typeface="Verdana" panose="020B0604030504040204" pitchFamily="34" charset="0"/>
              </a:rPr>
              <a:t>("Second value :"); </a:t>
            </a:r>
            <a:endParaRPr lang="en-IN" sz="3600" dirty="0"/>
          </a:p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String val2=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br.readLine</a:t>
            </a:r>
            <a:r>
              <a:rPr lang="en-IN" sz="2000" dirty="0">
                <a:effectLst/>
                <a:latin typeface="Verdana" panose="020B0604030504040204" pitchFamily="34" charset="0"/>
              </a:rPr>
              <a:t>();</a:t>
            </a:r>
            <a:br>
              <a:rPr lang="en-IN" sz="2000" dirty="0">
                <a:effectLst/>
                <a:latin typeface="Verdana" panose="020B0604030504040204" pitchFamily="34" charset="0"/>
              </a:rPr>
            </a:br>
            <a:r>
              <a:rPr lang="en-IN" sz="2000" dirty="0">
                <a:effectLst/>
                <a:latin typeface="Verdana" panose="020B0604030504040204" pitchFamily="34" charset="0"/>
              </a:rPr>
              <a:t>int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f_Val</a:t>
            </a:r>
            <a:r>
              <a:rPr lang="en-IN" sz="2000" dirty="0">
                <a:effectLst/>
                <a:latin typeface="Verdana" panose="020B0604030504040204" pitchFamily="34" charset="0"/>
              </a:rPr>
              <a:t>=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Integer.parseInt</a:t>
            </a:r>
            <a:r>
              <a:rPr lang="en-IN" sz="2000" dirty="0">
                <a:effectLst/>
                <a:latin typeface="Verdana" panose="020B0604030504040204" pitchFamily="34" charset="0"/>
              </a:rPr>
              <a:t>(val1);</a:t>
            </a:r>
            <a:br>
              <a:rPr lang="en-IN" sz="2000" dirty="0">
                <a:effectLst/>
                <a:latin typeface="Verdana" panose="020B0604030504040204" pitchFamily="34" charset="0"/>
              </a:rPr>
            </a:br>
            <a:r>
              <a:rPr lang="en-IN" sz="2000" dirty="0">
                <a:effectLst/>
                <a:latin typeface="Verdana" panose="020B0604030504040204" pitchFamily="34" charset="0"/>
              </a:rPr>
              <a:t>int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s_Val</a:t>
            </a:r>
            <a:r>
              <a:rPr lang="en-IN" sz="2000" dirty="0">
                <a:effectLst/>
                <a:latin typeface="Verdana" panose="020B0604030504040204" pitchFamily="34" charset="0"/>
              </a:rPr>
              <a:t>=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Integer.parseInt</a:t>
            </a:r>
            <a:r>
              <a:rPr lang="en-IN" sz="2000" dirty="0">
                <a:effectLst/>
                <a:latin typeface="Verdana" panose="020B0604030504040204" pitchFamily="34" charset="0"/>
              </a:rPr>
              <a:t>(val2); </a:t>
            </a:r>
          </a:p>
          <a:p>
            <a:pPr marL="0" indent="0">
              <a:buNone/>
            </a:pPr>
            <a:r>
              <a:rPr lang="en-IN" sz="2000" dirty="0" err="1">
                <a:effectLst/>
                <a:latin typeface="Verdana" panose="020B0604030504040204" pitchFamily="34" charset="0"/>
              </a:rPr>
              <a:t>System.out.println</a:t>
            </a:r>
            <a:r>
              <a:rPr lang="en-IN" sz="2000" dirty="0">
                <a:effectLst/>
                <a:latin typeface="Verdana" panose="020B0604030504040204" pitchFamily="34" charset="0"/>
              </a:rPr>
              <a:t>("Addition :"+(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f_Val+s_Val</a:t>
            </a:r>
            <a:r>
              <a:rPr lang="en-IN" sz="2000" dirty="0">
                <a:effectLst/>
                <a:latin typeface="Verdana" panose="020B0604030504040204" pitchFamily="34" charset="0"/>
              </a:rPr>
              <a:t>)); </a:t>
            </a:r>
          </a:p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}</a:t>
            </a:r>
          </a:p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} </a:t>
            </a:r>
            <a:endParaRPr lang="en-IN" sz="3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2CFDF5-C6CF-0257-3D16-6664BE002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3338906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B4BA6-805D-49CB-9FE7-6547A8EC0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rgbClr val="16355B"/>
                </a:solidFill>
                <a:effectLst/>
                <a:latin typeface="TimesNewRomanPSMT"/>
              </a:rPr>
              <a:t>Console: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A9982-E7F8-13A4-96F1-8449D165F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Verdana" panose="020B0604030504040204" pitchFamily="34" charset="0"/>
              </a:rPr>
              <a:t>This class is provided by Java in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java.io</a:t>
            </a:r>
            <a:r>
              <a:rPr lang="en-IN" sz="1800" dirty="0">
                <a:effectLst/>
                <a:latin typeface="Verdana" panose="020B0604030504040204" pitchFamily="34" charset="0"/>
              </a:rPr>
              <a:t> package along with JAVA6 Version.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In Java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applications,to</a:t>
            </a:r>
            <a:r>
              <a:rPr lang="en-IN" sz="1800" dirty="0">
                <a:effectLst/>
                <a:latin typeface="Verdana" panose="020B0604030504040204" pitchFamily="34" charset="0"/>
              </a:rPr>
              <a:t> take dynamic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input,if</a:t>
            </a:r>
            <a:r>
              <a:rPr lang="en-IN" sz="1800" dirty="0">
                <a:effectLst/>
                <a:latin typeface="Verdana" panose="020B0604030504040204" pitchFamily="34" charset="0"/>
              </a:rPr>
              <a:t> we use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BufferedReader</a:t>
            </a:r>
            <a:r>
              <a:rPr lang="en-IN" sz="1800" dirty="0">
                <a:effectLst/>
                <a:latin typeface="Verdana" panose="020B0604030504040204" pitchFamily="34" charset="0"/>
              </a:rPr>
              <a:t> and Scanner then we are able to get the following drawbacks: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1.We have to consume 2 instructions for each and every dynamic input[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s.o.pln</a:t>
            </a:r>
            <a:r>
              <a:rPr lang="en-IN" sz="1800" dirty="0">
                <a:effectLst/>
                <a:latin typeface="Verdana" panose="020B0604030504040204" pitchFamily="34" charset="0"/>
              </a:rPr>
              <a:t>(..) and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readLine</a:t>
            </a:r>
            <a:r>
              <a:rPr lang="en-IN" sz="1800" dirty="0">
                <a:effectLst/>
                <a:latin typeface="Verdana" panose="020B0604030504040204" pitchFamily="34" charset="0"/>
              </a:rPr>
              <a:t>() or </a:t>
            </a:r>
            <a:endParaRPr lang="en-IN" dirty="0"/>
          </a:p>
          <a:p>
            <a:r>
              <a:rPr lang="en-IN" sz="1800" dirty="0" err="1">
                <a:effectLst/>
                <a:latin typeface="Verdana" panose="020B0604030504040204" pitchFamily="34" charset="0"/>
              </a:rPr>
              <a:t>nextXXX</a:t>
            </a:r>
            <a:r>
              <a:rPr lang="en-IN" sz="1800" dirty="0">
                <a:effectLst/>
                <a:latin typeface="Verdana" panose="020B0604030504040204" pitchFamily="34" charset="0"/>
              </a:rPr>
              <a:t>() methods]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2.These are not providing security for the data like password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data,pin</a:t>
            </a:r>
            <a:r>
              <a:rPr lang="en-IN" sz="1800" dirty="0">
                <a:effectLst/>
                <a:latin typeface="Verdana" panose="020B0604030504040204" pitchFamily="34" charset="0"/>
              </a:rPr>
              <a:t> numbers.....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To overcome the above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problems,we</a:t>
            </a:r>
            <a:r>
              <a:rPr lang="en-IN" sz="1800" dirty="0">
                <a:effectLst/>
                <a:latin typeface="Verdana" panose="020B0604030504040204" pitchFamily="34" charset="0"/>
              </a:rPr>
              <a:t> have to use "Console" dynamic input approach.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If we want to use Console in Java applications then we have to use the following Steps: </a:t>
            </a:r>
            <a:endParaRPr lang="en-IN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B6C242-4B4E-AAE3-5FD9-AB867E8F3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6454599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19C7F-0949-9331-218D-6851526FD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E1450-FD37-8936-51C6-F710A7457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solidFill>
                  <a:srgbClr val="16355B"/>
                </a:solidFill>
                <a:effectLst/>
                <a:latin typeface="TimesNewRomanPSMT"/>
              </a:rPr>
              <a:t>1.Create Console object: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To get Console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object,we</a:t>
            </a:r>
            <a:r>
              <a:rPr lang="en-IN" sz="1800" dirty="0">
                <a:effectLst/>
                <a:latin typeface="Verdana" panose="020B0604030504040204" pitchFamily="34" charset="0"/>
              </a:rPr>
              <a:t> have to use the following method from "System" class.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public static Console console()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Ex:Console</a:t>
            </a:r>
            <a:r>
              <a:rPr lang="en-IN" sz="1800" dirty="0">
                <a:effectLst/>
                <a:latin typeface="Verdana" panose="020B0604030504040204" pitchFamily="34" charset="0"/>
              </a:rPr>
              <a:t> c=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System.console</a:t>
            </a:r>
            <a:r>
              <a:rPr lang="en-IN" sz="1800" dirty="0">
                <a:effectLst/>
                <a:latin typeface="Verdana" panose="020B0604030504040204" pitchFamily="34" charset="0"/>
              </a:rPr>
              <a:t>(); </a:t>
            </a:r>
            <a:r>
              <a:rPr lang="en-IN" sz="1800" dirty="0">
                <a:solidFill>
                  <a:srgbClr val="16355B"/>
                </a:solidFill>
                <a:effectLst/>
                <a:latin typeface="TimesNewRomanPSMT"/>
              </a:rPr>
              <a:t>2.Read dynamic Input: </a:t>
            </a:r>
            <a:endParaRPr lang="en-IN" dirty="0"/>
          </a:p>
          <a:p>
            <a:r>
              <a:rPr lang="en-IN" sz="1800" dirty="0">
                <a:effectLst/>
                <a:latin typeface="Verdana" panose="020B0604030504040204" pitchFamily="34" charset="0"/>
              </a:rPr>
              <a:t>To read String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data,we</a:t>
            </a:r>
            <a:r>
              <a:rPr lang="en-IN" sz="1800" dirty="0">
                <a:effectLst/>
                <a:latin typeface="Verdana" panose="020B0604030504040204" pitchFamily="34" charset="0"/>
              </a:rPr>
              <a:t> have to use the following method. public String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readLine</a:t>
            </a:r>
            <a:r>
              <a:rPr lang="en-IN" sz="1800" dirty="0">
                <a:effectLst/>
                <a:latin typeface="Verdana" panose="020B0604030504040204" pitchFamily="34" charset="0"/>
              </a:rPr>
              <a:t>(String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msg</a:t>
            </a:r>
            <a:r>
              <a:rPr lang="en-IN" sz="1800" dirty="0">
                <a:effectLst/>
                <a:latin typeface="Verdana" panose="020B0604030504040204" pitchFamily="34" charset="0"/>
              </a:rPr>
              <a:t>)</a:t>
            </a:r>
            <a:br>
              <a:rPr lang="en-IN" sz="1800" dirty="0">
                <a:effectLst/>
                <a:latin typeface="Verdana" panose="020B0604030504040204" pitchFamily="34" charset="0"/>
              </a:rPr>
            </a:br>
            <a:r>
              <a:rPr lang="en-IN" sz="1800" dirty="0">
                <a:effectLst/>
                <a:latin typeface="Verdana" panose="020B0604030504040204" pitchFamily="34" charset="0"/>
              </a:rPr>
              <a:t>To read password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data,we</a:t>
            </a:r>
            <a:r>
              <a:rPr lang="en-IN" sz="1800" dirty="0">
                <a:effectLst/>
                <a:latin typeface="Verdana" panose="020B0604030504040204" pitchFamily="34" charset="0"/>
              </a:rPr>
              <a:t> have to use the following method. public char[]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readPassword</a:t>
            </a:r>
            <a:r>
              <a:rPr lang="en-IN" sz="1800" dirty="0">
                <a:effectLst/>
                <a:latin typeface="Verdana" panose="020B0604030504040204" pitchFamily="34" charset="0"/>
              </a:rPr>
              <a:t>(String </a:t>
            </a:r>
            <a:r>
              <a:rPr lang="en-IN" sz="1800" dirty="0" err="1">
                <a:effectLst/>
                <a:latin typeface="Verdana" panose="020B0604030504040204" pitchFamily="34" charset="0"/>
              </a:rPr>
              <a:t>msg</a:t>
            </a:r>
            <a:r>
              <a:rPr lang="en-IN" sz="1800" dirty="0">
                <a:effectLst/>
                <a:latin typeface="Verdana" panose="020B0604030504040204" pitchFamily="34" charset="0"/>
              </a:rPr>
              <a:t>) </a:t>
            </a:r>
            <a:endParaRPr lang="en-IN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1A8236-1862-7C96-0B5F-5B57AEAB2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9660558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C6277-827A-3CE9-7D00-3B1BEE75E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E2302-3288-286D-6380-FC5D553E9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public class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ConsoleEx</a:t>
            </a:r>
            <a:r>
              <a:rPr lang="en-IN" sz="2000" dirty="0">
                <a:effectLst/>
                <a:latin typeface="Verdana" panose="020B0604030504040204" pitchFamily="34" charset="0"/>
              </a:rPr>
              <a:t>{</a:t>
            </a:r>
            <a:br>
              <a:rPr lang="en-IN" sz="2000" dirty="0">
                <a:effectLst/>
                <a:latin typeface="Verdana" panose="020B0604030504040204" pitchFamily="34" charset="0"/>
              </a:rPr>
            </a:br>
            <a:r>
              <a:rPr lang="en-IN" sz="2000" dirty="0">
                <a:effectLst/>
                <a:latin typeface="Verdana" panose="020B0604030504040204" pitchFamily="34" charset="0"/>
              </a:rPr>
              <a:t>public static void main(String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args</a:t>
            </a:r>
            <a:r>
              <a:rPr lang="en-IN" sz="2000" dirty="0">
                <a:effectLst/>
                <a:latin typeface="Verdana" panose="020B0604030504040204" pitchFamily="34" charset="0"/>
              </a:rPr>
              <a:t>[])throws Exception{ </a:t>
            </a:r>
          </a:p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Console c=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System.console</a:t>
            </a:r>
            <a:r>
              <a:rPr lang="en-IN" sz="2000" dirty="0">
                <a:effectLst/>
                <a:latin typeface="Verdana" panose="020B0604030504040204" pitchFamily="34" charset="0"/>
              </a:rPr>
              <a:t>(); </a:t>
            </a:r>
            <a:endParaRPr lang="en-IN" sz="3600" dirty="0"/>
          </a:p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String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uname</a:t>
            </a:r>
            <a:r>
              <a:rPr lang="en-IN" sz="2000" dirty="0">
                <a:effectLst/>
                <a:latin typeface="Verdana" panose="020B0604030504040204" pitchFamily="34" charset="0"/>
              </a:rPr>
              <a:t>=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c.readLine</a:t>
            </a:r>
            <a:r>
              <a:rPr lang="en-IN" sz="2000" dirty="0">
                <a:effectLst/>
                <a:latin typeface="Verdana" panose="020B0604030504040204" pitchFamily="34" charset="0"/>
              </a:rPr>
              <a:t>("User Name :");</a:t>
            </a:r>
            <a:br>
              <a:rPr lang="en-IN" sz="2000" dirty="0">
                <a:effectLst/>
                <a:latin typeface="Verdana" panose="020B0604030504040204" pitchFamily="34" charset="0"/>
              </a:rPr>
            </a:br>
            <a:r>
              <a:rPr lang="en-IN" sz="2000" dirty="0">
                <a:effectLst/>
                <a:latin typeface="Verdana" panose="020B0604030504040204" pitchFamily="34" charset="0"/>
              </a:rPr>
              <a:t>char[]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pwd</a:t>
            </a:r>
            <a:r>
              <a:rPr lang="en-IN" sz="2000" dirty="0">
                <a:effectLst/>
                <a:latin typeface="Verdana" panose="020B0604030504040204" pitchFamily="34" charset="0"/>
              </a:rPr>
              <a:t>=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c.readPassword</a:t>
            </a:r>
            <a:r>
              <a:rPr lang="en-IN" sz="2000" dirty="0">
                <a:effectLst/>
                <a:latin typeface="Verdana" panose="020B0604030504040204" pitchFamily="34" charset="0"/>
              </a:rPr>
              <a:t>("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PassWord</a:t>
            </a:r>
            <a:r>
              <a:rPr lang="en-IN" sz="2000" dirty="0">
                <a:effectLst/>
                <a:latin typeface="Verdana" panose="020B0604030504040204" pitchFamily="34" charset="0"/>
              </a:rPr>
              <a:t> :");</a:t>
            </a:r>
            <a:br>
              <a:rPr lang="en-IN" sz="2000" dirty="0">
                <a:effectLst/>
                <a:latin typeface="Verdana" panose="020B0604030504040204" pitchFamily="34" charset="0"/>
              </a:rPr>
            </a:br>
            <a:r>
              <a:rPr lang="en-IN" sz="2000" dirty="0">
                <a:effectLst/>
                <a:latin typeface="Verdana" panose="020B0604030504040204" pitchFamily="34" charset="0"/>
              </a:rPr>
              <a:t>String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upwd</a:t>
            </a:r>
            <a:r>
              <a:rPr lang="en-IN" sz="2000" dirty="0">
                <a:effectLst/>
                <a:latin typeface="Verdana" panose="020B0604030504040204" pitchFamily="34" charset="0"/>
              </a:rPr>
              <a:t>=new String(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pwd</a:t>
            </a:r>
            <a:r>
              <a:rPr lang="en-IN" sz="2000" dirty="0">
                <a:effectLst/>
                <a:latin typeface="Verdana" panose="020B0604030504040204" pitchFamily="34" charset="0"/>
              </a:rPr>
              <a:t>); if(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uname.equals</a:t>
            </a:r>
            <a:r>
              <a:rPr lang="en-IN" sz="2000" dirty="0">
                <a:effectLst/>
                <a:latin typeface="Verdana" panose="020B0604030504040204" pitchFamily="34" charset="0"/>
              </a:rPr>
              <a:t>("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durga</a:t>
            </a:r>
            <a:r>
              <a:rPr lang="en-IN" sz="2000" dirty="0">
                <a:effectLst/>
                <a:latin typeface="Verdana" panose="020B0604030504040204" pitchFamily="34" charset="0"/>
              </a:rPr>
              <a:t>")&amp;&amp;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upwd.equals</a:t>
            </a:r>
            <a:r>
              <a:rPr lang="en-IN" sz="2000" dirty="0">
                <a:effectLst/>
                <a:latin typeface="Verdana" panose="020B0604030504040204" pitchFamily="34" charset="0"/>
              </a:rPr>
              <a:t>("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durga</a:t>
            </a:r>
            <a:r>
              <a:rPr lang="en-IN" sz="2000" dirty="0">
                <a:effectLst/>
                <a:latin typeface="Verdana" panose="020B0604030504040204" pitchFamily="34" charset="0"/>
              </a:rPr>
              <a:t>")){ 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System.out.println</a:t>
            </a:r>
            <a:r>
              <a:rPr lang="en-IN" sz="2000" dirty="0">
                <a:effectLst/>
                <a:latin typeface="Verdana" panose="020B0604030504040204" pitchFamily="34" charset="0"/>
              </a:rPr>
              <a:t>("Valid User"); </a:t>
            </a:r>
            <a:endParaRPr lang="en-IN" sz="3600" dirty="0"/>
          </a:p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}</a:t>
            </a:r>
            <a:br>
              <a:rPr lang="en-IN" sz="2000" dirty="0">
                <a:effectLst/>
                <a:latin typeface="Verdana" panose="020B0604030504040204" pitchFamily="34" charset="0"/>
              </a:rPr>
            </a:br>
            <a:r>
              <a:rPr lang="en-IN" sz="2000" dirty="0">
                <a:effectLst/>
                <a:latin typeface="Verdana" panose="020B0604030504040204" pitchFamily="34" charset="0"/>
              </a:rPr>
              <a:t>else{</a:t>
            </a:r>
            <a:br>
              <a:rPr lang="en-IN" sz="2000" dirty="0">
                <a:effectLst/>
                <a:latin typeface="Verdana" panose="020B0604030504040204" pitchFamily="34" charset="0"/>
              </a:rPr>
            </a:br>
            <a:r>
              <a:rPr lang="en-IN" sz="2000" dirty="0" err="1">
                <a:effectLst/>
                <a:latin typeface="Verdana" panose="020B0604030504040204" pitchFamily="34" charset="0"/>
              </a:rPr>
              <a:t>System.out.println</a:t>
            </a:r>
            <a:r>
              <a:rPr lang="en-IN" sz="2000" dirty="0">
                <a:effectLst/>
                <a:latin typeface="Verdana" panose="020B0604030504040204" pitchFamily="34" charset="0"/>
              </a:rPr>
              <a:t>("</a:t>
            </a:r>
            <a:r>
              <a:rPr lang="en-IN" sz="2000" dirty="0" err="1">
                <a:effectLst/>
                <a:latin typeface="Verdana" panose="020B0604030504040204" pitchFamily="34" charset="0"/>
              </a:rPr>
              <a:t>InValid</a:t>
            </a:r>
            <a:r>
              <a:rPr lang="en-IN" sz="2000" dirty="0">
                <a:effectLst/>
                <a:latin typeface="Verdana" panose="020B0604030504040204" pitchFamily="34" charset="0"/>
              </a:rPr>
              <a:t> User"); </a:t>
            </a:r>
          </a:p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}</a:t>
            </a:r>
          </a:p>
          <a:p>
            <a:pPr marL="0" indent="0">
              <a:buNone/>
            </a:pPr>
            <a:r>
              <a:rPr lang="en-IN" sz="2000" dirty="0">
                <a:effectLst/>
                <a:latin typeface="Verdana" panose="020B0604030504040204" pitchFamily="34" charset="0"/>
              </a:rPr>
              <a:t>}</a:t>
            </a:r>
            <a:br>
              <a:rPr lang="en-IN" sz="2000" dirty="0">
                <a:effectLst/>
                <a:latin typeface="Verdana" panose="020B0604030504040204" pitchFamily="34" charset="0"/>
              </a:rPr>
            </a:br>
            <a:r>
              <a:rPr lang="en-IN" sz="2000" dirty="0">
                <a:effectLst/>
                <a:latin typeface="Verdana" panose="020B0604030504040204" pitchFamily="34" charset="0"/>
              </a:rPr>
              <a:t>} </a:t>
            </a:r>
            <a:endParaRPr lang="en-IN" sz="3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DB6C9-AE80-B5F5-8ACB-EE9DC28DD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0850888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2311C-2327-45BA-8A94-AB7E0F949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F73F3-0445-4917-8154-FA39514F8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69440"/>
            <a:ext cx="8229600" cy="2966720"/>
          </a:xfrm>
        </p:spPr>
        <p:txBody>
          <a:bodyPr/>
          <a:lstStyle/>
          <a:p>
            <a:pPr marL="0" indent="0" algn="ctr">
              <a:buNone/>
            </a:pPr>
            <a:r>
              <a:rPr lang="en-IN" sz="6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</a:p>
          <a:p>
            <a:pPr marL="0" indent="0" algn="ctr">
              <a:buNone/>
            </a:pPr>
            <a:r>
              <a:rPr lang="en-IN" sz="6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F29A4-15AC-4EDA-B3C2-BBE51723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304" y="6312157"/>
            <a:ext cx="8731876" cy="469643"/>
          </a:xfrm>
        </p:spPr>
        <p:txBody>
          <a:bodyPr/>
          <a:lstStyle/>
          <a:p>
            <a:pPr>
              <a:defRPr/>
            </a:pPr>
            <a:r>
              <a:rPr lang="en-US" sz="20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Naveen Kumar, Associate Professor, AIIT, AUP</a:t>
            </a:r>
            <a:endParaRPr lang="en-US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000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klu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55260</TotalTime>
  <Words>3072</Words>
  <Application>Microsoft Macintosh PowerPoint</Application>
  <PresentationFormat>On-screen Show (4:3)</PresentationFormat>
  <Paragraphs>293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Cambria</vt:lpstr>
      <vt:lpstr>Times New Roman</vt:lpstr>
      <vt:lpstr>TimesNewRomanPSMT</vt:lpstr>
      <vt:lpstr>Verdana</vt:lpstr>
      <vt:lpstr>klu</vt:lpstr>
      <vt:lpstr> </vt:lpstr>
      <vt:lpstr>Concept of Streams</vt:lpstr>
      <vt:lpstr>IOStream</vt:lpstr>
      <vt:lpstr>1. Byte Oriented Stream</vt:lpstr>
      <vt:lpstr>i. InputStream</vt:lpstr>
      <vt:lpstr>ii. OutputStream</vt:lpstr>
      <vt:lpstr>2. Character Oriented Streams</vt:lpstr>
      <vt:lpstr>i. Reader</vt:lpstr>
      <vt:lpstr>ii. Writer</vt:lpstr>
      <vt:lpstr>FileOutPutStream: </vt:lpstr>
      <vt:lpstr>PowerPoint Presentation</vt:lpstr>
      <vt:lpstr>PowerPoint Presentation</vt:lpstr>
      <vt:lpstr>2.FileInputStream: </vt:lpstr>
      <vt:lpstr>PowerPoint Presentation</vt:lpstr>
      <vt:lpstr>PowerPoint Presentation</vt:lpstr>
      <vt:lpstr>PowerPoint Presentation</vt:lpstr>
      <vt:lpstr>PowerPoint Presentation</vt:lpstr>
      <vt:lpstr>FileWriter: </vt:lpstr>
      <vt:lpstr>PowerPoint Presentation</vt:lpstr>
      <vt:lpstr>PowerPoint Presentation</vt:lpstr>
      <vt:lpstr>PowerPoint Presentation</vt:lpstr>
      <vt:lpstr>PowerPoint Presentation</vt:lpstr>
      <vt:lpstr>FileReader: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Approaches for dynamic input:</vt:lpstr>
      <vt:lpstr>1.BufferedReader: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Console:</vt:lpstr>
      <vt:lpstr>PowerPoint Presentation</vt:lpstr>
      <vt:lpstr>PowerPoint Presentation</vt:lpstr>
      <vt:lpstr>                           </vt:lpstr>
    </vt:vector>
  </TitlesOfParts>
  <Company>FAMU-FSU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Extended Surfaces/Fins</dc:title>
  <dc:creator>C. Shih</dc:creator>
  <cp:lastModifiedBy>NAVEEN KUMAR</cp:lastModifiedBy>
  <cp:revision>1228</cp:revision>
  <cp:lastPrinted>1999-01-11T10:11:19Z</cp:lastPrinted>
  <dcterms:created xsi:type="dcterms:W3CDTF">1999-01-07T21:51:57Z</dcterms:created>
  <dcterms:modified xsi:type="dcterms:W3CDTF">2024-09-16T05:41:59Z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E:\public_html\eml3016\lecture-notes</vt:lpwstr>
  </property>
</Properties>
</file>