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24"/>
  </p:notesMasterIdLst>
  <p:sldIdLst>
    <p:sldId id="958" r:id="rId2"/>
    <p:sldId id="959" r:id="rId3"/>
    <p:sldId id="951" r:id="rId4"/>
    <p:sldId id="953" r:id="rId5"/>
    <p:sldId id="945" r:id="rId6"/>
    <p:sldId id="946" r:id="rId7"/>
    <p:sldId id="947" r:id="rId8"/>
    <p:sldId id="948" r:id="rId9"/>
    <p:sldId id="949" r:id="rId10"/>
    <p:sldId id="940" r:id="rId11"/>
    <p:sldId id="941" r:id="rId12"/>
    <p:sldId id="943" r:id="rId13"/>
    <p:sldId id="944" r:id="rId14"/>
    <p:sldId id="957" r:id="rId15"/>
    <p:sldId id="931" r:id="rId16"/>
    <p:sldId id="933" r:id="rId17"/>
    <p:sldId id="935" r:id="rId18"/>
    <p:sldId id="938" r:id="rId19"/>
    <p:sldId id="936" r:id="rId20"/>
    <p:sldId id="955" r:id="rId21"/>
    <p:sldId id="956" r:id="rId22"/>
    <p:sldId id="912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7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80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9/12/24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1E1EC-A088-B64B-AC2F-CE36F14D26CD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C490E-0A4F-6941-8707-04969F38CDAB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37E76-A7F4-4541-93B1-43E22736CE67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214A0F-50F0-C14C-B662-A18F96240477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18FE0-D3FD-114A-84EF-F246F3827820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56D9E-3163-CC46-8FB6-A73ADC2E4DEE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5A877-AE16-D048-A6DE-873DC06F67C6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138E9D-7805-2D45-A8F7-6C8B5C54A8B0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B355A-E302-AA47-AFCC-90035CC241B3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23B71-CB43-7946-89F3-86341A06122D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08A42-2B56-A940-A293-C3BE096CACC9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808F6D7-910F-1445-B00B-05C430614B12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9086" y="2564356"/>
            <a:ext cx="7391400" cy="655638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Session-2: Concept of Static vs Non Static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1733D-633F-7430-7248-5A441F1FBFA8}"/>
              </a:ext>
            </a:extLst>
          </p:cNvPr>
          <p:cNvSpPr txBox="1"/>
          <p:nvPr/>
        </p:nvSpPr>
        <p:spPr>
          <a:xfrm>
            <a:off x="1163782" y="4322618"/>
            <a:ext cx="62582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Naveen Kumar</a:t>
            </a:r>
            <a:br>
              <a:rPr lang="en-US" dirty="0"/>
            </a:br>
            <a:r>
              <a:rPr lang="en-US" dirty="0"/>
              <a:t>Associate Professor</a:t>
            </a:r>
            <a:br>
              <a:rPr lang="en-US" dirty="0"/>
            </a:br>
            <a:r>
              <a:rPr lang="en-US" dirty="0"/>
              <a:t>AIIT</a:t>
            </a:r>
            <a:br>
              <a:rPr lang="en-US" dirty="0"/>
            </a:br>
            <a:r>
              <a:rPr lang="en-US" dirty="0"/>
              <a:t>Amity University Patna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55AFA-1D00-3D9F-E5A6-402A6E03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Students will be able to understand    </a:t>
            </a:r>
          </a:p>
          <a:p>
            <a:pPr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use of static block, variables and methods and accessing them.</a:t>
            </a: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74478-A1B4-8905-6B4F-154EDEF7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Java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Everything in Java is associated with classes and objects, along with its attributes and methods.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It is a logical entity that does not occupy any space/memory.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Memory is allocated when we create the objects of a class type. 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create a class, use the keyword </a:t>
            </a: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2D367-7079-FC44-F9EA-E5768F4D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654436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374787"/>
          </a:xfrm>
        </p:spPr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Java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1966"/>
            <a:ext cx="8229600" cy="5292634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Syntax :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&lt;access-modifier&gt; class &lt;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ClassName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//Class body containing variables and methods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class Student{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int id;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String name;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String branch;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int section;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F3128-641B-439A-9B14-559ADA93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72296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Class is a blueprint that is used to create Object. The Class defines what object can do.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UML CLASS DIAGRAM gives an overview of a software system by displaying classes, attributes, operations, and their relationships. </a:t>
            </a:r>
          </a:p>
          <a:p>
            <a:pPr marL="0" indent="0" algn="just">
              <a:buNone/>
            </a:pP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Diagram includes the class name, attributes, and operation in separate designated compartments</a:t>
            </a:r>
            <a:r>
              <a:rPr lang="en-IN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DD84D-A4A3-C53A-E7CD-43606ECB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548074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8457"/>
            <a:ext cx="8229600" cy="5606143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Essential elements of UML class diagram are: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1.Class Name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2.Attributes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3.Operations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700" y="2800078"/>
            <a:ext cx="2539228" cy="2952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7D80C4-F7C2-2B95-53B5-4A5901B4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492167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5132"/>
            <a:ext cx="7391400" cy="666205"/>
          </a:xfrm>
        </p:spPr>
        <p:txBody>
          <a:bodyPr/>
          <a:lstStyle/>
          <a:p>
            <a:b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Attributes</a:t>
            </a:r>
            <a:b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attribute is named property of a class which describes the object being modelled</a:t>
            </a: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573" y="2535386"/>
            <a:ext cx="2625770" cy="3337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766DF-28B6-E109-96AB-5B2EA8651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254932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Attributes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attributes are generally written along with the visibility factor.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public, private, protected and default are the four visibilities which are denoted by +, -, #, or ~ signs respectively.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Visibility describes the accessibility of an attribute of a class.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Attributes must have a meaningful name that describes the use of it in a class.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CAFD0-9C72-A8B2-59FD-6E63400A9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19490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99463" y="1822266"/>
            <a:ext cx="1789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3966" y="3213463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3966" y="4598237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Operations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767943" y="2135776"/>
            <a:ext cx="613954" cy="1350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709160" y="4746227"/>
            <a:ext cx="7315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767943" y="3444295"/>
            <a:ext cx="7315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555" y="1864731"/>
            <a:ext cx="2723605" cy="3620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E5DA7-454C-F973-4E64-89C613F63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147105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Java Naming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Java uses Camel Case as a practice for writing names of methods, variables, classes, packages and constants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Make the code more readable.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Looks good and more efficient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BA418-F212-4945-87B1-E55BAD983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858549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Class naming convention</a:t>
            </a:r>
            <a:endParaRPr lang="en-IN" sz="36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 names generally should be </a:t>
            </a:r>
            <a:r>
              <a:rPr lang="en-IN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nouns</a:t>
            </a:r>
            <a:r>
              <a:rPr lang="en-IN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in title-case with the first letter of each separate word capitalized.</a:t>
            </a:r>
          </a:p>
          <a:p>
            <a:pPr marL="0" indent="0">
              <a:buNone/>
            </a:pPr>
            <a:endParaRPr lang="en-IN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Font typeface="Wingdings" pitchFamily="2" charset="2"/>
              <a:buChar char="§"/>
            </a:pPr>
            <a:r>
              <a:rPr lang="en-IN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class Car{ } </a:t>
            </a:r>
          </a:p>
          <a:p>
            <a:pPr>
              <a:buFont typeface="Wingdings" pitchFamily="2" charset="2"/>
              <a:buChar char="§"/>
            </a:pPr>
            <a:r>
              <a:rPr lang="en-IN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class Employee{ }</a:t>
            </a:r>
          </a:p>
          <a:p>
            <a:pPr>
              <a:buFont typeface="Wingdings" pitchFamily="2" charset="2"/>
              <a:buChar char="§"/>
            </a:pPr>
            <a:r>
              <a:rPr lang="en-IN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class Record { }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03C0A-D362-D221-DB44-44C5E64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9006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Variable naming convention</a:t>
            </a:r>
            <a:b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Variables : 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Variable names should be short yet meaningful. Variables can also start with either underscore(‘_’) or dollar sign ‘$’ characters.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One-character variable names should be avoided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except for temporary variables.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Font typeface="Wingdings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int speed = 0; </a:t>
            </a:r>
          </a:p>
          <a:p>
            <a:pPr>
              <a:buFont typeface="Wingdings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 gear = 1;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B6F65-F551-E5CF-9DA0-805BDC2B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698569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Method naming convention</a:t>
            </a:r>
            <a:b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Methods : 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Methods should be </a:t>
            </a: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verbs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in mixed case with the </a:t>
            </a: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first letter lowercase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with the first letter of each internal word capitalised.</a:t>
            </a:r>
          </a:p>
          <a:p>
            <a:pPr marL="0" indent="0">
              <a:buNone/>
            </a:pPr>
            <a:endParaRPr lang="en-IN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>
              <a:buFont typeface="Wingdings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void changeGear(); </a:t>
            </a:r>
          </a:p>
          <a:p>
            <a:pPr>
              <a:buFont typeface="Wingdings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void speedUp();</a:t>
            </a:r>
          </a:p>
          <a:p>
            <a:pPr>
              <a:buFont typeface="Wingdings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void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applyBrakes</a:t>
            </a:r>
            <a:r>
              <a:rPr lang="en-IN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4FAEA-DD2D-8AEC-81B8-8B11EA774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794004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1"/>
            <a:ext cx="7391400" cy="557667"/>
          </a:xfrm>
        </p:spPr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8091"/>
            <a:ext cx="8229600" cy="5266509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Car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speed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0;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gear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1;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changeGear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…….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speedUp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{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……….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285CB-7198-0A4B-DB55-1580CBBF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63521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Static keyword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474" y="1255414"/>
            <a:ext cx="6983168" cy="3995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1C3A9-8666-68D9-CC20-C81DAC86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20859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Static variable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 marL="0" indent="0">
              <a:buNone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static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data_type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variable_name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;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static int count=5;          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300444" y="4456854"/>
            <a:ext cx="1763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Static keyword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7620" y="4456854"/>
            <a:ext cx="1763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Data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5975" y="4380898"/>
            <a:ext cx="1763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Variable name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738051" y="3864185"/>
            <a:ext cx="444136" cy="5926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135775" y="3686146"/>
            <a:ext cx="143691" cy="694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978332" y="3576801"/>
            <a:ext cx="992777" cy="5926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25F29-BD3E-C683-D789-58631FE3C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890510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Static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static void walk()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……….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statements;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902" y="1867988"/>
            <a:ext cx="5430198" cy="3801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C7444-114F-5475-3332-816A8877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4674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8377" y="30162"/>
            <a:ext cx="7391400" cy="400912"/>
          </a:xfrm>
        </p:spPr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0081"/>
            <a:ext cx="8229600" cy="5684520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JavaExample</a:t>
            </a: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 static int age;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static String name; 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static void </a:t>
            </a:r>
            <a:r>
              <a:rPr lang="en-IN" sz="2400" dirty="0" err="1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disp</a:t>
            </a:r>
            <a:r>
              <a:rPr lang="en-IN" sz="2400" dirty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(){ </a:t>
            </a:r>
          </a:p>
          <a:p>
            <a:pPr marL="0" indent="0">
              <a:buNone/>
            </a:pPr>
            <a:r>
              <a:rPr lang="en-IN" sz="2400" dirty="0" err="1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400" dirty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("Age is: "+age); </a:t>
            </a:r>
          </a:p>
          <a:p>
            <a:pPr marL="0" indent="0">
              <a:buNone/>
            </a:pPr>
            <a:r>
              <a:rPr lang="en-IN" sz="2400" dirty="0" err="1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400" dirty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("Name is: "+name); }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static void main(String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[]) </a:t>
            </a:r>
            <a:r>
              <a:rPr lang="en-IN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// This is also a static method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 age = 30;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 = "Steve"; </a:t>
            </a:r>
          </a:p>
          <a:p>
            <a:pPr marL="0" indent="0">
              <a:buNone/>
            </a:pP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disp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(); }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}</a:t>
            </a:r>
          </a:p>
        </p:txBody>
      </p:sp>
      <p:sp>
        <p:nvSpPr>
          <p:cNvPr id="5" name="Right Brace 4"/>
          <p:cNvSpPr/>
          <p:nvPr/>
        </p:nvSpPr>
        <p:spPr>
          <a:xfrm>
            <a:off x="3030583" y="1397726"/>
            <a:ext cx="130628" cy="6792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Brace 5"/>
          <p:cNvSpPr/>
          <p:nvPr/>
        </p:nvSpPr>
        <p:spPr>
          <a:xfrm>
            <a:off x="5107577" y="2442755"/>
            <a:ext cx="1018903" cy="139772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370217" y="1461254"/>
            <a:ext cx="173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Static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7805" y="2658682"/>
            <a:ext cx="173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Static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6878" y="4587630"/>
            <a:ext cx="2647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 </a:t>
            </a:r>
          </a:p>
          <a:p>
            <a:r>
              <a:rPr lang="en-IN" dirty="0"/>
              <a:t>Age is: 30              Name is: Steve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370217" y="5290457"/>
            <a:ext cx="1188720" cy="13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F11B3-9F46-411B-52D6-26B261D7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050184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Static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static block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static {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……..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statements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………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5" name="Right Brace 4"/>
          <p:cNvSpPr/>
          <p:nvPr/>
        </p:nvSpPr>
        <p:spPr>
          <a:xfrm>
            <a:off x="3069771" y="2690949"/>
            <a:ext cx="548640" cy="21814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637314" y="3030583"/>
            <a:ext cx="2312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Static Block</a:t>
            </a:r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 flipV="1">
            <a:off x="3866606" y="3261415"/>
            <a:ext cx="77070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9094A-4F27-7EF4-1962-363B8A1B8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55121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Predict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6469"/>
            <a:ext cx="8229600" cy="5188131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JavaExample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static int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static String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mystr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static{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97;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mystr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"Static keyword in Java";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static void main(String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[])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("Value of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"+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);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("Value of 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mystr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"+</a:t>
            </a:r>
            <a:r>
              <a:rPr lang="en-I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mystr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); }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19BDB-687C-CFB8-BE25-0C9F8815A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514499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5576"/>
            <a:ext cx="7391400" cy="418013"/>
          </a:xfrm>
        </p:spPr>
        <p:txBody>
          <a:bodyPr/>
          <a:lstStyle/>
          <a:p>
            <a:r>
              <a:rPr lang="en-IN" b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Predict the output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9714"/>
            <a:ext cx="8229600" cy="5344886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 JavaExample2{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static int </a:t>
            </a: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static String </a:t>
            </a: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mystr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static{        //First Static block </a:t>
            </a:r>
          </a:p>
          <a:p>
            <a:pPr marL="0" indent="0"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("Static Block 1");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68; </a:t>
            </a:r>
          </a:p>
          <a:p>
            <a:pPr marL="0" indent="0"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mystr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"Block1"; }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static{         //Second static block </a:t>
            </a:r>
          </a:p>
          <a:p>
            <a:pPr marL="0" indent="0"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("Static Block 2"); </a:t>
            </a:r>
          </a:p>
          <a:p>
            <a:pPr marL="0" indent="0"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98; </a:t>
            </a:r>
          </a:p>
          <a:p>
            <a:pPr marL="0" indent="0"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mystr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"Block2"; }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public static void main(String </a:t>
            </a: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[]) {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("Value of </a:t>
            </a: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"+</a:t>
            </a: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 marL="0" indent="0"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("Value of </a:t>
            </a: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mystr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"+</a:t>
            </a: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mystr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); }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C0AAB-5C90-8196-C731-1F4283EE5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649259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2311C-2327-45BA-8A94-AB7E0F949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F73F3-0445-4917-8154-FA39514F8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9440"/>
            <a:ext cx="8229600" cy="2966720"/>
          </a:xfrm>
        </p:spPr>
        <p:txBody>
          <a:bodyPr/>
          <a:lstStyle/>
          <a:p>
            <a:pPr marL="0" indent="0" algn="ctr">
              <a:buNone/>
            </a:pPr>
            <a:r>
              <a:rPr lang="en-IN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795C47-A9CB-E2D0-0ED2-EED2634A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67100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53059</TotalTime>
  <Words>1074</Words>
  <Application>Microsoft Macintosh PowerPoint</Application>
  <PresentationFormat>On-screen Show (4:3)</PresentationFormat>
  <Paragraphs>189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klu</vt:lpstr>
      <vt:lpstr>Session-2: Concept of Static vs Non Static</vt:lpstr>
      <vt:lpstr>Session Outcomes</vt:lpstr>
      <vt:lpstr> Java Class</vt:lpstr>
      <vt:lpstr>Java Class</vt:lpstr>
      <vt:lpstr>Class Diagram</vt:lpstr>
      <vt:lpstr>PowerPoint Presentation</vt:lpstr>
      <vt:lpstr>  Attributes </vt:lpstr>
      <vt:lpstr>Attributes Characteristics</vt:lpstr>
      <vt:lpstr>Class Diagram</vt:lpstr>
      <vt:lpstr>Java Naming Conventions</vt:lpstr>
      <vt:lpstr>Class naming convention</vt:lpstr>
      <vt:lpstr> Variable naming convention </vt:lpstr>
      <vt:lpstr> Method naming convention </vt:lpstr>
      <vt:lpstr>Example</vt:lpstr>
      <vt:lpstr>Static keyword</vt:lpstr>
      <vt:lpstr>Static variable declaration</vt:lpstr>
      <vt:lpstr>Static method</vt:lpstr>
      <vt:lpstr>Example</vt:lpstr>
      <vt:lpstr>Static Block</vt:lpstr>
      <vt:lpstr>Predict the output</vt:lpstr>
      <vt:lpstr>Predict the output</vt:lpstr>
      <vt:lpstr>                           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1094</cp:revision>
  <cp:lastPrinted>1999-01-11T10:11:19Z</cp:lastPrinted>
  <dcterms:created xsi:type="dcterms:W3CDTF">1999-01-07T21:51:57Z</dcterms:created>
  <dcterms:modified xsi:type="dcterms:W3CDTF">2024-09-12T09:36:15Z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