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0" r:id="rId1"/>
  </p:sldMasterIdLst>
  <p:notesMasterIdLst>
    <p:notesMasterId r:id="rId102"/>
  </p:notesMasterIdLst>
  <p:sldIdLst>
    <p:sldId id="856" r:id="rId2"/>
    <p:sldId id="913" r:id="rId3"/>
    <p:sldId id="914" r:id="rId4"/>
    <p:sldId id="915" r:id="rId5"/>
    <p:sldId id="916" r:id="rId6"/>
    <p:sldId id="917" r:id="rId7"/>
    <p:sldId id="918" r:id="rId8"/>
    <p:sldId id="919" r:id="rId9"/>
    <p:sldId id="920" r:id="rId10"/>
    <p:sldId id="921" r:id="rId11"/>
    <p:sldId id="922" r:id="rId12"/>
    <p:sldId id="923" r:id="rId13"/>
    <p:sldId id="924" r:id="rId14"/>
    <p:sldId id="925" r:id="rId15"/>
    <p:sldId id="926" r:id="rId16"/>
    <p:sldId id="927" r:id="rId17"/>
    <p:sldId id="928" r:id="rId18"/>
    <p:sldId id="929" r:id="rId19"/>
    <p:sldId id="930" r:id="rId20"/>
    <p:sldId id="931" r:id="rId21"/>
    <p:sldId id="932" r:id="rId22"/>
    <p:sldId id="933" r:id="rId23"/>
    <p:sldId id="934" r:id="rId24"/>
    <p:sldId id="935" r:id="rId25"/>
    <p:sldId id="936" r:id="rId26"/>
    <p:sldId id="937" r:id="rId27"/>
    <p:sldId id="938" r:id="rId28"/>
    <p:sldId id="939" r:id="rId29"/>
    <p:sldId id="940" r:id="rId30"/>
    <p:sldId id="941" r:id="rId31"/>
    <p:sldId id="942" r:id="rId32"/>
    <p:sldId id="943" r:id="rId33"/>
    <p:sldId id="944" r:id="rId34"/>
    <p:sldId id="945" r:id="rId35"/>
    <p:sldId id="947" r:id="rId36"/>
    <p:sldId id="946" r:id="rId37"/>
    <p:sldId id="969" r:id="rId38"/>
    <p:sldId id="970" r:id="rId39"/>
    <p:sldId id="948" r:id="rId40"/>
    <p:sldId id="949" r:id="rId41"/>
    <p:sldId id="950" r:id="rId42"/>
    <p:sldId id="951" r:id="rId43"/>
    <p:sldId id="952" r:id="rId44"/>
    <p:sldId id="953" r:id="rId45"/>
    <p:sldId id="954" r:id="rId46"/>
    <p:sldId id="955" r:id="rId47"/>
    <p:sldId id="956" r:id="rId48"/>
    <p:sldId id="957" r:id="rId49"/>
    <p:sldId id="958" r:id="rId50"/>
    <p:sldId id="959" r:id="rId51"/>
    <p:sldId id="963" r:id="rId52"/>
    <p:sldId id="960" r:id="rId53"/>
    <p:sldId id="961" r:id="rId54"/>
    <p:sldId id="962" r:id="rId55"/>
    <p:sldId id="964" r:id="rId56"/>
    <p:sldId id="965" r:id="rId57"/>
    <p:sldId id="966" r:id="rId58"/>
    <p:sldId id="967" r:id="rId59"/>
    <p:sldId id="968" r:id="rId60"/>
    <p:sldId id="972" r:id="rId61"/>
    <p:sldId id="971" r:id="rId62"/>
    <p:sldId id="973" r:id="rId63"/>
    <p:sldId id="974" r:id="rId64"/>
    <p:sldId id="975" r:id="rId65"/>
    <p:sldId id="976" r:id="rId66"/>
    <p:sldId id="977" r:id="rId67"/>
    <p:sldId id="978" r:id="rId68"/>
    <p:sldId id="979" r:id="rId69"/>
    <p:sldId id="980" r:id="rId70"/>
    <p:sldId id="981" r:id="rId71"/>
    <p:sldId id="982" r:id="rId72"/>
    <p:sldId id="983" r:id="rId73"/>
    <p:sldId id="984" r:id="rId74"/>
    <p:sldId id="985" r:id="rId75"/>
    <p:sldId id="986" r:id="rId76"/>
    <p:sldId id="987" r:id="rId77"/>
    <p:sldId id="988" r:id="rId78"/>
    <p:sldId id="989" r:id="rId79"/>
    <p:sldId id="990" r:id="rId80"/>
    <p:sldId id="991" r:id="rId81"/>
    <p:sldId id="992" r:id="rId82"/>
    <p:sldId id="993" r:id="rId83"/>
    <p:sldId id="994" r:id="rId84"/>
    <p:sldId id="995" r:id="rId85"/>
    <p:sldId id="996" r:id="rId86"/>
    <p:sldId id="997" r:id="rId87"/>
    <p:sldId id="998" r:id="rId88"/>
    <p:sldId id="999" r:id="rId89"/>
    <p:sldId id="1000" r:id="rId90"/>
    <p:sldId id="1001" r:id="rId91"/>
    <p:sldId id="1002" r:id="rId92"/>
    <p:sldId id="1003" r:id="rId93"/>
    <p:sldId id="1004" r:id="rId94"/>
    <p:sldId id="1005" r:id="rId95"/>
    <p:sldId id="1006" r:id="rId96"/>
    <p:sldId id="1007" r:id="rId97"/>
    <p:sldId id="1008" r:id="rId98"/>
    <p:sldId id="1010" r:id="rId99"/>
    <p:sldId id="1011" r:id="rId100"/>
    <p:sldId id="912" r:id="rId10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218" autoAdjust="0"/>
    <p:restoredTop sz="94516"/>
  </p:normalViewPr>
  <p:slideViewPr>
    <p:cSldViewPr snapToGrid="0">
      <p:cViewPr varScale="1">
        <p:scale>
          <a:sx n="101" d="100"/>
          <a:sy n="101" d="100"/>
        </p:scale>
        <p:origin x="1008" y="184"/>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3C08F098-34A8-4532-9C69-38DECEB33B3C}" type="datetimeFigureOut">
              <a:rPr lang="en-US"/>
              <a:pPr>
                <a:defRPr/>
              </a:pPr>
              <a:t>10/5/24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331F2AAD-F00E-4B2B-A58E-1BBB4854317A}" type="slidenum">
              <a:rPr lang="en-US"/>
              <a:pPr>
                <a:defRPr/>
              </a:pPr>
              <a:t>‹#›</a:t>
            </a:fld>
            <a:endParaRPr lang="en-US"/>
          </a:p>
        </p:txBody>
      </p:sp>
    </p:spTree>
    <p:extLst>
      <p:ext uri="{BB962C8B-B14F-4D97-AF65-F5344CB8AC3E}">
        <p14:creationId xmlns:p14="http://schemas.microsoft.com/office/powerpoint/2010/main" val="141091851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D47EF12-65BD-7C4F-9F7B-34D4C4081BE4}" type="datetime2">
              <a:rPr lang="en-IN" smtClean="0"/>
              <a:t>Saturday, 5 October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48B129DB-8D41-4066-AA93-1DAF03F26EAE}"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87362"/>
            <a:ext cx="7391400" cy="655638"/>
          </a:xfrm>
        </p:spPr>
        <p:txBody>
          <a:bodyPr/>
          <a:lstStyle/>
          <a:p>
            <a:r>
              <a:rPr lang="en-US"/>
              <a:t>Click to edit Master title style</a:t>
            </a:r>
          </a:p>
        </p:txBody>
      </p:sp>
      <p:sp>
        <p:nvSpPr>
          <p:cNvPr id="3" name="Content Placeholder 2"/>
          <p:cNvSpPr>
            <a:spLocks noGrp="1"/>
          </p:cNvSpPr>
          <p:nvPr>
            <p:ph idx="1"/>
          </p:nvPr>
        </p:nvSpPr>
        <p:spPr>
          <a:xfrm>
            <a:off x="457200" y="1295400"/>
            <a:ext cx="82296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1C2E714-9726-5648-9805-25298B5CD9CE}" type="datetime2">
              <a:rPr lang="en-IN" smtClean="0"/>
              <a:t>Saturday, 5 October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78BFD8EC-3A04-483A-AD2E-8D598A4DA8CA}"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C8F9BDA7-1C76-B64C-BFBB-2DD8FC0B0462}" type="datetime2">
              <a:rPr lang="en-IN" smtClean="0"/>
              <a:t>Saturday, 5 October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86589411-C56C-40F4-B66E-D512662E7E6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391400" cy="6096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98B5F28-82C4-1145-9D91-07DC8A145CD6}" type="datetime2">
              <a:rPr lang="en-IN" smtClean="0"/>
              <a:t>Saturday, 5 October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6E29E7CF-FAD9-49DF-99E0-EAA77C32AE73}"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487362"/>
            <a:ext cx="7391400" cy="655638"/>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95400"/>
            <a:ext cx="4040188" cy="879475"/>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4"/>
            <a:ext cx="4040188" cy="41497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295400"/>
            <a:ext cx="4041775" cy="879475"/>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4"/>
            <a:ext cx="4041775" cy="41497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269DB47-0C5F-214C-984E-9FA2FDCE5959}" type="datetime2">
              <a:rPr lang="en-IN" smtClean="0"/>
              <a:t>Saturday, 5 October 2024</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9" name="Slide Number Placeholder 5"/>
          <p:cNvSpPr>
            <a:spLocks noGrp="1"/>
          </p:cNvSpPr>
          <p:nvPr>
            <p:ph type="sldNum" sz="quarter" idx="12"/>
          </p:nvPr>
        </p:nvSpPr>
        <p:spPr/>
        <p:txBody>
          <a:bodyPr/>
          <a:lstStyle>
            <a:lvl1pPr>
              <a:defRPr/>
            </a:lvl1pPr>
          </a:lstStyle>
          <a:p>
            <a:pPr>
              <a:defRPr/>
            </a:pPr>
            <a:fld id="{9167AD7C-0654-469F-AEFA-E806C2E84189}"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391400" cy="655638"/>
          </a:xfrm>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7115A5C6-3EDE-F34D-8A0B-B78A5ED65DBC}" type="datetime2">
              <a:rPr lang="en-IN" smtClean="0"/>
              <a:t>Saturday, 5 October 2024</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5" name="Slide Number Placeholder 5"/>
          <p:cNvSpPr>
            <a:spLocks noGrp="1"/>
          </p:cNvSpPr>
          <p:nvPr>
            <p:ph type="sldNum" sz="quarter" idx="12"/>
          </p:nvPr>
        </p:nvSpPr>
        <p:spPr/>
        <p:txBody>
          <a:bodyPr/>
          <a:lstStyle>
            <a:lvl1pPr>
              <a:defRPr/>
            </a:lvl1pPr>
          </a:lstStyle>
          <a:p>
            <a:pPr>
              <a:defRPr/>
            </a:pPr>
            <a:fld id="{947A0E5E-4093-4CD3-BA7B-F97E5E4A519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3E72BB3-4F7C-364E-8373-EEF309789028}" type="datetime2">
              <a:rPr lang="en-IN" smtClean="0"/>
              <a:t>Saturday, 5 October 2024</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4" name="Slide Number Placeholder 5"/>
          <p:cNvSpPr>
            <a:spLocks noGrp="1"/>
          </p:cNvSpPr>
          <p:nvPr>
            <p:ph type="sldNum" sz="quarter" idx="12"/>
          </p:nvPr>
        </p:nvSpPr>
        <p:spPr/>
        <p:txBody>
          <a:bodyPr/>
          <a:lstStyle>
            <a:lvl1pPr>
              <a:defRPr/>
            </a:lvl1pPr>
          </a:lstStyle>
          <a:p>
            <a:pPr>
              <a:defRPr/>
            </a:pPr>
            <a:fld id="{0EB6A58B-23FE-4F42-857E-74F19373BE9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3008313" cy="6731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914400"/>
            <a:ext cx="5111750" cy="543222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889500"/>
          </a:xfrm>
        </p:spPr>
        <p:txBody>
          <a:bodyPr/>
          <a:lstStyle>
            <a:lvl1pPr marL="0" indent="0">
              <a:buNone/>
              <a:defRPr sz="1400">
                <a:solidFill>
                  <a:srgbClr val="00B0F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098D0D7-D7EC-A246-AF20-4745B06F0BA4}" type="datetime2">
              <a:rPr lang="en-IN" smtClean="0"/>
              <a:t>Saturday, 5 October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86C1302C-7341-4EFD-A7BE-94A6EA3ED814}"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BA9B953-6580-D14A-A678-2705D9C7652D}" type="datetime2">
              <a:rPr lang="en-IN" smtClean="0"/>
              <a:t>Saturday, 5 October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C7BEE4BA-9FC8-42B3-9170-29EB1644726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391400" cy="655638"/>
          </a:xfrm>
        </p:spPr>
        <p:txBody>
          <a:bodyPr/>
          <a:lstStyle/>
          <a:p>
            <a:r>
              <a:rPr lang="en-US"/>
              <a:t>Click to edit Master title style</a:t>
            </a:r>
          </a:p>
        </p:txBody>
      </p:sp>
      <p:sp>
        <p:nvSpPr>
          <p:cNvPr id="3" name="Vertical Text Placeholder 2"/>
          <p:cNvSpPr>
            <a:spLocks noGrp="1"/>
          </p:cNvSpPr>
          <p:nvPr>
            <p:ph type="body" orient="vert" idx="1"/>
          </p:nvPr>
        </p:nvSpPr>
        <p:spPr>
          <a:xfrm>
            <a:off x="457200" y="1295400"/>
            <a:ext cx="8229600" cy="5029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63EAFF8-687A-514E-B383-6E43393718A3}" type="datetime2">
              <a:rPr lang="en-IN" smtClean="0"/>
              <a:t>Saturday, 5 October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16A11CB4-3CE4-427D-9B5B-DA68271F1FF7}"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66800"/>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85800"/>
            <a:ext cx="6019800" cy="5592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74D9C74-6258-E24C-8933-2C029557A4C8}" type="datetime2">
              <a:rPr lang="en-IN" smtClean="0"/>
              <a:t>Saturday, 5 October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D04C8231-EDB7-4A03-BDA6-FF052D201C2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457200"/>
            <a:ext cx="7391400" cy="6556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295400"/>
            <a:ext cx="82296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416675"/>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bg1">
                    <a:lumMod val="50000"/>
                  </a:schemeClr>
                </a:solidFill>
                <a:latin typeface="+mn-lt"/>
              </a:defRPr>
            </a:lvl1pPr>
          </a:lstStyle>
          <a:p>
            <a:pPr>
              <a:defRPr/>
            </a:pPr>
            <a:fld id="{309DFE74-1456-C246-9145-41276736739F}" type="datetime2">
              <a:rPr lang="en-IN" smtClean="0"/>
              <a:t>Saturday, 5 October 2024</a:t>
            </a:fld>
            <a:endParaRPr lang="en-US"/>
          </a:p>
        </p:txBody>
      </p:sp>
      <p:sp>
        <p:nvSpPr>
          <p:cNvPr id="5" name="Footer Placeholder 4"/>
          <p:cNvSpPr>
            <a:spLocks noGrp="1"/>
          </p:cNvSpPr>
          <p:nvPr>
            <p:ph type="ftr" sz="quarter" idx="3"/>
          </p:nvPr>
        </p:nvSpPr>
        <p:spPr>
          <a:xfrm>
            <a:off x="3124200" y="6416675"/>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lumMod val="50000"/>
                  </a:schemeClr>
                </a:solidFill>
                <a:latin typeface="+mn-lt"/>
              </a:defRPr>
            </a:lvl1pPr>
          </a:lstStyle>
          <a:p>
            <a:pPr>
              <a:defRPr/>
            </a:pPr>
            <a:r>
              <a:rPr lang="en-US"/>
              <a:t>Dr. Naveen Kumar, Associate Professor, AIIT, AUP</a:t>
            </a:r>
          </a:p>
        </p:txBody>
      </p:sp>
      <p:sp>
        <p:nvSpPr>
          <p:cNvPr id="6" name="Slide Number Placeholder 5"/>
          <p:cNvSpPr>
            <a:spLocks noGrp="1"/>
          </p:cNvSpPr>
          <p:nvPr>
            <p:ph type="sldNum" sz="quarter" idx="4"/>
          </p:nvPr>
        </p:nvSpPr>
        <p:spPr>
          <a:xfrm>
            <a:off x="6553200" y="6416675"/>
            <a:ext cx="2133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lumMod val="50000"/>
                  </a:schemeClr>
                </a:solidFill>
                <a:latin typeface="+mn-lt"/>
              </a:defRPr>
            </a:lvl1pPr>
          </a:lstStyle>
          <a:p>
            <a:pPr>
              <a:defRPr/>
            </a:pPr>
            <a:fld id="{F27807A9-12E1-47F0-9E96-6DDF5CA19C2D}" type="slidenum">
              <a:rPr lang="en-US"/>
              <a:pPr>
                <a:defRPr/>
              </a:pPr>
              <a:t>‹#›</a:t>
            </a:fld>
            <a:endParaRPr lang="en-US"/>
          </a:p>
        </p:txBody>
      </p:sp>
      <p:cxnSp>
        <p:nvCxnSpPr>
          <p:cNvPr id="15" name="Straight Connector 14"/>
          <p:cNvCxnSpPr/>
          <p:nvPr/>
        </p:nvCxnSpPr>
        <p:spPr>
          <a:xfrm>
            <a:off x="7981950" y="977900"/>
            <a:ext cx="1143000" cy="0"/>
          </a:xfrm>
          <a:prstGeom prst="line">
            <a:avLst/>
          </a:prstGeom>
        </p:spPr>
        <p:style>
          <a:lnRef idx="3">
            <a:schemeClr val="accent2"/>
          </a:lnRef>
          <a:fillRef idx="0">
            <a:schemeClr val="accent2"/>
          </a:fillRef>
          <a:effectRef idx="2">
            <a:schemeClr val="accent2"/>
          </a:effectRef>
          <a:fontRef idx="minor">
            <a:schemeClr val="tx1"/>
          </a:fontRef>
        </p:style>
      </p:cxnSp>
      <p:sp>
        <p:nvSpPr>
          <p:cNvPr id="16" name="Arc 15"/>
          <p:cNvSpPr/>
          <p:nvPr/>
        </p:nvSpPr>
        <p:spPr>
          <a:xfrm>
            <a:off x="7010400" y="444500"/>
            <a:ext cx="990600" cy="1066800"/>
          </a:xfrm>
          <a:prstGeom prst="arc">
            <a:avLst/>
          </a:prstGeom>
        </p:spPr>
        <p:style>
          <a:lnRef idx="3">
            <a:schemeClr val="accent2"/>
          </a:lnRef>
          <a:fillRef idx="0">
            <a:schemeClr val="accent2"/>
          </a:fillRef>
          <a:effectRef idx="2">
            <a:schemeClr val="accent2"/>
          </a:effectRef>
          <a:fontRef idx="minor">
            <a:schemeClr val="tx1"/>
          </a:fontRef>
        </p:style>
        <p:txBody>
          <a:bodyPr anchor="ctr"/>
          <a:lstStyle/>
          <a:p>
            <a:pPr fontAlgn="auto">
              <a:spcBef>
                <a:spcPts val="0"/>
              </a:spcBef>
              <a:spcAft>
                <a:spcPts val="0"/>
              </a:spcAft>
              <a:defRPr/>
            </a:pPr>
            <a:endParaRPr lang="en-US"/>
          </a:p>
        </p:txBody>
      </p:sp>
      <p:cxnSp>
        <p:nvCxnSpPr>
          <p:cNvPr id="17" name="Straight Connector 16"/>
          <p:cNvCxnSpPr>
            <a:stCxn id="16" idx="0"/>
          </p:cNvCxnSpPr>
          <p:nvPr/>
        </p:nvCxnSpPr>
        <p:spPr>
          <a:xfrm flipH="1">
            <a:off x="228600" y="444500"/>
            <a:ext cx="7277100" cy="0"/>
          </a:xfrm>
          <a:prstGeom prst="line">
            <a:avLst/>
          </a:prstGeom>
        </p:spPr>
        <p:style>
          <a:lnRef idx="3">
            <a:schemeClr val="accent2"/>
          </a:lnRef>
          <a:fillRef idx="0">
            <a:schemeClr val="accent2"/>
          </a:fillRef>
          <a:effectRef idx="2">
            <a:schemeClr val="accent2"/>
          </a:effectRef>
          <a:fontRef idx="minor">
            <a:schemeClr val="tx1"/>
          </a:fontRef>
        </p:style>
      </p:cxn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ctr" rtl="0" eaLnBrk="0" fontAlgn="base" hangingPunct="0">
        <a:spcBef>
          <a:spcPct val="0"/>
        </a:spcBef>
        <a:spcAft>
          <a:spcPct val="0"/>
        </a:spcAft>
        <a:defRPr sz="4400" kern="1200">
          <a:solidFill>
            <a:srgbClr val="E46C0A"/>
          </a:solidFill>
          <a:latin typeface="+mj-lt"/>
          <a:ea typeface="+mj-ea"/>
          <a:cs typeface="+mj-cs"/>
        </a:defRPr>
      </a:lvl1pPr>
      <a:lvl2pPr algn="ctr" rtl="0" eaLnBrk="0" fontAlgn="base" hangingPunct="0">
        <a:spcBef>
          <a:spcPct val="0"/>
        </a:spcBef>
        <a:spcAft>
          <a:spcPct val="0"/>
        </a:spcAft>
        <a:defRPr sz="4400">
          <a:solidFill>
            <a:srgbClr val="E46C0A"/>
          </a:solidFill>
          <a:latin typeface="Arial" charset="0"/>
        </a:defRPr>
      </a:lvl2pPr>
      <a:lvl3pPr algn="ctr" rtl="0" eaLnBrk="0" fontAlgn="base" hangingPunct="0">
        <a:spcBef>
          <a:spcPct val="0"/>
        </a:spcBef>
        <a:spcAft>
          <a:spcPct val="0"/>
        </a:spcAft>
        <a:defRPr sz="4400">
          <a:solidFill>
            <a:srgbClr val="E46C0A"/>
          </a:solidFill>
          <a:latin typeface="Arial" charset="0"/>
        </a:defRPr>
      </a:lvl3pPr>
      <a:lvl4pPr algn="ctr" rtl="0" eaLnBrk="0" fontAlgn="base" hangingPunct="0">
        <a:spcBef>
          <a:spcPct val="0"/>
        </a:spcBef>
        <a:spcAft>
          <a:spcPct val="0"/>
        </a:spcAft>
        <a:defRPr sz="4400">
          <a:solidFill>
            <a:srgbClr val="E46C0A"/>
          </a:solidFill>
          <a:latin typeface="Arial" charset="0"/>
        </a:defRPr>
      </a:lvl4pPr>
      <a:lvl5pPr algn="ctr" rtl="0" eaLnBrk="0" fontAlgn="base" hangingPunct="0">
        <a:spcBef>
          <a:spcPct val="0"/>
        </a:spcBef>
        <a:spcAft>
          <a:spcPct val="0"/>
        </a:spcAft>
        <a:defRPr sz="4400">
          <a:solidFill>
            <a:srgbClr val="E46C0A"/>
          </a:solidFill>
          <a:latin typeface="Arial" charset="0"/>
        </a:defRPr>
      </a:lvl5pPr>
      <a:lvl6pPr marL="457200" algn="ctr" rtl="0" eaLnBrk="1" fontAlgn="base" hangingPunct="1">
        <a:spcBef>
          <a:spcPct val="0"/>
        </a:spcBef>
        <a:spcAft>
          <a:spcPct val="0"/>
        </a:spcAft>
        <a:defRPr sz="4400">
          <a:solidFill>
            <a:srgbClr val="E46C0A"/>
          </a:solidFill>
          <a:latin typeface="Arial" charset="0"/>
        </a:defRPr>
      </a:lvl6pPr>
      <a:lvl7pPr marL="914400" algn="ctr" rtl="0" eaLnBrk="1" fontAlgn="base" hangingPunct="1">
        <a:spcBef>
          <a:spcPct val="0"/>
        </a:spcBef>
        <a:spcAft>
          <a:spcPct val="0"/>
        </a:spcAft>
        <a:defRPr sz="4400">
          <a:solidFill>
            <a:srgbClr val="E46C0A"/>
          </a:solidFill>
          <a:latin typeface="Arial" charset="0"/>
        </a:defRPr>
      </a:lvl7pPr>
      <a:lvl8pPr marL="1371600" algn="ctr" rtl="0" eaLnBrk="1" fontAlgn="base" hangingPunct="1">
        <a:spcBef>
          <a:spcPct val="0"/>
        </a:spcBef>
        <a:spcAft>
          <a:spcPct val="0"/>
        </a:spcAft>
        <a:defRPr sz="4400">
          <a:solidFill>
            <a:srgbClr val="E46C0A"/>
          </a:solidFill>
          <a:latin typeface="Arial" charset="0"/>
        </a:defRPr>
      </a:lvl8pPr>
      <a:lvl9pPr marL="1828800" algn="ctr" rtl="0" eaLnBrk="1" fontAlgn="base" hangingPunct="1">
        <a:spcBef>
          <a:spcPct val="0"/>
        </a:spcBef>
        <a:spcAft>
          <a:spcPct val="0"/>
        </a:spcAft>
        <a:defRPr sz="4400">
          <a:solidFill>
            <a:srgbClr val="E46C0A"/>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rgbClr val="595959"/>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rgbClr val="595959"/>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rgbClr val="595959"/>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a:t>
            </a:r>
          </a:p>
        </p:txBody>
      </p:sp>
      <p:sp>
        <p:nvSpPr>
          <p:cNvPr id="5" name="Content Placeholder 4"/>
          <p:cNvSpPr>
            <a:spLocks noGrp="1"/>
          </p:cNvSpPr>
          <p:nvPr>
            <p:ph idx="1"/>
          </p:nvPr>
        </p:nvSpPr>
        <p:spPr/>
        <p:txBody>
          <a:bodyPr/>
          <a:lstStyle/>
          <a:p>
            <a:pPr marL="0" indent="0" algn="just">
              <a:lnSpc>
                <a:spcPct val="150000"/>
              </a:lnSpc>
              <a:spcBef>
                <a:spcPts val="300"/>
              </a:spcBef>
              <a:spcAft>
                <a:spcPts val="300"/>
              </a:spcAft>
              <a:buNone/>
            </a:pPr>
            <a:r>
              <a:rPr lang="en-IN" sz="2400" dirty="0"/>
              <a:t>                      </a:t>
            </a:r>
          </a:p>
        </p:txBody>
      </p:sp>
      <p:sp>
        <p:nvSpPr>
          <p:cNvPr id="3" name="TextBox 2">
            <a:extLst>
              <a:ext uri="{FF2B5EF4-FFF2-40B4-BE49-F238E27FC236}">
                <a16:creationId xmlns:a16="http://schemas.microsoft.com/office/drawing/2014/main" id="{D7FD7860-D0D8-4767-99A5-DFFBF448064D}"/>
              </a:ext>
            </a:extLst>
          </p:cNvPr>
          <p:cNvSpPr txBox="1"/>
          <p:nvPr/>
        </p:nvSpPr>
        <p:spPr>
          <a:xfrm>
            <a:off x="457200" y="1685542"/>
            <a:ext cx="8229600" cy="1569660"/>
          </a:xfrm>
          <a:prstGeom prst="rect">
            <a:avLst/>
          </a:prstGeom>
          <a:noFill/>
        </p:spPr>
        <p:txBody>
          <a:bodyPr wrap="square" rtlCol="0">
            <a:spAutoFit/>
          </a:bodyPr>
          <a:lstStyle/>
          <a:p>
            <a:r>
              <a:rPr lang="en-IN" sz="4800" dirty="0">
                <a:solidFill>
                  <a:srgbClr val="C00000"/>
                </a:solidFill>
                <a:ea typeface="Cambria" panose="02040503050406030204" pitchFamily="18" charset="0"/>
                <a:cs typeface="Times New Roman" panose="02020603050405020304" pitchFamily="18" charset="0"/>
              </a:rPr>
              <a:t>Session 22:</a:t>
            </a:r>
          </a:p>
          <a:p>
            <a:r>
              <a:rPr lang="en-IN" sz="4800" dirty="0">
                <a:solidFill>
                  <a:srgbClr val="C00000"/>
                </a:solidFill>
                <a:ea typeface="Cambria" panose="02040503050406030204" pitchFamily="18" charset="0"/>
                <a:cs typeface="Times New Roman" panose="02020603050405020304" pitchFamily="18" charset="0"/>
              </a:rPr>
              <a:t> GUI (Graphical User Interface)</a:t>
            </a:r>
          </a:p>
        </p:txBody>
      </p:sp>
      <p:sp>
        <p:nvSpPr>
          <p:cNvPr id="6" name="TextBox 5">
            <a:extLst>
              <a:ext uri="{FF2B5EF4-FFF2-40B4-BE49-F238E27FC236}">
                <a16:creationId xmlns:a16="http://schemas.microsoft.com/office/drawing/2014/main" id="{A36DF755-1DE6-424B-B8B9-C195C91D5CC5}"/>
              </a:ext>
            </a:extLst>
          </p:cNvPr>
          <p:cNvSpPr txBox="1"/>
          <p:nvPr/>
        </p:nvSpPr>
        <p:spPr>
          <a:xfrm>
            <a:off x="739036" y="3235049"/>
            <a:ext cx="7540668" cy="1323439"/>
          </a:xfrm>
          <a:prstGeom prst="rect">
            <a:avLst/>
          </a:prstGeom>
          <a:noFill/>
        </p:spPr>
        <p:txBody>
          <a:bodyPr wrap="square" rtlCol="0">
            <a:spAutoFit/>
          </a:bodyPr>
          <a:lstStyle/>
          <a:p>
            <a:pPr algn="ctr"/>
            <a:r>
              <a:rPr lang="en-US" sz="2000" b="1" dirty="0"/>
              <a:t>Dr. Naveen Kumar</a:t>
            </a:r>
          </a:p>
          <a:p>
            <a:pPr algn="ctr"/>
            <a:r>
              <a:rPr lang="en-US" sz="2000" b="1" dirty="0"/>
              <a:t>Associate Professor</a:t>
            </a:r>
          </a:p>
          <a:p>
            <a:pPr algn="ctr"/>
            <a:r>
              <a:rPr lang="en-US" sz="2000" b="1" dirty="0"/>
              <a:t>Amity Institute of Information Technology</a:t>
            </a:r>
          </a:p>
          <a:p>
            <a:pPr algn="ctr"/>
            <a:r>
              <a:rPr lang="en-US" sz="2000" b="1" dirty="0"/>
              <a:t>Amity University Patna</a:t>
            </a:r>
            <a:endParaRPr lang="en-IN" sz="2000" b="1" dirty="0"/>
          </a:p>
        </p:txBody>
      </p:sp>
      <p:sp>
        <p:nvSpPr>
          <p:cNvPr id="4" name="Footer Placeholder 3">
            <a:extLst>
              <a:ext uri="{FF2B5EF4-FFF2-40B4-BE49-F238E27FC236}">
                <a16:creationId xmlns:a16="http://schemas.microsoft.com/office/drawing/2014/main" id="{83E41F89-2F46-263A-7BD5-4B60238E2C9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366266935"/>
      </p:ext>
    </p:extLst>
  </p:cSld>
  <p:clrMapOvr>
    <a:masterClrMapping/>
  </p:clrMapOvr>
  <mc:AlternateContent xmlns:mc="http://schemas.openxmlformats.org/markup-compatibility/2006" xmlns:p14="http://schemas.microsoft.com/office/powerpoint/2010/main">
    <mc:Choice Requires="p14">
      <p:transition spd="slow" p14:dur="2000" advTm="35226"/>
    </mc:Choice>
    <mc:Fallback xmlns="">
      <p:transition spd="slow" advTm="3522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7C0A7-DA4A-CDDF-EC11-8270855C2DE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8C713C-C8DC-AC68-E94F-5DD25F5CEABD}"/>
              </a:ext>
            </a:extLst>
          </p:cNvPr>
          <p:cNvSpPr>
            <a:spLocks noGrp="1"/>
          </p:cNvSpPr>
          <p:nvPr>
            <p:ph idx="1"/>
          </p:nvPr>
        </p:nvSpPr>
        <p:spPr/>
        <p:txBody>
          <a:bodyPr/>
          <a:lstStyle/>
          <a:p>
            <a:r>
              <a:rPr lang="en-IN" sz="2400" dirty="0" err="1"/>
              <a:t>Java.awt</a:t>
            </a:r>
            <a:r>
              <a:rPr lang="en-IN" sz="2400" dirty="0"/>
              <a:t> is a package provides environment to develop graphical user interface applications. </a:t>
            </a:r>
          </a:p>
          <a:p>
            <a:r>
              <a:rPr lang="en-IN" sz="2400" dirty="0"/>
              <a:t>AWT means (</a:t>
            </a:r>
            <a:r>
              <a:rPr lang="en-IN" sz="2400" b="1" dirty="0"/>
              <a:t>Abstract Window Toolkit</a:t>
            </a:r>
            <a:r>
              <a:rPr lang="en-IN" sz="2400" dirty="0"/>
              <a:t>). AWT is used to prepare the components but it is not providing any life to that components means by using AWT it is possible to create a static components. </a:t>
            </a:r>
          </a:p>
          <a:p>
            <a:r>
              <a:rPr lang="en-IN" sz="2400" dirty="0"/>
              <a:t>To provide the life to the static components we need some other package is called </a:t>
            </a:r>
            <a:r>
              <a:rPr lang="en-IN" sz="2400" b="1" dirty="0" err="1"/>
              <a:t>java.awt.event</a:t>
            </a:r>
            <a:r>
              <a:rPr lang="en-IN" sz="2400" dirty="0"/>
              <a:t> package. </a:t>
            </a:r>
          </a:p>
          <a:p>
            <a:r>
              <a:rPr lang="en-IN" sz="2400" dirty="0"/>
              <a:t>By using AWT we are preparing application these applications are called console based or CUI application.</a:t>
            </a:r>
          </a:p>
          <a:p>
            <a:r>
              <a:rPr lang="en-IN" sz="2400" b="1" dirty="0" err="1"/>
              <a:t>Java.awt</a:t>
            </a:r>
            <a:r>
              <a:rPr lang="en-IN" sz="2400" b="1" dirty="0"/>
              <a:t> package</a:t>
            </a:r>
            <a:r>
              <a:rPr lang="en-IN" sz="2400" dirty="0"/>
              <a:t> is used to prepare static components. </a:t>
            </a:r>
          </a:p>
          <a:p>
            <a:r>
              <a:rPr lang="en-IN" sz="2400" b="1" dirty="0" err="1"/>
              <a:t>Java.awt.event</a:t>
            </a:r>
            <a:r>
              <a:rPr lang="en-IN" sz="2400" b="1" dirty="0"/>
              <a:t> package</a:t>
            </a:r>
            <a:r>
              <a:rPr lang="en-IN" sz="2400" dirty="0"/>
              <a:t> is used to provide the life to the static components. </a:t>
            </a:r>
            <a:endParaRPr lang="en-US" sz="2400" dirty="0"/>
          </a:p>
        </p:txBody>
      </p:sp>
      <p:sp>
        <p:nvSpPr>
          <p:cNvPr id="4" name="Footer Placeholder 3">
            <a:extLst>
              <a:ext uri="{FF2B5EF4-FFF2-40B4-BE49-F238E27FC236}">
                <a16:creationId xmlns:a16="http://schemas.microsoft.com/office/drawing/2014/main" id="{247976D5-B14C-4C79-5A92-E6D2A657C85D}"/>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4263602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D311F-1C10-0B99-4908-BDBF6B2DA03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F639BE5-1C75-0945-3DFE-788CEC52E029}"/>
              </a:ext>
            </a:extLst>
          </p:cNvPr>
          <p:cNvSpPr>
            <a:spLocks noGrp="1"/>
          </p:cNvSpPr>
          <p:nvPr>
            <p:ph idx="1"/>
          </p:nvPr>
        </p:nvSpPr>
        <p:spPr/>
        <p:txBody>
          <a:bodyPr/>
          <a:lstStyle/>
          <a:p>
            <a:r>
              <a:rPr lang="en-IN" sz="2000" dirty="0"/>
              <a:t>GUI(graphical user interface):- </a:t>
            </a:r>
          </a:p>
          <a:p>
            <a:r>
              <a:rPr lang="en-IN" sz="2000" dirty="0"/>
              <a:t>1. It is a mediator between end user and the program. </a:t>
            </a:r>
          </a:p>
          <a:p>
            <a:r>
              <a:rPr lang="en-IN" sz="2000" dirty="0"/>
              <a:t>2. AWT is a package it will provide predefined support to design GUI applications. </a:t>
            </a:r>
          </a:p>
          <a:p>
            <a:r>
              <a:rPr lang="en-IN" sz="2000" b="1" dirty="0"/>
              <a:t>Component</a:t>
            </a:r>
            <a:r>
              <a:rPr lang="en-IN" sz="2000" dirty="0"/>
              <a:t> : - Component is an object which is displayed pictorially on the screen. </a:t>
            </a:r>
          </a:p>
          <a:p>
            <a:r>
              <a:rPr lang="en-IN" sz="2000" dirty="0"/>
              <a:t>Ex:- Button, Label, </a:t>
            </a:r>
            <a:r>
              <a:rPr lang="en-IN" sz="2000" dirty="0" err="1"/>
              <a:t>TextField</a:t>
            </a:r>
            <a:r>
              <a:rPr lang="en-IN" sz="2000" dirty="0"/>
              <a:t>......etc </a:t>
            </a:r>
          </a:p>
          <a:p>
            <a:r>
              <a:rPr lang="en-IN" sz="2000" b="1" dirty="0"/>
              <a:t>Container</a:t>
            </a:r>
            <a:r>
              <a:rPr lang="en-IN" sz="2000" dirty="0"/>
              <a:t>:- Container is a GUI component, it is able to accommodate all other GUI components. </a:t>
            </a:r>
          </a:p>
          <a:p>
            <a:r>
              <a:rPr lang="en-IN" sz="2000" dirty="0"/>
              <a:t>Ex:- Frame, Applet. </a:t>
            </a:r>
          </a:p>
          <a:p>
            <a:r>
              <a:rPr lang="en-IN" sz="2000" b="1" dirty="0"/>
              <a:t>Event</a:t>
            </a:r>
            <a:r>
              <a:rPr lang="en-IN" sz="2000" dirty="0"/>
              <a:t>:- The event is action generated on the component or the change is made on the state of the object. </a:t>
            </a:r>
          </a:p>
          <a:p>
            <a:r>
              <a:rPr lang="en-IN" sz="2000" dirty="0"/>
              <a:t>Ex:- Button clicked, </a:t>
            </a:r>
            <a:r>
              <a:rPr lang="en-IN" sz="2000" dirty="0" err="1"/>
              <a:t>Checkboxchecked</a:t>
            </a:r>
            <a:r>
              <a:rPr lang="en-IN" sz="2000" dirty="0"/>
              <a:t>, </a:t>
            </a:r>
            <a:r>
              <a:rPr lang="en-IN" sz="2000" dirty="0" err="1"/>
              <a:t>Itemselected</a:t>
            </a:r>
            <a:r>
              <a:rPr lang="en-IN" sz="2000" dirty="0"/>
              <a:t> in the list, Scrollbar scrolled horizontal/vertically.</a:t>
            </a:r>
            <a:endParaRPr lang="en-US" sz="2000" dirty="0"/>
          </a:p>
        </p:txBody>
      </p:sp>
      <p:sp>
        <p:nvSpPr>
          <p:cNvPr id="4" name="Footer Placeholder 3">
            <a:extLst>
              <a:ext uri="{FF2B5EF4-FFF2-40B4-BE49-F238E27FC236}">
                <a16:creationId xmlns:a16="http://schemas.microsoft.com/office/drawing/2014/main" id="{E223D3B0-AC00-930C-6285-83A48DFFA1CC}"/>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832537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326EB-F71A-5586-1D74-C66D17090568}"/>
              </a:ext>
            </a:extLst>
          </p:cNvPr>
          <p:cNvSpPr>
            <a:spLocks noGrp="1"/>
          </p:cNvSpPr>
          <p:nvPr>
            <p:ph type="title"/>
          </p:nvPr>
        </p:nvSpPr>
        <p:spPr/>
        <p:txBody>
          <a:bodyPr/>
          <a:lstStyle/>
          <a:p>
            <a:r>
              <a:rPr lang="en-IN" dirty="0"/>
              <a:t>Classes of AWT</a:t>
            </a:r>
            <a:endParaRPr lang="en-US" dirty="0"/>
          </a:p>
        </p:txBody>
      </p:sp>
      <p:sp>
        <p:nvSpPr>
          <p:cNvPr id="3" name="Content Placeholder 2">
            <a:extLst>
              <a:ext uri="{FF2B5EF4-FFF2-40B4-BE49-F238E27FC236}">
                <a16:creationId xmlns:a16="http://schemas.microsoft.com/office/drawing/2014/main" id="{B1A39B83-3030-797E-867A-8BCB06C11F92}"/>
              </a:ext>
            </a:extLst>
          </p:cNvPr>
          <p:cNvSpPr>
            <a:spLocks noGrp="1"/>
          </p:cNvSpPr>
          <p:nvPr>
            <p:ph idx="1"/>
          </p:nvPr>
        </p:nvSpPr>
        <p:spPr/>
        <p:txBody>
          <a:bodyPr/>
          <a:lstStyle/>
          <a:p>
            <a:r>
              <a:rPr lang="en-IN" dirty="0"/>
              <a:t>Classes of AWT:- The classes present in the AWT package.</a:t>
            </a:r>
            <a:endParaRPr lang="en-US" dirty="0"/>
          </a:p>
        </p:txBody>
      </p:sp>
      <p:sp>
        <p:nvSpPr>
          <p:cNvPr id="4" name="Footer Placeholder 3">
            <a:extLst>
              <a:ext uri="{FF2B5EF4-FFF2-40B4-BE49-F238E27FC236}">
                <a16:creationId xmlns:a16="http://schemas.microsoft.com/office/drawing/2014/main" id="{25C24DD8-E654-6DBD-AD0F-A0C8C85D923E}"/>
              </a:ext>
            </a:extLst>
          </p:cNvPr>
          <p:cNvSpPr>
            <a:spLocks noGrp="1"/>
          </p:cNvSpPr>
          <p:nvPr>
            <p:ph type="ftr" sz="quarter" idx="11"/>
          </p:nvPr>
        </p:nvSpPr>
        <p:spPr/>
        <p:txBody>
          <a:bodyPr/>
          <a:lstStyle/>
          <a:p>
            <a:pPr>
              <a:defRPr/>
            </a:pPr>
            <a:r>
              <a:rPr lang="en-US"/>
              <a:t>Dr. Naveen Kumar, Associate Professor, AIIT, AUP</a:t>
            </a:r>
          </a:p>
        </p:txBody>
      </p:sp>
      <p:pic>
        <p:nvPicPr>
          <p:cNvPr id="6" name="Picture 5" descr="A diagram of a computer&#10;&#10;Description automatically generated">
            <a:extLst>
              <a:ext uri="{FF2B5EF4-FFF2-40B4-BE49-F238E27FC236}">
                <a16:creationId xmlns:a16="http://schemas.microsoft.com/office/drawing/2014/main" id="{8BEBE7E1-CD2F-2745-675E-99A1137596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2319813"/>
            <a:ext cx="7772400" cy="3850307"/>
          </a:xfrm>
          <a:prstGeom prst="rect">
            <a:avLst/>
          </a:prstGeom>
        </p:spPr>
      </p:pic>
    </p:spTree>
    <p:extLst>
      <p:ext uri="{BB962C8B-B14F-4D97-AF65-F5344CB8AC3E}">
        <p14:creationId xmlns:p14="http://schemas.microsoft.com/office/powerpoint/2010/main" val="807854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06595-8CAC-DFF5-48AA-F83529CA7D31}"/>
              </a:ext>
            </a:extLst>
          </p:cNvPr>
          <p:cNvSpPr>
            <a:spLocks noGrp="1"/>
          </p:cNvSpPr>
          <p:nvPr>
            <p:ph type="title"/>
          </p:nvPr>
        </p:nvSpPr>
        <p:spPr/>
        <p:txBody>
          <a:bodyPr/>
          <a:lstStyle/>
          <a:p>
            <a:r>
              <a:rPr lang="en-US" dirty="0"/>
              <a:t>Frame Class</a:t>
            </a:r>
          </a:p>
        </p:txBody>
      </p:sp>
      <p:sp>
        <p:nvSpPr>
          <p:cNvPr id="3" name="Content Placeholder 2">
            <a:extLst>
              <a:ext uri="{FF2B5EF4-FFF2-40B4-BE49-F238E27FC236}">
                <a16:creationId xmlns:a16="http://schemas.microsoft.com/office/drawing/2014/main" id="{AD9D90CD-8464-7735-BC31-ECC39E82F376}"/>
              </a:ext>
            </a:extLst>
          </p:cNvPr>
          <p:cNvSpPr>
            <a:spLocks noGrp="1"/>
          </p:cNvSpPr>
          <p:nvPr>
            <p:ph idx="1"/>
          </p:nvPr>
        </p:nvSpPr>
        <p:spPr/>
        <p:txBody>
          <a:bodyPr/>
          <a:lstStyle/>
          <a:p>
            <a:r>
              <a:rPr lang="en-IN" dirty="0"/>
              <a:t>Frame is a class which is present in </a:t>
            </a:r>
            <a:r>
              <a:rPr lang="en-IN" dirty="0" err="1"/>
              <a:t>java.awt</a:t>
            </a:r>
            <a:r>
              <a:rPr lang="en-IN" dirty="0"/>
              <a:t> package. </a:t>
            </a:r>
          </a:p>
          <a:p>
            <a:r>
              <a:rPr lang="en-IN" dirty="0"/>
              <a:t>Frame is a Basic component in AWT, because all the components displayed in a Frame. </a:t>
            </a:r>
          </a:p>
          <a:p>
            <a:r>
              <a:rPr lang="en-IN" dirty="0"/>
              <a:t>We are displaying pictures on the Frame. </a:t>
            </a:r>
          </a:p>
          <a:p>
            <a:r>
              <a:rPr lang="en-IN" dirty="0"/>
              <a:t>It is possible to display some text on the Frame. Based on the above reasons the frame will become basic component in AWT.</a:t>
            </a:r>
            <a:endParaRPr lang="en-US" dirty="0"/>
          </a:p>
        </p:txBody>
      </p:sp>
      <p:sp>
        <p:nvSpPr>
          <p:cNvPr id="4" name="Footer Placeholder 3">
            <a:extLst>
              <a:ext uri="{FF2B5EF4-FFF2-40B4-BE49-F238E27FC236}">
                <a16:creationId xmlns:a16="http://schemas.microsoft.com/office/drawing/2014/main" id="{F34D71E2-0F87-040D-D427-76B42787CE1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526330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82368-8F98-CA47-01D1-682C4FD1422D}"/>
              </a:ext>
            </a:extLst>
          </p:cNvPr>
          <p:cNvSpPr>
            <a:spLocks noGrp="1"/>
          </p:cNvSpPr>
          <p:nvPr>
            <p:ph type="title"/>
          </p:nvPr>
        </p:nvSpPr>
        <p:spPr/>
        <p:txBody>
          <a:bodyPr/>
          <a:lstStyle/>
          <a:p>
            <a:r>
              <a:rPr lang="en-IN" dirty="0"/>
              <a:t>Constructors</a:t>
            </a:r>
            <a:endParaRPr lang="en-US" dirty="0"/>
          </a:p>
        </p:txBody>
      </p:sp>
      <p:sp>
        <p:nvSpPr>
          <p:cNvPr id="3" name="Content Placeholder 2">
            <a:extLst>
              <a:ext uri="{FF2B5EF4-FFF2-40B4-BE49-F238E27FC236}">
                <a16:creationId xmlns:a16="http://schemas.microsoft.com/office/drawing/2014/main" id="{0BFF8D1E-E852-349D-D66C-0DE006F62791}"/>
              </a:ext>
            </a:extLst>
          </p:cNvPr>
          <p:cNvSpPr>
            <a:spLocks noGrp="1"/>
          </p:cNvSpPr>
          <p:nvPr>
            <p:ph idx="1"/>
          </p:nvPr>
        </p:nvSpPr>
        <p:spPr/>
        <p:txBody>
          <a:bodyPr/>
          <a:lstStyle/>
          <a:p>
            <a:r>
              <a:rPr lang="en-IN" dirty="0"/>
              <a:t>create a Frame class object. </a:t>
            </a:r>
          </a:p>
          <a:p>
            <a:r>
              <a:rPr lang="en-IN" dirty="0">
                <a:solidFill>
                  <a:srgbClr val="FF0000"/>
                </a:solidFill>
              </a:rPr>
              <a:t>Frame f=new Frame(); </a:t>
            </a:r>
          </a:p>
          <a:p>
            <a:r>
              <a:rPr lang="en-IN" dirty="0"/>
              <a:t>create a Frame class object and pass frame title </a:t>
            </a:r>
          </a:p>
          <a:p>
            <a:r>
              <a:rPr lang="en-IN" dirty="0">
                <a:solidFill>
                  <a:srgbClr val="FF0000"/>
                </a:solidFill>
              </a:rPr>
              <a:t>Frame f=new Frame("</a:t>
            </a:r>
            <a:r>
              <a:rPr lang="en-IN" dirty="0" err="1">
                <a:solidFill>
                  <a:srgbClr val="FF0000"/>
                </a:solidFill>
              </a:rPr>
              <a:t>MyFrame</a:t>
            </a:r>
            <a:r>
              <a:rPr lang="en-IN" dirty="0">
                <a:solidFill>
                  <a:srgbClr val="FF0000"/>
                </a:solidFill>
              </a:rPr>
              <a:t>"); </a:t>
            </a:r>
          </a:p>
          <a:p>
            <a:r>
              <a:rPr lang="en-IN" dirty="0"/>
              <a:t>Take a subclass to the Frame and create object to the subclass. </a:t>
            </a:r>
          </a:p>
          <a:p>
            <a:r>
              <a:rPr lang="en-IN" dirty="0">
                <a:solidFill>
                  <a:srgbClr val="FF0000"/>
                </a:solidFill>
              </a:rPr>
              <a:t>class </a:t>
            </a:r>
            <a:r>
              <a:rPr lang="en-IN" dirty="0" err="1">
                <a:solidFill>
                  <a:srgbClr val="FF0000"/>
                </a:solidFill>
              </a:rPr>
              <a:t>MyFrame</a:t>
            </a:r>
            <a:r>
              <a:rPr lang="en-IN" dirty="0">
                <a:solidFill>
                  <a:srgbClr val="FF0000"/>
                </a:solidFill>
              </a:rPr>
              <a:t> extends Frame </a:t>
            </a:r>
          </a:p>
          <a:p>
            <a:r>
              <a:rPr lang="en-IN" dirty="0" err="1">
                <a:solidFill>
                  <a:srgbClr val="FF0000"/>
                </a:solidFill>
              </a:rPr>
              <a:t>MyFrame</a:t>
            </a:r>
            <a:r>
              <a:rPr lang="en-IN" dirty="0">
                <a:solidFill>
                  <a:srgbClr val="FF0000"/>
                </a:solidFill>
              </a:rPr>
              <a:t> f=new </a:t>
            </a:r>
            <a:r>
              <a:rPr lang="en-IN" dirty="0" err="1">
                <a:solidFill>
                  <a:srgbClr val="FF0000"/>
                </a:solidFill>
              </a:rPr>
              <a:t>MyFrame</a:t>
            </a:r>
            <a:r>
              <a:rPr lang="en-IN" dirty="0">
                <a:solidFill>
                  <a:srgbClr val="FF0000"/>
                </a:solidFill>
              </a:rPr>
              <a:t>();</a:t>
            </a:r>
            <a:endParaRPr lang="en-US" dirty="0">
              <a:solidFill>
                <a:srgbClr val="FF0000"/>
              </a:solidFill>
            </a:endParaRPr>
          </a:p>
        </p:txBody>
      </p:sp>
      <p:sp>
        <p:nvSpPr>
          <p:cNvPr id="4" name="Footer Placeholder 3">
            <a:extLst>
              <a:ext uri="{FF2B5EF4-FFF2-40B4-BE49-F238E27FC236}">
                <a16:creationId xmlns:a16="http://schemas.microsoft.com/office/drawing/2014/main" id="{38AF4BEF-D7EC-8913-ED37-443A581D6647}"/>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874715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B7920-8186-FA8E-4A4E-8D9E95EF91F2}"/>
              </a:ext>
            </a:extLst>
          </p:cNvPr>
          <p:cNvSpPr>
            <a:spLocks noGrp="1"/>
          </p:cNvSpPr>
          <p:nvPr>
            <p:ph type="title"/>
          </p:nvPr>
        </p:nvSpPr>
        <p:spPr/>
        <p:txBody>
          <a:bodyPr/>
          <a:lstStyle/>
          <a:p>
            <a:r>
              <a:rPr lang="en-IN" sz="4400" dirty="0"/>
              <a:t>Characteristics of the Frame</a:t>
            </a:r>
            <a:endParaRPr lang="en-US" dirty="0"/>
          </a:p>
        </p:txBody>
      </p:sp>
      <p:sp>
        <p:nvSpPr>
          <p:cNvPr id="3" name="Content Placeholder 2">
            <a:extLst>
              <a:ext uri="{FF2B5EF4-FFF2-40B4-BE49-F238E27FC236}">
                <a16:creationId xmlns:a16="http://schemas.microsoft.com/office/drawing/2014/main" id="{5CE33D72-1ACE-B631-C6CF-575B49C61DDF}"/>
              </a:ext>
            </a:extLst>
          </p:cNvPr>
          <p:cNvSpPr>
            <a:spLocks noGrp="1"/>
          </p:cNvSpPr>
          <p:nvPr>
            <p:ph idx="1"/>
          </p:nvPr>
        </p:nvSpPr>
        <p:spPr/>
        <p:txBody>
          <a:bodyPr/>
          <a:lstStyle/>
          <a:p>
            <a:r>
              <a:rPr lang="en-IN" sz="2000" dirty="0"/>
              <a:t>When we create a Frame class object the Frame will be created automatically with the invisible mode. </a:t>
            </a:r>
          </a:p>
          <a:p>
            <a:r>
              <a:rPr lang="en-IN" sz="2000" dirty="0"/>
              <a:t>To provide visible mode to following method. </a:t>
            </a:r>
          </a:p>
          <a:p>
            <a:r>
              <a:rPr lang="en-IN" sz="2000" dirty="0">
                <a:solidFill>
                  <a:srgbClr val="FF0000"/>
                </a:solidFill>
              </a:rPr>
              <a:t>public void </a:t>
            </a:r>
            <a:r>
              <a:rPr lang="en-IN" sz="2000" dirty="0" err="1">
                <a:solidFill>
                  <a:srgbClr val="FF0000"/>
                </a:solidFill>
              </a:rPr>
              <a:t>setVisible</a:t>
            </a:r>
            <a:r>
              <a:rPr lang="en-IN" sz="2000" dirty="0">
                <a:solidFill>
                  <a:srgbClr val="FF0000"/>
                </a:solidFill>
              </a:rPr>
              <a:t>(</a:t>
            </a:r>
            <a:r>
              <a:rPr lang="en-IN" sz="2000" dirty="0" err="1">
                <a:solidFill>
                  <a:srgbClr val="FF0000"/>
                </a:solidFill>
              </a:rPr>
              <a:t>boolean</a:t>
            </a:r>
            <a:r>
              <a:rPr lang="en-IN" sz="2000" dirty="0">
                <a:solidFill>
                  <a:srgbClr val="FF0000"/>
                </a:solidFill>
              </a:rPr>
              <a:t> b) </a:t>
            </a:r>
          </a:p>
          <a:p>
            <a:r>
              <a:rPr lang="en-IN" sz="2000" dirty="0"/>
              <a:t>where b==true means visible mode. </a:t>
            </a:r>
          </a:p>
          <a:p>
            <a:r>
              <a:rPr lang="en-IN" sz="2000" dirty="0"/>
              <a:t>where b==false means invisible mode. </a:t>
            </a:r>
          </a:p>
          <a:p>
            <a:r>
              <a:rPr lang="en-IN" sz="2000" dirty="0"/>
              <a:t>Ex: </a:t>
            </a:r>
            <a:r>
              <a:rPr lang="en-IN" sz="2000" dirty="0" err="1">
                <a:solidFill>
                  <a:srgbClr val="FF0000"/>
                </a:solidFill>
              </a:rPr>
              <a:t>f.setVisible</a:t>
            </a:r>
            <a:r>
              <a:rPr lang="en-IN" sz="2000" dirty="0">
                <a:solidFill>
                  <a:srgbClr val="FF0000"/>
                </a:solidFill>
              </a:rPr>
              <a:t>(true); </a:t>
            </a:r>
          </a:p>
          <a:p>
            <a:r>
              <a:rPr lang="en-IN" sz="2000" dirty="0"/>
              <a:t>When we created a Frame, the initial size of the Frame is : 0 pixel height 0 pixel width So it is not visible to use. </a:t>
            </a:r>
          </a:p>
          <a:p>
            <a:r>
              <a:rPr lang="en-IN" sz="2000" dirty="0"/>
              <a:t>To provide particular size to the Frame we have to use following method. </a:t>
            </a:r>
          </a:p>
          <a:p>
            <a:r>
              <a:rPr lang="en-IN" sz="2000" dirty="0">
                <a:solidFill>
                  <a:srgbClr val="FF0000"/>
                </a:solidFill>
              </a:rPr>
              <a:t>public void </a:t>
            </a:r>
            <a:r>
              <a:rPr lang="en-IN" sz="2000" dirty="0" err="1">
                <a:solidFill>
                  <a:srgbClr val="FF0000"/>
                </a:solidFill>
              </a:rPr>
              <a:t>setSize</a:t>
            </a:r>
            <a:r>
              <a:rPr lang="en-IN" sz="2000" dirty="0">
                <a:solidFill>
                  <a:srgbClr val="FF0000"/>
                </a:solidFill>
              </a:rPr>
              <a:t>(int </a:t>
            </a:r>
            <a:r>
              <a:rPr lang="en-IN" sz="2000" dirty="0" err="1">
                <a:solidFill>
                  <a:srgbClr val="FF0000"/>
                </a:solidFill>
              </a:rPr>
              <a:t>width,int</a:t>
            </a:r>
            <a:r>
              <a:rPr lang="en-IN" sz="2000" dirty="0">
                <a:solidFill>
                  <a:srgbClr val="FF0000"/>
                </a:solidFill>
              </a:rPr>
              <a:t> height) </a:t>
            </a:r>
          </a:p>
          <a:p>
            <a:r>
              <a:rPr lang="en-IN" sz="2000" dirty="0"/>
              <a:t>Ex: </a:t>
            </a:r>
            <a:r>
              <a:rPr lang="en-IN" sz="2000" b="1" dirty="0" err="1">
                <a:solidFill>
                  <a:srgbClr val="FF0000"/>
                </a:solidFill>
              </a:rPr>
              <a:t>f.setSize</a:t>
            </a:r>
            <a:r>
              <a:rPr lang="en-IN" sz="2000" b="1" dirty="0">
                <a:solidFill>
                  <a:srgbClr val="FF0000"/>
                </a:solidFill>
              </a:rPr>
              <a:t>(400,500); 3)</a:t>
            </a:r>
            <a:r>
              <a:rPr lang="en-IN" sz="2000" dirty="0"/>
              <a:t> </a:t>
            </a:r>
          </a:p>
          <a:p>
            <a:endParaRPr lang="en-US" sz="2000" dirty="0">
              <a:solidFill>
                <a:srgbClr val="FF0000"/>
              </a:solidFill>
            </a:endParaRPr>
          </a:p>
        </p:txBody>
      </p:sp>
      <p:sp>
        <p:nvSpPr>
          <p:cNvPr id="4" name="Footer Placeholder 3">
            <a:extLst>
              <a:ext uri="{FF2B5EF4-FFF2-40B4-BE49-F238E27FC236}">
                <a16:creationId xmlns:a16="http://schemas.microsoft.com/office/drawing/2014/main" id="{C7BFE23A-DCFE-7475-A2AA-BBF35DD0B1C2}"/>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485966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16C8-92C5-0969-01EB-B1382611075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C481B65-90DD-002B-1308-17A392783F37}"/>
              </a:ext>
            </a:extLst>
          </p:cNvPr>
          <p:cNvSpPr>
            <a:spLocks noGrp="1"/>
          </p:cNvSpPr>
          <p:nvPr>
            <p:ph idx="1"/>
          </p:nvPr>
        </p:nvSpPr>
        <p:spPr/>
        <p:txBody>
          <a:bodyPr/>
          <a:lstStyle/>
          <a:p>
            <a:r>
              <a:rPr lang="en-IN" sz="2800" dirty="0"/>
              <a:t>To provide title to the Frame explicitly we have to use the following method </a:t>
            </a:r>
          </a:p>
          <a:p>
            <a:r>
              <a:rPr lang="en-IN" sz="2800" dirty="0">
                <a:solidFill>
                  <a:srgbClr val="FF0000"/>
                </a:solidFill>
              </a:rPr>
              <a:t>public void </a:t>
            </a:r>
            <a:r>
              <a:rPr lang="en-IN" sz="2800" dirty="0" err="1">
                <a:solidFill>
                  <a:srgbClr val="FF0000"/>
                </a:solidFill>
              </a:rPr>
              <a:t>setTitle</a:t>
            </a:r>
            <a:r>
              <a:rPr lang="en-IN" sz="2800" dirty="0">
                <a:solidFill>
                  <a:srgbClr val="FF0000"/>
                </a:solidFill>
              </a:rPr>
              <a:t>(String Title) </a:t>
            </a:r>
          </a:p>
          <a:p>
            <a:r>
              <a:rPr lang="en-IN" sz="2800" dirty="0"/>
              <a:t>Ex: </a:t>
            </a:r>
            <a:r>
              <a:rPr lang="en-IN" sz="2800" dirty="0" err="1">
                <a:solidFill>
                  <a:srgbClr val="FF0000"/>
                </a:solidFill>
              </a:rPr>
              <a:t>f.setTitle</a:t>
            </a:r>
            <a:r>
              <a:rPr lang="en-IN" sz="2800" dirty="0">
                <a:solidFill>
                  <a:srgbClr val="FF0000"/>
                </a:solidFill>
              </a:rPr>
              <a:t>("</a:t>
            </a:r>
            <a:r>
              <a:rPr lang="en-IN" sz="2800" dirty="0" err="1">
                <a:solidFill>
                  <a:srgbClr val="FF0000"/>
                </a:solidFill>
              </a:rPr>
              <a:t>MyFrame</a:t>
            </a:r>
            <a:r>
              <a:rPr lang="en-IN" sz="2800" dirty="0">
                <a:solidFill>
                  <a:srgbClr val="FF0000"/>
                </a:solidFill>
              </a:rPr>
              <a:t>"); </a:t>
            </a:r>
          </a:p>
          <a:p>
            <a:r>
              <a:rPr lang="en-IN" sz="2800" dirty="0"/>
              <a:t>When we create a Frame, the default background </a:t>
            </a:r>
            <a:r>
              <a:rPr lang="en-IN" sz="2800" dirty="0" err="1"/>
              <a:t>color</a:t>
            </a:r>
            <a:r>
              <a:rPr lang="en-IN" sz="2800" dirty="0"/>
              <a:t> of the Frame is white. </a:t>
            </a:r>
          </a:p>
          <a:p>
            <a:r>
              <a:rPr lang="en-IN" sz="2800" dirty="0"/>
              <a:t>If you want to provide particular </a:t>
            </a:r>
            <a:r>
              <a:rPr lang="en-IN" sz="2800" dirty="0" err="1"/>
              <a:t>color</a:t>
            </a:r>
            <a:r>
              <a:rPr lang="en-IN" sz="2800" dirty="0"/>
              <a:t> to the Frame we have to use the following method. </a:t>
            </a:r>
          </a:p>
          <a:p>
            <a:r>
              <a:rPr lang="en-IN" sz="2800" dirty="0">
                <a:solidFill>
                  <a:srgbClr val="FF0000"/>
                </a:solidFill>
              </a:rPr>
              <a:t>public void </a:t>
            </a:r>
            <a:r>
              <a:rPr lang="en-IN" sz="2800" dirty="0" err="1">
                <a:solidFill>
                  <a:srgbClr val="FF0000"/>
                </a:solidFill>
              </a:rPr>
              <a:t>setBackground</a:t>
            </a:r>
            <a:r>
              <a:rPr lang="en-IN" sz="2800" dirty="0">
                <a:solidFill>
                  <a:srgbClr val="FF0000"/>
                </a:solidFill>
              </a:rPr>
              <a:t>(</a:t>
            </a:r>
            <a:r>
              <a:rPr lang="en-IN" sz="2800" dirty="0" err="1">
                <a:solidFill>
                  <a:srgbClr val="FF0000"/>
                </a:solidFill>
              </a:rPr>
              <a:t>color</a:t>
            </a:r>
            <a:r>
              <a:rPr lang="en-IN" sz="2800" dirty="0">
                <a:solidFill>
                  <a:srgbClr val="FF0000"/>
                </a:solidFill>
              </a:rPr>
              <a:t> c) </a:t>
            </a:r>
          </a:p>
          <a:p>
            <a:r>
              <a:rPr lang="en-IN" sz="2800" dirty="0"/>
              <a:t>Ex: </a:t>
            </a:r>
            <a:r>
              <a:rPr lang="en-IN" sz="2800" dirty="0" err="1">
                <a:solidFill>
                  <a:srgbClr val="FF0000"/>
                </a:solidFill>
              </a:rPr>
              <a:t>f.setBackground</a:t>
            </a:r>
            <a:r>
              <a:rPr lang="en-IN" sz="2800" dirty="0">
                <a:solidFill>
                  <a:srgbClr val="FF0000"/>
                </a:solidFill>
              </a:rPr>
              <a:t>(</a:t>
            </a:r>
            <a:r>
              <a:rPr lang="en-IN" sz="2800" dirty="0" err="1">
                <a:solidFill>
                  <a:srgbClr val="FF0000"/>
                </a:solidFill>
              </a:rPr>
              <a:t>Color.red</a:t>
            </a:r>
            <a:r>
              <a:rPr lang="en-IN" sz="2800" dirty="0">
                <a:solidFill>
                  <a:srgbClr val="FF0000"/>
                </a:solidFill>
              </a:rPr>
              <a:t>);</a:t>
            </a:r>
            <a:endParaRPr lang="en-US" sz="2800" dirty="0">
              <a:solidFill>
                <a:srgbClr val="FF0000"/>
              </a:solidFill>
            </a:endParaRPr>
          </a:p>
        </p:txBody>
      </p:sp>
      <p:sp>
        <p:nvSpPr>
          <p:cNvPr id="4" name="Footer Placeholder 3">
            <a:extLst>
              <a:ext uri="{FF2B5EF4-FFF2-40B4-BE49-F238E27FC236}">
                <a16:creationId xmlns:a16="http://schemas.microsoft.com/office/drawing/2014/main" id="{57911653-662B-EF2F-B4EC-50A36839D080}"/>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093329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6130D-2CEA-CEE8-2156-4F933E3A986E}"/>
              </a:ext>
            </a:extLst>
          </p:cNvPr>
          <p:cNvSpPr>
            <a:spLocks noGrp="1"/>
          </p:cNvSpPr>
          <p:nvPr>
            <p:ph type="title"/>
          </p:nvPr>
        </p:nvSpPr>
        <p:spPr/>
        <p:txBody>
          <a:bodyPr/>
          <a:lstStyle/>
          <a:p>
            <a:r>
              <a:rPr lang="en-IN" dirty="0"/>
              <a:t>CREATION OF FRMAE</a:t>
            </a:r>
            <a:endParaRPr lang="en-US" dirty="0"/>
          </a:p>
        </p:txBody>
      </p:sp>
      <p:sp>
        <p:nvSpPr>
          <p:cNvPr id="3" name="Content Placeholder 2">
            <a:extLst>
              <a:ext uri="{FF2B5EF4-FFF2-40B4-BE49-F238E27FC236}">
                <a16:creationId xmlns:a16="http://schemas.microsoft.com/office/drawing/2014/main" id="{B8874776-CFCF-DF7B-7440-065FA2FCE9ED}"/>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Demo</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3F7F5F"/>
                </a:solidFill>
                <a:effectLst/>
                <a:latin typeface="Menlo" panose="020B0609030804020204" pitchFamily="49" charset="0"/>
              </a:rPr>
              <a:t>//frame creation</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dirty="0">
                <a:solidFill>
                  <a:srgbClr val="000000"/>
                </a:solidFill>
                <a:effectLst/>
                <a:latin typeface="Menlo" panose="020B0609030804020204" pitchFamily="49" charset="0"/>
              </a:rPr>
              <a:t>Frame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Frame();</a:t>
            </a:r>
          </a:p>
          <a:p>
            <a:pPr marL="0" marR="0" indent="0">
              <a:spcBef>
                <a:spcPts val="0"/>
              </a:spcBef>
              <a:spcAft>
                <a:spcPts val="0"/>
              </a:spcAft>
              <a:buNone/>
            </a:pPr>
            <a:r>
              <a:rPr lang="en-IN" sz="1800" dirty="0">
                <a:solidFill>
                  <a:srgbClr val="3F7F5F"/>
                </a:solidFill>
                <a:effectLst/>
                <a:latin typeface="Menlo" panose="020B0609030804020204" pitchFamily="49" charset="0"/>
              </a:rPr>
              <a:t>//set visibility</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3F7F5F"/>
                </a:solidFill>
                <a:effectLst/>
                <a:latin typeface="Menlo" panose="020B0609030804020204" pitchFamily="49" charset="0"/>
              </a:rPr>
              <a:t>//set the size of the frame</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(400,400);</a:t>
            </a:r>
          </a:p>
          <a:p>
            <a:pPr marL="0" marR="0" indent="0">
              <a:spcBef>
                <a:spcPts val="0"/>
              </a:spcBef>
              <a:spcAft>
                <a:spcPts val="0"/>
              </a:spcAft>
              <a:buNone/>
            </a:pPr>
            <a:r>
              <a:rPr lang="en-IN" sz="1800" dirty="0">
                <a:solidFill>
                  <a:srgbClr val="3F7F5F"/>
                </a:solidFill>
                <a:effectLst/>
                <a:latin typeface="Menlo" panose="020B0609030804020204" pitchFamily="49" charset="0"/>
              </a:rPr>
              <a:t>//set the background</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red</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3F7F5F"/>
                </a:solidFill>
                <a:effectLst/>
                <a:latin typeface="Menlo" panose="020B0609030804020204" pitchFamily="49" charset="0"/>
              </a:rPr>
              <a:t>//set the title of the frame</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myframe</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buNone/>
            </a:pPr>
            <a:endParaRPr lang="en-US" dirty="0"/>
          </a:p>
        </p:txBody>
      </p:sp>
      <p:sp>
        <p:nvSpPr>
          <p:cNvPr id="4" name="Footer Placeholder 3">
            <a:extLst>
              <a:ext uri="{FF2B5EF4-FFF2-40B4-BE49-F238E27FC236}">
                <a16:creationId xmlns:a16="http://schemas.microsoft.com/office/drawing/2014/main" id="{D0222620-09B4-CBA9-C0D9-38A57D039420}"/>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141504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69963-3C1E-B915-53E9-379AC67922B7}"/>
              </a:ext>
            </a:extLst>
          </p:cNvPr>
          <p:cNvSpPr>
            <a:spLocks noGrp="1"/>
          </p:cNvSpPr>
          <p:nvPr>
            <p:ph type="title"/>
          </p:nvPr>
        </p:nvSpPr>
        <p:spPr/>
        <p:txBody>
          <a:bodyPr/>
          <a:lstStyle/>
          <a:p>
            <a:r>
              <a:rPr lang="en-IN" sz="3600" dirty="0"/>
              <a:t>CRATION OF FRAME BY TAKING USER DEFINED CLASS</a:t>
            </a:r>
            <a:endParaRPr lang="en-US" sz="3600" dirty="0"/>
          </a:p>
        </p:txBody>
      </p:sp>
      <p:sp>
        <p:nvSpPr>
          <p:cNvPr id="3" name="Content Placeholder 2">
            <a:extLst>
              <a:ext uri="{FF2B5EF4-FFF2-40B4-BE49-F238E27FC236}">
                <a16:creationId xmlns:a16="http://schemas.microsoft.com/office/drawing/2014/main" id="{D2F344E4-FCE5-C89F-6D0C-80EB1BE2032E}"/>
              </a:ext>
            </a:extLst>
          </p:cNvPr>
          <p:cNvSpPr>
            <a:spLocks noGrp="1"/>
          </p:cNvSpPr>
          <p:nvPr>
            <p:ph idx="1"/>
          </p:nvPr>
        </p:nvSpPr>
        <p:spPr/>
        <p:txBody>
          <a:bodyPr/>
          <a:lstStyle/>
          <a:p>
            <a:pPr marL="0" marR="0" indent="0">
              <a:spcBef>
                <a:spcPts val="0"/>
              </a:spcBef>
              <a:spcAft>
                <a:spcPts val="0"/>
              </a:spcAft>
              <a:buNone/>
            </a:pPr>
            <a:r>
              <a:rPr lang="en-IN" sz="1800" b="1" u="sng" dirty="0">
                <a:solidFill>
                  <a:srgbClr val="7F0055"/>
                </a:solidFill>
                <a:effectLst/>
                <a:latin typeface="Menlo" panose="020B0609030804020204" pitchFamily="49" charset="0"/>
              </a:rPr>
              <a:t>import</a:t>
            </a:r>
            <a:r>
              <a:rPr lang="en-IN" sz="1800" u="sng"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java.awt</a:t>
            </a:r>
            <a:r>
              <a:rPr lang="en-IN" sz="1800" u="sng" dirty="0">
                <a:solidFill>
                  <a:srgbClr val="000000"/>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Frame</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(500,500);</a:t>
            </a:r>
          </a:p>
          <a:p>
            <a:pPr marL="0" marR="0" indent="0">
              <a:spcBef>
                <a:spcPts val="0"/>
              </a:spcBef>
              <a:spcAft>
                <a:spcPts val="0"/>
              </a:spcAft>
              <a:buNone/>
            </a:pP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myframe</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red</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Demo</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p:txBody>
      </p:sp>
      <p:sp>
        <p:nvSpPr>
          <p:cNvPr id="4" name="Footer Placeholder 3">
            <a:extLst>
              <a:ext uri="{FF2B5EF4-FFF2-40B4-BE49-F238E27FC236}">
                <a16:creationId xmlns:a16="http://schemas.microsoft.com/office/drawing/2014/main" id="{D0E4F260-16BC-6F37-A143-19A2E3BA1382}"/>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430640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B3FAD-C1D2-06F0-510A-5F571A680ED4}"/>
              </a:ext>
            </a:extLst>
          </p:cNvPr>
          <p:cNvSpPr>
            <a:spLocks noGrp="1"/>
          </p:cNvSpPr>
          <p:nvPr>
            <p:ph type="title"/>
          </p:nvPr>
        </p:nvSpPr>
        <p:spPr/>
        <p:txBody>
          <a:bodyPr/>
          <a:lstStyle/>
          <a:p>
            <a:r>
              <a:rPr lang="en-IN" sz="4400" dirty="0"/>
              <a:t>display text on the screen</a:t>
            </a:r>
            <a:endParaRPr lang="en-US" dirty="0"/>
          </a:p>
        </p:txBody>
      </p:sp>
      <p:sp>
        <p:nvSpPr>
          <p:cNvPr id="3" name="Content Placeholder 2">
            <a:extLst>
              <a:ext uri="{FF2B5EF4-FFF2-40B4-BE49-F238E27FC236}">
                <a16:creationId xmlns:a16="http://schemas.microsoft.com/office/drawing/2014/main" id="{4DE94BCF-F889-5C6E-DC54-603AAE14C471}"/>
              </a:ext>
            </a:extLst>
          </p:cNvPr>
          <p:cNvSpPr>
            <a:spLocks noGrp="1"/>
          </p:cNvSpPr>
          <p:nvPr>
            <p:ph idx="1"/>
          </p:nvPr>
        </p:nvSpPr>
        <p:spPr/>
        <p:txBody>
          <a:bodyPr/>
          <a:lstStyle/>
          <a:p>
            <a:r>
              <a:rPr lang="en-IN" sz="2800" dirty="0"/>
              <a:t>1. If you want to display some textual message or some graphical shapes on the Frame then we have to override paint(), which is present in the Frame class. </a:t>
            </a:r>
          </a:p>
          <a:p>
            <a:r>
              <a:rPr lang="en-IN" sz="2800" dirty="0">
                <a:solidFill>
                  <a:srgbClr val="FF0000"/>
                </a:solidFill>
              </a:rPr>
              <a:t>public void paint(Graphics g) </a:t>
            </a:r>
          </a:p>
          <a:p>
            <a:r>
              <a:rPr lang="en-IN" sz="2800" dirty="0"/>
              <a:t>2. To set a particular font to the text, we have to use </a:t>
            </a:r>
            <a:r>
              <a:rPr lang="en-IN" sz="2800" b="1" dirty="0"/>
              <a:t>Font</a:t>
            </a:r>
            <a:r>
              <a:rPr lang="en-IN" sz="2800" dirty="0"/>
              <a:t> class present in </a:t>
            </a:r>
            <a:r>
              <a:rPr lang="en-IN" sz="2800" dirty="0" err="1"/>
              <a:t>java.awt</a:t>
            </a:r>
            <a:r>
              <a:rPr lang="en-IN" sz="2800" dirty="0"/>
              <a:t> package </a:t>
            </a:r>
          </a:p>
          <a:p>
            <a:r>
              <a:rPr lang="en-IN" sz="2800" dirty="0">
                <a:solidFill>
                  <a:srgbClr val="FF0000"/>
                </a:solidFill>
              </a:rPr>
              <a:t>Font f=new Font(String </a:t>
            </a:r>
            <a:r>
              <a:rPr lang="en-IN" sz="2800" dirty="0" err="1">
                <a:solidFill>
                  <a:srgbClr val="FF0000"/>
                </a:solidFill>
              </a:rPr>
              <a:t>type,int</a:t>
            </a:r>
            <a:r>
              <a:rPr lang="en-IN" sz="2800" dirty="0">
                <a:solidFill>
                  <a:srgbClr val="FF0000"/>
                </a:solidFill>
              </a:rPr>
              <a:t> </a:t>
            </a:r>
            <a:r>
              <a:rPr lang="en-IN" sz="2800" dirty="0" err="1">
                <a:solidFill>
                  <a:srgbClr val="FF0000"/>
                </a:solidFill>
              </a:rPr>
              <a:t>style,int</a:t>
            </a:r>
            <a:r>
              <a:rPr lang="en-IN" sz="2800" dirty="0">
                <a:solidFill>
                  <a:srgbClr val="FF0000"/>
                </a:solidFill>
              </a:rPr>
              <a:t> size); </a:t>
            </a:r>
          </a:p>
          <a:p>
            <a:r>
              <a:rPr lang="en-IN" sz="2800" dirty="0">
                <a:solidFill>
                  <a:srgbClr val="FF0000"/>
                </a:solidFill>
              </a:rPr>
              <a:t>Ex: Font f= new Font("arial",Font.Bold,30);</a:t>
            </a:r>
            <a:endParaRPr lang="en-US" sz="2800" dirty="0">
              <a:solidFill>
                <a:srgbClr val="FF0000"/>
              </a:solidFill>
            </a:endParaRPr>
          </a:p>
        </p:txBody>
      </p:sp>
      <p:sp>
        <p:nvSpPr>
          <p:cNvPr id="4" name="Footer Placeholder 3">
            <a:extLst>
              <a:ext uri="{FF2B5EF4-FFF2-40B4-BE49-F238E27FC236}">
                <a16:creationId xmlns:a16="http://schemas.microsoft.com/office/drawing/2014/main" id="{D8870D18-A66C-F0FA-811D-A72AE9E84CFC}"/>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114095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DE393-73AA-4358-05A9-E2B69E6321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CE1F626-81D7-8F11-B29E-54559684A05E}"/>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a:solidFill>
                  <a:srgbClr val="000000"/>
                </a:solidFill>
                <a:effectLst/>
                <a:latin typeface="Menlo" panose="020B0609030804020204" pitchFamily="49" charset="0"/>
              </a:rPr>
              <a:t>Test</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Frame</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Test </a:t>
            </a:r>
            <a:r>
              <a:rPr lang="en-IN" sz="1800" dirty="0">
                <a:solidFill>
                  <a:srgbClr val="6A3E3E"/>
                </a:solidFill>
                <a:effectLst/>
                <a:latin typeface="Menlo" panose="020B0609030804020204" pitchFamily="49" charset="0"/>
              </a:rPr>
              <a:t>t</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Test();</a:t>
            </a:r>
          </a:p>
          <a:p>
            <a:pPr marL="0" marR="0" indent="0">
              <a:spcBef>
                <a:spcPts val="0"/>
              </a:spcBef>
              <a:spcAft>
                <a:spcPts val="0"/>
              </a:spcAft>
              <a:buNone/>
            </a:pPr>
            <a:r>
              <a:rPr lang="en-IN" sz="1800" dirty="0" err="1">
                <a:solidFill>
                  <a:srgbClr val="6A3E3E"/>
                </a:solidFill>
                <a:effectLst/>
                <a:latin typeface="Menlo" panose="020B0609030804020204" pitchFamily="49" charset="0"/>
              </a:rPr>
              <a:t>t</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t</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(500,500);</a:t>
            </a:r>
          </a:p>
          <a:p>
            <a:pPr marL="0" marR="0" indent="0">
              <a:spcBef>
                <a:spcPts val="0"/>
              </a:spcBef>
              <a:spcAft>
                <a:spcPts val="0"/>
              </a:spcAft>
              <a:buNone/>
            </a:pPr>
            <a:r>
              <a:rPr lang="en-IN" sz="1800" dirty="0" err="1">
                <a:solidFill>
                  <a:srgbClr val="6A3E3E"/>
                </a:solidFill>
                <a:effectLst/>
                <a:latin typeface="Menlo" panose="020B0609030804020204" pitchFamily="49" charset="0"/>
              </a:rPr>
              <a:t>t</a:t>
            </a: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latin typeface="Menlo" panose="020B0609030804020204" pitchFamily="49" charset="0"/>
              </a:rPr>
              <a:t>”</a:t>
            </a:r>
            <a:r>
              <a:rPr lang="en-IN" sz="1800" dirty="0" err="1">
                <a:solidFill>
                  <a:srgbClr val="2A00FF"/>
                </a:solidFill>
                <a:latin typeface="Menlo" panose="020B0609030804020204" pitchFamily="49" charset="0"/>
              </a:rPr>
              <a:t>Strudent</a:t>
            </a:r>
            <a:r>
              <a:rPr lang="en-IN" sz="1800" dirty="0">
                <a:solidFill>
                  <a:srgbClr val="2A00FF"/>
                </a:solidFill>
                <a:latin typeface="Menlo" panose="020B0609030804020204" pitchFamily="49" charset="0"/>
              </a:rPr>
              <a:t> Registration</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t</a:t>
            </a: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red</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paint(Graphics </a:t>
            </a:r>
            <a:r>
              <a:rPr lang="en-IN" sz="1800" dirty="0">
                <a:solidFill>
                  <a:srgbClr val="6A3E3E"/>
                </a:solidFill>
                <a:effectLst/>
                <a:latin typeface="Menlo" panose="020B0609030804020204" pitchFamily="49" charset="0"/>
              </a:rPr>
              <a:t>g</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Font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Font(</a:t>
            </a:r>
            <a:r>
              <a:rPr lang="en-IN" sz="1800" dirty="0">
                <a:solidFill>
                  <a:srgbClr val="2A00FF"/>
                </a:solidFill>
                <a:effectLst/>
                <a:latin typeface="Menlo" panose="020B0609030804020204" pitchFamily="49" charset="0"/>
              </a:rPr>
              <a:t>"arial"</a:t>
            </a:r>
            <a:r>
              <a:rPr lang="en-IN" sz="1800" dirty="0">
                <a:solidFill>
                  <a:srgbClr val="000000"/>
                </a:solidFill>
                <a:effectLst/>
                <a:latin typeface="Menlo" panose="020B0609030804020204" pitchFamily="49" charset="0"/>
              </a:rPr>
              <a:t>,Font.</a:t>
            </a:r>
            <a:r>
              <a:rPr lang="en-IN" sz="1800" b="1" i="1" dirty="0">
                <a:solidFill>
                  <a:srgbClr val="0000C0"/>
                </a:solidFill>
                <a:effectLst/>
                <a:latin typeface="Menlo" panose="020B0609030804020204" pitchFamily="49" charset="0"/>
              </a:rPr>
              <a:t>ITALIC</a:t>
            </a:r>
            <a:r>
              <a:rPr lang="en-IN" sz="1800" dirty="0">
                <a:solidFill>
                  <a:srgbClr val="000000"/>
                </a:solidFill>
                <a:effectLst/>
                <a:latin typeface="Menlo" panose="020B0609030804020204" pitchFamily="49" charset="0"/>
              </a:rPr>
              <a:t>,25);</a:t>
            </a:r>
          </a:p>
          <a:p>
            <a:pPr marL="0" marR="0" indent="0">
              <a:spcBef>
                <a:spcPts val="0"/>
              </a:spcBef>
              <a:spcAft>
                <a:spcPts val="0"/>
              </a:spcAft>
              <a:buNone/>
            </a:pP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.setFont</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.drawString</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"hi Welcome to Amity University, how r u"</a:t>
            </a:r>
            <a:r>
              <a:rPr lang="en-IN" sz="1800" dirty="0">
                <a:solidFill>
                  <a:srgbClr val="000000"/>
                </a:solidFill>
                <a:effectLst/>
                <a:latin typeface="Menlo" panose="020B0609030804020204" pitchFamily="49" charset="0"/>
              </a:rPr>
              <a:t>,100,100);</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p:txBody>
      </p:sp>
      <p:sp>
        <p:nvSpPr>
          <p:cNvPr id="4" name="Footer Placeholder 3">
            <a:extLst>
              <a:ext uri="{FF2B5EF4-FFF2-40B4-BE49-F238E27FC236}">
                <a16:creationId xmlns:a16="http://schemas.microsoft.com/office/drawing/2014/main" id="{20FB1B05-B46E-B926-E699-509AD261CD86}"/>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390942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0C32E-05F9-15E2-4161-6C284B2629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7E9CA85-81CE-B3B6-4DAB-9EB79B247963}"/>
              </a:ext>
            </a:extLst>
          </p:cNvPr>
          <p:cNvSpPr>
            <a:spLocks noGrp="1"/>
          </p:cNvSpPr>
          <p:nvPr>
            <p:ph idx="1"/>
          </p:nvPr>
        </p:nvSpPr>
        <p:spPr/>
        <p:txBody>
          <a:bodyPr/>
          <a:lstStyle/>
          <a:p>
            <a:r>
              <a:rPr lang="en-IN" sz="2800" dirty="0"/>
              <a:t>Note:- 1. When we create a </a:t>
            </a:r>
            <a:r>
              <a:rPr lang="en-IN" sz="2800" dirty="0" err="1"/>
              <a:t>MyFrame</a:t>
            </a:r>
            <a:r>
              <a:rPr lang="en-IN" sz="2800" dirty="0"/>
              <a:t> class constructor, </a:t>
            </a:r>
            <a:r>
              <a:rPr lang="en-IN" sz="2800" dirty="0" err="1"/>
              <a:t>jvm</a:t>
            </a:r>
            <a:r>
              <a:rPr lang="en-IN" sz="2800" dirty="0"/>
              <a:t> executes </a:t>
            </a:r>
            <a:r>
              <a:rPr lang="en-IN" sz="2800" dirty="0" err="1"/>
              <a:t>MyFrame</a:t>
            </a:r>
            <a:r>
              <a:rPr lang="en-IN" sz="2800" dirty="0"/>
              <a:t> class </a:t>
            </a:r>
            <a:r>
              <a:rPr lang="en-IN" sz="2800" dirty="0" err="1"/>
              <a:t>construcor</a:t>
            </a:r>
            <a:r>
              <a:rPr lang="en-IN" sz="2800" dirty="0"/>
              <a:t> just before this JVM has to execute Frame class zero argument constructor. </a:t>
            </a:r>
          </a:p>
          <a:p>
            <a:r>
              <a:rPr lang="en-IN" sz="2800" dirty="0"/>
              <a:t>2. In Frame class zero argument constructor repaint() method will be executed, it will access predefined Frame class paint() method. </a:t>
            </a:r>
          </a:p>
          <a:p>
            <a:r>
              <a:rPr lang="en-IN" sz="2800" dirty="0"/>
              <a:t>But as per the requirement overriding paint() method will be executed. </a:t>
            </a:r>
          </a:p>
          <a:p>
            <a:r>
              <a:rPr lang="en-IN" sz="2800" dirty="0"/>
              <a:t>3. Therefore the paint() will be executed automatically at the time of Frame creation.</a:t>
            </a:r>
            <a:endParaRPr lang="en-US" sz="2800" dirty="0"/>
          </a:p>
        </p:txBody>
      </p:sp>
      <p:sp>
        <p:nvSpPr>
          <p:cNvPr id="4" name="Footer Placeholder 3">
            <a:extLst>
              <a:ext uri="{FF2B5EF4-FFF2-40B4-BE49-F238E27FC236}">
                <a16:creationId xmlns:a16="http://schemas.microsoft.com/office/drawing/2014/main" id="{1ACB2BC0-ED99-79DB-1A1C-ED85A46DC6E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399504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98BC2-10DE-598F-F882-9A87C314E08A}"/>
              </a:ext>
            </a:extLst>
          </p:cNvPr>
          <p:cNvSpPr>
            <a:spLocks noGrp="1"/>
          </p:cNvSpPr>
          <p:nvPr>
            <p:ph type="title"/>
          </p:nvPr>
        </p:nvSpPr>
        <p:spPr/>
        <p:txBody>
          <a:bodyPr/>
          <a:lstStyle/>
          <a:p>
            <a:r>
              <a:rPr lang="en-IN" sz="4000" dirty="0"/>
              <a:t>Preparation of the components</a:t>
            </a:r>
            <a:endParaRPr lang="en-US" sz="4000" dirty="0"/>
          </a:p>
        </p:txBody>
      </p:sp>
      <p:sp>
        <p:nvSpPr>
          <p:cNvPr id="3" name="Content Placeholder 2">
            <a:extLst>
              <a:ext uri="{FF2B5EF4-FFF2-40B4-BE49-F238E27FC236}">
                <a16:creationId xmlns:a16="http://schemas.microsoft.com/office/drawing/2014/main" id="{9B0772FC-1E72-1AD9-4977-DECF1235F7C4}"/>
              </a:ext>
            </a:extLst>
          </p:cNvPr>
          <p:cNvSpPr>
            <a:spLocks noGrp="1"/>
          </p:cNvSpPr>
          <p:nvPr>
            <p:ph idx="1"/>
          </p:nvPr>
        </p:nvSpPr>
        <p:spPr/>
        <p:txBody>
          <a:bodyPr/>
          <a:lstStyle/>
          <a:p>
            <a:r>
              <a:rPr lang="en-IN" sz="2800" b="1" dirty="0"/>
              <a:t>Label</a:t>
            </a:r>
            <a:r>
              <a:rPr lang="en-IN" sz="2800" dirty="0"/>
              <a:t>: - 1) Label is a constant text which is displayed along with a </a:t>
            </a:r>
            <a:r>
              <a:rPr lang="en-IN" sz="2800" dirty="0" err="1"/>
              <a:t>TextField</a:t>
            </a:r>
            <a:r>
              <a:rPr lang="en-IN" sz="2800" dirty="0"/>
              <a:t> or </a:t>
            </a:r>
            <a:r>
              <a:rPr lang="en-IN" sz="2800" dirty="0" err="1"/>
              <a:t>TextArea</a:t>
            </a:r>
            <a:r>
              <a:rPr lang="en-IN" sz="2800" dirty="0"/>
              <a:t>. </a:t>
            </a:r>
          </a:p>
          <a:p>
            <a:r>
              <a:rPr lang="en-IN" sz="2800" dirty="0"/>
              <a:t>2) Label is a class which is present in </a:t>
            </a:r>
            <a:r>
              <a:rPr lang="en-IN" sz="2800" dirty="0" err="1"/>
              <a:t>java.awt</a:t>
            </a:r>
            <a:r>
              <a:rPr lang="en-IN" sz="2800" dirty="0"/>
              <a:t> package. </a:t>
            </a:r>
          </a:p>
          <a:p>
            <a:r>
              <a:rPr lang="en-IN" sz="2800" dirty="0"/>
              <a:t>3) To display the label we have to add that label into the frame for that purpose we have to use add() method present in the Frame class. </a:t>
            </a:r>
          </a:p>
          <a:p>
            <a:r>
              <a:rPr lang="en-IN" sz="2800" dirty="0"/>
              <a:t>Constructor:- </a:t>
            </a:r>
          </a:p>
          <a:p>
            <a:r>
              <a:rPr lang="en-IN" sz="2800" dirty="0">
                <a:solidFill>
                  <a:srgbClr val="FF0000"/>
                </a:solidFill>
              </a:rPr>
              <a:t>Label l=new Label(); </a:t>
            </a:r>
          </a:p>
          <a:p>
            <a:r>
              <a:rPr lang="en-IN" sz="2800" dirty="0">
                <a:solidFill>
                  <a:srgbClr val="FF0000"/>
                </a:solidFill>
              </a:rPr>
              <a:t>Label l=new Label(“user name”);</a:t>
            </a:r>
            <a:endParaRPr lang="en-US" sz="2800" dirty="0">
              <a:solidFill>
                <a:srgbClr val="FF0000"/>
              </a:solidFill>
            </a:endParaRPr>
          </a:p>
        </p:txBody>
      </p:sp>
      <p:sp>
        <p:nvSpPr>
          <p:cNvPr id="4" name="Footer Placeholder 3">
            <a:extLst>
              <a:ext uri="{FF2B5EF4-FFF2-40B4-BE49-F238E27FC236}">
                <a16:creationId xmlns:a16="http://schemas.microsoft.com/office/drawing/2014/main" id="{2638CFB8-CC3C-3A13-7436-1B39D404608F}"/>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262890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86F75-4F0A-5698-80CD-6727BD4FDC6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D80575B-0C70-A418-72A1-3EBBE850AF1B}"/>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Test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Frame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Frame();</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”AIIT – Amity University"</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red</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(400,500);</a:t>
            </a:r>
          </a:p>
          <a:p>
            <a:pPr marL="0" marR="0" indent="0">
              <a:spcBef>
                <a:spcPts val="0"/>
              </a:spcBef>
              <a:spcAft>
                <a:spcPts val="0"/>
              </a:spcAft>
              <a:buNone/>
            </a:pPr>
            <a:r>
              <a:rPr lang="en-IN" sz="1800" dirty="0">
                <a:solidFill>
                  <a:srgbClr val="000000"/>
                </a:solidFill>
                <a:effectLst/>
                <a:latin typeface="Menlo" panose="020B0609030804020204" pitchFamily="49" charset="0"/>
              </a:rPr>
              <a:t>Label </a:t>
            </a:r>
            <a:r>
              <a:rPr lang="en-IN" sz="1800" dirty="0">
                <a:solidFill>
                  <a:srgbClr val="6A3E3E"/>
                </a:solidFill>
                <a:effectLst/>
                <a:latin typeface="Menlo" panose="020B0609030804020204" pitchFamily="49" charset="0"/>
              </a:rPr>
              <a:t>l</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Label(</a:t>
            </a:r>
            <a:r>
              <a:rPr lang="en-IN" sz="1800" dirty="0">
                <a:solidFill>
                  <a:srgbClr val="2A00FF"/>
                </a:solidFill>
                <a:effectLst/>
                <a:latin typeface="Menlo" panose="020B0609030804020204" pitchFamily="49" charset="0"/>
              </a:rPr>
              <a:t>"user name:"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l</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p:txBody>
      </p:sp>
      <p:sp>
        <p:nvSpPr>
          <p:cNvPr id="4" name="Footer Placeholder 3">
            <a:extLst>
              <a:ext uri="{FF2B5EF4-FFF2-40B4-BE49-F238E27FC236}">
                <a16:creationId xmlns:a16="http://schemas.microsoft.com/office/drawing/2014/main" id="{7FE9BC7F-175B-2685-4282-68D651D7241E}"/>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1627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DCD49-4C27-2F82-9366-C214A5E1D6D5}"/>
              </a:ext>
            </a:extLst>
          </p:cNvPr>
          <p:cNvSpPr>
            <a:spLocks noGrp="1"/>
          </p:cNvSpPr>
          <p:nvPr>
            <p:ph type="title"/>
          </p:nvPr>
        </p:nvSpPr>
        <p:spPr/>
        <p:txBody>
          <a:bodyPr/>
          <a:lstStyle/>
          <a:p>
            <a:r>
              <a:rPr lang="en-IN" dirty="0" err="1"/>
              <a:t>TextField</a:t>
            </a:r>
            <a:endParaRPr lang="en-US" dirty="0"/>
          </a:p>
        </p:txBody>
      </p:sp>
      <p:sp>
        <p:nvSpPr>
          <p:cNvPr id="3" name="Content Placeholder 2">
            <a:extLst>
              <a:ext uri="{FF2B5EF4-FFF2-40B4-BE49-F238E27FC236}">
                <a16:creationId xmlns:a16="http://schemas.microsoft.com/office/drawing/2014/main" id="{2D77C998-5107-2096-346B-4EB11484D7B2}"/>
              </a:ext>
            </a:extLst>
          </p:cNvPr>
          <p:cNvSpPr>
            <a:spLocks noGrp="1"/>
          </p:cNvSpPr>
          <p:nvPr>
            <p:ph idx="1"/>
          </p:nvPr>
        </p:nvSpPr>
        <p:spPr/>
        <p:txBody>
          <a:bodyPr/>
          <a:lstStyle/>
          <a:p>
            <a:r>
              <a:rPr lang="en-IN" sz="2000" dirty="0"/>
              <a:t>1) </a:t>
            </a:r>
            <a:r>
              <a:rPr lang="en-IN" sz="2000" dirty="0" err="1"/>
              <a:t>TextField</a:t>
            </a:r>
            <a:r>
              <a:rPr lang="en-IN" sz="2000" dirty="0"/>
              <a:t> is an editable area. </a:t>
            </a:r>
          </a:p>
          <a:p>
            <a:r>
              <a:rPr lang="en-IN" sz="2000" dirty="0"/>
              <a:t>2) In </a:t>
            </a:r>
            <a:r>
              <a:rPr lang="en-IN" sz="2000" dirty="0" err="1"/>
              <a:t>TextField</a:t>
            </a:r>
            <a:r>
              <a:rPr lang="en-IN" sz="2000" dirty="0"/>
              <a:t> we are able to provide single line of text. </a:t>
            </a:r>
          </a:p>
          <a:p>
            <a:r>
              <a:rPr lang="en-IN" sz="2000" dirty="0"/>
              <a:t>3) Enter Button doesn’t work on </a:t>
            </a:r>
            <a:r>
              <a:rPr lang="en-IN" sz="2000" dirty="0" err="1"/>
              <a:t>TextField</a:t>
            </a:r>
            <a:r>
              <a:rPr lang="en-IN" sz="2000" dirty="0"/>
              <a:t>. </a:t>
            </a:r>
          </a:p>
          <a:p>
            <a:r>
              <a:rPr lang="en-IN" sz="2000" dirty="0"/>
              <a:t>To add </a:t>
            </a:r>
            <a:r>
              <a:rPr lang="en-IN" sz="2000" dirty="0" err="1"/>
              <a:t>TextField</a:t>
            </a:r>
            <a:r>
              <a:rPr lang="en-IN" sz="2000" dirty="0"/>
              <a:t> into the Frame we have to use </a:t>
            </a:r>
            <a:r>
              <a:rPr lang="en-IN" sz="2000" b="1" dirty="0"/>
              <a:t>add() method</a:t>
            </a:r>
            <a:r>
              <a:rPr lang="en-IN" sz="2000" dirty="0"/>
              <a:t>. </a:t>
            </a:r>
          </a:p>
          <a:p>
            <a:r>
              <a:rPr lang="en-IN" sz="2000" dirty="0"/>
              <a:t>1. To set Text to the </a:t>
            </a:r>
            <a:r>
              <a:rPr lang="en-IN" sz="2000" dirty="0" err="1"/>
              <a:t>textarea</a:t>
            </a:r>
            <a:r>
              <a:rPr lang="en-IN" sz="2000" dirty="0"/>
              <a:t> we have to use the following method.</a:t>
            </a:r>
          </a:p>
          <a:p>
            <a:r>
              <a:rPr lang="en-IN" sz="2000" b="1" dirty="0" err="1"/>
              <a:t>t.setText</a:t>
            </a:r>
            <a:r>
              <a:rPr lang="en-IN" sz="2000" b="1" dirty="0"/>
              <a:t>(“AIIT (Amity Institute of Information Technology”); </a:t>
            </a:r>
          </a:p>
          <a:p>
            <a:r>
              <a:rPr lang="en-IN" sz="2000" dirty="0"/>
              <a:t>2. To get the text form the </a:t>
            </a:r>
            <a:r>
              <a:rPr lang="en-IN" sz="2000" dirty="0" err="1"/>
              <a:t>TextArea</a:t>
            </a:r>
            <a:r>
              <a:rPr lang="en-IN" sz="2000" dirty="0"/>
              <a:t> we have to use fallowing method. </a:t>
            </a:r>
          </a:p>
          <a:p>
            <a:r>
              <a:rPr lang="en-IN" sz="2000" b="1" dirty="0"/>
              <a:t>String s=</a:t>
            </a:r>
            <a:r>
              <a:rPr lang="en-IN" sz="2000" b="1" dirty="0" err="1"/>
              <a:t>t.getText</a:t>
            </a:r>
            <a:r>
              <a:rPr lang="en-IN" sz="2000" b="1" dirty="0"/>
              <a:t>();</a:t>
            </a:r>
            <a:r>
              <a:rPr lang="en-IN" sz="2000" dirty="0"/>
              <a:t> </a:t>
            </a:r>
          </a:p>
          <a:p>
            <a:r>
              <a:rPr lang="en-IN" sz="2000" dirty="0"/>
              <a:t>3. To append the text into the </a:t>
            </a:r>
            <a:r>
              <a:rPr lang="en-IN" sz="2000" dirty="0" err="1"/>
              <a:t>TextArea</a:t>
            </a:r>
            <a:r>
              <a:rPr lang="en-IN" sz="2000" dirty="0"/>
              <a:t>. </a:t>
            </a:r>
          </a:p>
          <a:p>
            <a:r>
              <a:rPr lang="en-IN" sz="2000" b="1" dirty="0" err="1"/>
              <a:t>t.appendText</a:t>
            </a:r>
            <a:r>
              <a:rPr lang="en-IN" sz="2000" b="1" dirty="0"/>
              <a:t>("ratan");</a:t>
            </a:r>
          </a:p>
          <a:p>
            <a:r>
              <a:rPr lang="en-IN" sz="2000" dirty="0"/>
              <a:t>Constructor:- </a:t>
            </a:r>
            <a:r>
              <a:rPr lang="en-IN" sz="2000" b="1" dirty="0" err="1"/>
              <a:t>TextFiled</a:t>
            </a:r>
            <a:r>
              <a:rPr lang="en-IN" sz="2000" b="1" dirty="0"/>
              <a:t> </a:t>
            </a:r>
            <a:r>
              <a:rPr lang="en-IN" sz="2000" b="1" dirty="0" err="1"/>
              <a:t>tx</a:t>
            </a:r>
            <a:r>
              <a:rPr lang="en-IN" sz="2000" b="1" dirty="0"/>
              <a:t>=new </a:t>
            </a:r>
            <a:r>
              <a:rPr lang="en-IN" sz="2000" b="1" dirty="0" err="1"/>
              <a:t>TextFiled</a:t>
            </a:r>
            <a:r>
              <a:rPr lang="en-IN" sz="2000" b="1" dirty="0"/>
              <a:t>(); </a:t>
            </a:r>
          </a:p>
          <a:p>
            <a:r>
              <a:rPr lang="en-IN" sz="2000" b="1" dirty="0" err="1"/>
              <a:t>TextField</a:t>
            </a:r>
            <a:r>
              <a:rPr lang="en-IN" sz="2000" b="1" dirty="0"/>
              <a:t> </a:t>
            </a:r>
            <a:r>
              <a:rPr lang="en-IN" sz="2000" b="1" dirty="0" err="1"/>
              <a:t>tx</a:t>
            </a:r>
            <a:r>
              <a:rPr lang="en-IN" sz="2000" b="1" dirty="0"/>
              <a:t>=new </a:t>
            </a:r>
            <a:r>
              <a:rPr lang="en-IN" sz="2000" b="1" dirty="0" err="1"/>
              <a:t>TextField</a:t>
            </a:r>
            <a:r>
              <a:rPr lang="en-IN" sz="2000" b="1" dirty="0"/>
              <a:t>(“ratan”);</a:t>
            </a:r>
            <a:endParaRPr lang="en-US" sz="2000" b="1" dirty="0"/>
          </a:p>
        </p:txBody>
      </p:sp>
      <p:sp>
        <p:nvSpPr>
          <p:cNvPr id="4" name="Footer Placeholder 3">
            <a:extLst>
              <a:ext uri="{FF2B5EF4-FFF2-40B4-BE49-F238E27FC236}">
                <a16:creationId xmlns:a16="http://schemas.microsoft.com/office/drawing/2014/main" id="{A9833DF9-E1EA-4245-C09B-913CB23EF651}"/>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723973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CCBF6-C79F-1397-F490-79796C2FA76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21E678-403C-70E7-D4A1-CE15B5A7C16B}"/>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Test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Frame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Frame();</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”Name: "</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red</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(400,500);</a:t>
            </a:r>
          </a:p>
          <a:p>
            <a:pPr marL="0" marR="0" indent="0">
              <a:spcBef>
                <a:spcPts val="0"/>
              </a:spcBef>
              <a:spcAft>
                <a:spcPts val="0"/>
              </a:spcAft>
              <a:buNone/>
            </a:pPr>
            <a:r>
              <a:rPr lang="en-IN" sz="1800" dirty="0">
                <a:solidFill>
                  <a:srgbClr val="3F7F5F"/>
                </a:solidFill>
                <a:effectLst/>
                <a:latin typeface="Menlo" panose="020B0609030804020204" pitchFamily="49" charset="0"/>
              </a:rPr>
              <a:t>//</a:t>
            </a:r>
            <a:r>
              <a:rPr lang="en-IN" sz="1800" dirty="0" err="1">
                <a:solidFill>
                  <a:srgbClr val="3F7F5F"/>
                </a:solidFill>
                <a:effectLst/>
                <a:latin typeface="Menlo" panose="020B0609030804020204" pitchFamily="49" charset="0"/>
              </a:rPr>
              <a:t>TextField</a:t>
            </a:r>
            <a:r>
              <a:rPr lang="en-IN" sz="1800" dirty="0">
                <a:solidFill>
                  <a:srgbClr val="3F7F5F"/>
                </a:solidFill>
                <a:effectLst/>
                <a:latin typeface="Menlo" panose="020B0609030804020204" pitchFamily="49" charset="0"/>
              </a:rPr>
              <a:t> </a:t>
            </a:r>
            <a:r>
              <a:rPr lang="en-IN" sz="1800" u="sng" dirty="0" err="1">
                <a:solidFill>
                  <a:srgbClr val="3F7F5F"/>
                </a:solidFill>
                <a:effectLst/>
                <a:latin typeface="Menlo" panose="020B0609030804020204" pitchFamily="49" charset="0"/>
              </a:rPr>
              <a:t>tx</a:t>
            </a:r>
            <a:r>
              <a:rPr lang="en-IN" sz="1800" dirty="0">
                <a:solidFill>
                  <a:srgbClr val="3F7F5F"/>
                </a:solidFill>
                <a:effectLst/>
                <a:latin typeface="Menlo" panose="020B0609030804020204" pitchFamily="49" charset="0"/>
              </a:rPr>
              <a:t>=new </a:t>
            </a:r>
            <a:r>
              <a:rPr lang="en-IN" sz="1800" dirty="0" err="1">
                <a:solidFill>
                  <a:srgbClr val="3F7F5F"/>
                </a:solidFill>
                <a:effectLst/>
                <a:latin typeface="Menlo" panose="020B0609030804020204" pitchFamily="49" charset="0"/>
              </a:rPr>
              <a:t>TextField</a:t>
            </a:r>
            <a:r>
              <a:rPr lang="en-IN" sz="1800" dirty="0">
                <a:solidFill>
                  <a:srgbClr val="3F7F5F"/>
                </a:solidFill>
                <a:effectLst/>
                <a:latin typeface="Menlo" panose="020B0609030804020204" pitchFamily="49" charset="0"/>
              </a:rPr>
              <a:t>(); empty </a:t>
            </a:r>
            <a:r>
              <a:rPr lang="en-IN" sz="1800" dirty="0" err="1">
                <a:solidFill>
                  <a:srgbClr val="3F7F5F"/>
                </a:solidFill>
                <a:effectLst/>
                <a:latin typeface="Menlo" panose="020B0609030804020204" pitchFamily="49" charset="0"/>
              </a:rPr>
              <a:t>TextField</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dirty="0" err="1">
                <a:solidFill>
                  <a:srgbClr val="000000"/>
                </a:solidFill>
                <a:effectLst/>
                <a:latin typeface="Menlo" panose="020B0609030804020204" pitchFamily="49" charset="0"/>
              </a:rPr>
              <a:t>TextField</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tx</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TextField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latin typeface="Menlo" panose="020B0609030804020204" pitchFamily="49" charset="0"/>
              </a:rPr>
              <a:t>Dr.</a:t>
            </a:r>
            <a:r>
              <a:rPr lang="en-IN" sz="1800" dirty="0">
                <a:solidFill>
                  <a:srgbClr val="2A00FF"/>
                </a:solidFill>
                <a:latin typeface="Menlo" panose="020B0609030804020204" pitchFamily="49" charset="0"/>
              </a:rPr>
              <a:t> Naveen Kumar</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3F7F5F"/>
                </a:solidFill>
                <a:effectLst/>
                <a:latin typeface="Menlo" panose="020B0609030804020204" pitchFamily="49" charset="0"/>
              </a:rPr>
              <a:t>//</a:t>
            </a:r>
            <a:r>
              <a:rPr lang="en-IN" sz="1800" dirty="0" err="1">
                <a:solidFill>
                  <a:srgbClr val="3F7F5F"/>
                </a:solidFill>
                <a:effectLst/>
                <a:latin typeface="Menlo" panose="020B0609030804020204" pitchFamily="49" charset="0"/>
              </a:rPr>
              <a:t>TextField</a:t>
            </a:r>
            <a:r>
              <a:rPr lang="en-IN" sz="1800" dirty="0">
                <a:solidFill>
                  <a:srgbClr val="3F7F5F"/>
                </a:solidFill>
                <a:effectLst/>
                <a:latin typeface="Menlo" panose="020B0609030804020204" pitchFamily="49" charset="0"/>
              </a:rPr>
              <a:t> with data</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tx</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buNone/>
            </a:pPr>
            <a:endParaRPr lang="en-US" dirty="0"/>
          </a:p>
        </p:txBody>
      </p:sp>
      <p:sp>
        <p:nvSpPr>
          <p:cNvPr id="4" name="Footer Placeholder 3">
            <a:extLst>
              <a:ext uri="{FF2B5EF4-FFF2-40B4-BE49-F238E27FC236}">
                <a16:creationId xmlns:a16="http://schemas.microsoft.com/office/drawing/2014/main" id="{3C7C73AD-EAAD-6D66-EDAD-C303320F144E}"/>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329352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DA79E-DE27-699D-F4AA-EC833F19F235}"/>
              </a:ext>
            </a:extLst>
          </p:cNvPr>
          <p:cNvSpPr>
            <a:spLocks noGrp="1"/>
          </p:cNvSpPr>
          <p:nvPr>
            <p:ph type="title"/>
          </p:nvPr>
        </p:nvSpPr>
        <p:spPr/>
        <p:txBody>
          <a:bodyPr/>
          <a:lstStyle/>
          <a:p>
            <a:r>
              <a:rPr lang="en-IN" dirty="0" err="1"/>
              <a:t>TextArea</a:t>
            </a:r>
            <a:endParaRPr lang="en-US" dirty="0"/>
          </a:p>
        </p:txBody>
      </p:sp>
      <p:sp>
        <p:nvSpPr>
          <p:cNvPr id="3" name="Content Placeholder 2">
            <a:extLst>
              <a:ext uri="{FF2B5EF4-FFF2-40B4-BE49-F238E27FC236}">
                <a16:creationId xmlns:a16="http://schemas.microsoft.com/office/drawing/2014/main" id="{A45923FC-4D08-7A91-3D22-859441A26B4E}"/>
              </a:ext>
            </a:extLst>
          </p:cNvPr>
          <p:cNvSpPr>
            <a:spLocks noGrp="1"/>
          </p:cNvSpPr>
          <p:nvPr>
            <p:ph idx="1"/>
          </p:nvPr>
        </p:nvSpPr>
        <p:spPr/>
        <p:txBody>
          <a:bodyPr/>
          <a:lstStyle/>
          <a:p>
            <a:r>
              <a:rPr lang="en-IN" sz="2400" dirty="0"/>
              <a:t>1) </a:t>
            </a:r>
            <a:r>
              <a:rPr lang="en-IN" sz="2400" dirty="0" err="1"/>
              <a:t>TextArea</a:t>
            </a:r>
            <a:r>
              <a:rPr lang="en-IN" sz="2400" dirty="0"/>
              <a:t> is a class present in </a:t>
            </a:r>
            <a:r>
              <a:rPr lang="en-IN" sz="2400" dirty="0" err="1"/>
              <a:t>java.awt.package</a:t>
            </a:r>
            <a:r>
              <a:rPr lang="en-IN" sz="2400" dirty="0"/>
              <a:t>. </a:t>
            </a:r>
          </a:p>
          <a:p>
            <a:r>
              <a:rPr lang="en-IN" sz="2400" dirty="0"/>
              <a:t>2) </a:t>
            </a:r>
            <a:r>
              <a:rPr lang="en-IN" sz="2400" dirty="0" err="1"/>
              <a:t>TextArea</a:t>
            </a:r>
            <a:r>
              <a:rPr lang="en-IN" sz="2400" dirty="0"/>
              <a:t> is a Editable Area. Enter button will work on </a:t>
            </a:r>
            <a:r>
              <a:rPr lang="en-IN" sz="2400" dirty="0" err="1"/>
              <a:t>TextArea</a:t>
            </a:r>
            <a:r>
              <a:rPr lang="en-IN" sz="2400" dirty="0"/>
              <a:t>. </a:t>
            </a:r>
          </a:p>
          <a:p>
            <a:r>
              <a:rPr lang="en-IN" sz="2400" dirty="0"/>
              <a:t>3) To add the </a:t>
            </a:r>
            <a:r>
              <a:rPr lang="en-IN" sz="2400" dirty="0" err="1"/>
              <a:t>TextArea</a:t>
            </a:r>
            <a:r>
              <a:rPr lang="en-IN" sz="2400" dirty="0"/>
              <a:t> into the frame we have to use the </a:t>
            </a:r>
            <a:r>
              <a:rPr lang="en-IN" sz="2400" b="1" dirty="0"/>
              <a:t>add()</a:t>
            </a:r>
            <a:r>
              <a:rPr lang="en-IN" sz="2400" dirty="0"/>
              <a:t> </a:t>
            </a:r>
          </a:p>
          <a:p>
            <a:r>
              <a:rPr lang="en-IN" sz="2400" dirty="0"/>
              <a:t>Construction:- </a:t>
            </a:r>
            <a:r>
              <a:rPr lang="en-IN" sz="2400" b="1" dirty="0" err="1"/>
              <a:t>TextArea</a:t>
            </a:r>
            <a:r>
              <a:rPr lang="en-IN" sz="2400" b="1" dirty="0"/>
              <a:t> t=new </a:t>
            </a:r>
            <a:r>
              <a:rPr lang="en-IN" sz="2400" b="1" dirty="0" err="1"/>
              <a:t>TextArea</a:t>
            </a:r>
            <a:r>
              <a:rPr lang="en-IN" sz="2400" b="1" dirty="0"/>
              <a:t>();</a:t>
            </a:r>
            <a:r>
              <a:rPr lang="en-IN" sz="2400" dirty="0"/>
              <a:t> </a:t>
            </a:r>
          </a:p>
          <a:p>
            <a:r>
              <a:rPr lang="en-IN" sz="2400" b="1" dirty="0" err="1"/>
              <a:t>TextArea</a:t>
            </a:r>
            <a:r>
              <a:rPr lang="en-IN" sz="2400" b="1" dirty="0"/>
              <a:t> t=new </a:t>
            </a:r>
            <a:r>
              <a:rPr lang="en-IN" sz="2400" b="1" dirty="0" err="1"/>
              <a:t>TextArea</a:t>
            </a:r>
            <a:r>
              <a:rPr lang="en-IN" sz="2400" b="1" dirty="0"/>
              <a:t>(int rows, int columns);</a:t>
            </a:r>
            <a:r>
              <a:rPr lang="en-IN" sz="2400" dirty="0"/>
              <a:t> </a:t>
            </a:r>
          </a:p>
          <a:p>
            <a:r>
              <a:rPr lang="en-IN" sz="2400" dirty="0"/>
              <a:t>4. To set Text to the </a:t>
            </a:r>
            <a:r>
              <a:rPr lang="en-IN" sz="2400" dirty="0" err="1"/>
              <a:t>textarea</a:t>
            </a:r>
            <a:r>
              <a:rPr lang="en-IN" sz="2400" dirty="0"/>
              <a:t> we have to use the following method. </a:t>
            </a:r>
          </a:p>
          <a:p>
            <a:r>
              <a:rPr lang="en-IN" sz="2400" b="1" dirty="0" err="1"/>
              <a:t>t.setText</a:t>
            </a:r>
            <a:r>
              <a:rPr lang="en-IN" sz="2400" b="1" dirty="0"/>
              <a:t>(“Amity University”);</a:t>
            </a:r>
            <a:r>
              <a:rPr lang="en-IN" sz="2400" dirty="0"/>
              <a:t> </a:t>
            </a:r>
          </a:p>
          <a:p>
            <a:r>
              <a:rPr lang="en-IN" sz="2400" dirty="0"/>
              <a:t>5. To get the text form the </a:t>
            </a:r>
            <a:r>
              <a:rPr lang="en-IN" sz="2400" dirty="0" err="1"/>
              <a:t>TextArea</a:t>
            </a:r>
            <a:r>
              <a:rPr lang="en-IN" sz="2400" dirty="0"/>
              <a:t> we have to use fallowing method.  </a:t>
            </a:r>
            <a:r>
              <a:rPr lang="en-IN" sz="2400" b="1" dirty="0"/>
              <a:t>String s=</a:t>
            </a:r>
            <a:r>
              <a:rPr lang="en-IN" sz="2400" b="1" dirty="0" err="1"/>
              <a:t>t.getText</a:t>
            </a:r>
            <a:r>
              <a:rPr lang="en-IN" sz="2400" b="1" dirty="0"/>
              <a:t>();</a:t>
            </a:r>
          </a:p>
          <a:p>
            <a:r>
              <a:rPr lang="en-IN" sz="2400" dirty="0"/>
              <a:t>6. To append the text into the </a:t>
            </a:r>
            <a:r>
              <a:rPr lang="en-IN" sz="2400" b="1" dirty="0" err="1"/>
              <a:t>t.appendText</a:t>
            </a:r>
            <a:r>
              <a:rPr lang="en-IN" sz="2400" b="1" dirty="0"/>
              <a:t>(”AIIT");</a:t>
            </a:r>
            <a:endParaRPr lang="en-US" sz="2400" b="1" dirty="0"/>
          </a:p>
        </p:txBody>
      </p:sp>
      <p:sp>
        <p:nvSpPr>
          <p:cNvPr id="4" name="Footer Placeholder 3">
            <a:extLst>
              <a:ext uri="{FF2B5EF4-FFF2-40B4-BE49-F238E27FC236}">
                <a16:creationId xmlns:a16="http://schemas.microsoft.com/office/drawing/2014/main" id="{9095287D-3BB7-3B76-B7B3-0BDFD2D34F0B}"/>
              </a:ext>
            </a:extLst>
          </p:cNvPr>
          <p:cNvSpPr>
            <a:spLocks noGrp="1"/>
          </p:cNvSpPr>
          <p:nvPr>
            <p:ph type="ftr" sz="quarter" idx="11"/>
          </p:nvPr>
        </p:nvSpPr>
        <p:spPr/>
        <p:txBody>
          <a:bodyPr/>
          <a:lstStyle/>
          <a:p>
            <a:pPr>
              <a:defRPr/>
            </a:pPr>
            <a:r>
              <a:rPr lang="en-US" dirty="0"/>
              <a:t>Dr. Naveen Kumar, Associate Professor, AIIT, AUP</a:t>
            </a:r>
          </a:p>
        </p:txBody>
      </p:sp>
    </p:spTree>
    <p:extLst>
      <p:ext uri="{BB962C8B-B14F-4D97-AF65-F5344CB8AC3E}">
        <p14:creationId xmlns:p14="http://schemas.microsoft.com/office/powerpoint/2010/main" val="1989102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56C40-D20C-3C69-DF04-58E106B539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6D9D2E-6240-3CFF-D1C8-CF32D1F181F5}"/>
              </a:ext>
            </a:extLst>
          </p:cNvPr>
          <p:cNvSpPr>
            <a:spLocks noGrp="1"/>
          </p:cNvSpPr>
          <p:nvPr>
            <p:ph idx="1"/>
          </p:nvPr>
        </p:nvSpPr>
        <p:spPr>
          <a:xfrm>
            <a:off x="457200" y="487362"/>
            <a:ext cx="8229600" cy="5837238"/>
          </a:xfrm>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Test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Frame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Frame();</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”AIIT"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red</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(400,500);</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.setLayout</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FlowLayout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Label </a:t>
            </a:r>
            <a:r>
              <a:rPr lang="en-IN" sz="1800" dirty="0">
                <a:solidFill>
                  <a:srgbClr val="6A3E3E"/>
                </a:solidFill>
                <a:effectLst/>
                <a:latin typeface="Menlo" panose="020B0609030804020204" pitchFamily="49" charset="0"/>
              </a:rPr>
              <a:t>l</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Label(</a:t>
            </a:r>
            <a:r>
              <a:rPr lang="en-IN" sz="1800" dirty="0">
                <a:solidFill>
                  <a:srgbClr val="2A00FF"/>
                </a:solidFill>
                <a:effectLst/>
                <a:latin typeface="Menlo" panose="020B0609030804020204" pitchFamily="49" charset="0"/>
              </a:rPr>
              <a:t>"user name:"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TextArea</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tx</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TextArea</a:t>
            </a:r>
            <a:r>
              <a:rPr lang="en-IN" sz="1800" dirty="0">
                <a:solidFill>
                  <a:srgbClr val="000000"/>
                </a:solidFill>
                <a:effectLst/>
                <a:latin typeface="Menlo" panose="020B0609030804020204" pitchFamily="49" charset="0"/>
              </a:rPr>
              <a:t>(4,10);</a:t>
            </a:r>
            <a:r>
              <a:rPr lang="en-IN" sz="1800" dirty="0">
                <a:solidFill>
                  <a:srgbClr val="3F7F5F"/>
                </a:solidFill>
                <a:effectLst/>
                <a:latin typeface="Menlo" panose="020B0609030804020204" pitchFamily="49" charset="0"/>
              </a:rPr>
              <a:t>//4 character height 10 character width</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dirty="0" err="1">
                <a:solidFill>
                  <a:srgbClr val="6A3E3E"/>
                </a:solidFill>
                <a:effectLst/>
                <a:latin typeface="Menlo" panose="020B0609030804020204" pitchFamily="49" charset="0"/>
              </a:rPr>
              <a:t>tx</a:t>
            </a:r>
            <a:r>
              <a:rPr lang="en-IN" sz="1800" dirty="0" err="1">
                <a:solidFill>
                  <a:srgbClr val="000000"/>
                </a:solidFill>
                <a:effectLst/>
                <a:latin typeface="Menlo" panose="020B0609030804020204" pitchFamily="49" charset="0"/>
              </a:rPr>
              <a:t>.</a:t>
            </a:r>
            <a:r>
              <a:rPr lang="en-IN" sz="1800" u="sng" strike="sngStrike" dirty="0" err="1">
                <a:solidFill>
                  <a:srgbClr val="000000"/>
                </a:solidFill>
                <a:effectLst/>
                <a:latin typeface="Menlo" panose="020B0609030804020204" pitchFamily="49" charset="0"/>
              </a:rPr>
              <a:t>appendText</a:t>
            </a:r>
            <a:r>
              <a:rPr lang="en-IN" sz="1800" u="sng" dirty="0">
                <a:solidFill>
                  <a:srgbClr val="000000"/>
                </a:solidFill>
                <a:effectLst/>
                <a:latin typeface="Menlo" panose="020B0609030804020204" pitchFamily="49" charset="0"/>
              </a:rPr>
              <a:t>(</a:t>
            </a:r>
            <a:r>
              <a:rPr lang="en-IN" sz="1800" u="sng" dirty="0">
                <a:solidFill>
                  <a:srgbClr val="2A00FF"/>
                </a:solidFill>
                <a:effectLst/>
                <a:latin typeface="Menlo" panose="020B0609030804020204" pitchFamily="49" charset="0"/>
              </a:rPr>
              <a:t>”AIIT"</a:t>
            </a:r>
            <a:r>
              <a:rPr lang="en-IN" sz="1800" u="sng" dirty="0">
                <a:solidFill>
                  <a:srgbClr val="000000"/>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tx</a:t>
            </a:r>
            <a:r>
              <a:rPr lang="en-IN" sz="1800" dirty="0" err="1">
                <a:solidFill>
                  <a:srgbClr val="000000"/>
                </a:solidFill>
                <a:effectLst/>
                <a:latin typeface="Menlo" panose="020B0609030804020204" pitchFamily="49" charset="0"/>
              </a:rPr>
              <a:t>.setText</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”BCA/MCA"</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System.</a:t>
            </a:r>
            <a:r>
              <a:rPr lang="en-IN" sz="1800" b="1" i="1" dirty="0" err="1">
                <a:solidFill>
                  <a:srgbClr val="0000C0"/>
                </a:solidFill>
                <a:effectLst/>
                <a:latin typeface="Menlo" panose="020B0609030804020204" pitchFamily="49" charset="0"/>
              </a:rPr>
              <a:t>out</a:t>
            </a:r>
            <a:r>
              <a:rPr lang="en-IN" sz="1800" dirty="0" err="1">
                <a:solidFill>
                  <a:srgbClr val="000000"/>
                </a:solidFill>
                <a:effectLst/>
                <a:latin typeface="Menlo" panose="020B0609030804020204" pitchFamily="49" charset="0"/>
              </a:rPr>
              <a:t>.println</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tx</a:t>
            </a:r>
            <a:r>
              <a:rPr lang="en-IN" sz="1800" dirty="0" err="1">
                <a:solidFill>
                  <a:srgbClr val="000000"/>
                </a:solidFill>
                <a:effectLst/>
                <a:latin typeface="Menlo" panose="020B0609030804020204" pitchFamily="49" charset="0"/>
              </a:rPr>
              <a:t>.getText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l</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tx</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buNone/>
            </a:pPr>
            <a:endParaRPr lang="en-US" dirty="0"/>
          </a:p>
        </p:txBody>
      </p:sp>
      <p:sp>
        <p:nvSpPr>
          <p:cNvPr id="4" name="Footer Placeholder 3">
            <a:extLst>
              <a:ext uri="{FF2B5EF4-FFF2-40B4-BE49-F238E27FC236}">
                <a16:creationId xmlns:a16="http://schemas.microsoft.com/office/drawing/2014/main" id="{02D708F0-8DC3-0155-258E-D80E82BDADC6}"/>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9454538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857F4-99C3-2823-A245-66EFEBCFEBD7}"/>
              </a:ext>
            </a:extLst>
          </p:cNvPr>
          <p:cNvSpPr>
            <a:spLocks noGrp="1"/>
          </p:cNvSpPr>
          <p:nvPr>
            <p:ph type="title"/>
          </p:nvPr>
        </p:nvSpPr>
        <p:spPr/>
        <p:txBody>
          <a:bodyPr/>
          <a:lstStyle/>
          <a:p>
            <a:r>
              <a:rPr lang="en-IN" dirty="0"/>
              <a:t>Choice</a:t>
            </a:r>
            <a:endParaRPr lang="en-US" dirty="0"/>
          </a:p>
        </p:txBody>
      </p:sp>
      <p:sp>
        <p:nvSpPr>
          <p:cNvPr id="3" name="Content Placeholder 2">
            <a:extLst>
              <a:ext uri="{FF2B5EF4-FFF2-40B4-BE49-F238E27FC236}">
                <a16:creationId xmlns:a16="http://schemas.microsoft.com/office/drawing/2014/main" id="{3205CE96-6059-A63D-7AF2-48FD9B509570}"/>
              </a:ext>
            </a:extLst>
          </p:cNvPr>
          <p:cNvSpPr>
            <a:spLocks noGrp="1"/>
          </p:cNvSpPr>
          <p:nvPr>
            <p:ph idx="1"/>
          </p:nvPr>
        </p:nvSpPr>
        <p:spPr/>
        <p:txBody>
          <a:bodyPr/>
          <a:lstStyle/>
          <a:p>
            <a:r>
              <a:rPr lang="en-IN" sz="2400" dirty="0"/>
              <a:t>1) Choice is a class present in </a:t>
            </a:r>
            <a:r>
              <a:rPr lang="en-IN" sz="2400" dirty="0" err="1"/>
              <a:t>java.awt</a:t>
            </a:r>
            <a:r>
              <a:rPr lang="en-IN" sz="2400" dirty="0"/>
              <a:t> package. </a:t>
            </a:r>
          </a:p>
          <a:p>
            <a:r>
              <a:rPr lang="en-IN" sz="2400" dirty="0"/>
              <a:t>2) List is allows to select multiple items but choice is allow to select single Item. </a:t>
            </a:r>
          </a:p>
          <a:p>
            <a:r>
              <a:rPr lang="en-IN" sz="2400" dirty="0"/>
              <a:t>Constructor:- </a:t>
            </a:r>
            <a:r>
              <a:rPr lang="en-IN" sz="2400" b="1" dirty="0"/>
              <a:t>Choice </a:t>
            </a:r>
            <a:r>
              <a:rPr lang="en-IN" sz="2400" b="1" dirty="0" err="1"/>
              <a:t>ch</a:t>
            </a:r>
            <a:r>
              <a:rPr lang="en-IN" sz="2400" b="1" dirty="0"/>
              <a:t>=new Choice();</a:t>
            </a:r>
            <a:r>
              <a:rPr lang="en-IN" sz="2400" dirty="0"/>
              <a:t> Methods :- </a:t>
            </a:r>
          </a:p>
          <a:p>
            <a:r>
              <a:rPr lang="en-IN" sz="2400" dirty="0"/>
              <a:t>1. To add items to the choice we have to use following method. </a:t>
            </a:r>
          </a:p>
          <a:p>
            <a:r>
              <a:rPr lang="en-IN" sz="2400" dirty="0" err="1"/>
              <a:t>ch.add</a:t>
            </a:r>
            <a:r>
              <a:rPr lang="en-IN" sz="2400" dirty="0"/>
              <a:t>(“HYD”); </a:t>
            </a:r>
          </a:p>
          <a:p>
            <a:r>
              <a:rPr lang="en-IN" sz="2400" dirty="0" err="1"/>
              <a:t>ch.add</a:t>
            </a:r>
            <a:r>
              <a:rPr lang="en-IN" sz="2400" dirty="0"/>
              <a:t>(“Chennai”); </a:t>
            </a:r>
          </a:p>
          <a:p>
            <a:r>
              <a:rPr lang="en-IN" sz="2400" dirty="0" err="1"/>
              <a:t>ch.add</a:t>
            </a:r>
            <a:r>
              <a:rPr lang="en-IN" sz="2400" dirty="0"/>
              <a:t>(“BANGALORE”); </a:t>
            </a:r>
          </a:p>
          <a:p>
            <a:r>
              <a:rPr lang="en-IN" sz="2400" dirty="0"/>
              <a:t>2. To remove item from the choice based on the string. </a:t>
            </a:r>
          </a:p>
          <a:p>
            <a:r>
              <a:rPr lang="en-IN" sz="2400" dirty="0" err="1"/>
              <a:t>ch.remove</a:t>
            </a:r>
            <a:r>
              <a:rPr lang="en-IN" sz="2400" dirty="0"/>
              <a:t>(“HYD”); </a:t>
            </a:r>
          </a:p>
          <a:p>
            <a:r>
              <a:rPr lang="en-IN" sz="2400" dirty="0" err="1"/>
              <a:t>ch.remove</a:t>
            </a:r>
            <a:r>
              <a:rPr lang="en-IN" sz="2400" dirty="0"/>
              <a:t>(“BANGALORE”);</a:t>
            </a:r>
            <a:endParaRPr lang="en-US" sz="2400" dirty="0"/>
          </a:p>
        </p:txBody>
      </p:sp>
      <p:sp>
        <p:nvSpPr>
          <p:cNvPr id="4" name="Footer Placeholder 3">
            <a:extLst>
              <a:ext uri="{FF2B5EF4-FFF2-40B4-BE49-F238E27FC236}">
                <a16:creationId xmlns:a16="http://schemas.microsoft.com/office/drawing/2014/main" id="{9E47B8E2-C910-14B1-C138-C51F48588046}"/>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958324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A1950-696B-F02E-581F-9DDDD11FB71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705BF0-7E87-6A1B-8649-B52520C48B08}"/>
              </a:ext>
            </a:extLst>
          </p:cNvPr>
          <p:cNvSpPr>
            <a:spLocks noGrp="1"/>
          </p:cNvSpPr>
          <p:nvPr>
            <p:ph idx="1"/>
          </p:nvPr>
        </p:nvSpPr>
        <p:spPr/>
        <p:txBody>
          <a:bodyPr/>
          <a:lstStyle/>
          <a:p>
            <a:r>
              <a:rPr lang="en-IN" sz="2800" dirty="0"/>
              <a:t>3. To remove the item based on the index position </a:t>
            </a:r>
            <a:r>
              <a:rPr lang="en-IN" sz="2800" b="1" dirty="0" err="1"/>
              <a:t>ch.remove</a:t>
            </a:r>
            <a:r>
              <a:rPr lang="en-IN" sz="2800" b="1" dirty="0"/>
              <a:t>(2); </a:t>
            </a:r>
          </a:p>
          <a:p>
            <a:r>
              <a:rPr lang="en-IN" sz="2800" dirty="0"/>
              <a:t>4. To remove the all elements </a:t>
            </a:r>
            <a:r>
              <a:rPr lang="en-IN" sz="2800" b="1" dirty="0" err="1"/>
              <a:t>ch.removeAll</a:t>
            </a:r>
            <a:r>
              <a:rPr lang="en-IN" sz="2800" b="1" dirty="0"/>
              <a:t>(); </a:t>
            </a:r>
          </a:p>
          <a:p>
            <a:r>
              <a:rPr lang="en-IN" sz="2800" dirty="0"/>
              <a:t>5. To inset the data into the choice based on the particular position. </a:t>
            </a:r>
            <a:r>
              <a:rPr lang="en-IN" sz="2800" b="1" dirty="0" err="1"/>
              <a:t>ch.insert</a:t>
            </a:r>
            <a:r>
              <a:rPr lang="en-IN" sz="2800" b="1" dirty="0"/>
              <a:t>(2,”ratan”); </a:t>
            </a:r>
          </a:p>
          <a:p>
            <a:r>
              <a:rPr lang="en-IN" sz="2800" dirty="0"/>
              <a:t>6. To get selected item from the choice we have to use following method. </a:t>
            </a:r>
          </a:p>
          <a:p>
            <a:r>
              <a:rPr lang="en-IN" sz="2800" b="1" dirty="0"/>
              <a:t>String s=</a:t>
            </a:r>
            <a:r>
              <a:rPr lang="en-IN" sz="2800" b="1" dirty="0" err="1"/>
              <a:t>ch.getSelectedItem</a:t>
            </a:r>
            <a:r>
              <a:rPr lang="en-IN" sz="2800" b="1" dirty="0"/>
              <a:t>(); </a:t>
            </a:r>
          </a:p>
          <a:p>
            <a:r>
              <a:rPr lang="en-IN" sz="2800" dirty="0"/>
              <a:t>7. To get the selected item index number we have to use fallowing method </a:t>
            </a:r>
          </a:p>
          <a:p>
            <a:r>
              <a:rPr lang="en-IN" sz="2800" b="1" dirty="0"/>
              <a:t>int a=</a:t>
            </a:r>
            <a:r>
              <a:rPr lang="en-IN" sz="2800" b="1" dirty="0" err="1"/>
              <a:t>ch.getSelectedIndex</a:t>
            </a:r>
            <a:r>
              <a:rPr lang="en-IN" sz="2800" b="1" dirty="0"/>
              <a:t>()</a:t>
            </a:r>
            <a:r>
              <a:rPr lang="en-IN" sz="2800" dirty="0"/>
              <a:t>;</a:t>
            </a:r>
            <a:endParaRPr lang="en-US" sz="2800" dirty="0"/>
          </a:p>
        </p:txBody>
      </p:sp>
      <p:sp>
        <p:nvSpPr>
          <p:cNvPr id="4" name="Footer Placeholder 3">
            <a:extLst>
              <a:ext uri="{FF2B5EF4-FFF2-40B4-BE49-F238E27FC236}">
                <a16:creationId xmlns:a16="http://schemas.microsoft.com/office/drawing/2014/main" id="{69748F00-43CD-7E41-2341-59978504BCA7}"/>
              </a:ext>
            </a:extLst>
          </p:cNvPr>
          <p:cNvSpPr>
            <a:spLocks noGrp="1"/>
          </p:cNvSpPr>
          <p:nvPr>
            <p:ph type="ftr" sz="quarter" idx="11"/>
          </p:nvPr>
        </p:nvSpPr>
        <p:spPr/>
        <p:txBody>
          <a:bodyPr/>
          <a:lstStyle/>
          <a:p>
            <a:pPr>
              <a:defRPr/>
            </a:pPr>
            <a:r>
              <a:rPr lang="en-US" dirty="0"/>
              <a:t>Dr. Naveen Kumar, Associate Professor, AIIT, AUP</a:t>
            </a:r>
          </a:p>
        </p:txBody>
      </p:sp>
    </p:spTree>
    <p:extLst>
      <p:ext uri="{BB962C8B-B14F-4D97-AF65-F5344CB8AC3E}">
        <p14:creationId xmlns:p14="http://schemas.microsoft.com/office/powerpoint/2010/main" val="6661214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E56104-AA5A-EDEC-2308-2AFE4C6EA8F4}"/>
              </a:ext>
            </a:extLst>
          </p:cNvPr>
          <p:cNvSpPr>
            <a:spLocks noGrp="1"/>
          </p:cNvSpPr>
          <p:nvPr>
            <p:ph idx="1"/>
          </p:nvPr>
        </p:nvSpPr>
        <p:spPr>
          <a:xfrm>
            <a:off x="457200" y="0"/>
            <a:ext cx="8229600" cy="6324600"/>
          </a:xfrm>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Test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Frame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Frame();</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”Amity University"</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red</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(400,500);</a:t>
            </a:r>
          </a:p>
          <a:p>
            <a:pPr marL="0" marR="0" indent="0">
              <a:spcBef>
                <a:spcPts val="0"/>
              </a:spcBef>
              <a:spcAft>
                <a:spcPts val="0"/>
              </a:spcAft>
              <a:buNone/>
            </a:pPr>
            <a:r>
              <a:rPr lang="en-IN" sz="1800" dirty="0">
                <a:solidFill>
                  <a:srgbClr val="000000"/>
                </a:solidFill>
                <a:effectLst/>
                <a:latin typeface="Menlo" panose="020B0609030804020204" pitchFamily="49" charset="0"/>
              </a:rPr>
              <a:t>Choice </a:t>
            </a:r>
            <a:r>
              <a:rPr lang="en-IN" sz="1800" dirty="0" err="1">
                <a:solidFill>
                  <a:srgbClr val="6A3E3E"/>
                </a:solidFill>
                <a:effectLst/>
                <a:latin typeface="Menlo" panose="020B0609030804020204" pitchFamily="49" charset="0"/>
              </a:rPr>
              <a:t>ch</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Choice();</a:t>
            </a:r>
          </a:p>
          <a:p>
            <a:pPr marL="0" marR="0" indent="0">
              <a:spcBef>
                <a:spcPts val="0"/>
              </a:spcBef>
              <a:spcAft>
                <a:spcPts val="0"/>
              </a:spcAft>
              <a:buNone/>
            </a:pPr>
            <a:r>
              <a:rPr lang="en-IN" sz="1800" dirty="0" err="1">
                <a:solidFill>
                  <a:srgbClr val="6A3E3E"/>
                </a:solidFill>
                <a:effectLst/>
                <a:latin typeface="Menlo" panose="020B0609030804020204" pitchFamily="49" charset="0"/>
              </a:rPr>
              <a:t>ch</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"c"</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ch</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cpp</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ch</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"java"</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ch</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.net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ch</a:t>
            </a:r>
            <a:r>
              <a:rPr lang="en-IN" sz="1800" dirty="0" err="1">
                <a:solidFill>
                  <a:srgbClr val="000000"/>
                </a:solidFill>
                <a:effectLst/>
                <a:latin typeface="Menlo" panose="020B0609030804020204" pitchFamily="49" charset="0"/>
              </a:rPr>
              <a:t>.remove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.net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ch</a:t>
            </a:r>
            <a:r>
              <a:rPr lang="en-IN" sz="1800" dirty="0" err="1">
                <a:solidFill>
                  <a:srgbClr val="000000"/>
                </a:solidFill>
                <a:effectLst/>
                <a:latin typeface="Menlo" panose="020B0609030804020204" pitchFamily="49" charset="0"/>
              </a:rPr>
              <a:t>.remove</a:t>
            </a:r>
            <a:r>
              <a:rPr lang="en-IN" sz="1800" dirty="0">
                <a:solidFill>
                  <a:srgbClr val="000000"/>
                </a:solidFill>
                <a:effectLst/>
                <a:latin typeface="Menlo" panose="020B0609030804020204" pitchFamily="49" charset="0"/>
              </a:rPr>
              <a:t>(0);</a:t>
            </a:r>
          </a:p>
          <a:p>
            <a:pPr marL="0" marR="0" indent="0">
              <a:spcBef>
                <a:spcPts val="0"/>
              </a:spcBef>
              <a:spcAft>
                <a:spcPts val="0"/>
              </a:spcAft>
              <a:buNone/>
            </a:pPr>
            <a:r>
              <a:rPr lang="en-IN" sz="1800" dirty="0" err="1">
                <a:solidFill>
                  <a:srgbClr val="6A3E3E"/>
                </a:solidFill>
                <a:effectLst/>
                <a:latin typeface="Menlo" panose="020B0609030804020204" pitchFamily="49" charset="0"/>
              </a:rPr>
              <a:t>ch</a:t>
            </a:r>
            <a:r>
              <a:rPr lang="en-IN" sz="1800" dirty="0" err="1">
                <a:solidFill>
                  <a:srgbClr val="000000"/>
                </a:solidFill>
                <a:effectLst/>
                <a:latin typeface="Menlo" panose="020B0609030804020204" pitchFamily="49" charset="0"/>
              </a:rPr>
              <a:t>.insert</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”Adv. Java"</a:t>
            </a:r>
            <a:r>
              <a:rPr lang="en-IN" sz="1800" dirty="0">
                <a:solidFill>
                  <a:srgbClr val="000000"/>
                </a:solidFill>
                <a:effectLst/>
                <a:latin typeface="Menlo" panose="020B0609030804020204" pitchFamily="49" charset="0"/>
              </a:rPr>
              <a:t>,0);</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ch</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System.</a:t>
            </a:r>
            <a:r>
              <a:rPr lang="en-IN" sz="1800" b="1" i="1" dirty="0" err="1">
                <a:solidFill>
                  <a:srgbClr val="0000C0"/>
                </a:solidFill>
                <a:effectLst/>
                <a:latin typeface="Menlo" panose="020B0609030804020204" pitchFamily="49" charset="0"/>
              </a:rPr>
              <a:t>out</a:t>
            </a:r>
            <a:r>
              <a:rPr lang="en-IN" sz="1800" dirty="0" err="1">
                <a:solidFill>
                  <a:srgbClr val="000000"/>
                </a:solidFill>
                <a:effectLst/>
                <a:latin typeface="Menlo" panose="020B0609030804020204" pitchFamily="49" charset="0"/>
              </a:rPr>
              <a:t>.println</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ch</a:t>
            </a:r>
            <a:r>
              <a:rPr lang="en-IN" sz="1800" dirty="0" err="1">
                <a:solidFill>
                  <a:srgbClr val="000000"/>
                </a:solidFill>
                <a:effectLst/>
                <a:latin typeface="Menlo" panose="020B0609030804020204" pitchFamily="49" charset="0"/>
              </a:rPr>
              <a:t>.getItem</a:t>
            </a:r>
            <a:r>
              <a:rPr lang="en-IN" sz="1800" dirty="0">
                <a:solidFill>
                  <a:srgbClr val="000000"/>
                </a:solidFill>
                <a:effectLst/>
                <a:latin typeface="Menlo" panose="020B0609030804020204" pitchFamily="49" charset="0"/>
              </a:rPr>
              <a:t>(0));</a:t>
            </a:r>
          </a:p>
          <a:p>
            <a:pPr marL="0" marR="0" indent="0">
              <a:spcBef>
                <a:spcPts val="0"/>
              </a:spcBef>
              <a:spcAft>
                <a:spcPts val="0"/>
              </a:spcAft>
              <a:buNone/>
            </a:pPr>
            <a:r>
              <a:rPr lang="en-IN" sz="1800" dirty="0" err="1">
                <a:solidFill>
                  <a:srgbClr val="000000"/>
                </a:solidFill>
                <a:effectLst/>
                <a:latin typeface="Menlo" panose="020B0609030804020204" pitchFamily="49" charset="0"/>
              </a:rPr>
              <a:t>System.</a:t>
            </a:r>
            <a:r>
              <a:rPr lang="en-IN" sz="1800" b="1" i="1" dirty="0" err="1">
                <a:solidFill>
                  <a:srgbClr val="0000C0"/>
                </a:solidFill>
                <a:effectLst/>
                <a:latin typeface="Menlo" panose="020B0609030804020204" pitchFamily="49" charset="0"/>
              </a:rPr>
              <a:t>out</a:t>
            </a:r>
            <a:r>
              <a:rPr lang="en-IN" sz="1800" dirty="0" err="1">
                <a:solidFill>
                  <a:srgbClr val="000000"/>
                </a:solidFill>
                <a:effectLst/>
                <a:latin typeface="Menlo" panose="020B0609030804020204" pitchFamily="49" charset="0"/>
              </a:rPr>
              <a:t>.println</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ch</a:t>
            </a:r>
            <a:r>
              <a:rPr lang="en-IN" sz="1800" dirty="0" err="1">
                <a:solidFill>
                  <a:srgbClr val="000000"/>
                </a:solidFill>
                <a:effectLst/>
                <a:latin typeface="Menlo" panose="020B0609030804020204" pitchFamily="49" charset="0"/>
              </a:rPr>
              <a:t>.getSelectedItem</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System.</a:t>
            </a:r>
            <a:r>
              <a:rPr lang="en-IN" sz="1800" b="1" i="1" dirty="0" err="1">
                <a:solidFill>
                  <a:srgbClr val="0000C0"/>
                </a:solidFill>
                <a:effectLst/>
                <a:latin typeface="Menlo" panose="020B0609030804020204" pitchFamily="49" charset="0"/>
              </a:rPr>
              <a:t>out</a:t>
            </a:r>
            <a:r>
              <a:rPr lang="en-IN" sz="1800" dirty="0" err="1">
                <a:solidFill>
                  <a:srgbClr val="000000"/>
                </a:solidFill>
                <a:effectLst/>
                <a:latin typeface="Menlo" panose="020B0609030804020204" pitchFamily="49" charset="0"/>
              </a:rPr>
              <a:t>.println</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ch</a:t>
            </a:r>
            <a:r>
              <a:rPr lang="en-IN" sz="1800" dirty="0" err="1">
                <a:solidFill>
                  <a:srgbClr val="000000"/>
                </a:solidFill>
                <a:effectLst/>
                <a:latin typeface="Menlo" panose="020B0609030804020204" pitchFamily="49" charset="0"/>
              </a:rPr>
              <a:t>.getSelectedIndex</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3F7F5F"/>
                </a:solidFill>
                <a:effectLst/>
                <a:latin typeface="Menlo" panose="020B0609030804020204" pitchFamily="49" charset="0"/>
              </a:rPr>
              <a:t>//</a:t>
            </a:r>
            <a:r>
              <a:rPr lang="en-IN" sz="1800" dirty="0" err="1">
                <a:solidFill>
                  <a:srgbClr val="3F7F5F"/>
                </a:solidFill>
                <a:effectLst/>
                <a:latin typeface="Menlo" panose="020B0609030804020204" pitchFamily="49" charset="0"/>
              </a:rPr>
              <a:t>ch.removeAll</a:t>
            </a:r>
            <a:r>
              <a:rPr lang="en-IN" sz="1800" dirty="0">
                <a:solidFill>
                  <a:srgbClr val="3F7F5F"/>
                </a:solidFill>
                <a:effectLst/>
                <a:latin typeface="Menlo" panose="020B0609030804020204" pitchFamily="49" charset="0"/>
              </a:rPr>
              <a:t>();</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buNone/>
            </a:pPr>
            <a:endParaRPr lang="en-US" dirty="0"/>
          </a:p>
        </p:txBody>
      </p:sp>
      <p:sp>
        <p:nvSpPr>
          <p:cNvPr id="4" name="Footer Placeholder 3">
            <a:extLst>
              <a:ext uri="{FF2B5EF4-FFF2-40B4-BE49-F238E27FC236}">
                <a16:creationId xmlns:a16="http://schemas.microsoft.com/office/drawing/2014/main" id="{F42F8A2A-9AB2-0B6F-5D44-F58E22A06720}"/>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124993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0B836-D27E-FCB9-41DC-5800A8B46E71}"/>
              </a:ext>
            </a:extLst>
          </p:cNvPr>
          <p:cNvSpPr>
            <a:spLocks noGrp="1"/>
          </p:cNvSpPr>
          <p:nvPr>
            <p:ph type="title"/>
          </p:nvPr>
        </p:nvSpPr>
        <p:spPr/>
        <p:txBody>
          <a:bodyPr/>
          <a:lstStyle/>
          <a:p>
            <a:r>
              <a:rPr lang="en-IN" dirty="0"/>
              <a:t>List</a:t>
            </a:r>
            <a:endParaRPr lang="en-US" dirty="0"/>
          </a:p>
        </p:txBody>
      </p:sp>
      <p:sp>
        <p:nvSpPr>
          <p:cNvPr id="3" name="Content Placeholder 2">
            <a:extLst>
              <a:ext uri="{FF2B5EF4-FFF2-40B4-BE49-F238E27FC236}">
                <a16:creationId xmlns:a16="http://schemas.microsoft.com/office/drawing/2014/main" id="{F5581114-B6EA-5388-D13E-1C4E70955E40}"/>
              </a:ext>
            </a:extLst>
          </p:cNvPr>
          <p:cNvSpPr>
            <a:spLocks noGrp="1"/>
          </p:cNvSpPr>
          <p:nvPr>
            <p:ph idx="1"/>
          </p:nvPr>
        </p:nvSpPr>
        <p:spPr/>
        <p:txBody>
          <a:bodyPr/>
          <a:lstStyle/>
          <a:p>
            <a:r>
              <a:rPr lang="en-IN" sz="2400" dirty="0"/>
              <a:t>1) List is a class it is present in </a:t>
            </a:r>
            <a:r>
              <a:rPr lang="en-IN" sz="2400" dirty="0" err="1"/>
              <a:t>java.awt.package</a:t>
            </a:r>
            <a:r>
              <a:rPr lang="en-IN" sz="2400" dirty="0"/>
              <a:t> </a:t>
            </a:r>
          </a:p>
          <a:p>
            <a:r>
              <a:rPr lang="en-IN" sz="2400" dirty="0"/>
              <a:t>2) List is providing list of options to select. Based on your requirement we can select any number of elements. To add the List to the frame we have to use add() method. </a:t>
            </a:r>
          </a:p>
          <a:p>
            <a:r>
              <a:rPr lang="en-IN" sz="2400" dirty="0"/>
              <a:t>CONSTRUCTOR:- </a:t>
            </a:r>
          </a:p>
          <a:p>
            <a:r>
              <a:rPr lang="en-IN" sz="2400" dirty="0"/>
              <a:t>1) List l=new List();</a:t>
            </a:r>
          </a:p>
          <a:p>
            <a:r>
              <a:rPr lang="en-IN" sz="2400" dirty="0"/>
              <a:t>It will creates the list by default size is four elements. And it is allow selecting the only one item at a time. </a:t>
            </a:r>
          </a:p>
          <a:p>
            <a:r>
              <a:rPr lang="en-IN" sz="2400" dirty="0"/>
              <a:t>2) List l=new List(3); It will display the three items size and it is allow selecting the only single item. </a:t>
            </a:r>
          </a:p>
          <a:p>
            <a:r>
              <a:rPr lang="en-IN" sz="2400" dirty="0"/>
              <a:t>3) List l=new List(5,true); It will display the five items and it is allow selecting the multiple items. </a:t>
            </a:r>
            <a:endParaRPr lang="en-US" sz="2400" dirty="0"/>
          </a:p>
        </p:txBody>
      </p:sp>
      <p:sp>
        <p:nvSpPr>
          <p:cNvPr id="4" name="Footer Placeholder 3">
            <a:extLst>
              <a:ext uri="{FF2B5EF4-FFF2-40B4-BE49-F238E27FC236}">
                <a16:creationId xmlns:a16="http://schemas.microsoft.com/office/drawing/2014/main" id="{4DCA3935-16B6-B61A-D8EB-F484E551DDCA}"/>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4274147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40BDD-CE37-CD28-97C9-2E445D73A4D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628089C-1809-9258-E819-03D04EBA62E3}"/>
              </a:ext>
            </a:extLst>
          </p:cNvPr>
          <p:cNvSpPr>
            <a:spLocks noGrp="1"/>
          </p:cNvSpPr>
          <p:nvPr>
            <p:ph idx="1"/>
          </p:nvPr>
        </p:nvSpPr>
        <p:spPr/>
        <p:txBody>
          <a:bodyPr/>
          <a:lstStyle/>
          <a:p>
            <a:r>
              <a:rPr lang="en-IN" sz="2000" dirty="0"/>
              <a:t>Methods:- 1. To add the elements to the List we have to use following method. </a:t>
            </a:r>
          </a:p>
          <a:p>
            <a:r>
              <a:rPr lang="en-IN" sz="2000" b="1" dirty="0" err="1"/>
              <a:t>l.add</a:t>
            </a:r>
            <a:r>
              <a:rPr lang="en-IN" sz="2000" b="1" dirty="0"/>
              <a:t>(“c”);</a:t>
            </a:r>
            <a:r>
              <a:rPr lang="en-IN" sz="2000" dirty="0"/>
              <a:t> </a:t>
            </a:r>
          </a:p>
          <a:p>
            <a:r>
              <a:rPr lang="en-IN" sz="2000" dirty="0" err="1"/>
              <a:t>l.add</a:t>
            </a:r>
            <a:r>
              <a:rPr lang="en-IN" sz="2000" dirty="0"/>
              <a:t>(“</a:t>
            </a:r>
            <a:r>
              <a:rPr lang="en-IN" sz="2000" dirty="0" err="1"/>
              <a:t>cpp</a:t>
            </a:r>
            <a:r>
              <a:rPr lang="en-IN" sz="2000" dirty="0"/>
              <a:t>”); </a:t>
            </a:r>
          </a:p>
          <a:p>
            <a:r>
              <a:rPr lang="en-IN" sz="2000" dirty="0" err="1"/>
              <a:t>l.add</a:t>
            </a:r>
            <a:r>
              <a:rPr lang="en-IN" sz="2000" dirty="0"/>
              <a:t>(“java”); </a:t>
            </a:r>
          </a:p>
          <a:p>
            <a:r>
              <a:rPr lang="en-IN" sz="2000" dirty="0" err="1"/>
              <a:t>l.add</a:t>
            </a:r>
            <a:r>
              <a:rPr lang="en-IN" sz="2000" dirty="0"/>
              <a:t>(“ratan”,0); </a:t>
            </a:r>
          </a:p>
          <a:p>
            <a:r>
              <a:rPr lang="en-IN" sz="2000" dirty="0"/>
              <a:t>2. To remove element from the List we have to use following method. </a:t>
            </a:r>
          </a:p>
          <a:p>
            <a:r>
              <a:rPr lang="en-IN" sz="2000" dirty="0" err="1"/>
              <a:t>l.remove</a:t>
            </a:r>
            <a:r>
              <a:rPr lang="en-IN" sz="2000" dirty="0"/>
              <a:t>(“c”); </a:t>
            </a:r>
          </a:p>
          <a:p>
            <a:r>
              <a:rPr lang="en-IN" sz="2000" dirty="0" err="1"/>
              <a:t>l.remove</a:t>
            </a:r>
            <a:r>
              <a:rPr lang="en-IN" sz="2000" dirty="0"/>
              <a:t>(2); </a:t>
            </a:r>
          </a:p>
          <a:p>
            <a:r>
              <a:rPr lang="en-IN" sz="2000" dirty="0"/>
              <a:t>3. To get selected item from the List we have to use following method. </a:t>
            </a:r>
            <a:r>
              <a:rPr lang="en-IN" sz="2000" b="1" dirty="0"/>
              <a:t>String x=</a:t>
            </a:r>
            <a:r>
              <a:rPr lang="en-IN" sz="2000" b="1" dirty="0" err="1"/>
              <a:t>l.get</a:t>
            </a:r>
            <a:r>
              <a:rPr lang="en-IN" sz="2000" b="1" dirty="0"/>
              <a:t> </a:t>
            </a:r>
            <a:r>
              <a:rPr lang="en-IN" sz="2000" b="1" dirty="0" err="1"/>
              <a:t>SelectedItem</a:t>
            </a:r>
            <a:r>
              <a:rPr lang="en-IN" sz="2000" b="1" dirty="0"/>
              <a:t>(); </a:t>
            </a:r>
          </a:p>
          <a:p>
            <a:r>
              <a:rPr lang="en-IN" sz="2000" dirty="0"/>
              <a:t>4. To get selected items from the List we have to use following method. </a:t>
            </a:r>
            <a:r>
              <a:rPr lang="en-IN" sz="2000" b="1" dirty="0"/>
              <a:t>String[] x=</a:t>
            </a:r>
            <a:r>
              <a:rPr lang="en-IN" sz="2000" b="1" dirty="0" err="1"/>
              <a:t>s.get</a:t>
            </a:r>
            <a:r>
              <a:rPr lang="en-IN" sz="2000" b="1" dirty="0"/>
              <a:t> </a:t>
            </a:r>
            <a:r>
              <a:rPr lang="en-IN" sz="2000" b="1" dirty="0" err="1"/>
              <a:t>SelectedItems</a:t>
            </a:r>
            <a:r>
              <a:rPr lang="en-IN" sz="2000" b="1" dirty="0"/>
              <a:t>()</a:t>
            </a:r>
            <a:endParaRPr lang="en-US" sz="2000" b="1" dirty="0"/>
          </a:p>
          <a:p>
            <a:endParaRPr lang="en-US" sz="2000" dirty="0"/>
          </a:p>
        </p:txBody>
      </p:sp>
      <p:sp>
        <p:nvSpPr>
          <p:cNvPr id="4" name="Footer Placeholder 3">
            <a:extLst>
              <a:ext uri="{FF2B5EF4-FFF2-40B4-BE49-F238E27FC236}">
                <a16:creationId xmlns:a16="http://schemas.microsoft.com/office/drawing/2014/main" id="{7EE7C462-4BD4-C8D2-0117-CC26D78C0FDE}"/>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42643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BE3EFC-8E3E-EAF0-21E7-3F09A92B00E1}"/>
              </a:ext>
            </a:extLst>
          </p:cNvPr>
          <p:cNvSpPr>
            <a:spLocks noGrp="1"/>
          </p:cNvSpPr>
          <p:nvPr>
            <p:ph idx="1"/>
          </p:nvPr>
        </p:nvSpPr>
        <p:spPr>
          <a:xfrm>
            <a:off x="457200" y="76200"/>
            <a:ext cx="8229600" cy="6248400"/>
          </a:xfrm>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Test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Frame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Frame();</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”Amity University"</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red</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(400,500);</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.setLayout</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FlowLayout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List </a:t>
            </a:r>
            <a:r>
              <a:rPr lang="en-IN" sz="1800" dirty="0">
                <a:solidFill>
                  <a:srgbClr val="6A3E3E"/>
                </a:solidFill>
                <a:effectLst/>
                <a:latin typeface="Menlo" panose="020B0609030804020204" pitchFamily="49" charset="0"/>
              </a:rPr>
              <a:t>l</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List(4,</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l</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"c"</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l</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cpp</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l</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"java"</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l</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.net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l</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"ratan"</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l</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"arun"</a:t>
            </a:r>
            <a:r>
              <a:rPr lang="en-IN" sz="1800" dirty="0">
                <a:solidFill>
                  <a:srgbClr val="000000"/>
                </a:solidFill>
                <a:effectLst/>
                <a:latin typeface="Menlo" panose="020B0609030804020204" pitchFamily="49" charset="0"/>
              </a:rPr>
              <a:t>,0);</a:t>
            </a:r>
          </a:p>
          <a:p>
            <a:pPr marL="0" marR="0" indent="0">
              <a:spcBef>
                <a:spcPts val="0"/>
              </a:spcBef>
              <a:spcAft>
                <a:spcPts val="0"/>
              </a:spcAft>
              <a:buNone/>
            </a:pPr>
            <a:r>
              <a:rPr lang="en-IN" sz="1800" dirty="0" err="1">
                <a:solidFill>
                  <a:srgbClr val="6A3E3E"/>
                </a:solidFill>
                <a:effectLst/>
                <a:latin typeface="Menlo" panose="020B0609030804020204" pitchFamily="49" charset="0"/>
              </a:rPr>
              <a:t>l</a:t>
            </a:r>
            <a:r>
              <a:rPr lang="en-IN" sz="1800" dirty="0" err="1">
                <a:solidFill>
                  <a:srgbClr val="000000"/>
                </a:solidFill>
                <a:effectLst/>
                <a:latin typeface="Menlo" panose="020B0609030804020204" pitchFamily="49" charset="0"/>
              </a:rPr>
              <a:t>.remove</a:t>
            </a:r>
            <a:r>
              <a:rPr lang="en-IN" sz="1800" dirty="0">
                <a:solidFill>
                  <a:srgbClr val="000000"/>
                </a:solidFill>
                <a:effectLst/>
                <a:latin typeface="Menlo" panose="020B0609030804020204" pitchFamily="49" charset="0"/>
              </a:rPr>
              <a:t>(0);</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l</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System.</a:t>
            </a:r>
            <a:r>
              <a:rPr lang="en-IN" sz="1800" b="1" i="1" dirty="0" err="1">
                <a:solidFill>
                  <a:srgbClr val="0000C0"/>
                </a:solidFill>
                <a:effectLst/>
                <a:latin typeface="Menlo" panose="020B0609030804020204" pitchFamily="49" charset="0"/>
              </a:rPr>
              <a:t>out</a:t>
            </a:r>
            <a:r>
              <a:rPr lang="en-IN" sz="1800" dirty="0" err="1">
                <a:solidFill>
                  <a:srgbClr val="000000"/>
                </a:solidFill>
                <a:effectLst/>
                <a:latin typeface="Menlo" panose="020B0609030804020204" pitchFamily="49" charset="0"/>
              </a:rPr>
              <a:t>.println</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l</a:t>
            </a:r>
            <a:r>
              <a:rPr lang="en-IN" sz="1800" dirty="0" err="1">
                <a:solidFill>
                  <a:srgbClr val="000000"/>
                </a:solidFill>
                <a:effectLst/>
                <a:latin typeface="Menlo" panose="020B0609030804020204" pitchFamily="49" charset="0"/>
              </a:rPr>
              <a:t>.getSelectedItem</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buNone/>
            </a:pPr>
            <a:endParaRPr lang="en-US" dirty="0"/>
          </a:p>
        </p:txBody>
      </p:sp>
      <p:sp>
        <p:nvSpPr>
          <p:cNvPr id="4" name="Footer Placeholder 3">
            <a:extLst>
              <a:ext uri="{FF2B5EF4-FFF2-40B4-BE49-F238E27FC236}">
                <a16:creationId xmlns:a16="http://schemas.microsoft.com/office/drawing/2014/main" id="{DB6787B1-9DF5-51D1-D910-5B348EA89EA8}"/>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2045370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06EC3-EDD4-0BB2-BBCC-39A6AC213915}"/>
              </a:ext>
            </a:extLst>
          </p:cNvPr>
          <p:cNvSpPr>
            <a:spLocks noGrp="1"/>
          </p:cNvSpPr>
          <p:nvPr>
            <p:ph type="title"/>
          </p:nvPr>
        </p:nvSpPr>
        <p:spPr/>
        <p:txBody>
          <a:bodyPr/>
          <a:lstStyle/>
          <a:p>
            <a:r>
              <a:rPr lang="en-IN" sz="4400" dirty="0">
                <a:effectLst/>
                <a:latin typeface="Calibri,Bold"/>
              </a:rPr>
              <a:t>Checkbox</a:t>
            </a:r>
            <a:endParaRPr lang="en-US" dirty="0"/>
          </a:p>
        </p:txBody>
      </p:sp>
      <p:sp>
        <p:nvSpPr>
          <p:cNvPr id="3" name="Content Placeholder 2">
            <a:extLst>
              <a:ext uri="{FF2B5EF4-FFF2-40B4-BE49-F238E27FC236}">
                <a16:creationId xmlns:a16="http://schemas.microsoft.com/office/drawing/2014/main" id="{7F67509C-ADD2-27D1-CF83-8BD5DAE7C8C5}"/>
              </a:ext>
            </a:extLst>
          </p:cNvPr>
          <p:cNvSpPr>
            <a:spLocks noGrp="1"/>
          </p:cNvSpPr>
          <p:nvPr>
            <p:ph idx="1"/>
          </p:nvPr>
        </p:nvSpPr>
        <p:spPr/>
        <p:txBody>
          <a:bodyPr/>
          <a:lstStyle/>
          <a:p>
            <a:pPr marL="0" indent="0">
              <a:buNone/>
            </a:pPr>
            <a:r>
              <a:rPr lang="en-IN" sz="2400" dirty="0">
                <a:effectLst/>
                <a:latin typeface="Calibri" panose="020F0502020204030204" pitchFamily="34" charset="0"/>
              </a:rPr>
              <a:t>1)  Checkbox is a class present in </a:t>
            </a:r>
            <a:r>
              <a:rPr lang="en-IN" sz="2400" dirty="0" err="1">
                <a:effectLst/>
                <a:latin typeface="Calibri" panose="020F0502020204030204" pitchFamily="34" charset="0"/>
              </a:rPr>
              <a:t>java.awt</a:t>
            </a:r>
            <a:r>
              <a:rPr lang="en-IN" sz="2400" dirty="0">
                <a:effectLst/>
                <a:latin typeface="Calibri" panose="020F0502020204030204" pitchFamily="34" charset="0"/>
              </a:rPr>
              <a:t> package. </a:t>
            </a:r>
            <a:endParaRPr lang="en-IN" sz="4000" dirty="0">
              <a:effectLst/>
            </a:endParaRPr>
          </a:p>
          <a:p>
            <a:pPr marL="0" indent="0">
              <a:buNone/>
            </a:pPr>
            <a:r>
              <a:rPr lang="en-IN" sz="2400" dirty="0">
                <a:effectLst/>
                <a:latin typeface="Calibri" panose="020F0502020204030204" pitchFamily="34" charset="0"/>
              </a:rPr>
              <a:t>2)  The user can select more than one checkbox at a time. To add the checkbox to the frame we have to use add() method. </a:t>
            </a:r>
            <a:endParaRPr lang="en-IN" sz="4000" dirty="0">
              <a:effectLst/>
            </a:endParaRPr>
          </a:p>
          <a:p>
            <a:pPr marL="0" indent="0">
              <a:buNone/>
            </a:pPr>
            <a:endParaRPr lang="en-IN" sz="2400" dirty="0">
              <a:effectLst/>
              <a:latin typeface="Calibri,Bold"/>
            </a:endParaRPr>
          </a:p>
          <a:p>
            <a:pPr marL="0" indent="0">
              <a:buNone/>
            </a:pPr>
            <a:r>
              <a:rPr lang="en-IN" sz="2400" dirty="0">
                <a:effectLst/>
                <a:latin typeface="Calibri,Bold"/>
              </a:rPr>
              <a:t>Constructor:- </a:t>
            </a:r>
            <a:endParaRPr lang="en-IN" sz="4000" dirty="0"/>
          </a:p>
          <a:p>
            <a:pPr marL="0" indent="0">
              <a:buNone/>
            </a:pPr>
            <a:r>
              <a:rPr lang="en-IN" sz="2400" dirty="0">
                <a:effectLst/>
                <a:latin typeface="Calibri" panose="020F0502020204030204" pitchFamily="34" charset="0"/>
              </a:rPr>
              <a:t>1)  Checkbox cb1=new </a:t>
            </a:r>
            <a:r>
              <a:rPr lang="en-IN" sz="2400" dirty="0" err="1">
                <a:effectLst/>
                <a:latin typeface="Calibri" panose="020F0502020204030204" pitchFamily="34" charset="0"/>
              </a:rPr>
              <a:t>CheckBox</a:t>
            </a:r>
            <a:r>
              <a:rPr lang="en-IN" sz="2400" dirty="0">
                <a:effectLst/>
                <a:latin typeface="Calibri" panose="020F0502020204030204" pitchFamily="34" charset="0"/>
              </a:rPr>
              <a:t>(); cb1.setLable(“BTECH”); </a:t>
            </a:r>
            <a:endParaRPr lang="en-IN" sz="4000" dirty="0">
              <a:effectLst/>
            </a:endParaRPr>
          </a:p>
          <a:p>
            <a:pPr marL="0" indent="0">
              <a:buNone/>
            </a:pPr>
            <a:r>
              <a:rPr lang="en-IN" sz="2400" dirty="0">
                <a:effectLst/>
                <a:latin typeface="Calibri" panose="020F0502020204030204" pitchFamily="34" charset="0"/>
              </a:rPr>
              <a:t>2)  Checkbox cb1=new </a:t>
            </a:r>
            <a:r>
              <a:rPr lang="en-IN" sz="2400" dirty="0" err="1">
                <a:effectLst/>
                <a:latin typeface="Calibri" panose="020F0502020204030204" pitchFamily="34" charset="0"/>
              </a:rPr>
              <a:t>CheckBox</a:t>
            </a:r>
            <a:r>
              <a:rPr lang="en-IN" sz="2400" dirty="0">
                <a:effectLst/>
                <a:latin typeface="Calibri" panose="020F0502020204030204" pitchFamily="34" charset="0"/>
              </a:rPr>
              <a:t>(“MCA”); </a:t>
            </a:r>
            <a:endParaRPr lang="en-IN" sz="4000" dirty="0">
              <a:effectLst/>
            </a:endParaRPr>
          </a:p>
          <a:p>
            <a:pPr marL="0" indent="0">
              <a:buNone/>
            </a:pPr>
            <a:r>
              <a:rPr lang="en-IN" sz="2400" dirty="0">
                <a:effectLst/>
                <a:latin typeface="Calibri" panose="020F0502020204030204" pitchFamily="34" charset="0"/>
              </a:rPr>
              <a:t>3)  Checkbox cb3=new </a:t>
            </a:r>
            <a:r>
              <a:rPr lang="en-IN" sz="2400" dirty="0" err="1">
                <a:effectLst/>
                <a:latin typeface="Calibri" panose="020F0502020204030204" pitchFamily="34" charset="0"/>
              </a:rPr>
              <a:t>CheckBox</a:t>
            </a:r>
            <a:r>
              <a:rPr lang="en-IN" sz="2400" dirty="0">
                <a:effectLst/>
                <a:latin typeface="Calibri" panose="020F0502020204030204" pitchFamily="34" charset="0"/>
              </a:rPr>
              <a:t>(“</a:t>
            </a:r>
            <a:r>
              <a:rPr lang="en-IN" sz="2400" dirty="0" err="1">
                <a:effectLst/>
                <a:latin typeface="Calibri" panose="020F0502020204030204" pitchFamily="34" charset="0"/>
              </a:rPr>
              <a:t>BSC”,true</a:t>
            </a:r>
            <a:r>
              <a:rPr lang="en-IN" sz="2400" dirty="0">
                <a:effectLst/>
                <a:latin typeface="Calibri" panose="020F0502020204030204" pitchFamily="34" charset="0"/>
              </a:rPr>
              <a:t>); </a:t>
            </a:r>
            <a:endParaRPr lang="en-IN" sz="4000" dirty="0">
              <a:effectLst/>
            </a:endParaRPr>
          </a:p>
          <a:p>
            <a:pPr marL="0" indent="0">
              <a:buNone/>
            </a:pPr>
            <a:endParaRPr lang="en-US" sz="4000" dirty="0"/>
          </a:p>
        </p:txBody>
      </p:sp>
      <p:sp>
        <p:nvSpPr>
          <p:cNvPr id="4" name="Footer Placeholder 3">
            <a:extLst>
              <a:ext uri="{FF2B5EF4-FFF2-40B4-BE49-F238E27FC236}">
                <a16:creationId xmlns:a16="http://schemas.microsoft.com/office/drawing/2014/main" id="{6511E75B-2F14-083A-1F77-561745D38AAF}"/>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8128665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1FC30-CB18-F39A-C5B6-5D04D1DE85D5}"/>
              </a:ext>
            </a:extLst>
          </p:cNvPr>
          <p:cNvSpPr>
            <a:spLocks noGrp="1"/>
          </p:cNvSpPr>
          <p:nvPr>
            <p:ph type="title"/>
          </p:nvPr>
        </p:nvSpPr>
        <p:spPr/>
        <p:txBody>
          <a:bodyPr/>
          <a:lstStyle/>
          <a:p>
            <a:r>
              <a:rPr lang="en-IN" sz="4400" dirty="0" err="1">
                <a:effectLst/>
                <a:latin typeface="Calibri,Bold"/>
              </a:rPr>
              <a:t>CheckBox</a:t>
            </a:r>
            <a:r>
              <a:rPr lang="en-IN" sz="4400" dirty="0">
                <a:effectLst/>
                <a:latin typeface="Calibri,Bold"/>
              </a:rPr>
              <a:t> Methods</a:t>
            </a:r>
            <a:endParaRPr lang="en-US" dirty="0"/>
          </a:p>
        </p:txBody>
      </p:sp>
      <p:sp>
        <p:nvSpPr>
          <p:cNvPr id="3" name="Content Placeholder 2">
            <a:extLst>
              <a:ext uri="{FF2B5EF4-FFF2-40B4-BE49-F238E27FC236}">
                <a16:creationId xmlns:a16="http://schemas.microsoft.com/office/drawing/2014/main" id="{374A654D-1D75-5A1D-9FB9-A9A8F410F606}"/>
              </a:ext>
            </a:extLst>
          </p:cNvPr>
          <p:cNvSpPr>
            <a:spLocks noGrp="1"/>
          </p:cNvSpPr>
          <p:nvPr>
            <p:ph idx="1"/>
          </p:nvPr>
        </p:nvSpPr>
        <p:spPr/>
        <p:txBody>
          <a:bodyPr/>
          <a:lstStyle/>
          <a:p>
            <a:pPr>
              <a:buFont typeface="+mj-lt"/>
              <a:buAutoNum type="arabicPeriod"/>
            </a:pPr>
            <a:r>
              <a:rPr lang="en-IN" sz="2400" dirty="0">
                <a:effectLst/>
                <a:latin typeface="Calibri" panose="020F0502020204030204" pitchFamily="34" charset="0"/>
              </a:rPr>
              <a:t>To set a label to the </a:t>
            </a:r>
            <a:r>
              <a:rPr lang="en-IN" sz="2400" dirty="0" err="1">
                <a:effectLst/>
                <a:latin typeface="Calibri" panose="020F0502020204030204" pitchFamily="34" charset="0"/>
              </a:rPr>
              <a:t>CheckBox</a:t>
            </a:r>
            <a:r>
              <a:rPr lang="en-IN" sz="2400" dirty="0">
                <a:effectLst/>
                <a:latin typeface="Calibri" panose="020F0502020204030204" pitchFamily="34" charset="0"/>
              </a:rPr>
              <a:t> explicitly and to get label from the </a:t>
            </a:r>
            <a:r>
              <a:rPr lang="en-IN" sz="2400" dirty="0" err="1">
                <a:effectLst/>
                <a:latin typeface="Calibri" panose="020F0502020204030204" pitchFamily="34" charset="0"/>
              </a:rPr>
              <a:t>CheckBox</a:t>
            </a:r>
            <a:r>
              <a:rPr lang="en-IN" sz="2400" dirty="0">
                <a:effectLst/>
                <a:latin typeface="Calibri" panose="020F0502020204030204" pitchFamily="34" charset="0"/>
              </a:rPr>
              <a:t> we have to use the </a:t>
            </a:r>
            <a:endParaRPr lang="en-IN" sz="2400" dirty="0">
              <a:effectLst/>
              <a:latin typeface="Calibri,Bold"/>
            </a:endParaRPr>
          </a:p>
          <a:p>
            <a:pPr>
              <a:buFont typeface="+mj-lt"/>
              <a:buAutoNum type="arabicPeriod"/>
            </a:pPr>
            <a:r>
              <a:rPr lang="en-IN" sz="2400" dirty="0">
                <a:effectLst/>
                <a:latin typeface="Calibri" panose="020F0502020204030204" pitchFamily="34" charset="0"/>
              </a:rPr>
              <a:t>following method. </a:t>
            </a:r>
            <a:r>
              <a:rPr lang="en-IN" sz="2400" dirty="0" err="1">
                <a:effectLst/>
                <a:latin typeface="Calibri" panose="020F0502020204030204" pitchFamily="34" charset="0"/>
              </a:rPr>
              <a:t>cb.setLabel</a:t>
            </a:r>
            <a:r>
              <a:rPr lang="en-IN" sz="2400" dirty="0">
                <a:effectLst/>
                <a:latin typeface="Calibri" panose="020F0502020204030204" pitchFamily="34" charset="0"/>
              </a:rPr>
              <a:t>(“BSC”); </a:t>
            </a:r>
            <a:endParaRPr lang="en-IN" sz="2400" dirty="0">
              <a:effectLst/>
              <a:latin typeface="Calibri,Bold"/>
            </a:endParaRPr>
          </a:p>
          <a:p>
            <a:pPr>
              <a:buFont typeface="+mj-lt"/>
              <a:buAutoNum type="arabicPeriod"/>
            </a:pPr>
            <a:r>
              <a:rPr lang="en-IN" sz="2400" dirty="0">
                <a:effectLst/>
                <a:latin typeface="Calibri" panose="020F0502020204030204" pitchFamily="34" charset="0"/>
              </a:rPr>
              <a:t>To get the label of the checkbox we have to use fallowing method. String str=</a:t>
            </a:r>
            <a:r>
              <a:rPr lang="en-IN" sz="2400" dirty="0" err="1">
                <a:effectLst/>
                <a:latin typeface="Calibri" panose="020F0502020204030204" pitchFamily="34" charset="0"/>
              </a:rPr>
              <a:t>cb.getLabel</a:t>
            </a:r>
            <a:r>
              <a:rPr lang="en-IN" sz="2400" dirty="0">
                <a:effectLst/>
                <a:latin typeface="Calibri" panose="020F0502020204030204" pitchFamily="34" charset="0"/>
              </a:rPr>
              <a:t>(); </a:t>
            </a:r>
          </a:p>
          <a:p>
            <a:pPr>
              <a:buFont typeface="+mj-lt"/>
              <a:buAutoNum type="arabicPeriod"/>
            </a:pPr>
            <a:r>
              <a:rPr lang="en-IN" sz="2400" dirty="0">
                <a:effectLst/>
                <a:latin typeface="Calibri" panose="020F0502020204030204" pitchFamily="34" charset="0"/>
              </a:rPr>
              <a:t>To get state of the </a:t>
            </a:r>
            <a:r>
              <a:rPr lang="en-IN" sz="2400" dirty="0" err="1">
                <a:effectLst/>
                <a:latin typeface="Calibri" panose="020F0502020204030204" pitchFamily="34" charset="0"/>
              </a:rPr>
              <a:t>CheckBox</a:t>
            </a:r>
            <a:r>
              <a:rPr lang="en-IN" sz="2400" dirty="0">
                <a:effectLst/>
                <a:latin typeface="Calibri" panose="020F0502020204030204" pitchFamily="34" charset="0"/>
              </a:rPr>
              <a:t> and to set state to the </a:t>
            </a:r>
            <a:r>
              <a:rPr lang="en-IN" sz="2400" dirty="0" err="1">
                <a:effectLst/>
                <a:latin typeface="Calibri" panose="020F0502020204030204" pitchFamily="34" charset="0"/>
              </a:rPr>
              <a:t>CheckBox</a:t>
            </a:r>
            <a:r>
              <a:rPr lang="en-IN" sz="2400" dirty="0">
                <a:effectLst/>
                <a:latin typeface="Calibri" panose="020F0502020204030204" pitchFamily="34" charset="0"/>
              </a:rPr>
              <a:t> we have to use following method. Boolean b=</a:t>
            </a:r>
            <a:r>
              <a:rPr lang="en-IN" sz="2400" dirty="0" err="1">
                <a:effectLst/>
                <a:latin typeface="Calibri" panose="020F0502020204030204" pitchFamily="34" charset="0"/>
              </a:rPr>
              <a:t>ch.getState</a:t>
            </a:r>
            <a:r>
              <a:rPr lang="en-IN" sz="2400" dirty="0">
                <a:effectLst/>
                <a:latin typeface="Calibri" panose="020F0502020204030204" pitchFamily="34" charset="0"/>
              </a:rPr>
              <a:t>(); </a:t>
            </a:r>
          </a:p>
        </p:txBody>
      </p:sp>
      <p:sp>
        <p:nvSpPr>
          <p:cNvPr id="4" name="Footer Placeholder 3">
            <a:extLst>
              <a:ext uri="{FF2B5EF4-FFF2-40B4-BE49-F238E27FC236}">
                <a16:creationId xmlns:a16="http://schemas.microsoft.com/office/drawing/2014/main" id="{56C029A6-52ED-120C-D32D-3D1A6F04395B}"/>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3417501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C0F0A-5915-F73C-9146-0C12EBC13A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EF389CC-6C01-BCB6-FF9A-F00789ED1C8D}"/>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Test {</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Frame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Frame();</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"ratan"</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red</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(400,500);</a:t>
            </a:r>
          </a:p>
          <a:p>
            <a:pPr marL="0" marR="0" indent="0">
              <a:spcBef>
                <a:spcPts val="0"/>
              </a:spcBef>
              <a:spcAft>
                <a:spcPts val="0"/>
              </a:spcAft>
              <a:buNone/>
            </a:pPr>
            <a:r>
              <a:rPr lang="en-IN" sz="1800" dirty="0">
                <a:solidFill>
                  <a:srgbClr val="000000"/>
                </a:solidFill>
                <a:effectLst/>
                <a:latin typeface="Menlo" panose="020B0609030804020204" pitchFamily="49" charset="0"/>
              </a:rPr>
              <a:t>Checkbox </a:t>
            </a:r>
            <a:r>
              <a:rPr lang="en-IN" sz="1800" dirty="0">
                <a:solidFill>
                  <a:srgbClr val="6A3E3E"/>
                </a:solidFill>
                <a:effectLst/>
                <a:latin typeface="Menlo" panose="020B0609030804020204" pitchFamily="49" charset="0"/>
              </a:rPr>
              <a:t>cb1</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Checkbox(</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BTECH"</a:t>
            </a:r>
            <a:r>
              <a:rPr lang="en-IN" sz="1800" dirty="0" err="1">
                <a:solidFill>
                  <a:srgbClr val="000000"/>
                </a:solidFill>
                <a:effectLst/>
                <a:latin typeface="Menlo" panose="020B0609030804020204" pitchFamily="49" charset="0"/>
              </a:rPr>
              <a:t>,</a:t>
            </a:r>
            <a:r>
              <a:rPr lang="en-IN" sz="1800" b="1" dirty="0" err="1">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cb1</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System.</a:t>
            </a:r>
            <a:r>
              <a:rPr lang="en-IN" sz="1800" b="1" i="1" dirty="0" err="1">
                <a:solidFill>
                  <a:srgbClr val="0000C0"/>
                </a:solidFill>
                <a:effectLst/>
                <a:latin typeface="Menlo" panose="020B0609030804020204" pitchFamily="49" charset="0"/>
              </a:rPr>
              <a:t>out</a:t>
            </a:r>
            <a:r>
              <a:rPr lang="en-IN" sz="1800" dirty="0" err="1">
                <a:solidFill>
                  <a:srgbClr val="000000"/>
                </a:solidFill>
                <a:effectLst/>
                <a:latin typeface="Menlo" panose="020B0609030804020204" pitchFamily="49" charset="0"/>
              </a:rPr>
              <a:t>.println</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cb1</a:t>
            </a:r>
            <a:r>
              <a:rPr lang="en-IN" sz="1800" dirty="0">
                <a:solidFill>
                  <a:srgbClr val="000000"/>
                </a:solidFill>
                <a:effectLst/>
                <a:latin typeface="Menlo" panose="020B0609030804020204" pitchFamily="49" charset="0"/>
              </a:rPr>
              <a:t>.getLabel());</a:t>
            </a:r>
          </a:p>
          <a:p>
            <a:pPr marL="0" marR="0" indent="0">
              <a:spcBef>
                <a:spcPts val="0"/>
              </a:spcBef>
              <a:spcAft>
                <a:spcPts val="0"/>
              </a:spcAft>
              <a:buNone/>
            </a:pPr>
            <a:r>
              <a:rPr lang="en-IN" sz="1800" dirty="0" err="1">
                <a:solidFill>
                  <a:srgbClr val="000000"/>
                </a:solidFill>
                <a:effectLst/>
                <a:latin typeface="Menlo" panose="020B0609030804020204" pitchFamily="49" charset="0"/>
              </a:rPr>
              <a:t>System.</a:t>
            </a:r>
            <a:r>
              <a:rPr lang="en-IN" sz="1800" b="1" i="1" dirty="0" err="1">
                <a:solidFill>
                  <a:srgbClr val="0000C0"/>
                </a:solidFill>
                <a:effectLst/>
                <a:latin typeface="Menlo" panose="020B0609030804020204" pitchFamily="49" charset="0"/>
              </a:rPr>
              <a:t>out</a:t>
            </a:r>
            <a:r>
              <a:rPr lang="en-IN" sz="1800" dirty="0" err="1">
                <a:solidFill>
                  <a:srgbClr val="000000"/>
                </a:solidFill>
                <a:effectLst/>
                <a:latin typeface="Menlo" panose="020B0609030804020204" pitchFamily="49" charset="0"/>
              </a:rPr>
              <a:t>.println</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cb1</a:t>
            </a:r>
            <a:r>
              <a:rPr lang="en-IN" sz="1800" dirty="0">
                <a:solidFill>
                  <a:srgbClr val="000000"/>
                </a:solidFill>
                <a:effectLst/>
                <a:latin typeface="Menlo" panose="020B0609030804020204" pitchFamily="49" charset="0"/>
              </a:rPr>
              <a:t>.getState()); </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buNone/>
            </a:pPr>
            <a:endParaRPr lang="en-US" dirty="0"/>
          </a:p>
        </p:txBody>
      </p:sp>
      <p:sp>
        <p:nvSpPr>
          <p:cNvPr id="4" name="Footer Placeholder 3">
            <a:extLst>
              <a:ext uri="{FF2B5EF4-FFF2-40B4-BE49-F238E27FC236}">
                <a16:creationId xmlns:a16="http://schemas.microsoft.com/office/drawing/2014/main" id="{ADAB0063-6BFC-A86F-63DF-76468DAC7F7B}"/>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915067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FE668-9328-C59B-17E0-EC59CC56D5D0}"/>
              </a:ext>
            </a:extLst>
          </p:cNvPr>
          <p:cNvSpPr>
            <a:spLocks noGrp="1"/>
          </p:cNvSpPr>
          <p:nvPr>
            <p:ph type="title"/>
          </p:nvPr>
        </p:nvSpPr>
        <p:spPr/>
        <p:txBody>
          <a:bodyPr/>
          <a:lstStyle/>
          <a:p>
            <a:r>
              <a:rPr lang="en-IN" sz="4400" dirty="0">
                <a:effectLst/>
                <a:latin typeface="Calibri,Bold"/>
              </a:rPr>
              <a:t>RADIO BUTTON</a:t>
            </a:r>
            <a:endParaRPr lang="en-US" dirty="0"/>
          </a:p>
        </p:txBody>
      </p:sp>
      <p:sp>
        <p:nvSpPr>
          <p:cNvPr id="3" name="Content Placeholder 2">
            <a:extLst>
              <a:ext uri="{FF2B5EF4-FFF2-40B4-BE49-F238E27FC236}">
                <a16:creationId xmlns:a16="http://schemas.microsoft.com/office/drawing/2014/main" id="{E231CB4E-9499-69CE-69E6-E0C27B9EE6CD}"/>
              </a:ext>
            </a:extLst>
          </p:cNvPr>
          <p:cNvSpPr>
            <a:spLocks noGrp="1"/>
          </p:cNvSpPr>
          <p:nvPr>
            <p:ph idx="1"/>
          </p:nvPr>
        </p:nvSpPr>
        <p:spPr/>
        <p:txBody>
          <a:bodyPr/>
          <a:lstStyle/>
          <a:p>
            <a:pPr marL="0" indent="0">
              <a:buNone/>
            </a:pPr>
            <a:r>
              <a:rPr lang="en-IN" sz="2000" dirty="0">
                <a:effectLst/>
                <a:latin typeface="Calibri" panose="020F0502020204030204" pitchFamily="34" charset="0"/>
              </a:rPr>
              <a:t>1)  AWT does not provide any predefined support to create </a:t>
            </a:r>
            <a:r>
              <a:rPr lang="en-IN" sz="2000" dirty="0" err="1">
                <a:effectLst/>
                <a:latin typeface="Calibri" panose="020F0502020204030204" pitchFamily="34" charset="0"/>
              </a:rPr>
              <a:t>RadioButtons</a:t>
            </a:r>
            <a:r>
              <a:rPr lang="en-IN" sz="2000" dirty="0">
                <a:effectLst/>
                <a:latin typeface="Calibri" panose="020F0502020204030204" pitchFamily="34" charset="0"/>
              </a:rPr>
              <a:t>. </a:t>
            </a:r>
            <a:endParaRPr lang="en-IN" sz="3600" dirty="0">
              <a:effectLst/>
            </a:endParaRPr>
          </a:p>
          <a:p>
            <a:pPr marL="0" indent="0">
              <a:buNone/>
            </a:pPr>
            <a:r>
              <a:rPr lang="en-IN" sz="2000" dirty="0">
                <a:effectLst/>
                <a:latin typeface="Calibri" panose="020F0502020204030204" pitchFamily="34" charset="0"/>
              </a:rPr>
              <a:t>2)  It is possible to select Only item is selected from group of item. To add the </a:t>
            </a:r>
            <a:r>
              <a:rPr lang="en-IN" sz="2000" dirty="0" err="1">
                <a:effectLst/>
                <a:latin typeface="Calibri" panose="020F0502020204030204" pitchFamily="34" charset="0"/>
              </a:rPr>
              <a:t>RadioButton</a:t>
            </a:r>
            <a:r>
              <a:rPr lang="en-IN" sz="2000" dirty="0">
                <a:effectLst/>
                <a:latin typeface="Calibri" panose="020F0502020204030204" pitchFamily="34" charset="0"/>
              </a:rPr>
              <a:t> to the </a:t>
            </a:r>
            <a:endParaRPr lang="en-IN" sz="3600" dirty="0">
              <a:effectLst/>
            </a:endParaRPr>
          </a:p>
          <a:p>
            <a:pPr marL="0" indent="0">
              <a:buNone/>
            </a:pPr>
            <a:r>
              <a:rPr lang="en-IN" sz="2000" dirty="0">
                <a:effectLst/>
                <a:latin typeface="Calibri" panose="020F0502020204030204" pitchFamily="34" charset="0"/>
              </a:rPr>
              <a:t>frame we have to use add() method. </a:t>
            </a:r>
            <a:endParaRPr lang="en-IN" sz="3600" dirty="0">
              <a:effectLst/>
            </a:endParaRPr>
          </a:p>
          <a:p>
            <a:pPr marL="0" indent="0">
              <a:buNone/>
            </a:pPr>
            <a:r>
              <a:rPr lang="en-IN" sz="2000" dirty="0">
                <a:effectLst/>
                <a:latin typeface="Calibri" panose="020F0502020204030204" pitchFamily="34" charset="0"/>
              </a:rPr>
              <a:t>By using two classes we create Radio Button those are </a:t>
            </a:r>
            <a:endParaRPr lang="en-IN" sz="3600" dirty="0"/>
          </a:p>
          <a:p>
            <a:pPr marL="0" indent="0">
              <a:buNone/>
            </a:pPr>
            <a:r>
              <a:rPr lang="en-IN" sz="2000" dirty="0">
                <a:effectLst/>
                <a:latin typeface="Calibri" panose="020F0502020204030204" pitchFamily="34" charset="0"/>
              </a:rPr>
              <a:t>a)</a:t>
            </a:r>
            <a:r>
              <a:rPr lang="en-IN" sz="2000" dirty="0" err="1">
                <a:effectLst/>
                <a:latin typeface="Calibri" panose="020F0502020204030204" pitchFamily="34" charset="0"/>
              </a:rPr>
              <a:t>CheckBoxgroup</a:t>
            </a:r>
            <a:r>
              <a:rPr lang="en-IN" sz="2000" dirty="0">
                <a:effectLst/>
                <a:latin typeface="Calibri" panose="020F0502020204030204" pitchFamily="34" charset="0"/>
              </a:rPr>
              <a:t> b)</a:t>
            </a:r>
            <a:r>
              <a:rPr lang="en-IN" sz="2000" dirty="0" err="1">
                <a:effectLst/>
                <a:latin typeface="Calibri" panose="020F0502020204030204" pitchFamily="34" charset="0"/>
              </a:rPr>
              <a:t>CheckBox</a:t>
            </a:r>
            <a:r>
              <a:rPr lang="en-IN" sz="2000" dirty="0">
                <a:effectLst/>
                <a:latin typeface="Calibri" panose="020F0502020204030204" pitchFamily="34" charset="0"/>
              </a:rPr>
              <a:t> </a:t>
            </a:r>
            <a:endParaRPr lang="en-IN" sz="3600" dirty="0"/>
          </a:p>
          <a:p>
            <a:pPr marL="0" indent="0">
              <a:buNone/>
            </a:pPr>
            <a:r>
              <a:rPr lang="en-IN" sz="2000" dirty="0">
                <a:effectLst/>
                <a:latin typeface="Calibri" panose="020F0502020204030204" pitchFamily="34" charset="0"/>
              </a:rPr>
              <a:t>step 1</a:t>
            </a:r>
            <a:r>
              <a:rPr lang="en-IN" sz="2000" dirty="0">
                <a:effectLst/>
                <a:latin typeface="Calibri,Bold"/>
              </a:rPr>
              <a:t>:- </a:t>
            </a:r>
            <a:r>
              <a:rPr lang="en-IN" sz="2000" dirty="0">
                <a:effectLst/>
                <a:latin typeface="Calibri" panose="020F0502020204030204" pitchFamily="34" charset="0"/>
              </a:rPr>
              <a:t>Create </a:t>
            </a:r>
            <a:r>
              <a:rPr lang="en-IN" sz="2000" dirty="0" err="1">
                <a:effectLst/>
                <a:latin typeface="Calibri" panose="020F0502020204030204" pitchFamily="34" charset="0"/>
              </a:rPr>
              <a:t>CheckBox</a:t>
            </a:r>
            <a:r>
              <a:rPr lang="en-IN" sz="2000" dirty="0">
                <a:effectLst/>
                <a:latin typeface="Calibri" panose="020F0502020204030204" pitchFamily="34" charset="0"/>
              </a:rPr>
              <a:t> group object. </a:t>
            </a:r>
            <a:r>
              <a:rPr lang="en-IN" sz="2000" dirty="0" err="1">
                <a:effectLst/>
                <a:latin typeface="Calibri" panose="020F0502020204030204" pitchFamily="34" charset="0"/>
              </a:rPr>
              <a:t>CheckBoxGroup</a:t>
            </a:r>
            <a:r>
              <a:rPr lang="en-IN" sz="2000" dirty="0">
                <a:effectLst/>
                <a:latin typeface="Calibri" panose="020F0502020204030204" pitchFamily="34" charset="0"/>
              </a:rPr>
              <a:t> cg=new </a:t>
            </a:r>
            <a:r>
              <a:rPr lang="en-IN" sz="2000" dirty="0" err="1">
                <a:effectLst/>
                <a:latin typeface="Calibri" panose="020F0502020204030204" pitchFamily="34" charset="0"/>
              </a:rPr>
              <a:t>CheckBoxGroup</a:t>
            </a:r>
            <a:r>
              <a:rPr lang="en-IN" sz="2000" dirty="0">
                <a:effectLst/>
                <a:latin typeface="Calibri" panose="020F0502020204030204" pitchFamily="34" charset="0"/>
              </a:rPr>
              <a:t>(); </a:t>
            </a:r>
            <a:endParaRPr lang="en-IN" sz="3600" dirty="0"/>
          </a:p>
          <a:p>
            <a:pPr marL="0" indent="0">
              <a:buNone/>
            </a:pPr>
            <a:r>
              <a:rPr lang="en-IN" sz="2000" dirty="0">
                <a:effectLst/>
                <a:latin typeface="Calibri" panose="020F0502020204030204" pitchFamily="34" charset="0"/>
              </a:rPr>
              <a:t>step 2</a:t>
            </a:r>
            <a:r>
              <a:rPr lang="en-IN" sz="2000" dirty="0">
                <a:effectLst/>
                <a:latin typeface="Calibri,Bold"/>
              </a:rPr>
              <a:t>:- </a:t>
            </a:r>
            <a:r>
              <a:rPr lang="en-IN" sz="2000" dirty="0">
                <a:effectLst/>
                <a:latin typeface="Calibri" panose="020F0502020204030204" pitchFamily="34" charset="0"/>
              </a:rPr>
              <a:t>pass Checkbox object to the </a:t>
            </a:r>
            <a:r>
              <a:rPr lang="en-IN" sz="2000" dirty="0" err="1">
                <a:effectLst/>
                <a:latin typeface="Calibri" panose="020F0502020204030204" pitchFamily="34" charset="0"/>
              </a:rPr>
              <a:t>CheckboxGroup</a:t>
            </a:r>
            <a:r>
              <a:rPr lang="en-IN" sz="2000" dirty="0">
                <a:effectLst/>
                <a:latin typeface="Calibri" panose="020F0502020204030204" pitchFamily="34" charset="0"/>
              </a:rPr>
              <a:t> class then the radio buttons are created. </a:t>
            </a:r>
            <a:r>
              <a:rPr lang="en-IN" sz="2000" dirty="0" err="1">
                <a:effectLst/>
                <a:latin typeface="Calibri" panose="020F0502020204030204" pitchFamily="34" charset="0"/>
              </a:rPr>
              <a:t>CheckBox</a:t>
            </a:r>
            <a:r>
              <a:rPr lang="en-IN" sz="2000" dirty="0">
                <a:effectLst/>
                <a:latin typeface="Calibri" panose="020F0502020204030204" pitchFamily="34" charset="0"/>
              </a:rPr>
              <a:t> cb1=new </a:t>
            </a:r>
            <a:r>
              <a:rPr lang="en-IN" sz="2000" dirty="0" err="1">
                <a:effectLst/>
                <a:latin typeface="Calibri" panose="020F0502020204030204" pitchFamily="34" charset="0"/>
              </a:rPr>
              <a:t>CheckBox</a:t>
            </a:r>
            <a:r>
              <a:rPr lang="en-IN" sz="2000" dirty="0">
                <a:effectLst/>
                <a:latin typeface="Calibri" panose="020F0502020204030204" pitchFamily="34" charset="0"/>
              </a:rPr>
              <a:t>(“male”,</a:t>
            </a:r>
            <a:r>
              <a:rPr lang="en-IN" sz="2000" dirty="0" err="1">
                <a:effectLst/>
                <a:latin typeface="Calibri" panose="020F0502020204030204" pitchFamily="34" charset="0"/>
              </a:rPr>
              <a:t>cg,false</a:t>
            </a:r>
            <a:r>
              <a:rPr lang="en-IN" sz="2000" dirty="0">
                <a:effectLst/>
                <a:latin typeface="Calibri" panose="020F0502020204030204" pitchFamily="34" charset="0"/>
              </a:rPr>
              <a:t>); </a:t>
            </a:r>
            <a:endParaRPr lang="en-IN" sz="3600" dirty="0"/>
          </a:p>
          <a:p>
            <a:pPr marL="0" indent="0">
              <a:buNone/>
            </a:pPr>
            <a:r>
              <a:rPr lang="en-IN" sz="2000" dirty="0" err="1">
                <a:effectLst/>
                <a:latin typeface="Calibri" panose="020F0502020204030204" pitchFamily="34" charset="0"/>
              </a:rPr>
              <a:t>CheckBox</a:t>
            </a:r>
            <a:r>
              <a:rPr lang="en-IN" sz="2000" dirty="0">
                <a:effectLst/>
                <a:latin typeface="Calibri" panose="020F0502020204030204" pitchFamily="34" charset="0"/>
              </a:rPr>
              <a:t> cb2=new </a:t>
            </a:r>
            <a:r>
              <a:rPr lang="en-IN" sz="2000" dirty="0" err="1">
                <a:effectLst/>
                <a:latin typeface="Calibri" panose="020F0502020204030204" pitchFamily="34" charset="0"/>
              </a:rPr>
              <a:t>CheckBox</a:t>
            </a:r>
            <a:r>
              <a:rPr lang="en-IN" sz="2000" dirty="0">
                <a:effectLst/>
                <a:latin typeface="Calibri" panose="020F0502020204030204" pitchFamily="34" charset="0"/>
              </a:rPr>
              <a:t>(“female”,</a:t>
            </a:r>
            <a:r>
              <a:rPr lang="en-IN" sz="2000" dirty="0" err="1">
                <a:effectLst/>
                <a:latin typeface="Calibri" panose="020F0502020204030204" pitchFamily="34" charset="0"/>
              </a:rPr>
              <a:t>cg,false</a:t>
            </a:r>
            <a:r>
              <a:rPr lang="en-IN" sz="2000" dirty="0">
                <a:effectLst/>
                <a:latin typeface="Calibri" panose="020F0502020204030204" pitchFamily="34" charset="0"/>
              </a:rPr>
              <a:t>); </a:t>
            </a:r>
            <a:endParaRPr lang="en-IN" sz="3600" dirty="0"/>
          </a:p>
          <a:p>
            <a:pPr marL="0" indent="0">
              <a:buNone/>
            </a:pPr>
            <a:endParaRPr lang="en-US" sz="3600" dirty="0"/>
          </a:p>
        </p:txBody>
      </p:sp>
      <p:sp>
        <p:nvSpPr>
          <p:cNvPr id="4" name="Footer Placeholder 3">
            <a:extLst>
              <a:ext uri="{FF2B5EF4-FFF2-40B4-BE49-F238E27FC236}">
                <a16:creationId xmlns:a16="http://schemas.microsoft.com/office/drawing/2014/main" id="{2D9DB8FF-0AF7-DD60-FD6C-E21BFEA6F48E}"/>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40940183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3AA08-E259-4E10-6C2A-6D64BEDF71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980D412-0BC4-0253-7A14-91A94EA679D1}"/>
              </a:ext>
            </a:extLst>
          </p:cNvPr>
          <p:cNvSpPr>
            <a:spLocks noGrp="1"/>
          </p:cNvSpPr>
          <p:nvPr>
            <p:ph idx="1"/>
          </p:nvPr>
        </p:nvSpPr>
        <p:spPr/>
        <p:txBody>
          <a:bodyPr/>
          <a:lstStyle/>
          <a:p>
            <a:pPr marL="0" indent="0">
              <a:buNone/>
            </a:pPr>
            <a:r>
              <a:rPr lang="en-IN" sz="2400" dirty="0">
                <a:effectLst/>
                <a:latin typeface="Calibri,Bold"/>
              </a:rPr>
              <a:t>Methods:- </a:t>
            </a:r>
            <a:endParaRPr lang="en-IN" sz="4000" dirty="0"/>
          </a:p>
          <a:p>
            <a:pPr marL="0" indent="0">
              <a:buNone/>
            </a:pPr>
            <a:r>
              <a:rPr lang="en-IN" sz="2400" dirty="0">
                <a:effectLst/>
                <a:latin typeface="Calibri,Bold"/>
              </a:rPr>
              <a:t>1)  </a:t>
            </a:r>
            <a:r>
              <a:rPr lang="en-IN" sz="2400" dirty="0">
                <a:effectLst/>
                <a:latin typeface="Calibri" panose="020F0502020204030204" pitchFamily="34" charset="0"/>
              </a:rPr>
              <a:t>To set status and to get status we have to use </a:t>
            </a:r>
            <a:r>
              <a:rPr lang="en-IN" sz="2400" dirty="0" err="1">
                <a:effectLst/>
                <a:latin typeface="Calibri" panose="020F0502020204030204" pitchFamily="34" charset="0"/>
              </a:rPr>
              <a:t>setState</a:t>
            </a:r>
            <a:r>
              <a:rPr lang="en-IN" sz="2400" dirty="0">
                <a:effectLst/>
                <a:latin typeface="Calibri" panose="020F0502020204030204" pitchFamily="34" charset="0"/>
              </a:rPr>
              <a:t>() and </a:t>
            </a:r>
            <a:r>
              <a:rPr lang="en-IN" sz="2400" dirty="0" err="1">
                <a:effectLst/>
                <a:latin typeface="Calibri" panose="020F0502020204030204" pitchFamily="34" charset="0"/>
              </a:rPr>
              <a:t>getState</a:t>
            </a:r>
            <a:r>
              <a:rPr lang="en-IN" sz="2400" dirty="0">
                <a:effectLst/>
                <a:latin typeface="Calibri" panose="020F0502020204030204" pitchFamily="34" charset="0"/>
              </a:rPr>
              <a:t>() methods. </a:t>
            </a:r>
            <a:endParaRPr lang="en-IN" sz="4000" dirty="0">
              <a:effectLst/>
            </a:endParaRPr>
          </a:p>
          <a:p>
            <a:pPr marL="0" indent="0">
              <a:buNone/>
            </a:pPr>
            <a:r>
              <a:rPr lang="en-IN" sz="2400" dirty="0">
                <a:effectLst/>
                <a:latin typeface="Calibri" panose="020F0502020204030204" pitchFamily="34" charset="0"/>
              </a:rPr>
              <a:t>String str=</a:t>
            </a:r>
            <a:r>
              <a:rPr lang="en-IN" sz="2400" dirty="0" err="1">
                <a:effectLst/>
                <a:latin typeface="Calibri" panose="020F0502020204030204" pitchFamily="34" charset="0"/>
              </a:rPr>
              <a:t>Cb.getState</a:t>
            </a:r>
            <a:r>
              <a:rPr lang="en-IN" sz="2400" dirty="0">
                <a:effectLst/>
                <a:latin typeface="Calibri" panose="020F0502020204030204" pitchFamily="34" charset="0"/>
              </a:rPr>
              <a:t>(); </a:t>
            </a:r>
            <a:endParaRPr lang="en-IN" sz="4000" dirty="0">
              <a:effectLst/>
            </a:endParaRPr>
          </a:p>
          <a:p>
            <a:pPr marL="0" indent="0">
              <a:buNone/>
            </a:pPr>
            <a:r>
              <a:rPr lang="en-IN" sz="2400" dirty="0" err="1">
                <a:effectLst/>
                <a:latin typeface="Calibri" panose="020F0502020204030204" pitchFamily="34" charset="0"/>
              </a:rPr>
              <a:t>Cb.setState</a:t>
            </a:r>
            <a:r>
              <a:rPr lang="en-IN" sz="2400" dirty="0">
                <a:effectLst/>
                <a:latin typeface="Calibri" panose="020F0502020204030204" pitchFamily="34" charset="0"/>
              </a:rPr>
              <a:t>(); </a:t>
            </a:r>
            <a:endParaRPr lang="en-IN" sz="4000" dirty="0">
              <a:effectLst/>
            </a:endParaRPr>
          </a:p>
          <a:p>
            <a:pPr marL="0" indent="0">
              <a:buNone/>
            </a:pPr>
            <a:r>
              <a:rPr lang="en-IN" sz="2400" dirty="0">
                <a:effectLst/>
                <a:latin typeface="Calibri,Bold"/>
              </a:rPr>
              <a:t>2)  </a:t>
            </a:r>
            <a:r>
              <a:rPr lang="en-IN" sz="2400" dirty="0">
                <a:effectLst/>
                <a:latin typeface="Calibri" panose="020F0502020204030204" pitchFamily="34" charset="0"/>
              </a:rPr>
              <a:t>To get Label and to set Label we have to use following methods. </a:t>
            </a:r>
            <a:endParaRPr lang="en-IN" sz="4000" dirty="0">
              <a:effectLst/>
            </a:endParaRPr>
          </a:p>
          <a:p>
            <a:pPr marL="0" indent="0">
              <a:buNone/>
            </a:pPr>
            <a:r>
              <a:rPr lang="en-IN" sz="2400" dirty="0">
                <a:effectLst/>
                <a:latin typeface="Calibri" panose="020F0502020204030204" pitchFamily="34" charset="0"/>
              </a:rPr>
              <a:t>String str=</a:t>
            </a:r>
            <a:r>
              <a:rPr lang="en-IN" sz="2400" dirty="0" err="1">
                <a:effectLst/>
                <a:latin typeface="Calibri" panose="020F0502020204030204" pitchFamily="34" charset="0"/>
              </a:rPr>
              <a:t>getLabel</a:t>
            </a:r>
            <a:r>
              <a:rPr lang="en-IN" sz="2400" dirty="0">
                <a:effectLst/>
                <a:latin typeface="Calibri" panose="020F0502020204030204" pitchFamily="34" charset="0"/>
              </a:rPr>
              <a:t>() </a:t>
            </a:r>
            <a:r>
              <a:rPr lang="en-IN" sz="2400" dirty="0" err="1">
                <a:effectLst/>
                <a:latin typeface="Calibri" panose="020F0502020204030204" pitchFamily="34" charset="0"/>
              </a:rPr>
              <a:t>setLabel</a:t>
            </a:r>
            <a:r>
              <a:rPr lang="en-IN" sz="2400" dirty="0">
                <a:effectLst/>
                <a:latin typeface="Calibri" panose="020F0502020204030204" pitchFamily="34" charset="0"/>
              </a:rPr>
              <a:t>(“female”). </a:t>
            </a:r>
            <a:endParaRPr lang="en-IN" sz="4000" dirty="0">
              <a:effectLst/>
            </a:endParaRPr>
          </a:p>
          <a:p>
            <a:pPr marL="0" indent="0">
              <a:buNone/>
            </a:pPr>
            <a:endParaRPr lang="en-US" sz="4000" dirty="0"/>
          </a:p>
        </p:txBody>
      </p:sp>
      <p:sp>
        <p:nvSpPr>
          <p:cNvPr id="4" name="Footer Placeholder 3">
            <a:extLst>
              <a:ext uri="{FF2B5EF4-FFF2-40B4-BE49-F238E27FC236}">
                <a16:creationId xmlns:a16="http://schemas.microsoft.com/office/drawing/2014/main" id="{B86E9F88-8B72-AED5-B88C-0649358D765E}"/>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3085173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2E7DE-7836-4F19-4A99-F332ABBED72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64E29E-2AAE-2367-09F1-B76B7044A8D6}"/>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Test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Frame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Frame(); </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"ratan"</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red</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(400,500);</a:t>
            </a:r>
          </a:p>
          <a:p>
            <a:pPr marL="0" marR="0" indent="0">
              <a:spcBef>
                <a:spcPts val="0"/>
              </a:spcBef>
              <a:spcAft>
                <a:spcPts val="0"/>
              </a:spcAft>
              <a:buNone/>
            </a:pPr>
            <a:r>
              <a:rPr lang="en-IN" sz="1800" dirty="0" err="1">
                <a:solidFill>
                  <a:srgbClr val="000000"/>
                </a:solidFill>
                <a:effectLst/>
                <a:latin typeface="Menlo" panose="020B0609030804020204" pitchFamily="49" charset="0"/>
              </a:rPr>
              <a:t>CheckboxGroup</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cg</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CheckboxGroup</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Checkbox </a:t>
            </a:r>
            <a:r>
              <a:rPr lang="en-IN" sz="1800" dirty="0">
                <a:solidFill>
                  <a:srgbClr val="6A3E3E"/>
                </a:solidFill>
                <a:effectLst/>
                <a:latin typeface="Menlo" panose="020B0609030804020204" pitchFamily="49" charset="0"/>
              </a:rPr>
              <a:t>cb1</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Checkbox(</a:t>
            </a:r>
            <a:r>
              <a:rPr lang="en-IN" sz="1800" dirty="0">
                <a:solidFill>
                  <a:srgbClr val="2A00FF"/>
                </a:solidFill>
                <a:effectLst/>
                <a:latin typeface="Menlo" panose="020B0609030804020204" pitchFamily="49" charset="0"/>
              </a:rPr>
              <a:t>"male"</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cg</a:t>
            </a:r>
            <a:r>
              <a:rPr lang="en-IN" sz="1800" dirty="0" err="1">
                <a:solidFill>
                  <a:srgbClr val="000000"/>
                </a:solidFill>
                <a:effectLst/>
                <a:latin typeface="Menlo" panose="020B0609030804020204" pitchFamily="49" charset="0"/>
              </a:rPr>
              <a:t>,</a:t>
            </a:r>
            <a:r>
              <a:rPr lang="en-IN" sz="1800" b="1" dirty="0" err="1">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cb1</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000000"/>
                </a:solidFill>
                <a:effectLst/>
                <a:latin typeface="Menlo" panose="020B0609030804020204" pitchFamily="49" charset="0"/>
              </a:rPr>
              <a:t>System.</a:t>
            </a:r>
            <a:r>
              <a:rPr lang="en-IN" sz="1800" b="1" i="1" dirty="0" err="1">
                <a:solidFill>
                  <a:srgbClr val="0000C0"/>
                </a:solidFill>
                <a:effectLst/>
                <a:latin typeface="Menlo" panose="020B0609030804020204" pitchFamily="49" charset="0"/>
              </a:rPr>
              <a:t>out</a:t>
            </a:r>
            <a:r>
              <a:rPr lang="en-IN" sz="1800" dirty="0" err="1">
                <a:solidFill>
                  <a:srgbClr val="000000"/>
                </a:solidFill>
                <a:effectLst/>
                <a:latin typeface="Menlo" panose="020B0609030804020204" pitchFamily="49" charset="0"/>
              </a:rPr>
              <a:t>.println</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cb1</a:t>
            </a:r>
            <a:r>
              <a:rPr lang="en-IN" sz="1800" dirty="0">
                <a:solidFill>
                  <a:srgbClr val="000000"/>
                </a:solidFill>
                <a:effectLst/>
                <a:latin typeface="Menlo" panose="020B0609030804020204" pitchFamily="49" charset="0"/>
              </a:rPr>
              <a:t>.getLabel()); </a:t>
            </a:r>
          </a:p>
          <a:p>
            <a:pPr marL="0" marR="0" indent="0">
              <a:spcBef>
                <a:spcPts val="0"/>
              </a:spcBef>
              <a:spcAft>
                <a:spcPts val="0"/>
              </a:spcAft>
              <a:buNone/>
            </a:pPr>
            <a:r>
              <a:rPr lang="en-IN" sz="1800" dirty="0" err="1">
                <a:solidFill>
                  <a:srgbClr val="000000"/>
                </a:solidFill>
                <a:effectLst/>
                <a:latin typeface="Menlo" panose="020B0609030804020204" pitchFamily="49" charset="0"/>
              </a:rPr>
              <a:t>System.</a:t>
            </a:r>
            <a:r>
              <a:rPr lang="en-IN" sz="1800" b="1" i="1" dirty="0" err="1">
                <a:solidFill>
                  <a:srgbClr val="0000C0"/>
                </a:solidFill>
                <a:effectLst/>
                <a:latin typeface="Menlo" panose="020B0609030804020204" pitchFamily="49" charset="0"/>
              </a:rPr>
              <a:t>out</a:t>
            </a:r>
            <a:r>
              <a:rPr lang="en-IN" sz="1800" dirty="0" err="1">
                <a:solidFill>
                  <a:srgbClr val="000000"/>
                </a:solidFill>
                <a:effectLst/>
                <a:latin typeface="Menlo" panose="020B0609030804020204" pitchFamily="49" charset="0"/>
              </a:rPr>
              <a:t>.println</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cb1</a:t>
            </a:r>
            <a:r>
              <a:rPr lang="en-IN" sz="1800" dirty="0">
                <a:solidFill>
                  <a:srgbClr val="000000"/>
                </a:solidFill>
                <a:effectLst/>
                <a:latin typeface="Menlo" panose="020B0609030804020204" pitchFamily="49" charset="0"/>
              </a:rPr>
              <a:t>.getState());</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buNone/>
            </a:pPr>
            <a:endParaRPr lang="en-US" dirty="0"/>
          </a:p>
        </p:txBody>
      </p:sp>
      <p:sp>
        <p:nvSpPr>
          <p:cNvPr id="4" name="Footer Placeholder 3">
            <a:extLst>
              <a:ext uri="{FF2B5EF4-FFF2-40B4-BE49-F238E27FC236}">
                <a16:creationId xmlns:a16="http://schemas.microsoft.com/office/drawing/2014/main" id="{CC27D60D-0DCE-7A33-16DA-89A3D5074DBA}"/>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485675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623F6-7965-D468-7495-43589D5700AB}"/>
              </a:ext>
            </a:extLst>
          </p:cNvPr>
          <p:cNvSpPr>
            <a:spLocks noGrp="1"/>
          </p:cNvSpPr>
          <p:nvPr>
            <p:ph type="title"/>
          </p:nvPr>
        </p:nvSpPr>
        <p:spPr/>
        <p:txBody>
          <a:bodyPr/>
          <a:lstStyle/>
          <a:p>
            <a:r>
              <a:rPr lang="en-IN" dirty="0">
                <a:latin typeface="Calibri,Bold"/>
              </a:rPr>
              <a:t>Layout Managers</a:t>
            </a:r>
            <a:endParaRPr lang="en-US" dirty="0">
              <a:latin typeface="Calibri,Bold"/>
            </a:endParaRPr>
          </a:p>
        </p:txBody>
      </p:sp>
      <p:sp>
        <p:nvSpPr>
          <p:cNvPr id="3" name="Content Placeholder 2">
            <a:extLst>
              <a:ext uri="{FF2B5EF4-FFF2-40B4-BE49-F238E27FC236}">
                <a16:creationId xmlns:a16="http://schemas.microsoft.com/office/drawing/2014/main" id="{83D28283-E6A4-CD4C-5831-66365E0BD7B7}"/>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Test {</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Frame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Frame(); </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"ratan"</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red</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(400,500);</a:t>
            </a:r>
          </a:p>
          <a:p>
            <a:pPr marL="0" marR="0" indent="0">
              <a:spcBef>
                <a:spcPts val="0"/>
              </a:spcBef>
              <a:spcAft>
                <a:spcPts val="0"/>
              </a:spcAft>
              <a:buNone/>
            </a:pPr>
            <a:r>
              <a:rPr lang="en-IN" sz="1800" dirty="0">
                <a:solidFill>
                  <a:srgbClr val="000000"/>
                </a:solidFill>
                <a:effectLst/>
                <a:latin typeface="Menlo" panose="020B0609030804020204" pitchFamily="49" charset="0"/>
              </a:rPr>
              <a:t>Label </a:t>
            </a:r>
            <a:r>
              <a:rPr lang="en-IN" sz="1800" dirty="0">
                <a:solidFill>
                  <a:srgbClr val="6A3E3E"/>
                </a:solidFill>
                <a:effectLst/>
                <a:latin typeface="Menlo" panose="020B0609030804020204" pitchFamily="49" charset="0"/>
              </a:rPr>
              <a:t>l1</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Label(</a:t>
            </a:r>
            <a:r>
              <a:rPr lang="en-IN" sz="1800" dirty="0">
                <a:solidFill>
                  <a:srgbClr val="2A00FF"/>
                </a:solidFill>
                <a:effectLst/>
                <a:latin typeface="Menlo" panose="020B0609030804020204" pitchFamily="49" charset="0"/>
              </a:rPr>
              <a:t>"user name:"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000000"/>
                </a:solidFill>
                <a:effectLst/>
                <a:latin typeface="Menlo" panose="020B0609030804020204" pitchFamily="49" charset="0"/>
              </a:rPr>
              <a:t>TextField</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tx1</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TextField</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Label </a:t>
            </a:r>
            <a:r>
              <a:rPr lang="en-IN" sz="1800" dirty="0">
                <a:solidFill>
                  <a:srgbClr val="6A3E3E"/>
                </a:solidFill>
                <a:effectLst/>
                <a:latin typeface="Menlo" panose="020B0609030804020204" pitchFamily="49" charset="0"/>
              </a:rPr>
              <a:t>l2</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Label(</a:t>
            </a:r>
            <a:r>
              <a:rPr lang="en-IN" sz="1800" dirty="0">
                <a:solidFill>
                  <a:srgbClr val="2A00FF"/>
                </a:solidFill>
                <a:effectLst/>
                <a:latin typeface="Menlo" panose="020B0609030804020204" pitchFamily="49" charset="0"/>
              </a:rPr>
              <a:t>"password:"</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000000"/>
                </a:solidFill>
                <a:effectLst/>
                <a:latin typeface="Menlo" panose="020B0609030804020204" pitchFamily="49" charset="0"/>
              </a:rPr>
              <a:t>TextField</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tx2</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TextField</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Button </a:t>
            </a:r>
            <a:r>
              <a:rPr lang="en-IN" sz="1800" dirty="0">
                <a:solidFill>
                  <a:srgbClr val="6A3E3E"/>
                </a:solidFill>
                <a:effectLst/>
                <a:latin typeface="Menlo" panose="020B0609030804020204" pitchFamily="49" charset="0"/>
              </a:rPr>
              <a:t>b</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Button(</a:t>
            </a:r>
            <a:r>
              <a:rPr lang="en-IN" sz="1800" dirty="0">
                <a:solidFill>
                  <a:srgbClr val="2A00FF"/>
                </a:solidFill>
                <a:effectLst/>
                <a:latin typeface="Menlo" panose="020B0609030804020204" pitchFamily="49" charset="0"/>
              </a:rPr>
              <a:t>"login"</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l1</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tx1</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l2</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tx1</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b</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buNone/>
            </a:pPr>
            <a:endParaRPr lang="en-US" dirty="0"/>
          </a:p>
        </p:txBody>
      </p:sp>
      <p:sp>
        <p:nvSpPr>
          <p:cNvPr id="4" name="Footer Placeholder 3">
            <a:extLst>
              <a:ext uri="{FF2B5EF4-FFF2-40B4-BE49-F238E27FC236}">
                <a16:creationId xmlns:a16="http://schemas.microsoft.com/office/drawing/2014/main" id="{52FAAA00-3452-FFB7-A53D-320B7A52CDA8}"/>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3105503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543C1-8CDA-8ED2-E699-C619407607BF}"/>
              </a:ext>
            </a:extLst>
          </p:cNvPr>
          <p:cNvSpPr>
            <a:spLocks noGrp="1"/>
          </p:cNvSpPr>
          <p:nvPr>
            <p:ph type="title"/>
          </p:nvPr>
        </p:nvSpPr>
        <p:spPr/>
        <p:txBody>
          <a:bodyPr/>
          <a:lstStyle/>
          <a:p>
            <a:r>
              <a:rPr lang="en-IN" sz="4400" dirty="0">
                <a:effectLst/>
                <a:latin typeface="Calibri,Bold"/>
              </a:rPr>
              <a:t>Event delegation model</a:t>
            </a:r>
            <a:endParaRPr lang="en-US" dirty="0"/>
          </a:p>
        </p:txBody>
      </p:sp>
      <p:sp>
        <p:nvSpPr>
          <p:cNvPr id="3" name="Content Placeholder 2">
            <a:extLst>
              <a:ext uri="{FF2B5EF4-FFF2-40B4-BE49-F238E27FC236}">
                <a16:creationId xmlns:a16="http://schemas.microsoft.com/office/drawing/2014/main" id="{BF7AA52F-A37D-BE15-E714-6047F0C920EE}"/>
              </a:ext>
            </a:extLst>
          </p:cNvPr>
          <p:cNvSpPr>
            <a:spLocks noGrp="1"/>
          </p:cNvSpPr>
          <p:nvPr>
            <p:ph idx="1"/>
          </p:nvPr>
        </p:nvSpPr>
        <p:spPr/>
        <p:txBody>
          <a:bodyPr/>
          <a:lstStyle/>
          <a:p>
            <a:pPr>
              <a:buFont typeface="+mj-lt"/>
              <a:buAutoNum type="arabicPeriod"/>
            </a:pPr>
            <a:r>
              <a:rPr lang="en-IN" sz="2000" dirty="0">
                <a:effectLst/>
                <a:latin typeface="Calibri" panose="020F0502020204030204" pitchFamily="34" charset="0"/>
              </a:rPr>
              <a:t>When we create a component the components visible on the screen but it is not possible to perform any action for example button. </a:t>
            </a:r>
          </a:p>
          <a:p>
            <a:pPr>
              <a:buFont typeface="+mj-lt"/>
              <a:buAutoNum type="arabicPeriod"/>
            </a:pPr>
            <a:r>
              <a:rPr lang="en-IN" sz="2000" dirty="0">
                <a:effectLst/>
                <a:latin typeface="Calibri" panose="020F0502020204030204" pitchFamily="34" charset="0"/>
              </a:rPr>
              <a:t>Whenever we create a Frame it can be minimized and maximized and resized but it is not possible to close the Frame even if we click on Frame close Button. </a:t>
            </a:r>
          </a:p>
          <a:p>
            <a:pPr>
              <a:buFont typeface="+mj-lt"/>
              <a:buAutoNum type="arabicPeriod"/>
            </a:pPr>
            <a:r>
              <a:rPr lang="en-IN" sz="2000" dirty="0">
                <a:effectLst/>
                <a:latin typeface="Calibri" panose="020F0502020204030204" pitchFamily="34" charset="0"/>
              </a:rPr>
              <a:t>The Frame is a static component so it is not possible to perform actions on the Frame. </a:t>
            </a:r>
          </a:p>
          <a:p>
            <a:pPr>
              <a:buFont typeface="+mj-lt"/>
              <a:buAutoNum type="arabicPeriod"/>
            </a:pPr>
            <a:r>
              <a:rPr lang="en-IN" sz="2000" dirty="0">
                <a:effectLst/>
                <a:latin typeface="Calibri" panose="020F0502020204030204" pitchFamily="34" charset="0"/>
              </a:rPr>
              <a:t>To make static component into dynamic component we have to add some actions to the Frame. </a:t>
            </a:r>
          </a:p>
          <a:p>
            <a:pPr>
              <a:buFont typeface="+mj-lt"/>
              <a:buAutoNum type="arabicPeriod"/>
            </a:pPr>
            <a:r>
              <a:rPr lang="en-IN" sz="2000" dirty="0">
                <a:effectLst/>
                <a:latin typeface="Calibri" panose="020F0502020204030204" pitchFamily="34" charset="0"/>
              </a:rPr>
              <a:t>To attach actions to the Frame component we need event delegation model. </a:t>
            </a:r>
          </a:p>
          <a:p>
            <a:endParaRPr lang="en-US" sz="3600" dirty="0"/>
          </a:p>
          <a:p>
            <a:r>
              <a:rPr lang="en-US" sz="2000" b="1" dirty="0">
                <a:latin typeface="Calibri" panose="020F0502020204030204" pitchFamily="34" charset="0"/>
              </a:rPr>
              <a:t>Note: </a:t>
            </a:r>
            <a:r>
              <a:rPr lang="en-IN" sz="2000" b="1" dirty="0">
                <a:latin typeface="Calibri" panose="020F0502020204030204" pitchFamily="34" charset="0"/>
              </a:rPr>
              <a:t>Whenever we click on button no action will be performed clicking like this is called event. </a:t>
            </a:r>
          </a:p>
        </p:txBody>
      </p:sp>
      <p:sp>
        <p:nvSpPr>
          <p:cNvPr id="4" name="Footer Placeholder 3">
            <a:extLst>
              <a:ext uri="{FF2B5EF4-FFF2-40B4-BE49-F238E27FC236}">
                <a16:creationId xmlns:a16="http://schemas.microsoft.com/office/drawing/2014/main" id="{A0786632-E625-F8B4-3E29-17246025499B}"/>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8311786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CC07A-382A-D68B-08F0-BCA21CB3C946}"/>
              </a:ext>
            </a:extLst>
          </p:cNvPr>
          <p:cNvSpPr>
            <a:spLocks noGrp="1"/>
          </p:cNvSpPr>
          <p:nvPr>
            <p:ph type="title"/>
          </p:nvPr>
        </p:nvSpPr>
        <p:spPr/>
        <p:txBody>
          <a:bodyPr/>
          <a:lstStyle/>
          <a:p>
            <a:r>
              <a:rPr lang="en-IN" sz="4400" dirty="0">
                <a:effectLst/>
                <a:latin typeface="Calibri,Bold"/>
              </a:rPr>
              <a:t>Event</a:t>
            </a:r>
            <a:endParaRPr lang="en-US" dirty="0"/>
          </a:p>
        </p:txBody>
      </p:sp>
      <p:sp>
        <p:nvSpPr>
          <p:cNvPr id="3" name="Content Placeholder 2">
            <a:extLst>
              <a:ext uri="{FF2B5EF4-FFF2-40B4-BE49-F238E27FC236}">
                <a16:creationId xmlns:a16="http://schemas.microsoft.com/office/drawing/2014/main" id="{F5CBAA31-B470-4BA8-A985-D8DDC0367A93}"/>
              </a:ext>
            </a:extLst>
          </p:cNvPr>
          <p:cNvSpPr>
            <a:spLocks noGrp="1"/>
          </p:cNvSpPr>
          <p:nvPr>
            <p:ph idx="1"/>
          </p:nvPr>
        </p:nvSpPr>
        <p:spPr/>
        <p:txBody>
          <a:bodyPr/>
          <a:lstStyle/>
          <a:p>
            <a:pPr marL="0" indent="0">
              <a:buNone/>
            </a:pPr>
            <a:r>
              <a:rPr lang="en-IN" sz="2000" dirty="0">
                <a:effectLst/>
                <a:latin typeface="Calibri" panose="020F0502020204030204" pitchFamily="34" charset="0"/>
              </a:rPr>
              <a:t>Event is nothing but a particular action generated on the particular component. </a:t>
            </a:r>
            <a:endParaRPr lang="en-IN" sz="3600" dirty="0"/>
          </a:p>
          <a:p>
            <a:pPr>
              <a:buFont typeface="+mj-lt"/>
              <a:buAutoNum type="arabicPeriod"/>
            </a:pPr>
            <a:r>
              <a:rPr lang="en-IN" sz="2000" dirty="0">
                <a:effectLst/>
                <a:latin typeface="Calibri" panose="020F0502020204030204" pitchFamily="34" charset="0"/>
              </a:rPr>
              <a:t>When an event generates on the component the component is unable to respond because component can't listen the event. </a:t>
            </a:r>
          </a:p>
          <a:p>
            <a:pPr>
              <a:buFont typeface="+mj-lt"/>
              <a:buAutoNum type="arabicPeriod"/>
            </a:pPr>
            <a:r>
              <a:rPr lang="en-IN" sz="2000" dirty="0">
                <a:effectLst/>
                <a:latin typeface="Calibri" panose="020F0502020204030204" pitchFamily="34" charset="0"/>
              </a:rPr>
              <a:t>To make the component listen the event we have to add listeners to the component. </a:t>
            </a:r>
          </a:p>
          <a:p>
            <a:pPr>
              <a:buFont typeface="+mj-lt"/>
              <a:buAutoNum type="arabicPeriod"/>
            </a:pPr>
            <a:r>
              <a:rPr lang="en-IN" sz="2000" dirty="0">
                <a:effectLst/>
                <a:latin typeface="Calibri" panose="020F0502020204030204" pitchFamily="34" charset="0"/>
              </a:rPr>
              <a:t>Wherever we are adding listeners to the component the component is able to respond based on the generated event. </a:t>
            </a:r>
          </a:p>
          <a:p>
            <a:pPr>
              <a:buFont typeface="+mj-lt"/>
              <a:buAutoNum type="arabicPeriod"/>
            </a:pPr>
            <a:r>
              <a:rPr lang="en-IN" sz="2000" dirty="0">
                <a:effectLst/>
                <a:latin typeface="Calibri" panose="020F0502020204030204" pitchFamily="34" charset="0"/>
              </a:rPr>
              <a:t>A listener is an interface which contain abstract methods and it is present in </a:t>
            </a:r>
            <a:r>
              <a:rPr lang="en-IN" sz="2000" dirty="0" err="1">
                <a:effectLst/>
                <a:latin typeface="Calibri" panose="020F0502020204030204" pitchFamily="34" charset="0"/>
              </a:rPr>
              <a:t>java.awt.event</a:t>
            </a:r>
            <a:r>
              <a:rPr lang="en-IN" sz="2000" dirty="0">
                <a:effectLst/>
                <a:latin typeface="Calibri" panose="020F0502020204030204" pitchFamily="34" charset="0"/>
              </a:rPr>
              <a:t> package </a:t>
            </a:r>
          </a:p>
          <a:p>
            <a:pPr>
              <a:buFont typeface="+mj-lt"/>
              <a:buAutoNum type="arabicPeriod"/>
            </a:pPr>
            <a:r>
              <a:rPr lang="en-IN" sz="2000" dirty="0">
                <a:effectLst/>
                <a:latin typeface="Calibri" panose="020F0502020204030204" pitchFamily="34" charset="0"/>
              </a:rPr>
              <a:t>The listeners are different from component to component. </a:t>
            </a:r>
          </a:p>
          <a:p>
            <a:pPr marL="0" indent="0">
              <a:buNone/>
            </a:pPr>
            <a:r>
              <a:rPr lang="en-IN" sz="2000" dirty="0">
                <a:latin typeface="Calibri" panose="020F0502020204030204" pitchFamily="34" charset="0"/>
              </a:rPr>
              <a:t>A component delegate event to the listener and listener is designates the event to appropriate method by executing that method only the event is handled. This is called </a:t>
            </a:r>
            <a:r>
              <a:rPr lang="en-IN" sz="2000" b="1" dirty="0">
                <a:latin typeface="Calibri" panose="020F0502020204030204" pitchFamily="34" charset="0"/>
              </a:rPr>
              <a:t>Event Delegation Model</a:t>
            </a:r>
            <a:r>
              <a:rPr lang="en-IN" sz="2000" dirty="0">
                <a:latin typeface="Calibri" panose="020F0502020204030204" pitchFamily="34" charset="0"/>
              </a:rPr>
              <a:t>. </a:t>
            </a:r>
          </a:p>
        </p:txBody>
      </p:sp>
      <p:sp>
        <p:nvSpPr>
          <p:cNvPr id="4" name="Footer Placeholder 3">
            <a:extLst>
              <a:ext uri="{FF2B5EF4-FFF2-40B4-BE49-F238E27FC236}">
                <a16:creationId xmlns:a16="http://schemas.microsoft.com/office/drawing/2014/main" id="{3B7B6FF1-A3B0-D435-1DBD-5BC0440822D4}"/>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589307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19FEC-09E1-7EC2-2E38-B3F688F69686}"/>
              </a:ext>
            </a:extLst>
          </p:cNvPr>
          <p:cNvSpPr>
            <a:spLocks noGrp="1"/>
          </p:cNvSpPr>
          <p:nvPr>
            <p:ph type="title"/>
          </p:nvPr>
        </p:nvSpPr>
        <p:spPr/>
        <p:txBody>
          <a:bodyPr/>
          <a:lstStyle/>
          <a:p>
            <a:endParaRPr lang="en-US"/>
          </a:p>
        </p:txBody>
      </p:sp>
      <p:pic>
        <p:nvPicPr>
          <p:cNvPr id="6" name="Content Placeholder 5" descr="A diagram of a diagram&#10;&#10;Description automatically generated">
            <a:extLst>
              <a:ext uri="{FF2B5EF4-FFF2-40B4-BE49-F238E27FC236}">
                <a16:creationId xmlns:a16="http://schemas.microsoft.com/office/drawing/2014/main" id="{9C66FD9A-B724-8BD5-7B6C-7C3729367F5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613" y="2298700"/>
            <a:ext cx="9167229" cy="3022600"/>
          </a:xfrm>
        </p:spPr>
      </p:pic>
      <p:sp>
        <p:nvSpPr>
          <p:cNvPr id="4" name="Footer Placeholder 3">
            <a:extLst>
              <a:ext uri="{FF2B5EF4-FFF2-40B4-BE49-F238E27FC236}">
                <a16:creationId xmlns:a16="http://schemas.microsoft.com/office/drawing/2014/main" id="{123C43D9-2344-F51A-7030-FFC3BB4C1D12}"/>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9245147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F1C77-0004-7362-4ED0-0A39137BB31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4287F94-2C61-3B10-6117-72B67E402AFB}"/>
              </a:ext>
            </a:extLst>
          </p:cNvPr>
          <p:cNvSpPr>
            <a:spLocks noGrp="1"/>
          </p:cNvSpPr>
          <p:nvPr>
            <p:ph idx="1"/>
          </p:nvPr>
        </p:nvSpPr>
        <p:spPr/>
        <p:txBody>
          <a:bodyPr/>
          <a:lstStyle/>
          <a:p>
            <a:r>
              <a:rPr lang="en-IN" sz="2000" dirty="0">
                <a:effectLst/>
                <a:latin typeface="Calibri,Bold"/>
              </a:rPr>
              <a:t>Note: -</a:t>
            </a:r>
            <a:br>
              <a:rPr lang="en-IN" sz="2000" dirty="0">
                <a:effectLst/>
                <a:latin typeface="Calibri,Bold"/>
              </a:rPr>
            </a:br>
            <a:r>
              <a:rPr lang="en-IN" sz="2000" dirty="0">
                <a:effectLst/>
                <a:latin typeface="Calibri,Bold"/>
              </a:rPr>
              <a:t>To attach a particular listener to the Frame we have to use following method </a:t>
            </a:r>
            <a:endParaRPr lang="en-IN" sz="3600" dirty="0"/>
          </a:p>
          <a:p>
            <a:r>
              <a:rPr lang="en-IN" sz="2000" dirty="0">
                <a:effectLst/>
                <a:latin typeface="Calibri,Bold"/>
              </a:rPr>
              <a:t>Public void </a:t>
            </a:r>
            <a:r>
              <a:rPr lang="en-IN" sz="2000" dirty="0" err="1">
                <a:effectLst/>
                <a:latin typeface="Calibri,Bold"/>
              </a:rPr>
              <a:t>AddxxxListener</a:t>
            </a:r>
            <a:r>
              <a:rPr lang="en-IN" sz="2000" dirty="0">
                <a:effectLst/>
                <a:latin typeface="Calibri,Bold"/>
              </a:rPr>
              <a:t>(</a:t>
            </a:r>
            <a:r>
              <a:rPr lang="en-IN" sz="2000" dirty="0" err="1">
                <a:effectLst/>
                <a:latin typeface="Calibri,Bold"/>
              </a:rPr>
              <a:t>xxxListener</a:t>
            </a:r>
            <a:r>
              <a:rPr lang="en-IN" sz="2000" dirty="0">
                <a:effectLst/>
                <a:latin typeface="Calibri,Bold"/>
              </a:rPr>
              <a:t> e)</a:t>
            </a:r>
            <a:br>
              <a:rPr lang="en-IN" sz="2000" dirty="0">
                <a:effectLst/>
                <a:latin typeface="Calibri,Bold"/>
              </a:rPr>
            </a:br>
            <a:r>
              <a:rPr lang="en-IN" sz="2000" dirty="0">
                <a:effectLst/>
                <a:latin typeface="Calibri,Bold"/>
              </a:rPr>
              <a:t>Where xxx may be ActionListener, </a:t>
            </a:r>
            <a:r>
              <a:rPr lang="en-IN" sz="2000" dirty="0" err="1">
                <a:effectLst/>
                <a:latin typeface="Calibri,Bold"/>
              </a:rPr>
              <a:t>windowListener</a:t>
            </a:r>
            <a:br>
              <a:rPr lang="en-IN" sz="2000" dirty="0">
                <a:effectLst/>
                <a:latin typeface="Calibri,Bold"/>
              </a:rPr>
            </a:br>
            <a:r>
              <a:rPr lang="en-IN" sz="2000" dirty="0">
                <a:effectLst/>
                <a:latin typeface="Calibri,Bold"/>
              </a:rPr>
              <a:t>The Appropriate Listener for the Frame is “</a:t>
            </a:r>
            <a:r>
              <a:rPr lang="en-IN" sz="2000" dirty="0" err="1">
                <a:effectLst/>
                <a:latin typeface="Calibri,Bold"/>
              </a:rPr>
              <a:t>windowListener</a:t>
            </a:r>
            <a:r>
              <a:rPr lang="en-IN" sz="2000" dirty="0">
                <a:effectLst/>
                <a:latin typeface="Calibri,Bold"/>
              </a:rPr>
              <a:t>” </a:t>
            </a:r>
            <a:endParaRPr lang="en-IN" sz="3600" dirty="0"/>
          </a:p>
          <a:p>
            <a:endParaRPr lang="en-US" sz="3600" dirty="0"/>
          </a:p>
        </p:txBody>
      </p:sp>
      <p:sp>
        <p:nvSpPr>
          <p:cNvPr id="4" name="Footer Placeholder 3">
            <a:extLst>
              <a:ext uri="{FF2B5EF4-FFF2-40B4-BE49-F238E27FC236}">
                <a16:creationId xmlns:a16="http://schemas.microsoft.com/office/drawing/2014/main" id="{6365C8E0-9293-7CB9-F207-7CD9F57C629D}"/>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2579391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E39A7F-C2D4-6DA3-831A-BFA1E3A45A04}"/>
              </a:ext>
            </a:extLst>
          </p:cNvPr>
          <p:cNvSpPr>
            <a:spLocks noGrp="1"/>
          </p:cNvSpPr>
          <p:nvPr>
            <p:ph idx="1"/>
          </p:nvPr>
        </p:nvSpPr>
        <p:spPr>
          <a:xfrm>
            <a:off x="457200" y="76200"/>
            <a:ext cx="8229600" cy="6248400"/>
          </a:xfrm>
        </p:spPr>
        <p:txBody>
          <a:bodyPr/>
          <a:lstStyle/>
          <a:p>
            <a:pPr marL="0" marR="0" indent="0">
              <a:spcBef>
                <a:spcPts val="0"/>
              </a:spcBef>
              <a:spcAft>
                <a:spcPts val="0"/>
              </a:spcAft>
              <a:buNone/>
            </a:pP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a:t>
            </a:r>
            <a:r>
              <a:rPr lang="en-IN" sz="1600" u="sng" dirty="0" err="1">
                <a:solidFill>
                  <a:srgbClr val="000000"/>
                </a:solidFill>
                <a:effectLst/>
                <a:latin typeface="Menlo" panose="020B0609030804020204" pitchFamily="49" charset="0"/>
              </a:rPr>
              <a:t>MyFrame</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extends</a:t>
            </a:r>
            <a:r>
              <a:rPr lang="en-IN" sz="1600" dirty="0">
                <a:solidFill>
                  <a:srgbClr val="000000"/>
                </a:solidFill>
                <a:effectLst/>
                <a:latin typeface="Menlo" panose="020B0609030804020204" pitchFamily="49" charset="0"/>
              </a:rPr>
              <a:t> Frame </a:t>
            </a:r>
            <a:r>
              <a:rPr lang="en-IN" sz="1600" b="1" dirty="0">
                <a:solidFill>
                  <a:srgbClr val="7F0055"/>
                </a:solidFill>
                <a:effectLst/>
                <a:latin typeface="Menlo" panose="020B0609030804020204" pitchFamily="49" charset="0"/>
              </a:rPr>
              <a:t>implements</a:t>
            </a:r>
            <a:r>
              <a:rPr lang="en-IN" sz="1600" dirty="0">
                <a:solidFill>
                  <a:srgbClr val="000000"/>
                </a:solidFill>
                <a:effectLst/>
                <a:latin typeface="Menlo" panose="020B0609030804020204" pitchFamily="49" charset="0"/>
              </a:rPr>
              <a:t> ActionListener {</a:t>
            </a:r>
          </a:p>
          <a:p>
            <a:pPr marL="0" marR="0" indent="0">
              <a:spcBef>
                <a:spcPts val="0"/>
              </a:spcBef>
              <a:spcAft>
                <a:spcPts val="0"/>
              </a:spcAft>
              <a:buNone/>
            </a:pPr>
            <a:r>
              <a:rPr lang="en-IN" sz="1600" dirty="0" err="1">
                <a:solidFill>
                  <a:srgbClr val="000000"/>
                </a:solidFill>
                <a:effectLst/>
                <a:latin typeface="Menlo" panose="020B0609030804020204" pitchFamily="49" charset="0"/>
              </a:rPr>
              <a:t>TextField</a:t>
            </a:r>
            <a:r>
              <a:rPr lang="en-IN" sz="1600" dirty="0">
                <a:solidFill>
                  <a:srgbClr val="000000"/>
                </a:solidFill>
                <a:effectLst/>
                <a:latin typeface="Menlo" panose="020B0609030804020204" pitchFamily="49" charset="0"/>
              </a:rPr>
              <a:t> </a:t>
            </a:r>
            <a:r>
              <a:rPr lang="en-IN" sz="1600" dirty="0">
                <a:solidFill>
                  <a:srgbClr val="0000C0"/>
                </a:solidFill>
                <a:effectLst/>
                <a:latin typeface="Menlo" panose="020B0609030804020204" pitchFamily="49" charset="0"/>
              </a:rPr>
              <a:t>tx1</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tx2</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tx3</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Label </a:t>
            </a:r>
            <a:r>
              <a:rPr lang="en-IN" sz="1600" dirty="0">
                <a:solidFill>
                  <a:srgbClr val="0000C0"/>
                </a:solidFill>
                <a:effectLst/>
                <a:latin typeface="Menlo" panose="020B0609030804020204" pitchFamily="49" charset="0"/>
              </a:rPr>
              <a:t>l1</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l2</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l3</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Button </a:t>
            </a:r>
            <a:r>
              <a:rPr lang="en-IN" sz="1600" dirty="0">
                <a:solidFill>
                  <a:srgbClr val="0000C0"/>
                </a:solidFill>
                <a:effectLst/>
                <a:latin typeface="Menlo" panose="020B0609030804020204" pitchFamily="49" charset="0"/>
              </a:rPr>
              <a:t>b1</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b2</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b="1" dirty="0">
                <a:solidFill>
                  <a:srgbClr val="7F0055"/>
                </a:solidFill>
                <a:effectLst/>
                <a:latin typeface="Menlo" panose="020B0609030804020204" pitchFamily="49" charset="0"/>
              </a:rPr>
              <a:t>int</a:t>
            </a:r>
            <a:r>
              <a:rPr lang="en-IN" sz="1600" dirty="0">
                <a:solidFill>
                  <a:srgbClr val="000000"/>
                </a:solidFill>
                <a:effectLst/>
                <a:latin typeface="Menlo" panose="020B0609030804020204" pitchFamily="49" charset="0"/>
              </a:rPr>
              <a:t> </a:t>
            </a:r>
            <a:r>
              <a:rPr lang="en-IN" sz="1600" dirty="0">
                <a:solidFill>
                  <a:srgbClr val="0000C0"/>
                </a:solidFill>
                <a:effectLst/>
                <a:latin typeface="Menlo" panose="020B0609030804020204" pitchFamily="49" charset="0"/>
              </a:rPr>
              <a:t>result</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err="1">
                <a:solidFill>
                  <a:srgbClr val="000000"/>
                </a:solidFill>
                <a:effectLst/>
                <a:latin typeface="Menlo" panose="020B0609030804020204" pitchFamily="49" charset="0"/>
              </a:rPr>
              <a:t>MyFrame</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.setSize</a:t>
            </a:r>
            <a:r>
              <a:rPr lang="en-IN" sz="1600" dirty="0">
                <a:solidFill>
                  <a:srgbClr val="000000"/>
                </a:solidFill>
                <a:effectLst/>
                <a:latin typeface="Menlo" panose="020B0609030804020204" pitchFamily="49" charset="0"/>
              </a:rPr>
              <a:t>(250,400); </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.setVisible</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true</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.setLayout</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FlowLayout</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C0"/>
                </a:solidFill>
                <a:effectLst/>
                <a:latin typeface="Menlo" panose="020B0609030804020204" pitchFamily="49" charset="0"/>
              </a:rPr>
              <a:t>l1</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Label(</a:t>
            </a:r>
            <a:r>
              <a:rPr lang="en-IN" sz="1600" dirty="0">
                <a:solidFill>
                  <a:srgbClr val="2A00FF"/>
                </a:solidFill>
                <a:effectLst/>
                <a:latin typeface="Menlo" panose="020B0609030804020204" pitchFamily="49" charset="0"/>
              </a:rPr>
              <a:t>"first value"</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C0"/>
                </a:solidFill>
                <a:effectLst/>
                <a:latin typeface="Menlo" panose="020B0609030804020204" pitchFamily="49" charset="0"/>
              </a:rPr>
              <a:t>l2</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Label(</a:t>
            </a:r>
            <a:r>
              <a:rPr lang="en-IN" sz="1600" dirty="0">
                <a:solidFill>
                  <a:srgbClr val="2A00FF"/>
                </a:solidFill>
                <a:effectLst/>
                <a:latin typeface="Menlo" panose="020B0609030804020204" pitchFamily="49" charset="0"/>
              </a:rPr>
              <a:t>"second value"</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C0"/>
                </a:solidFill>
                <a:effectLst/>
                <a:latin typeface="Menlo" panose="020B0609030804020204" pitchFamily="49" charset="0"/>
              </a:rPr>
              <a:t>l3</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Label(</a:t>
            </a:r>
            <a:r>
              <a:rPr lang="en-IN" sz="1600" dirty="0">
                <a:solidFill>
                  <a:srgbClr val="2A00FF"/>
                </a:solidFill>
                <a:effectLst/>
                <a:latin typeface="Menlo" panose="020B0609030804020204" pitchFamily="49" charset="0"/>
              </a:rPr>
              <a:t>"result"</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C0"/>
                </a:solidFill>
                <a:effectLst/>
                <a:latin typeface="Menlo" panose="020B0609030804020204" pitchFamily="49" charset="0"/>
              </a:rPr>
              <a:t>tx1</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TextField</a:t>
            </a:r>
            <a:r>
              <a:rPr lang="en-IN" sz="1600" dirty="0">
                <a:solidFill>
                  <a:srgbClr val="000000"/>
                </a:solidFill>
                <a:effectLst/>
                <a:latin typeface="Menlo" panose="020B0609030804020204" pitchFamily="49" charset="0"/>
              </a:rPr>
              <a:t>(25); </a:t>
            </a:r>
          </a:p>
          <a:p>
            <a:pPr marL="0" marR="0" indent="0">
              <a:spcBef>
                <a:spcPts val="0"/>
              </a:spcBef>
              <a:spcAft>
                <a:spcPts val="0"/>
              </a:spcAft>
              <a:buNone/>
            </a:pPr>
            <a:r>
              <a:rPr lang="en-IN" sz="1600" dirty="0">
                <a:solidFill>
                  <a:srgbClr val="0000C0"/>
                </a:solidFill>
                <a:effectLst/>
                <a:latin typeface="Menlo" panose="020B0609030804020204" pitchFamily="49" charset="0"/>
              </a:rPr>
              <a:t>tx2</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TextField</a:t>
            </a:r>
            <a:r>
              <a:rPr lang="en-IN" sz="1600" dirty="0">
                <a:solidFill>
                  <a:srgbClr val="000000"/>
                </a:solidFill>
                <a:effectLst/>
                <a:latin typeface="Menlo" panose="020B0609030804020204" pitchFamily="49" charset="0"/>
              </a:rPr>
              <a:t>(25);</a:t>
            </a:r>
          </a:p>
          <a:p>
            <a:pPr marL="0" marR="0" indent="0">
              <a:spcBef>
                <a:spcPts val="0"/>
              </a:spcBef>
              <a:spcAft>
                <a:spcPts val="0"/>
              </a:spcAft>
              <a:buNone/>
            </a:pPr>
            <a:r>
              <a:rPr lang="en-IN" sz="1600" dirty="0">
                <a:solidFill>
                  <a:srgbClr val="0000C0"/>
                </a:solidFill>
                <a:effectLst/>
                <a:latin typeface="Menlo" panose="020B0609030804020204" pitchFamily="49" charset="0"/>
              </a:rPr>
              <a:t>tx3</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TextField</a:t>
            </a:r>
            <a:r>
              <a:rPr lang="en-IN" sz="1600" dirty="0">
                <a:solidFill>
                  <a:srgbClr val="000000"/>
                </a:solidFill>
                <a:effectLst/>
                <a:latin typeface="Menlo" panose="020B0609030804020204" pitchFamily="49" charset="0"/>
              </a:rPr>
              <a:t>(25);</a:t>
            </a:r>
          </a:p>
          <a:p>
            <a:pPr marL="0" marR="0" indent="0">
              <a:spcBef>
                <a:spcPts val="0"/>
              </a:spcBef>
              <a:spcAft>
                <a:spcPts val="0"/>
              </a:spcAft>
              <a:buNone/>
            </a:pPr>
            <a:r>
              <a:rPr lang="en-IN" sz="1600" dirty="0">
                <a:solidFill>
                  <a:srgbClr val="0000C0"/>
                </a:solidFill>
                <a:effectLst/>
                <a:latin typeface="Menlo" panose="020B0609030804020204" pitchFamily="49" charset="0"/>
              </a:rPr>
              <a:t>b1</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Button(</a:t>
            </a:r>
            <a:r>
              <a:rPr lang="en-IN" sz="1600" dirty="0">
                <a:solidFill>
                  <a:srgbClr val="2A00FF"/>
                </a:solidFill>
                <a:effectLst/>
                <a:latin typeface="Menlo" panose="020B0609030804020204" pitchFamily="49" charset="0"/>
              </a:rPr>
              <a:t>"add"</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C0"/>
                </a:solidFill>
                <a:effectLst/>
                <a:latin typeface="Menlo" panose="020B0609030804020204" pitchFamily="49" charset="0"/>
              </a:rPr>
              <a:t>b2</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Button(</a:t>
            </a:r>
            <a:r>
              <a:rPr lang="en-IN" sz="1600" dirty="0">
                <a:solidFill>
                  <a:srgbClr val="2A00FF"/>
                </a:solidFill>
                <a:effectLst/>
                <a:latin typeface="Menlo" panose="020B0609030804020204" pitchFamily="49" charset="0"/>
              </a:rPr>
              <a:t>"</a:t>
            </a:r>
            <a:r>
              <a:rPr lang="en-IN" sz="1600" dirty="0" err="1">
                <a:solidFill>
                  <a:srgbClr val="2A00FF"/>
                </a:solidFill>
                <a:effectLst/>
                <a:latin typeface="Menlo" panose="020B0609030804020204" pitchFamily="49" charset="0"/>
              </a:rPr>
              <a:t>mul</a:t>
            </a:r>
            <a:r>
              <a:rPr lang="en-IN" sz="1600" dirty="0">
                <a:solidFill>
                  <a:srgbClr val="2A00FF"/>
                </a:solidFill>
                <a:effectLst/>
                <a:latin typeface="Menlo" panose="020B0609030804020204" pitchFamily="49" charset="0"/>
              </a:rPr>
              <a:t>"</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C0"/>
                </a:solidFill>
                <a:effectLst/>
                <a:latin typeface="Menlo" panose="020B0609030804020204" pitchFamily="49" charset="0"/>
              </a:rPr>
              <a:t>b1</a:t>
            </a:r>
            <a:r>
              <a:rPr lang="en-IN" sz="1600" dirty="0">
                <a:solidFill>
                  <a:srgbClr val="000000"/>
                </a:solidFill>
                <a:effectLst/>
                <a:latin typeface="Menlo" panose="020B0609030804020204" pitchFamily="49" charset="0"/>
              </a:rPr>
              <a:t>.addActionListener(</a:t>
            </a:r>
            <a:r>
              <a:rPr lang="en-IN" sz="1600" b="1" dirty="0">
                <a:solidFill>
                  <a:srgbClr val="7F0055"/>
                </a:solidFill>
                <a:effectLst/>
                <a:latin typeface="Menlo" panose="020B0609030804020204" pitchFamily="49" charset="0"/>
              </a:rPr>
              <a:t>this</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C0"/>
                </a:solidFill>
                <a:effectLst/>
                <a:latin typeface="Menlo" panose="020B0609030804020204" pitchFamily="49" charset="0"/>
              </a:rPr>
              <a:t>b2</a:t>
            </a:r>
            <a:r>
              <a:rPr lang="en-IN" sz="1600" dirty="0">
                <a:solidFill>
                  <a:srgbClr val="000000"/>
                </a:solidFill>
                <a:effectLst/>
                <a:latin typeface="Menlo" panose="020B0609030804020204" pitchFamily="49" charset="0"/>
              </a:rPr>
              <a:t>.addActionListener(</a:t>
            </a:r>
            <a:r>
              <a:rPr lang="en-IN" sz="1600" b="1" dirty="0">
                <a:solidFill>
                  <a:srgbClr val="7F0055"/>
                </a:solidFill>
                <a:effectLst/>
                <a:latin typeface="Menlo" panose="020B0609030804020204" pitchFamily="49" charset="0"/>
              </a:rPr>
              <a:t>this</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.add</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l1</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.add</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tx1</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.add</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l2</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.add</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tx2</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.add</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l3</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.add</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tx3</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.add</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b1</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.add</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b2</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indent="0">
              <a:buNone/>
            </a:pPr>
            <a:endParaRPr lang="en-US" sz="2800" dirty="0"/>
          </a:p>
        </p:txBody>
      </p:sp>
      <p:sp>
        <p:nvSpPr>
          <p:cNvPr id="4" name="Footer Placeholder 3">
            <a:extLst>
              <a:ext uri="{FF2B5EF4-FFF2-40B4-BE49-F238E27FC236}">
                <a16:creationId xmlns:a16="http://schemas.microsoft.com/office/drawing/2014/main" id="{D1F61E64-9B6F-D8B2-40A5-5EE22EB860BB}"/>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6089312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06960-A17A-5990-C7E0-36B97786810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53081A8-699A-AD70-5A7A-9689E4A49A5B}"/>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actionPerformed</a:t>
            </a:r>
            <a:r>
              <a:rPr lang="en-IN" sz="1800" dirty="0">
                <a:solidFill>
                  <a:srgbClr val="000000"/>
                </a:solidFill>
                <a:effectLst/>
                <a:latin typeface="Menlo" panose="020B0609030804020204" pitchFamily="49" charset="0"/>
              </a:rPr>
              <a:t>(</a:t>
            </a:r>
            <a:r>
              <a:rPr lang="en-IN" sz="1800" u="sng" dirty="0" err="1">
                <a:solidFill>
                  <a:srgbClr val="000000"/>
                </a:solidFill>
                <a:effectLst/>
                <a:latin typeface="Menlo" panose="020B0609030804020204" pitchFamily="49" charset="0"/>
              </a:rPr>
              <a:t>ActionEvent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a:solidFill>
                  <a:srgbClr val="7F0055"/>
                </a:solidFill>
                <a:effectLst/>
                <a:latin typeface="Menlo" panose="020B0609030804020204" pitchFamily="49" charset="0"/>
              </a:rPr>
              <a:t>try</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fval</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Integer.</a:t>
            </a:r>
            <a:r>
              <a:rPr lang="en-IN" sz="1800" i="1" dirty="0" err="1">
                <a:solidFill>
                  <a:srgbClr val="000000"/>
                </a:solidFill>
                <a:effectLst/>
                <a:latin typeface="Menlo" panose="020B0609030804020204" pitchFamily="49" charset="0"/>
              </a:rPr>
              <a:t>parseInt</a:t>
            </a:r>
            <a:r>
              <a:rPr lang="en-IN" sz="1800" dirty="0">
                <a:solidFill>
                  <a:srgbClr val="000000"/>
                </a:solidFill>
                <a:effectLst/>
                <a:latin typeface="Menlo" panose="020B0609030804020204" pitchFamily="49" charset="0"/>
              </a:rPr>
              <a:t>(</a:t>
            </a:r>
            <a:r>
              <a:rPr lang="en-IN" sz="1800" u="sng" dirty="0">
                <a:solidFill>
                  <a:srgbClr val="000000"/>
                </a:solidFill>
                <a:effectLst/>
                <a:latin typeface="Menlo" panose="020B0609030804020204" pitchFamily="49" charset="0"/>
              </a:rPr>
              <a:t>tx1</a:t>
            </a:r>
            <a:r>
              <a:rPr lang="en-IN" sz="1800" dirty="0">
                <a:solidFill>
                  <a:srgbClr val="000000"/>
                </a:solidFill>
                <a:effectLst/>
                <a:latin typeface="Menlo" panose="020B0609030804020204" pitchFamily="49" charset="0"/>
              </a:rPr>
              <a:t>.getText()); </a:t>
            </a:r>
          </a:p>
          <a:p>
            <a:pPr marL="0" marR="0" indent="0">
              <a:spcBef>
                <a:spcPts val="0"/>
              </a:spcBef>
              <a:spcAft>
                <a:spcPts val="0"/>
              </a:spcAft>
              <a:buNone/>
            </a:pP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sval</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Integer.</a:t>
            </a:r>
            <a:r>
              <a:rPr lang="en-IN" sz="1800" i="1" dirty="0" err="1">
                <a:solidFill>
                  <a:srgbClr val="000000"/>
                </a:solidFill>
                <a:effectLst/>
                <a:latin typeface="Menlo" panose="020B0609030804020204" pitchFamily="49" charset="0"/>
              </a:rPr>
              <a:t>parseInt</a:t>
            </a:r>
            <a:r>
              <a:rPr lang="en-IN" sz="1800" dirty="0">
                <a:solidFill>
                  <a:srgbClr val="000000"/>
                </a:solidFill>
                <a:effectLst/>
                <a:latin typeface="Menlo" panose="020B0609030804020204" pitchFamily="49" charset="0"/>
              </a:rPr>
              <a:t>(</a:t>
            </a:r>
            <a:r>
              <a:rPr lang="en-IN" sz="1800" u="sng" dirty="0">
                <a:solidFill>
                  <a:srgbClr val="000000"/>
                </a:solidFill>
                <a:effectLst/>
                <a:latin typeface="Menlo" panose="020B0609030804020204" pitchFamily="49" charset="0"/>
              </a:rPr>
              <a:t>tx2</a:t>
            </a:r>
            <a:r>
              <a:rPr lang="en-IN" sz="1800" dirty="0">
                <a:solidFill>
                  <a:srgbClr val="000000"/>
                </a:solidFill>
                <a:effectLst/>
                <a:latin typeface="Menlo" panose="020B0609030804020204" pitchFamily="49" charset="0"/>
              </a:rPr>
              <a:t>.getText());</a:t>
            </a:r>
          </a:p>
          <a:p>
            <a:pPr marL="0" marR="0" indent="0">
              <a:spcBef>
                <a:spcPts val="0"/>
              </a:spcBef>
              <a:spcAft>
                <a:spcPts val="0"/>
              </a:spcAft>
              <a:buNone/>
            </a:pPr>
            <a:r>
              <a:rPr lang="en-IN" sz="1800" dirty="0">
                <a:solidFill>
                  <a:srgbClr val="000000"/>
                </a:solidFill>
                <a:effectLst/>
                <a:latin typeface="Menlo" panose="020B0609030804020204" pitchFamily="49" charset="0"/>
              </a:rPr>
              <a:t>String </a:t>
            </a:r>
            <a:r>
              <a:rPr lang="en-IN" sz="1800" dirty="0">
                <a:solidFill>
                  <a:srgbClr val="6A3E3E"/>
                </a:solidFill>
                <a:effectLst/>
                <a:latin typeface="Menlo" panose="020B0609030804020204" pitchFamily="49" charset="0"/>
              </a:rPr>
              <a:t>label</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.getActionCommand</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label</a:t>
            </a:r>
            <a:r>
              <a:rPr lang="en-IN" sz="1800" dirty="0" err="1">
                <a:solidFill>
                  <a:srgbClr val="000000"/>
                </a:solidFill>
                <a:effectLst/>
                <a:latin typeface="Menlo" panose="020B0609030804020204" pitchFamily="49" charset="0"/>
              </a:rPr>
              <a:t>.equals</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"add"</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u="sng" dirty="0">
                <a:solidFill>
                  <a:srgbClr val="000000"/>
                </a:solidFill>
                <a:effectLst/>
                <a:latin typeface="Menlo" panose="020B0609030804020204" pitchFamily="49" charset="0"/>
              </a:rPr>
              <a:t>result</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fval</a:t>
            </a:r>
            <a:r>
              <a:rPr lang="en-IN" sz="1800" dirty="0" err="1">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sval</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label</a:t>
            </a:r>
            <a:r>
              <a:rPr lang="en-IN" sz="1800" dirty="0" err="1">
                <a:solidFill>
                  <a:srgbClr val="000000"/>
                </a:solidFill>
                <a:effectLst/>
                <a:latin typeface="Menlo" panose="020B0609030804020204" pitchFamily="49" charset="0"/>
              </a:rPr>
              <a:t>.equals</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mul</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u="sng" dirty="0">
                <a:solidFill>
                  <a:srgbClr val="000000"/>
                </a:solidFill>
                <a:effectLst/>
                <a:latin typeface="Menlo" panose="020B0609030804020204" pitchFamily="49" charset="0"/>
              </a:rPr>
              <a:t>result</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fval</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sval</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 </a:t>
            </a:r>
            <a:r>
              <a:rPr lang="en-IN" sz="1800" u="sng" dirty="0">
                <a:solidFill>
                  <a:srgbClr val="000000"/>
                </a:solidFill>
                <a:effectLst/>
                <a:latin typeface="Menlo" panose="020B0609030804020204" pitchFamily="49" charset="0"/>
              </a:rPr>
              <a:t>tx3</a:t>
            </a:r>
            <a:r>
              <a:rPr lang="en-IN" sz="1800" dirty="0">
                <a:solidFill>
                  <a:srgbClr val="000000"/>
                </a:solidFill>
                <a:effectLst/>
                <a:latin typeface="Menlo" panose="020B0609030804020204" pitchFamily="49" charset="0"/>
              </a:rPr>
              <a:t>.setText(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r>
              <a:rPr lang="en-IN" sz="1800" u="sng" dirty="0">
                <a:solidFill>
                  <a:srgbClr val="000000"/>
                </a:solidFill>
                <a:effectLst/>
                <a:latin typeface="Menlo" panose="020B0609030804020204" pitchFamily="49" charset="0"/>
              </a:rPr>
              <a:t>result</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a:solidFill>
                  <a:srgbClr val="7F0055"/>
                </a:solidFill>
                <a:effectLst/>
                <a:latin typeface="Menlo" panose="020B0609030804020204" pitchFamily="49" charset="0"/>
              </a:rPr>
              <a:t>catch</a:t>
            </a:r>
            <a:r>
              <a:rPr lang="en-IN" sz="1800" dirty="0">
                <a:solidFill>
                  <a:srgbClr val="000000"/>
                </a:solidFill>
                <a:effectLst/>
                <a:latin typeface="Menlo" panose="020B0609030804020204" pitchFamily="49" charset="0"/>
              </a:rPr>
              <a:t>(Exception </a:t>
            </a:r>
            <a:r>
              <a:rPr lang="en-IN" sz="1800" dirty="0" err="1">
                <a:solidFill>
                  <a:srgbClr val="6A3E3E"/>
                </a:solidFill>
                <a:effectLst/>
                <a:latin typeface="Menlo" panose="020B0609030804020204" pitchFamily="49" charset="0"/>
              </a:rPr>
              <a:t>ee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6A3E3E"/>
                </a:solidFill>
                <a:effectLst/>
                <a:latin typeface="Menlo" panose="020B0609030804020204" pitchFamily="49" charset="0"/>
              </a:rPr>
              <a:t>ee</a:t>
            </a:r>
            <a:r>
              <a:rPr lang="en-IN" sz="1800" dirty="0" err="1">
                <a:solidFill>
                  <a:srgbClr val="000000"/>
                </a:solidFill>
                <a:effectLst/>
                <a:latin typeface="Menlo" panose="020B0609030804020204" pitchFamily="49" charset="0"/>
              </a:rPr>
              <a:t>.printStackTrace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Demo {</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u="sng"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 }</a:t>
            </a:r>
          </a:p>
          <a:p>
            <a:pPr marL="0" indent="0">
              <a:buNone/>
            </a:pPr>
            <a:endParaRPr lang="en-US" dirty="0"/>
          </a:p>
        </p:txBody>
      </p:sp>
      <p:sp>
        <p:nvSpPr>
          <p:cNvPr id="4" name="Footer Placeholder 3">
            <a:extLst>
              <a:ext uri="{FF2B5EF4-FFF2-40B4-BE49-F238E27FC236}">
                <a16:creationId xmlns:a16="http://schemas.microsoft.com/office/drawing/2014/main" id="{C544502B-221F-8701-4709-833957592485}"/>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8848625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1F3BD-1DB3-6095-D645-630E56A200E4}"/>
              </a:ext>
            </a:extLst>
          </p:cNvPr>
          <p:cNvSpPr>
            <a:spLocks noGrp="1"/>
          </p:cNvSpPr>
          <p:nvPr>
            <p:ph type="title"/>
          </p:nvPr>
        </p:nvSpPr>
        <p:spPr/>
        <p:txBody>
          <a:bodyPr/>
          <a:lstStyle/>
          <a:p>
            <a:r>
              <a:rPr lang="en-IN" sz="4400" dirty="0" err="1">
                <a:effectLst/>
                <a:latin typeface="Calibri,Bold"/>
              </a:rPr>
              <a:t>ScrollBar</a:t>
            </a:r>
            <a:endParaRPr lang="en-US" dirty="0"/>
          </a:p>
        </p:txBody>
      </p:sp>
      <p:sp>
        <p:nvSpPr>
          <p:cNvPr id="3" name="Content Placeholder 2">
            <a:extLst>
              <a:ext uri="{FF2B5EF4-FFF2-40B4-BE49-F238E27FC236}">
                <a16:creationId xmlns:a16="http://schemas.microsoft.com/office/drawing/2014/main" id="{0DF5D911-33BD-E76B-B44C-2A5185EA198C}"/>
              </a:ext>
            </a:extLst>
          </p:cNvPr>
          <p:cNvSpPr>
            <a:spLocks noGrp="1"/>
          </p:cNvSpPr>
          <p:nvPr>
            <p:ph idx="1"/>
          </p:nvPr>
        </p:nvSpPr>
        <p:spPr/>
        <p:txBody>
          <a:bodyPr/>
          <a:lstStyle/>
          <a:p>
            <a:r>
              <a:rPr lang="en-IN" sz="2000" dirty="0">
                <a:effectLst/>
                <a:latin typeface="Calibri" panose="020F0502020204030204" pitchFamily="34" charset="0"/>
              </a:rPr>
              <a:t>1. </a:t>
            </a:r>
            <a:r>
              <a:rPr lang="en-IN" sz="2000" dirty="0" err="1">
                <a:effectLst/>
                <a:latin typeface="Calibri" panose="020F0502020204030204" pitchFamily="34" charset="0"/>
              </a:rPr>
              <a:t>ScrollBar</a:t>
            </a:r>
            <a:r>
              <a:rPr lang="en-IN" sz="2000" dirty="0">
                <a:effectLst/>
                <a:latin typeface="Calibri" panose="020F0502020204030204" pitchFamily="34" charset="0"/>
              </a:rPr>
              <a:t> is a class present in the </a:t>
            </a:r>
            <a:r>
              <a:rPr lang="en-IN" sz="2000" dirty="0" err="1">
                <a:effectLst/>
                <a:latin typeface="Calibri" panose="020F0502020204030204" pitchFamily="34" charset="0"/>
              </a:rPr>
              <a:t>java.qwt.package</a:t>
            </a:r>
            <a:br>
              <a:rPr lang="en-IN" sz="2000" dirty="0">
                <a:effectLst/>
                <a:latin typeface="Calibri" panose="020F0502020204030204" pitchFamily="34" charset="0"/>
              </a:rPr>
            </a:br>
            <a:r>
              <a:rPr lang="en-IN" sz="2000" dirty="0">
                <a:effectLst/>
                <a:latin typeface="Calibri" panose="020F0502020204030204" pitchFamily="34" charset="0"/>
              </a:rPr>
              <a:t>2. By using </a:t>
            </a:r>
            <a:r>
              <a:rPr lang="en-IN" sz="2000" dirty="0" err="1">
                <a:effectLst/>
                <a:latin typeface="Calibri" panose="020F0502020204030204" pitchFamily="34" charset="0"/>
              </a:rPr>
              <a:t>ScrollBar</a:t>
            </a:r>
            <a:r>
              <a:rPr lang="en-IN" sz="2000" dirty="0">
                <a:effectLst/>
                <a:latin typeface="Calibri" panose="020F0502020204030204" pitchFamily="34" charset="0"/>
              </a:rPr>
              <a:t> we can move the Frame up and down. </a:t>
            </a:r>
            <a:endParaRPr lang="en-IN" sz="3600" dirty="0"/>
          </a:p>
          <a:p>
            <a:r>
              <a:rPr lang="en-IN" sz="2000" dirty="0" err="1">
                <a:effectLst/>
                <a:latin typeface="Calibri" panose="020F0502020204030204" pitchFamily="34" charset="0"/>
              </a:rPr>
              <a:t>ScrollBar</a:t>
            </a:r>
            <a:r>
              <a:rPr lang="en-IN" sz="2000" dirty="0">
                <a:effectLst/>
                <a:latin typeface="Calibri" panose="020F0502020204030204" pitchFamily="34" charset="0"/>
              </a:rPr>
              <a:t> s=new </a:t>
            </a:r>
            <a:r>
              <a:rPr lang="en-IN" sz="2000" dirty="0" err="1">
                <a:effectLst/>
                <a:latin typeface="Calibri" panose="020F0502020204030204" pitchFamily="34" charset="0"/>
              </a:rPr>
              <a:t>ScrollBar</a:t>
            </a:r>
            <a:r>
              <a:rPr lang="en-IN" sz="2000" dirty="0">
                <a:effectLst/>
                <a:latin typeface="Calibri" panose="020F0502020204030204" pitchFamily="34" charset="0"/>
              </a:rPr>
              <a:t>(int type) </a:t>
            </a:r>
            <a:endParaRPr lang="en-IN" sz="3600" dirty="0"/>
          </a:p>
          <a:p>
            <a:endParaRPr lang="en-IN" sz="2000" dirty="0">
              <a:effectLst/>
              <a:latin typeface="Calibri" panose="020F0502020204030204" pitchFamily="34" charset="0"/>
            </a:endParaRPr>
          </a:p>
          <a:p>
            <a:r>
              <a:rPr lang="en-IN" sz="2000" dirty="0">
                <a:effectLst/>
                <a:latin typeface="Calibri" panose="020F0502020204030204" pitchFamily="34" charset="0"/>
              </a:rPr>
              <a:t>Type of scrollbar </a:t>
            </a:r>
            <a:endParaRPr lang="en-IN" sz="3600" dirty="0"/>
          </a:p>
          <a:p>
            <a:pPr>
              <a:buFont typeface="+mj-lt"/>
              <a:buAutoNum type="arabicPeriod"/>
            </a:pPr>
            <a:r>
              <a:rPr lang="en-IN" sz="2000" dirty="0">
                <a:effectLst/>
                <a:latin typeface="Calibri" panose="020F0502020204030204" pitchFamily="34" charset="0"/>
              </a:rPr>
              <a:t>VERTICAL </a:t>
            </a:r>
            <a:r>
              <a:rPr lang="en-IN" sz="2000" dirty="0" err="1">
                <a:effectLst/>
                <a:latin typeface="Calibri" panose="020F0502020204030204" pitchFamily="34" charset="0"/>
              </a:rPr>
              <a:t>ScrollBar</a:t>
            </a:r>
            <a:r>
              <a:rPr lang="en-IN" sz="2000" dirty="0">
                <a:effectLst/>
                <a:latin typeface="Calibri" panose="020F0502020204030204" pitchFamily="34" charset="0"/>
              </a:rPr>
              <a:t> </a:t>
            </a:r>
          </a:p>
          <a:p>
            <a:pPr>
              <a:buFont typeface="+mj-lt"/>
              <a:buAutoNum type="arabicPeriod"/>
            </a:pPr>
            <a:r>
              <a:rPr lang="en-IN" sz="2000" dirty="0">
                <a:effectLst/>
                <a:latin typeface="Calibri" panose="020F0502020204030204" pitchFamily="34" charset="0"/>
              </a:rPr>
              <a:t>HORIZONTAL </a:t>
            </a:r>
            <a:r>
              <a:rPr lang="en-IN" sz="2000" dirty="0" err="1">
                <a:effectLst/>
                <a:latin typeface="Calibri" panose="020F0502020204030204" pitchFamily="34" charset="0"/>
              </a:rPr>
              <a:t>ScrollBar</a:t>
            </a:r>
            <a:r>
              <a:rPr lang="en-IN" sz="2000" dirty="0">
                <a:effectLst/>
                <a:latin typeface="Calibri" panose="020F0502020204030204" pitchFamily="34" charset="0"/>
              </a:rPr>
              <a:t> </a:t>
            </a:r>
          </a:p>
          <a:p>
            <a:r>
              <a:rPr lang="en-IN" sz="2000" dirty="0">
                <a:effectLst/>
                <a:latin typeface="Calibri" panose="020F0502020204030204" pitchFamily="34" charset="0"/>
              </a:rPr>
              <a:t>To create a HORIZONTAL </a:t>
            </a:r>
            <a:r>
              <a:rPr lang="en-IN" sz="2000" dirty="0" err="1">
                <a:effectLst/>
                <a:latin typeface="Calibri" panose="020F0502020204030204" pitchFamily="34" charset="0"/>
              </a:rPr>
              <a:t>ScrollBar</a:t>
            </a:r>
            <a:r>
              <a:rPr lang="en-IN" sz="2000" dirty="0">
                <a:effectLst/>
                <a:latin typeface="Calibri,Bold"/>
              </a:rPr>
              <a:t>:-</a:t>
            </a:r>
            <a:br>
              <a:rPr lang="en-IN" sz="2000" dirty="0">
                <a:effectLst/>
                <a:latin typeface="Calibri,Bold"/>
              </a:rPr>
            </a:br>
            <a:r>
              <a:rPr lang="en-IN" sz="2000" dirty="0" err="1">
                <a:effectLst/>
                <a:latin typeface="Calibri" panose="020F0502020204030204" pitchFamily="34" charset="0"/>
              </a:rPr>
              <a:t>ScrollBar</a:t>
            </a:r>
            <a:r>
              <a:rPr lang="en-IN" sz="2000" dirty="0">
                <a:effectLst/>
                <a:latin typeface="Calibri" panose="020F0502020204030204" pitchFamily="34" charset="0"/>
              </a:rPr>
              <a:t> </a:t>
            </a:r>
            <a:r>
              <a:rPr lang="en-IN" sz="2000" dirty="0" err="1">
                <a:effectLst/>
                <a:latin typeface="Calibri" panose="020F0502020204030204" pitchFamily="34" charset="0"/>
              </a:rPr>
              <a:t>sb</a:t>
            </a:r>
            <a:r>
              <a:rPr lang="en-IN" sz="2000" dirty="0">
                <a:effectLst/>
                <a:latin typeface="Calibri" panose="020F0502020204030204" pitchFamily="34" charset="0"/>
              </a:rPr>
              <a:t>=new </a:t>
            </a:r>
            <a:r>
              <a:rPr lang="en-IN" sz="2000" dirty="0" err="1">
                <a:effectLst/>
                <a:latin typeface="Calibri" panose="020F0502020204030204" pitchFamily="34" charset="0"/>
              </a:rPr>
              <a:t>ScrollBar</a:t>
            </a:r>
            <a:r>
              <a:rPr lang="en-IN" sz="2000" dirty="0">
                <a:effectLst/>
                <a:latin typeface="Calibri" panose="020F0502020204030204" pitchFamily="34" charset="0"/>
              </a:rPr>
              <a:t>(</a:t>
            </a:r>
            <a:r>
              <a:rPr lang="en-IN" sz="2000" dirty="0" err="1">
                <a:effectLst/>
                <a:latin typeface="Calibri" panose="020F0502020204030204" pitchFamily="34" charset="0"/>
              </a:rPr>
              <a:t>ScrollBar.HORIZONTAL</a:t>
            </a:r>
            <a:r>
              <a:rPr lang="en-IN" sz="2000" dirty="0">
                <a:effectLst/>
                <a:latin typeface="Calibri" panose="020F0502020204030204" pitchFamily="34" charset="0"/>
              </a:rPr>
              <a:t>);</a:t>
            </a:r>
            <a:br>
              <a:rPr lang="en-IN" sz="2000" dirty="0">
                <a:effectLst/>
                <a:latin typeface="Calibri" panose="020F0502020204030204" pitchFamily="34" charset="0"/>
              </a:rPr>
            </a:br>
            <a:r>
              <a:rPr lang="en-IN" sz="2000" dirty="0">
                <a:effectLst/>
                <a:latin typeface="Calibri" panose="020F0502020204030204" pitchFamily="34" charset="0"/>
              </a:rPr>
              <a:t>To get the current position of the scrollbar we have to use the following method. public int </a:t>
            </a:r>
            <a:r>
              <a:rPr lang="en-IN" sz="2000" dirty="0" err="1">
                <a:effectLst/>
                <a:latin typeface="Calibri" panose="020F0502020204030204" pitchFamily="34" charset="0"/>
              </a:rPr>
              <a:t>getValue</a:t>
            </a:r>
            <a:r>
              <a:rPr lang="en-IN" sz="2000" dirty="0">
                <a:effectLst/>
                <a:latin typeface="Calibri" panose="020F0502020204030204" pitchFamily="34" charset="0"/>
              </a:rPr>
              <a:t>() </a:t>
            </a:r>
            <a:endParaRPr lang="en-IN" sz="3600" dirty="0"/>
          </a:p>
          <a:p>
            <a:r>
              <a:rPr lang="en-IN" sz="2000" dirty="0">
                <a:effectLst/>
                <a:latin typeface="Calibri" panose="020F0502020204030204" pitchFamily="34" charset="0"/>
              </a:rPr>
              <a:t>To create a VERTICAL </a:t>
            </a:r>
            <a:r>
              <a:rPr lang="en-IN" sz="2000" dirty="0" err="1">
                <a:effectLst/>
                <a:latin typeface="Calibri" panose="020F0502020204030204" pitchFamily="34" charset="0"/>
              </a:rPr>
              <a:t>ScrollBar</a:t>
            </a:r>
            <a:r>
              <a:rPr lang="en-IN" sz="2000" dirty="0">
                <a:effectLst/>
                <a:latin typeface="Calibri,Bold"/>
              </a:rPr>
              <a:t>:-</a:t>
            </a:r>
            <a:br>
              <a:rPr lang="en-IN" sz="2000" dirty="0">
                <a:effectLst/>
                <a:latin typeface="Calibri,Bold"/>
              </a:rPr>
            </a:br>
            <a:r>
              <a:rPr lang="en-IN" sz="2000" dirty="0" err="1">
                <a:effectLst/>
                <a:latin typeface="Calibri" panose="020F0502020204030204" pitchFamily="34" charset="0"/>
              </a:rPr>
              <a:t>ScrollBar</a:t>
            </a:r>
            <a:r>
              <a:rPr lang="en-IN" sz="2000" dirty="0">
                <a:effectLst/>
                <a:latin typeface="Calibri" panose="020F0502020204030204" pitchFamily="34" charset="0"/>
              </a:rPr>
              <a:t> </a:t>
            </a:r>
            <a:r>
              <a:rPr lang="en-IN" sz="2000" dirty="0" err="1">
                <a:effectLst/>
                <a:latin typeface="Calibri" panose="020F0502020204030204" pitchFamily="34" charset="0"/>
              </a:rPr>
              <a:t>sb</a:t>
            </a:r>
            <a:r>
              <a:rPr lang="en-IN" sz="2000" dirty="0">
                <a:effectLst/>
                <a:latin typeface="Calibri" panose="020F0502020204030204" pitchFamily="34" charset="0"/>
              </a:rPr>
              <a:t>=new </a:t>
            </a:r>
            <a:r>
              <a:rPr lang="en-IN" sz="2000" dirty="0" err="1">
                <a:effectLst/>
                <a:latin typeface="Calibri" panose="020F0502020204030204" pitchFamily="34" charset="0"/>
              </a:rPr>
              <a:t>ScrollBar</a:t>
            </a:r>
            <a:r>
              <a:rPr lang="en-IN" sz="2000" dirty="0">
                <a:effectLst/>
                <a:latin typeface="Calibri" panose="020F0502020204030204" pitchFamily="34" charset="0"/>
              </a:rPr>
              <a:t>(</a:t>
            </a:r>
            <a:r>
              <a:rPr lang="en-IN" sz="2000" dirty="0" err="1">
                <a:effectLst/>
                <a:latin typeface="Calibri" panose="020F0502020204030204" pitchFamily="34" charset="0"/>
              </a:rPr>
              <a:t>ScrollBar.VERTICAL</a:t>
            </a:r>
            <a:r>
              <a:rPr lang="en-IN" sz="2000" dirty="0">
                <a:effectLst/>
                <a:latin typeface="Calibri" panose="020F0502020204030204" pitchFamily="34" charset="0"/>
              </a:rPr>
              <a:t>); </a:t>
            </a:r>
            <a:endParaRPr lang="en-IN" sz="3600" dirty="0"/>
          </a:p>
        </p:txBody>
      </p:sp>
      <p:sp>
        <p:nvSpPr>
          <p:cNvPr id="4" name="Footer Placeholder 3">
            <a:extLst>
              <a:ext uri="{FF2B5EF4-FFF2-40B4-BE49-F238E27FC236}">
                <a16:creationId xmlns:a16="http://schemas.microsoft.com/office/drawing/2014/main" id="{A1AD6D31-32D5-8C52-AE27-D35B3E372AC1}"/>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3023971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A625C-19DF-0C17-A04B-59FAF7A8282E}"/>
              </a:ext>
            </a:extLst>
          </p:cNvPr>
          <p:cNvSpPr>
            <a:spLocks noGrp="1"/>
          </p:cNvSpPr>
          <p:nvPr>
            <p:ph type="title"/>
          </p:nvPr>
        </p:nvSpPr>
        <p:spPr/>
        <p:txBody>
          <a:bodyPr/>
          <a:lstStyle/>
          <a:p>
            <a:r>
              <a:rPr lang="en-IN" sz="3600" dirty="0">
                <a:effectLst/>
                <a:latin typeface="Calibri,Bold"/>
              </a:rPr>
              <a:t>Appropriate Listeners for Components</a:t>
            </a:r>
            <a:endParaRPr lang="en-US" sz="7200" dirty="0"/>
          </a:p>
        </p:txBody>
      </p:sp>
      <p:graphicFrame>
        <p:nvGraphicFramePr>
          <p:cNvPr id="5" name="Content Placeholder 4">
            <a:extLst>
              <a:ext uri="{FF2B5EF4-FFF2-40B4-BE49-F238E27FC236}">
                <a16:creationId xmlns:a16="http://schemas.microsoft.com/office/drawing/2014/main" id="{E06BBF69-A73F-F99C-CE56-F652B6CB0096}"/>
              </a:ext>
            </a:extLst>
          </p:cNvPr>
          <p:cNvGraphicFramePr>
            <a:graphicFrameLocks noGrp="1"/>
          </p:cNvGraphicFramePr>
          <p:nvPr>
            <p:ph idx="1"/>
            <p:extLst>
              <p:ext uri="{D42A27DB-BD31-4B8C-83A1-F6EECF244321}">
                <p14:modId xmlns:p14="http://schemas.microsoft.com/office/powerpoint/2010/main" val="1398019367"/>
              </p:ext>
            </p:extLst>
          </p:nvPr>
        </p:nvGraphicFramePr>
        <p:xfrm>
          <a:off x="0" y="1295400"/>
          <a:ext cx="9144000" cy="4551680"/>
        </p:xfrm>
        <a:graphic>
          <a:graphicData uri="http://schemas.openxmlformats.org/drawingml/2006/table">
            <a:tbl>
              <a:tblPr firstRow="1" bandRow="1">
                <a:tableStyleId>{073A0DAA-6AF3-43AB-8588-CEC1D06C72B9}</a:tableStyleId>
              </a:tblPr>
              <a:tblGrid>
                <a:gridCol w="1498600">
                  <a:extLst>
                    <a:ext uri="{9D8B030D-6E8A-4147-A177-3AD203B41FA5}">
                      <a16:colId xmlns:a16="http://schemas.microsoft.com/office/drawing/2014/main" val="1441835729"/>
                    </a:ext>
                  </a:extLst>
                </a:gridCol>
                <a:gridCol w="1816100">
                  <a:extLst>
                    <a:ext uri="{9D8B030D-6E8A-4147-A177-3AD203B41FA5}">
                      <a16:colId xmlns:a16="http://schemas.microsoft.com/office/drawing/2014/main" val="4224901128"/>
                    </a:ext>
                  </a:extLst>
                </a:gridCol>
                <a:gridCol w="1917700">
                  <a:extLst>
                    <a:ext uri="{9D8B030D-6E8A-4147-A177-3AD203B41FA5}">
                      <a16:colId xmlns:a16="http://schemas.microsoft.com/office/drawing/2014/main" val="3876311451"/>
                    </a:ext>
                  </a:extLst>
                </a:gridCol>
                <a:gridCol w="3911600">
                  <a:extLst>
                    <a:ext uri="{9D8B030D-6E8A-4147-A177-3AD203B41FA5}">
                      <a16:colId xmlns:a16="http://schemas.microsoft.com/office/drawing/2014/main" val="2838208328"/>
                    </a:ext>
                  </a:extLst>
                </a:gridCol>
              </a:tblGrid>
              <a:tr h="370840">
                <a:tc>
                  <a:txBody>
                    <a:bodyPr/>
                    <a:lstStyle/>
                    <a:p>
                      <a:r>
                        <a:rPr lang="en-US" sz="1400" dirty="0"/>
                        <a:t>Component</a:t>
                      </a:r>
                    </a:p>
                  </a:txBody>
                  <a:tcPr/>
                </a:tc>
                <a:tc>
                  <a:txBody>
                    <a:bodyPr/>
                    <a:lstStyle/>
                    <a:p>
                      <a:r>
                        <a:rPr lang="en-US" sz="1400" dirty="0"/>
                        <a:t>Event Name</a:t>
                      </a:r>
                    </a:p>
                  </a:txBody>
                  <a:tcPr/>
                </a:tc>
                <a:tc>
                  <a:txBody>
                    <a:bodyPr/>
                    <a:lstStyle/>
                    <a:p>
                      <a:r>
                        <a:rPr lang="en-US" sz="1400" dirty="0"/>
                        <a:t>Listener Name</a:t>
                      </a:r>
                    </a:p>
                  </a:txBody>
                  <a:tcPr/>
                </a:tc>
                <a:tc>
                  <a:txBody>
                    <a:bodyPr/>
                    <a:lstStyle/>
                    <a:p>
                      <a:r>
                        <a:rPr lang="en-US" sz="1400" dirty="0"/>
                        <a:t>Listener Methods</a:t>
                      </a:r>
                    </a:p>
                  </a:txBody>
                  <a:tcPr/>
                </a:tc>
                <a:extLst>
                  <a:ext uri="{0D108BD9-81ED-4DB2-BD59-A6C34878D82A}">
                    <a16:rowId xmlns:a16="http://schemas.microsoft.com/office/drawing/2014/main" val="504153544"/>
                  </a:ext>
                </a:extLst>
              </a:tr>
              <a:tr h="370840">
                <a:tc>
                  <a:txBody>
                    <a:bodyPr/>
                    <a:lstStyle/>
                    <a:p>
                      <a:r>
                        <a:rPr lang="en-US" sz="1400" dirty="0"/>
                        <a:t>Frame</a:t>
                      </a:r>
                    </a:p>
                  </a:txBody>
                  <a:tcPr/>
                </a:tc>
                <a:tc>
                  <a:txBody>
                    <a:bodyPr/>
                    <a:lstStyle/>
                    <a:p>
                      <a:r>
                        <a:rPr lang="en-US" sz="1400" dirty="0"/>
                        <a:t>Window Event</a:t>
                      </a:r>
                    </a:p>
                  </a:txBody>
                  <a:tcPr/>
                </a:tc>
                <a:tc>
                  <a:txBody>
                    <a:bodyPr/>
                    <a:lstStyle/>
                    <a:p>
                      <a:r>
                        <a:rPr lang="en-US" sz="1400" dirty="0"/>
                        <a:t>Window Listener</a:t>
                      </a:r>
                    </a:p>
                  </a:txBody>
                  <a:tcPr/>
                </a:tc>
                <a:tc>
                  <a:txBody>
                    <a:bodyPr/>
                    <a:lstStyle/>
                    <a:p>
                      <a:r>
                        <a:rPr lang="en-US" sz="1400" dirty="0"/>
                        <a:t>p v </a:t>
                      </a:r>
                      <a:r>
                        <a:rPr lang="en-US" sz="1400" dirty="0" err="1"/>
                        <a:t>WindowOpened</a:t>
                      </a:r>
                      <a:r>
                        <a:rPr lang="en-US" sz="1400" dirty="0"/>
                        <a:t>(WE)</a:t>
                      </a:r>
                    </a:p>
                    <a:p>
                      <a:r>
                        <a:rPr lang="en-US" sz="1400" dirty="0"/>
                        <a:t>p v </a:t>
                      </a:r>
                      <a:r>
                        <a:rPr lang="en-US" sz="1400" dirty="0" err="1"/>
                        <a:t>WindowActivated</a:t>
                      </a:r>
                      <a:r>
                        <a:rPr lang="en-US" sz="1400" dirty="0"/>
                        <a:t>(WE)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dirty="0">
                          <a:solidFill>
                            <a:schemeClr val="dk1"/>
                          </a:solidFill>
                          <a:effectLst/>
                          <a:latin typeface="+mn-lt"/>
                          <a:ea typeface="+mn-ea"/>
                          <a:cs typeface="+mn-cs"/>
                        </a:rPr>
                        <a:t>p v </a:t>
                      </a:r>
                      <a:r>
                        <a:rPr lang="en-IN" sz="1400" kern="1200" dirty="0" err="1">
                          <a:solidFill>
                            <a:schemeClr val="dk1"/>
                          </a:solidFill>
                          <a:effectLst/>
                          <a:latin typeface="+mn-lt"/>
                          <a:ea typeface="+mn-ea"/>
                          <a:cs typeface="+mn-cs"/>
                        </a:rPr>
                        <a:t>WindowDeactivated</a:t>
                      </a:r>
                      <a:r>
                        <a:rPr lang="en-IN" sz="1400" kern="1200" dirty="0">
                          <a:solidFill>
                            <a:schemeClr val="dk1"/>
                          </a:solidFill>
                          <a:effectLst/>
                          <a:latin typeface="+mn-lt"/>
                          <a:ea typeface="+mn-ea"/>
                          <a:cs typeface="+mn-cs"/>
                        </a:rPr>
                        <a:t>(</a:t>
                      </a:r>
                      <a:r>
                        <a:rPr lang="en-IN" sz="1400" kern="1200" dirty="0" err="1">
                          <a:solidFill>
                            <a:schemeClr val="dk1"/>
                          </a:solidFill>
                          <a:effectLst/>
                          <a:latin typeface="+mn-lt"/>
                          <a:ea typeface="+mn-ea"/>
                          <a:cs typeface="+mn-cs"/>
                        </a:rPr>
                        <a:t>WindowEvent</a:t>
                      </a:r>
                      <a:r>
                        <a:rPr lang="en-IN" sz="1400" kern="1200" dirty="0">
                          <a:solidFill>
                            <a:schemeClr val="dk1"/>
                          </a:solidFill>
                          <a:effectLst/>
                          <a:latin typeface="+mn-lt"/>
                          <a:ea typeface="+mn-ea"/>
                          <a:cs typeface="+mn-cs"/>
                        </a:rPr>
                        <a:t> e)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dirty="0">
                          <a:solidFill>
                            <a:schemeClr val="dk1"/>
                          </a:solidFill>
                          <a:effectLst/>
                          <a:latin typeface="+mn-lt"/>
                          <a:ea typeface="+mn-ea"/>
                          <a:cs typeface="+mn-cs"/>
                        </a:rPr>
                        <a:t>p v </a:t>
                      </a:r>
                      <a:r>
                        <a:rPr lang="en-IN" sz="1400" kern="1200" dirty="0" err="1">
                          <a:solidFill>
                            <a:schemeClr val="dk1"/>
                          </a:solidFill>
                          <a:effectLst/>
                          <a:latin typeface="+mn-lt"/>
                          <a:ea typeface="+mn-ea"/>
                          <a:cs typeface="+mn-cs"/>
                        </a:rPr>
                        <a:t>WindowClosing</a:t>
                      </a:r>
                      <a:r>
                        <a:rPr lang="en-IN" sz="1400" kern="1200" dirty="0">
                          <a:solidFill>
                            <a:schemeClr val="dk1"/>
                          </a:solidFill>
                          <a:effectLst/>
                          <a:latin typeface="+mn-lt"/>
                          <a:ea typeface="+mn-ea"/>
                          <a:cs typeface="+mn-cs"/>
                        </a:rPr>
                        <a:t>(</a:t>
                      </a:r>
                      <a:r>
                        <a:rPr lang="en-IN" sz="1400" kern="1200" dirty="0" err="1">
                          <a:solidFill>
                            <a:schemeClr val="dk1"/>
                          </a:solidFill>
                          <a:effectLst/>
                          <a:latin typeface="+mn-lt"/>
                          <a:ea typeface="+mn-ea"/>
                          <a:cs typeface="+mn-cs"/>
                        </a:rPr>
                        <a:t>WindowEvent</a:t>
                      </a:r>
                      <a:r>
                        <a:rPr lang="en-IN" sz="1400" kern="1200" dirty="0">
                          <a:solidFill>
                            <a:schemeClr val="dk1"/>
                          </a:solidFill>
                          <a:effectLst/>
                          <a:latin typeface="+mn-lt"/>
                          <a:ea typeface="+mn-ea"/>
                          <a:cs typeface="+mn-cs"/>
                        </a:rPr>
                        <a:t> e)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dirty="0">
                          <a:solidFill>
                            <a:schemeClr val="dk1"/>
                          </a:solidFill>
                          <a:effectLst/>
                          <a:latin typeface="+mn-lt"/>
                          <a:ea typeface="+mn-ea"/>
                          <a:cs typeface="+mn-cs"/>
                        </a:rPr>
                        <a:t>p v </a:t>
                      </a:r>
                      <a:r>
                        <a:rPr lang="en-IN" sz="1400" kern="1200" dirty="0" err="1">
                          <a:solidFill>
                            <a:schemeClr val="dk1"/>
                          </a:solidFill>
                          <a:effectLst/>
                          <a:latin typeface="+mn-lt"/>
                          <a:ea typeface="+mn-ea"/>
                          <a:cs typeface="+mn-cs"/>
                        </a:rPr>
                        <a:t>WindowClosed</a:t>
                      </a:r>
                      <a:r>
                        <a:rPr lang="en-IN" sz="1400" kern="1200" dirty="0">
                          <a:solidFill>
                            <a:schemeClr val="dk1"/>
                          </a:solidFill>
                          <a:effectLst/>
                          <a:latin typeface="+mn-lt"/>
                          <a:ea typeface="+mn-ea"/>
                          <a:cs typeface="+mn-cs"/>
                        </a:rPr>
                        <a:t>(</a:t>
                      </a:r>
                      <a:r>
                        <a:rPr lang="en-IN" sz="1400" kern="1200" dirty="0" err="1">
                          <a:solidFill>
                            <a:schemeClr val="dk1"/>
                          </a:solidFill>
                          <a:effectLst/>
                          <a:latin typeface="+mn-lt"/>
                          <a:ea typeface="+mn-ea"/>
                          <a:cs typeface="+mn-cs"/>
                        </a:rPr>
                        <a:t>WindowEvent</a:t>
                      </a:r>
                      <a:r>
                        <a:rPr lang="en-IN" sz="1400" kern="1200" dirty="0">
                          <a:solidFill>
                            <a:schemeClr val="dk1"/>
                          </a:solidFill>
                          <a:effectLst/>
                          <a:latin typeface="+mn-lt"/>
                          <a:ea typeface="+mn-ea"/>
                          <a:cs typeface="+mn-cs"/>
                        </a:rPr>
                        <a:t> e)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dirty="0">
                          <a:solidFill>
                            <a:schemeClr val="dk1"/>
                          </a:solidFill>
                          <a:effectLst/>
                          <a:latin typeface="+mn-lt"/>
                          <a:ea typeface="+mn-ea"/>
                          <a:cs typeface="+mn-cs"/>
                        </a:rPr>
                        <a:t>p v </a:t>
                      </a:r>
                      <a:r>
                        <a:rPr lang="en-IN" sz="1400" kern="1200" dirty="0" err="1">
                          <a:solidFill>
                            <a:schemeClr val="dk1"/>
                          </a:solidFill>
                          <a:effectLst/>
                          <a:latin typeface="+mn-lt"/>
                          <a:ea typeface="+mn-ea"/>
                          <a:cs typeface="+mn-cs"/>
                        </a:rPr>
                        <a:t>WindowIconfield</a:t>
                      </a:r>
                      <a:r>
                        <a:rPr lang="en-IN" sz="1400" kern="1200" dirty="0">
                          <a:solidFill>
                            <a:schemeClr val="dk1"/>
                          </a:solidFill>
                          <a:effectLst/>
                          <a:latin typeface="+mn-lt"/>
                          <a:ea typeface="+mn-ea"/>
                          <a:cs typeface="+mn-cs"/>
                        </a:rPr>
                        <a:t>(</a:t>
                      </a:r>
                      <a:r>
                        <a:rPr lang="en-IN" sz="1400" kern="1200" dirty="0" err="1">
                          <a:solidFill>
                            <a:schemeClr val="dk1"/>
                          </a:solidFill>
                          <a:effectLst/>
                          <a:latin typeface="+mn-lt"/>
                          <a:ea typeface="+mn-ea"/>
                          <a:cs typeface="+mn-cs"/>
                        </a:rPr>
                        <a:t>WindowEvent</a:t>
                      </a:r>
                      <a:r>
                        <a:rPr lang="en-IN" sz="1400" kern="1200" dirty="0">
                          <a:solidFill>
                            <a:schemeClr val="dk1"/>
                          </a:solidFill>
                          <a:effectLst/>
                          <a:latin typeface="+mn-lt"/>
                          <a:ea typeface="+mn-ea"/>
                          <a:cs typeface="+mn-cs"/>
                        </a:rPr>
                        <a:t> e)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dirty="0">
                          <a:solidFill>
                            <a:schemeClr val="dk1"/>
                          </a:solidFill>
                          <a:effectLst/>
                          <a:latin typeface="+mn-lt"/>
                          <a:ea typeface="+mn-ea"/>
                          <a:cs typeface="+mn-cs"/>
                        </a:rPr>
                        <a:t>p v </a:t>
                      </a:r>
                      <a:r>
                        <a:rPr lang="en-IN" sz="1400" kern="1200" dirty="0" err="1">
                          <a:solidFill>
                            <a:schemeClr val="dk1"/>
                          </a:solidFill>
                          <a:effectLst/>
                          <a:latin typeface="+mn-lt"/>
                          <a:ea typeface="+mn-ea"/>
                          <a:cs typeface="+mn-cs"/>
                        </a:rPr>
                        <a:t>WindowDeiconified</a:t>
                      </a:r>
                      <a:r>
                        <a:rPr lang="en-IN" sz="1400" kern="1200" dirty="0">
                          <a:solidFill>
                            <a:schemeClr val="dk1"/>
                          </a:solidFill>
                          <a:effectLst/>
                          <a:latin typeface="+mn-lt"/>
                          <a:ea typeface="+mn-ea"/>
                          <a:cs typeface="+mn-cs"/>
                        </a:rPr>
                        <a:t>(</a:t>
                      </a:r>
                      <a:r>
                        <a:rPr lang="en-IN" sz="1400" kern="1200" dirty="0" err="1">
                          <a:solidFill>
                            <a:schemeClr val="dk1"/>
                          </a:solidFill>
                          <a:effectLst/>
                          <a:latin typeface="+mn-lt"/>
                          <a:ea typeface="+mn-ea"/>
                          <a:cs typeface="+mn-cs"/>
                        </a:rPr>
                        <a:t>WindowEvent</a:t>
                      </a:r>
                      <a:r>
                        <a:rPr lang="en-IN" sz="1400" kern="1200" dirty="0">
                          <a:solidFill>
                            <a:schemeClr val="dk1"/>
                          </a:solidFill>
                          <a:effectLst/>
                          <a:latin typeface="+mn-lt"/>
                          <a:ea typeface="+mn-ea"/>
                          <a:cs typeface="+mn-cs"/>
                        </a:rPr>
                        <a:t> e) </a:t>
                      </a:r>
                      <a:endParaRPr lang="en-IN" sz="1400" dirty="0"/>
                    </a:p>
                  </a:txBody>
                  <a:tcPr/>
                </a:tc>
                <a:extLst>
                  <a:ext uri="{0D108BD9-81ED-4DB2-BD59-A6C34878D82A}">
                    <a16:rowId xmlns:a16="http://schemas.microsoft.com/office/drawing/2014/main" val="2330731111"/>
                  </a:ext>
                </a:extLst>
              </a:tr>
              <a:tr h="370840">
                <a:tc>
                  <a:txBody>
                    <a:bodyPr/>
                    <a:lstStyle/>
                    <a:p>
                      <a:r>
                        <a:rPr lang="en-US" sz="1400" dirty="0" err="1"/>
                        <a:t>TextField</a:t>
                      </a:r>
                      <a:endParaRPr lang="en-US" sz="1400" dirty="0"/>
                    </a:p>
                  </a:txBody>
                  <a:tcPr/>
                </a:tc>
                <a:tc>
                  <a:txBody>
                    <a:bodyPr/>
                    <a:lstStyle/>
                    <a:p>
                      <a:r>
                        <a:rPr lang="en-US" sz="1400" dirty="0" err="1"/>
                        <a:t>ActionEvent</a:t>
                      </a:r>
                      <a:endParaRPr lang="en-US" sz="1400" dirty="0"/>
                    </a:p>
                  </a:txBody>
                  <a:tcPr/>
                </a:tc>
                <a:tc>
                  <a:txBody>
                    <a:bodyPr/>
                    <a:lstStyle/>
                    <a:p>
                      <a:r>
                        <a:rPr lang="en-US" sz="1400" dirty="0"/>
                        <a:t>ActionListener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P v </a:t>
                      </a:r>
                      <a:r>
                        <a:rPr lang="en-IN" sz="1400" dirty="0" err="1"/>
                        <a:t>ActionPerformed</a:t>
                      </a:r>
                      <a:r>
                        <a:rPr lang="en-IN" sz="1400" dirty="0"/>
                        <a:t>(AE)</a:t>
                      </a:r>
                    </a:p>
                  </a:txBody>
                  <a:tcPr/>
                </a:tc>
                <a:extLst>
                  <a:ext uri="{0D108BD9-81ED-4DB2-BD59-A6C34878D82A}">
                    <a16:rowId xmlns:a16="http://schemas.microsoft.com/office/drawing/2014/main" val="331866143"/>
                  </a:ext>
                </a:extLst>
              </a:tr>
              <a:tr h="370840">
                <a:tc>
                  <a:txBody>
                    <a:bodyPr/>
                    <a:lstStyle/>
                    <a:p>
                      <a:r>
                        <a:rPr lang="en-US" sz="1400" dirty="0" err="1"/>
                        <a:t>TextArea</a:t>
                      </a:r>
                      <a:endParaRPr lang="en-US" sz="1400" dirty="0"/>
                    </a:p>
                  </a:txBody>
                  <a:tcPr/>
                </a:tc>
                <a:tc>
                  <a:txBody>
                    <a:bodyPr/>
                    <a:lstStyle/>
                    <a:p>
                      <a:r>
                        <a:rPr lang="en-US" sz="1400" dirty="0" err="1"/>
                        <a:t>ActionEvent</a:t>
                      </a:r>
                      <a:endParaRPr lang="en-US" sz="1400" dirty="0"/>
                    </a:p>
                  </a:txBody>
                  <a:tcPr/>
                </a:tc>
                <a:tc>
                  <a:txBody>
                    <a:bodyPr/>
                    <a:lstStyle/>
                    <a:p>
                      <a:r>
                        <a:rPr lang="en-US" sz="1400" dirty="0" err="1"/>
                        <a:t>AcctionListener</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P v </a:t>
                      </a:r>
                      <a:r>
                        <a:rPr lang="en-IN" sz="1400" dirty="0" err="1"/>
                        <a:t>ActionPerformed</a:t>
                      </a:r>
                      <a:r>
                        <a:rPr lang="en-IN" sz="1400" dirty="0"/>
                        <a:t>(AE)</a:t>
                      </a:r>
                    </a:p>
                  </a:txBody>
                  <a:tcPr/>
                </a:tc>
                <a:extLst>
                  <a:ext uri="{0D108BD9-81ED-4DB2-BD59-A6C34878D82A}">
                    <a16:rowId xmlns:a16="http://schemas.microsoft.com/office/drawing/2014/main" val="2759603344"/>
                  </a:ext>
                </a:extLst>
              </a:tr>
              <a:tr h="370840">
                <a:tc>
                  <a:txBody>
                    <a:bodyPr/>
                    <a:lstStyle/>
                    <a:p>
                      <a:r>
                        <a:rPr lang="en-US" sz="1400" dirty="0"/>
                        <a:t>Menu</a:t>
                      </a:r>
                    </a:p>
                  </a:txBody>
                  <a:tcPr/>
                </a:tc>
                <a:tc>
                  <a:txBody>
                    <a:bodyPr/>
                    <a:lstStyle/>
                    <a:p>
                      <a:r>
                        <a:rPr lang="en-US" sz="1400" dirty="0" err="1"/>
                        <a:t>ActionEvent</a:t>
                      </a:r>
                      <a:endParaRPr lang="en-US" sz="1400" dirty="0"/>
                    </a:p>
                  </a:txBody>
                  <a:tcPr/>
                </a:tc>
                <a:tc>
                  <a:txBody>
                    <a:bodyPr/>
                    <a:lstStyle/>
                    <a:p>
                      <a:r>
                        <a:rPr lang="en-US" sz="1400" dirty="0"/>
                        <a:t>ActionListener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P v </a:t>
                      </a:r>
                      <a:r>
                        <a:rPr lang="en-IN" sz="1400" dirty="0" err="1"/>
                        <a:t>ActionPerformed</a:t>
                      </a:r>
                      <a:r>
                        <a:rPr lang="en-IN" sz="1400" dirty="0"/>
                        <a:t>(AE)</a:t>
                      </a:r>
                    </a:p>
                  </a:txBody>
                  <a:tcPr/>
                </a:tc>
                <a:extLst>
                  <a:ext uri="{0D108BD9-81ED-4DB2-BD59-A6C34878D82A}">
                    <a16:rowId xmlns:a16="http://schemas.microsoft.com/office/drawing/2014/main" val="2314809642"/>
                  </a:ext>
                </a:extLst>
              </a:tr>
              <a:tr h="370840">
                <a:tc>
                  <a:txBody>
                    <a:bodyPr/>
                    <a:lstStyle/>
                    <a:p>
                      <a:r>
                        <a:rPr lang="en-US" sz="1400" dirty="0"/>
                        <a:t>Button</a:t>
                      </a:r>
                    </a:p>
                  </a:txBody>
                  <a:tcPr/>
                </a:tc>
                <a:tc>
                  <a:txBody>
                    <a:bodyPr/>
                    <a:lstStyle/>
                    <a:p>
                      <a:r>
                        <a:rPr lang="en-US" sz="1400" dirty="0" err="1"/>
                        <a:t>ActionEvent</a:t>
                      </a:r>
                      <a:endParaRPr lang="en-US" sz="1400" dirty="0"/>
                    </a:p>
                  </a:txBody>
                  <a:tcPr/>
                </a:tc>
                <a:tc>
                  <a:txBody>
                    <a:bodyPr/>
                    <a:lstStyle/>
                    <a:p>
                      <a:r>
                        <a:rPr lang="en-US" sz="1400" dirty="0"/>
                        <a:t>ActionListener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P v </a:t>
                      </a:r>
                      <a:r>
                        <a:rPr lang="en-IN" sz="1400" dirty="0" err="1"/>
                        <a:t>ActionPerformed</a:t>
                      </a:r>
                      <a:r>
                        <a:rPr lang="en-IN" sz="1400" dirty="0"/>
                        <a:t>(AE)</a:t>
                      </a:r>
                    </a:p>
                  </a:txBody>
                  <a:tcPr/>
                </a:tc>
                <a:extLst>
                  <a:ext uri="{0D108BD9-81ED-4DB2-BD59-A6C34878D82A}">
                    <a16:rowId xmlns:a16="http://schemas.microsoft.com/office/drawing/2014/main" val="941445549"/>
                  </a:ext>
                </a:extLst>
              </a:tr>
              <a:tr h="370840">
                <a:tc>
                  <a:txBody>
                    <a:bodyPr/>
                    <a:lstStyle/>
                    <a:p>
                      <a:r>
                        <a:rPr lang="en-US" sz="1400" dirty="0"/>
                        <a:t>Checkbox</a:t>
                      </a:r>
                    </a:p>
                  </a:txBody>
                  <a:tcPr/>
                </a:tc>
                <a:tc>
                  <a:txBody>
                    <a:bodyPr/>
                    <a:lstStyle/>
                    <a:p>
                      <a:r>
                        <a:rPr lang="en-US" sz="1400" dirty="0" err="1"/>
                        <a:t>ItemEvene</a:t>
                      </a:r>
                      <a:endParaRPr lang="en-US" sz="1400" dirty="0"/>
                    </a:p>
                  </a:txBody>
                  <a:tcPr/>
                </a:tc>
                <a:tc>
                  <a:txBody>
                    <a:bodyPr/>
                    <a:lstStyle/>
                    <a:p>
                      <a:r>
                        <a:rPr lang="en-US" sz="1400" dirty="0" err="1"/>
                        <a:t>ItemListener</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P v </a:t>
                      </a:r>
                      <a:r>
                        <a:rPr lang="en-IN" sz="1400" dirty="0" err="1"/>
                        <a:t>ItemStatementChange</a:t>
                      </a:r>
                      <a:r>
                        <a:rPr lang="en-IN" sz="1400" dirty="0"/>
                        <a:t>(</a:t>
                      </a:r>
                      <a:r>
                        <a:rPr lang="en-IN" sz="1400" dirty="0" err="1"/>
                        <a:t>ItemEvent</a:t>
                      </a:r>
                      <a:r>
                        <a:rPr lang="en-IN" sz="1400" dirty="0"/>
                        <a:t>)</a:t>
                      </a:r>
                    </a:p>
                  </a:txBody>
                  <a:tcPr/>
                </a:tc>
                <a:extLst>
                  <a:ext uri="{0D108BD9-81ED-4DB2-BD59-A6C34878D82A}">
                    <a16:rowId xmlns:a16="http://schemas.microsoft.com/office/drawing/2014/main" val="1172776768"/>
                  </a:ext>
                </a:extLst>
              </a:tr>
              <a:tr h="370840">
                <a:tc>
                  <a:txBody>
                    <a:bodyPr/>
                    <a:lstStyle/>
                    <a:p>
                      <a:r>
                        <a:rPr lang="en-US" sz="1400" dirty="0"/>
                        <a:t>Radio</a:t>
                      </a:r>
                    </a:p>
                  </a:txBody>
                  <a:tcPr/>
                </a:tc>
                <a:tc>
                  <a:txBody>
                    <a:bodyPr/>
                    <a:lstStyle/>
                    <a:p>
                      <a:r>
                        <a:rPr lang="en-US" sz="1400" dirty="0" err="1"/>
                        <a:t>ItemEvent</a:t>
                      </a:r>
                      <a:endParaRPr lang="en-US" sz="1400" dirty="0"/>
                    </a:p>
                  </a:txBody>
                  <a:tcPr/>
                </a:tc>
                <a:tc>
                  <a:txBody>
                    <a:bodyPr/>
                    <a:lstStyle/>
                    <a:p>
                      <a:r>
                        <a:rPr lang="en-US" sz="1400" dirty="0" err="1"/>
                        <a:t>ItemListener</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P v </a:t>
                      </a:r>
                      <a:r>
                        <a:rPr lang="en-IN" sz="1400" dirty="0" err="1"/>
                        <a:t>ItemStatementChanged</a:t>
                      </a:r>
                      <a:r>
                        <a:rPr lang="en-IN" sz="1400" dirty="0"/>
                        <a:t>(</a:t>
                      </a:r>
                      <a:r>
                        <a:rPr lang="en-IN" sz="1400" dirty="0" err="1"/>
                        <a:t>ItemEvent</a:t>
                      </a:r>
                      <a:r>
                        <a:rPr lang="en-IN" sz="1400" dirty="0"/>
                        <a:t>)</a:t>
                      </a:r>
                    </a:p>
                  </a:txBody>
                  <a:tcPr/>
                </a:tc>
                <a:extLst>
                  <a:ext uri="{0D108BD9-81ED-4DB2-BD59-A6C34878D82A}">
                    <a16:rowId xmlns:a16="http://schemas.microsoft.com/office/drawing/2014/main" val="2301742496"/>
                  </a:ext>
                </a:extLst>
              </a:tr>
              <a:tr h="370840">
                <a:tc>
                  <a:txBody>
                    <a:bodyPr/>
                    <a:lstStyle/>
                    <a:p>
                      <a:r>
                        <a:rPr lang="en-US" sz="1400" dirty="0"/>
                        <a:t>List</a:t>
                      </a:r>
                    </a:p>
                  </a:txBody>
                  <a:tcPr/>
                </a:tc>
                <a:tc>
                  <a:txBody>
                    <a:bodyPr/>
                    <a:lstStyle/>
                    <a:p>
                      <a:r>
                        <a:rPr lang="en-US" sz="1400" dirty="0" err="1"/>
                        <a:t>ItemEvent</a:t>
                      </a:r>
                      <a:endParaRPr lang="en-US" sz="1400" dirty="0"/>
                    </a:p>
                  </a:txBody>
                  <a:tcPr/>
                </a:tc>
                <a:tc>
                  <a:txBody>
                    <a:bodyPr/>
                    <a:lstStyle/>
                    <a:p>
                      <a:r>
                        <a:rPr lang="en-US" sz="1400" dirty="0" err="1"/>
                        <a:t>ItemListener</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P v </a:t>
                      </a:r>
                      <a:r>
                        <a:rPr lang="en-IN" sz="1400" dirty="0" err="1"/>
                        <a:t>ItemStateChanged</a:t>
                      </a:r>
                      <a:r>
                        <a:rPr lang="en-IN" sz="1400" dirty="0"/>
                        <a:t>(</a:t>
                      </a:r>
                      <a:r>
                        <a:rPr lang="en-IN" sz="1400" dirty="0" err="1"/>
                        <a:t>ItemEvent</a:t>
                      </a:r>
                      <a:r>
                        <a:rPr lang="en-IN" sz="1400" dirty="0"/>
                        <a:t>)</a:t>
                      </a:r>
                    </a:p>
                  </a:txBody>
                  <a:tcPr/>
                </a:tc>
                <a:extLst>
                  <a:ext uri="{0D108BD9-81ED-4DB2-BD59-A6C34878D82A}">
                    <a16:rowId xmlns:a16="http://schemas.microsoft.com/office/drawing/2014/main" val="3406766373"/>
                  </a:ext>
                </a:extLst>
              </a:tr>
            </a:tbl>
          </a:graphicData>
        </a:graphic>
      </p:graphicFrame>
      <p:sp>
        <p:nvSpPr>
          <p:cNvPr id="4" name="Footer Placeholder 3">
            <a:extLst>
              <a:ext uri="{FF2B5EF4-FFF2-40B4-BE49-F238E27FC236}">
                <a16:creationId xmlns:a16="http://schemas.microsoft.com/office/drawing/2014/main" id="{CEF1472B-D20A-20F6-F64B-5F55D608DBD0}"/>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3621024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60339-90FE-7A92-D016-F93947CC94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D492F8-6119-D32E-B47E-4E4355EB84D9}"/>
              </a:ext>
            </a:extLst>
          </p:cNvPr>
          <p:cNvSpPr>
            <a:spLocks noGrp="1"/>
          </p:cNvSpPr>
          <p:nvPr>
            <p:ph type="title"/>
          </p:nvPr>
        </p:nvSpPr>
        <p:spPr/>
        <p:txBody>
          <a:bodyPr/>
          <a:lstStyle/>
          <a:p>
            <a:r>
              <a:rPr lang="en-IN" sz="3600" dirty="0">
                <a:effectLst/>
                <a:latin typeface="Calibri,Bold"/>
              </a:rPr>
              <a:t>Appropriate Listeners for Components</a:t>
            </a:r>
            <a:endParaRPr lang="en-US" sz="7200" dirty="0"/>
          </a:p>
        </p:txBody>
      </p:sp>
      <p:graphicFrame>
        <p:nvGraphicFramePr>
          <p:cNvPr id="5" name="Content Placeholder 4">
            <a:extLst>
              <a:ext uri="{FF2B5EF4-FFF2-40B4-BE49-F238E27FC236}">
                <a16:creationId xmlns:a16="http://schemas.microsoft.com/office/drawing/2014/main" id="{999E31AF-6BC8-0DDC-B0C4-8AA4A6C70C4D}"/>
              </a:ext>
            </a:extLst>
          </p:cNvPr>
          <p:cNvGraphicFramePr>
            <a:graphicFrameLocks noGrp="1"/>
          </p:cNvGraphicFramePr>
          <p:nvPr>
            <p:ph idx="1"/>
            <p:extLst>
              <p:ext uri="{D42A27DB-BD31-4B8C-83A1-F6EECF244321}">
                <p14:modId xmlns:p14="http://schemas.microsoft.com/office/powerpoint/2010/main" val="1827265269"/>
              </p:ext>
            </p:extLst>
          </p:nvPr>
        </p:nvGraphicFramePr>
        <p:xfrm>
          <a:off x="0" y="1295400"/>
          <a:ext cx="9144000" cy="6817360"/>
        </p:xfrm>
        <a:graphic>
          <a:graphicData uri="http://schemas.openxmlformats.org/drawingml/2006/table">
            <a:tbl>
              <a:tblPr firstRow="1" bandRow="1">
                <a:tableStyleId>{073A0DAA-6AF3-43AB-8588-CEC1D06C72B9}</a:tableStyleId>
              </a:tblPr>
              <a:tblGrid>
                <a:gridCol w="1498600">
                  <a:extLst>
                    <a:ext uri="{9D8B030D-6E8A-4147-A177-3AD203B41FA5}">
                      <a16:colId xmlns:a16="http://schemas.microsoft.com/office/drawing/2014/main" val="1441835729"/>
                    </a:ext>
                  </a:extLst>
                </a:gridCol>
                <a:gridCol w="1816100">
                  <a:extLst>
                    <a:ext uri="{9D8B030D-6E8A-4147-A177-3AD203B41FA5}">
                      <a16:colId xmlns:a16="http://schemas.microsoft.com/office/drawing/2014/main" val="4224901128"/>
                    </a:ext>
                  </a:extLst>
                </a:gridCol>
                <a:gridCol w="1917700">
                  <a:extLst>
                    <a:ext uri="{9D8B030D-6E8A-4147-A177-3AD203B41FA5}">
                      <a16:colId xmlns:a16="http://schemas.microsoft.com/office/drawing/2014/main" val="3876311451"/>
                    </a:ext>
                  </a:extLst>
                </a:gridCol>
                <a:gridCol w="3911600">
                  <a:extLst>
                    <a:ext uri="{9D8B030D-6E8A-4147-A177-3AD203B41FA5}">
                      <a16:colId xmlns:a16="http://schemas.microsoft.com/office/drawing/2014/main" val="2838208328"/>
                    </a:ext>
                  </a:extLst>
                </a:gridCol>
              </a:tblGrid>
              <a:tr h="370840">
                <a:tc>
                  <a:txBody>
                    <a:bodyPr/>
                    <a:lstStyle/>
                    <a:p>
                      <a:r>
                        <a:rPr lang="en-US" sz="1400" dirty="0"/>
                        <a:t>Component</a:t>
                      </a:r>
                    </a:p>
                  </a:txBody>
                  <a:tcPr/>
                </a:tc>
                <a:tc>
                  <a:txBody>
                    <a:bodyPr/>
                    <a:lstStyle/>
                    <a:p>
                      <a:r>
                        <a:rPr lang="en-US" sz="1400" dirty="0"/>
                        <a:t>Event Name</a:t>
                      </a:r>
                    </a:p>
                  </a:txBody>
                  <a:tcPr/>
                </a:tc>
                <a:tc>
                  <a:txBody>
                    <a:bodyPr/>
                    <a:lstStyle/>
                    <a:p>
                      <a:r>
                        <a:rPr lang="en-US" sz="1400" dirty="0"/>
                        <a:t>Listener Name</a:t>
                      </a:r>
                    </a:p>
                  </a:txBody>
                  <a:tcPr/>
                </a:tc>
                <a:tc>
                  <a:txBody>
                    <a:bodyPr/>
                    <a:lstStyle/>
                    <a:p>
                      <a:r>
                        <a:rPr lang="en-US" sz="1400" dirty="0"/>
                        <a:t>Listener Methods</a:t>
                      </a:r>
                    </a:p>
                  </a:txBody>
                  <a:tcPr/>
                </a:tc>
                <a:extLst>
                  <a:ext uri="{0D108BD9-81ED-4DB2-BD59-A6C34878D82A}">
                    <a16:rowId xmlns:a16="http://schemas.microsoft.com/office/drawing/2014/main" val="504153544"/>
                  </a:ext>
                </a:extLst>
              </a:tr>
              <a:tr h="370840">
                <a:tc>
                  <a:txBody>
                    <a:bodyPr/>
                    <a:lstStyle/>
                    <a:p>
                      <a:r>
                        <a:rPr lang="en-US" sz="1400" dirty="0"/>
                        <a:t>Choice</a:t>
                      </a:r>
                    </a:p>
                  </a:txBody>
                  <a:tcPr/>
                </a:tc>
                <a:tc>
                  <a:txBody>
                    <a:bodyPr/>
                    <a:lstStyle/>
                    <a:p>
                      <a:r>
                        <a:rPr lang="en-US" sz="1400" dirty="0" err="1"/>
                        <a:t>ItemEvent</a:t>
                      </a:r>
                      <a:endParaRPr lang="en-US" sz="1400" dirty="0"/>
                    </a:p>
                  </a:txBody>
                  <a:tcPr/>
                </a:tc>
                <a:tc>
                  <a:txBody>
                    <a:bodyPr/>
                    <a:lstStyle/>
                    <a:p>
                      <a:r>
                        <a:rPr lang="en-US" sz="1400" dirty="0" err="1"/>
                        <a:t>ItemListener</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P v </a:t>
                      </a:r>
                      <a:r>
                        <a:rPr lang="en-IN" sz="1400" dirty="0" err="1"/>
                        <a:t>ItemeStatechanged</a:t>
                      </a:r>
                      <a:r>
                        <a:rPr lang="en-IN" sz="1400" dirty="0"/>
                        <a:t>(</a:t>
                      </a:r>
                      <a:r>
                        <a:rPr lang="en-IN" sz="1400" dirty="0" err="1"/>
                        <a:t>ItemEvent</a:t>
                      </a:r>
                      <a:r>
                        <a:rPr lang="en-IN" sz="1400" dirty="0"/>
                        <a:t>)</a:t>
                      </a:r>
                    </a:p>
                  </a:txBody>
                  <a:tcPr/>
                </a:tc>
                <a:extLst>
                  <a:ext uri="{0D108BD9-81ED-4DB2-BD59-A6C34878D82A}">
                    <a16:rowId xmlns:a16="http://schemas.microsoft.com/office/drawing/2014/main" val="849478259"/>
                  </a:ext>
                </a:extLst>
              </a:tr>
              <a:tr h="370840">
                <a:tc>
                  <a:txBody>
                    <a:bodyPr/>
                    <a:lstStyle/>
                    <a:p>
                      <a:r>
                        <a:rPr lang="en-US" sz="1400" dirty="0"/>
                        <a:t>Scrollbar</a:t>
                      </a:r>
                    </a:p>
                  </a:txBody>
                  <a:tcPr/>
                </a:tc>
                <a:tc>
                  <a:txBody>
                    <a:bodyPr/>
                    <a:lstStyle/>
                    <a:p>
                      <a:r>
                        <a:rPr lang="en-US" sz="1400" dirty="0" err="1"/>
                        <a:t>AdjustmentEvent</a:t>
                      </a:r>
                      <a:endParaRPr lang="en-US" sz="1400" dirty="0"/>
                    </a:p>
                  </a:txBody>
                  <a:tcPr/>
                </a:tc>
                <a:tc>
                  <a:txBody>
                    <a:bodyPr/>
                    <a:lstStyle/>
                    <a:p>
                      <a:r>
                        <a:rPr lang="en-US" sz="1400" dirty="0" err="1"/>
                        <a:t>AdjustmentListener</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err="1"/>
                        <a:t>Pv</a:t>
                      </a:r>
                      <a:r>
                        <a:rPr lang="en-IN" sz="1400" dirty="0"/>
                        <a:t> </a:t>
                      </a:r>
                      <a:r>
                        <a:rPr lang="en-IN" sz="1400" dirty="0" err="1"/>
                        <a:t>AdjustmentValueChanged</a:t>
                      </a:r>
                      <a:r>
                        <a:rPr lang="en-IN" sz="1400" dirty="0"/>
                        <a:t>(</a:t>
                      </a:r>
                      <a:r>
                        <a:rPr lang="en-IN" sz="1400" dirty="0" err="1"/>
                        <a:t>AdjustmentEvent</a:t>
                      </a:r>
                      <a:r>
                        <a:rPr lang="en-IN" sz="1400" dirty="0"/>
                        <a:t>)</a:t>
                      </a:r>
                    </a:p>
                  </a:txBody>
                  <a:tcPr/>
                </a:tc>
                <a:extLst>
                  <a:ext uri="{0D108BD9-81ED-4DB2-BD59-A6C34878D82A}">
                    <a16:rowId xmlns:a16="http://schemas.microsoft.com/office/drawing/2014/main" val="1011227246"/>
                  </a:ext>
                </a:extLst>
              </a:tr>
              <a:tr h="370840">
                <a:tc>
                  <a:txBody>
                    <a:bodyPr/>
                    <a:lstStyle/>
                    <a:p>
                      <a:r>
                        <a:rPr lang="en-US" sz="1400" dirty="0"/>
                        <a:t>Mouse</a:t>
                      </a:r>
                    </a:p>
                  </a:txBody>
                  <a:tcPr/>
                </a:tc>
                <a:tc>
                  <a:txBody>
                    <a:bodyPr/>
                    <a:lstStyle/>
                    <a:p>
                      <a:r>
                        <a:rPr lang="en-US" sz="1400" dirty="0" err="1"/>
                        <a:t>MouseEvent</a:t>
                      </a:r>
                      <a:endParaRPr lang="en-US" sz="1400" dirty="0"/>
                    </a:p>
                  </a:txBody>
                  <a:tcPr/>
                </a:tc>
                <a:tc>
                  <a:txBody>
                    <a:bodyPr/>
                    <a:lstStyle/>
                    <a:p>
                      <a:r>
                        <a:rPr lang="en-US" sz="1400" dirty="0" err="1"/>
                        <a:t>MouseListener</a:t>
                      </a:r>
                      <a:endParaRPr lang="en-US" sz="1400" dirty="0"/>
                    </a:p>
                  </a:txBody>
                  <a:tcPr/>
                </a:tc>
                <a:tc>
                  <a:txBody>
                    <a:bodyPr/>
                    <a:lstStyle/>
                    <a:p>
                      <a:r>
                        <a:rPr lang="en-IN" sz="1800" kern="1200" dirty="0" err="1">
                          <a:solidFill>
                            <a:schemeClr val="dk1"/>
                          </a:solidFill>
                          <a:effectLst/>
                          <a:latin typeface="+mn-lt"/>
                          <a:ea typeface="+mn-ea"/>
                          <a:cs typeface="+mn-cs"/>
                        </a:rPr>
                        <a:t>pv</a:t>
                      </a:r>
                      <a:r>
                        <a:rPr lang="en-IN" sz="1800"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MouseEntered</a:t>
                      </a:r>
                      <a:r>
                        <a:rPr lang="en-IN" sz="1800" kern="1200" dirty="0">
                          <a:solidFill>
                            <a:schemeClr val="dk1"/>
                          </a:solidFill>
                          <a:effectLst/>
                          <a:latin typeface="+mn-lt"/>
                          <a:ea typeface="+mn-ea"/>
                          <a:cs typeface="+mn-cs"/>
                        </a:rPr>
                        <a:t>(</a:t>
                      </a:r>
                      <a:r>
                        <a:rPr lang="en-IN" sz="1800" kern="1200" dirty="0" err="1">
                          <a:solidFill>
                            <a:schemeClr val="dk1"/>
                          </a:solidFill>
                          <a:effectLst/>
                          <a:latin typeface="+mn-lt"/>
                          <a:ea typeface="+mn-ea"/>
                          <a:cs typeface="+mn-cs"/>
                        </a:rPr>
                        <a:t>MouseEvent</a:t>
                      </a:r>
                      <a:r>
                        <a:rPr lang="en-IN" sz="1800" kern="1200" dirty="0">
                          <a:solidFill>
                            <a:schemeClr val="dk1"/>
                          </a:solidFill>
                          <a:effectLst/>
                          <a:latin typeface="+mn-lt"/>
                          <a:ea typeface="+mn-ea"/>
                          <a:cs typeface="+mn-cs"/>
                        </a:rPr>
                        <a:t> e) </a:t>
                      </a:r>
                    </a:p>
                    <a:p>
                      <a:r>
                        <a:rPr lang="en-IN" sz="1800" kern="1200" dirty="0" err="1">
                          <a:solidFill>
                            <a:schemeClr val="dk1"/>
                          </a:solidFill>
                          <a:effectLst/>
                          <a:latin typeface="+mn-lt"/>
                          <a:ea typeface="+mn-ea"/>
                          <a:cs typeface="+mn-cs"/>
                        </a:rPr>
                        <a:t>pv</a:t>
                      </a:r>
                      <a:r>
                        <a:rPr lang="en-IN" sz="1800"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MouseExited</a:t>
                      </a:r>
                      <a:r>
                        <a:rPr lang="en-IN" sz="1800" kern="1200" dirty="0">
                          <a:solidFill>
                            <a:schemeClr val="dk1"/>
                          </a:solidFill>
                          <a:effectLst/>
                          <a:latin typeface="+mn-lt"/>
                          <a:ea typeface="+mn-ea"/>
                          <a:cs typeface="+mn-cs"/>
                        </a:rPr>
                        <a:t>(</a:t>
                      </a:r>
                      <a:r>
                        <a:rPr lang="en-IN" sz="1800" kern="1200" dirty="0" err="1">
                          <a:solidFill>
                            <a:schemeClr val="dk1"/>
                          </a:solidFill>
                          <a:effectLst/>
                          <a:latin typeface="+mn-lt"/>
                          <a:ea typeface="+mn-ea"/>
                          <a:cs typeface="+mn-cs"/>
                        </a:rPr>
                        <a:t>MouseEvent</a:t>
                      </a:r>
                      <a:r>
                        <a:rPr lang="en-IN" sz="1800" kern="1200" dirty="0">
                          <a:solidFill>
                            <a:schemeClr val="dk1"/>
                          </a:solidFill>
                          <a:effectLst/>
                          <a:latin typeface="+mn-lt"/>
                          <a:ea typeface="+mn-ea"/>
                          <a:cs typeface="+mn-cs"/>
                        </a:rPr>
                        <a:t> e) </a:t>
                      </a:r>
                    </a:p>
                    <a:p>
                      <a:r>
                        <a:rPr lang="en-IN" sz="1800" kern="1200" dirty="0" err="1">
                          <a:solidFill>
                            <a:schemeClr val="dk1"/>
                          </a:solidFill>
                          <a:effectLst/>
                          <a:latin typeface="+mn-lt"/>
                          <a:ea typeface="+mn-ea"/>
                          <a:cs typeface="+mn-cs"/>
                        </a:rPr>
                        <a:t>pv</a:t>
                      </a:r>
                      <a:r>
                        <a:rPr lang="en-IN" sz="1800"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MousePressed</a:t>
                      </a:r>
                      <a:r>
                        <a:rPr lang="en-IN" sz="1800" kern="1200" dirty="0">
                          <a:solidFill>
                            <a:schemeClr val="dk1"/>
                          </a:solidFill>
                          <a:effectLst/>
                          <a:latin typeface="+mn-lt"/>
                          <a:ea typeface="+mn-ea"/>
                          <a:cs typeface="+mn-cs"/>
                        </a:rPr>
                        <a:t>(</a:t>
                      </a:r>
                      <a:r>
                        <a:rPr lang="en-IN" sz="1800" kern="1200" dirty="0" err="1">
                          <a:solidFill>
                            <a:schemeClr val="dk1"/>
                          </a:solidFill>
                          <a:effectLst/>
                          <a:latin typeface="+mn-lt"/>
                          <a:ea typeface="+mn-ea"/>
                          <a:cs typeface="+mn-cs"/>
                        </a:rPr>
                        <a:t>MouseEvent</a:t>
                      </a:r>
                      <a:r>
                        <a:rPr lang="en-IN" sz="1800" kern="1200" dirty="0">
                          <a:solidFill>
                            <a:schemeClr val="dk1"/>
                          </a:solidFill>
                          <a:effectLst/>
                          <a:latin typeface="+mn-lt"/>
                          <a:ea typeface="+mn-ea"/>
                          <a:cs typeface="+mn-cs"/>
                        </a:rPr>
                        <a:t> e) </a:t>
                      </a:r>
                    </a:p>
                    <a:p>
                      <a:r>
                        <a:rPr lang="en-IN" sz="1800" kern="1200" dirty="0" err="1">
                          <a:solidFill>
                            <a:schemeClr val="dk1"/>
                          </a:solidFill>
                          <a:effectLst/>
                          <a:latin typeface="+mn-lt"/>
                          <a:ea typeface="+mn-ea"/>
                          <a:cs typeface="+mn-cs"/>
                        </a:rPr>
                        <a:t>pv</a:t>
                      </a:r>
                      <a:r>
                        <a:rPr lang="en-IN" sz="1800"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MouseReleased</a:t>
                      </a:r>
                      <a:r>
                        <a:rPr lang="en-IN" sz="1800" kern="1200" dirty="0">
                          <a:solidFill>
                            <a:schemeClr val="dk1"/>
                          </a:solidFill>
                          <a:effectLst/>
                          <a:latin typeface="+mn-lt"/>
                          <a:ea typeface="+mn-ea"/>
                          <a:cs typeface="+mn-cs"/>
                        </a:rPr>
                        <a:t>(</a:t>
                      </a:r>
                      <a:r>
                        <a:rPr lang="en-IN" sz="1800" kern="1200" dirty="0" err="1">
                          <a:solidFill>
                            <a:schemeClr val="dk1"/>
                          </a:solidFill>
                          <a:effectLst/>
                          <a:latin typeface="+mn-lt"/>
                          <a:ea typeface="+mn-ea"/>
                          <a:cs typeface="+mn-cs"/>
                        </a:rPr>
                        <a:t>MouseEvent</a:t>
                      </a:r>
                      <a:r>
                        <a:rPr lang="en-IN" sz="1800" kern="1200" dirty="0">
                          <a:solidFill>
                            <a:schemeClr val="dk1"/>
                          </a:solidFill>
                          <a:effectLst/>
                          <a:latin typeface="+mn-lt"/>
                          <a:ea typeface="+mn-ea"/>
                          <a:cs typeface="+mn-cs"/>
                        </a:rPr>
                        <a:t> e) </a:t>
                      </a:r>
                    </a:p>
                    <a:p>
                      <a:r>
                        <a:rPr lang="en-IN" sz="1800" kern="1200" dirty="0" err="1">
                          <a:solidFill>
                            <a:schemeClr val="dk1"/>
                          </a:solidFill>
                          <a:effectLst/>
                          <a:latin typeface="+mn-lt"/>
                          <a:ea typeface="+mn-ea"/>
                          <a:cs typeface="+mn-cs"/>
                        </a:rPr>
                        <a:t>pv</a:t>
                      </a:r>
                      <a:r>
                        <a:rPr lang="en-IN" sz="1800"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MouseClicked</a:t>
                      </a:r>
                      <a:r>
                        <a:rPr lang="en-IN" sz="1800" kern="1200" dirty="0">
                          <a:solidFill>
                            <a:schemeClr val="dk1"/>
                          </a:solidFill>
                          <a:effectLst/>
                          <a:latin typeface="+mn-lt"/>
                          <a:ea typeface="+mn-ea"/>
                          <a:cs typeface="+mn-cs"/>
                        </a:rPr>
                        <a:t>(</a:t>
                      </a:r>
                      <a:r>
                        <a:rPr lang="en-IN" sz="1800" kern="1200" dirty="0" err="1">
                          <a:solidFill>
                            <a:schemeClr val="dk1"/>
                          </a:solidFill>
                          <a:effectLst/>
                          <a:latin typeface="+mn-lt"/>
                          <a:ea typeface="+mn-ea"/>
                          <a:cs typeface="+mn-cs"/>
                        </a:rPr>
                        <a:t>MouseEvent</a:t>
                      </a:r>
                      <a:r>
                        <a:rPr lang="en-IN" sz="1800" kern="1200" dirty="0">
                          <a:solidFill>
                            <a:schemeClr val="dk1"/>
                          </a:solidFill>
                          <a:effectLst/>
                          <a:latin typeface="+mn-lt"/>
                          <a:ea typeface="+mn-ea"/>
                          <a:cs typeface="+mn-cs"/>
                        </a:rPr>
                        <a:t> e) </a:t>
                      </a:r>
                      <a:endParaRPr lang="en-IN" sz="1400" dirty="0"/>
                    </a:p>
                  </a:txBody>
                  <a:tcPr/>
                </a:tc>
                <a:extLst>
                  <a:ext uri="{0D108BD9-81ED-4DB2-BD59-A6C34878D82A}">
                    <a16:rowId xmlns:a16="http://schemas.microsoft.com/office/drawing/2014/main" val="2330731111"/>
                  </a:ext>
                </a:extLst>
              </a:tr>
              <a:tr h="370840">
                <a:tc>
                  <a:txBody>
                    <a:bodyPr/>
                    <a:lstStyle/>
                    <a:p>
                      <a:r>
                        <a:rPr lang="en-US" sz="1400" dirty="0"/>
                        <a:t>Keyboard</a:t>
                      </a:r>
                    </a:p>
                  </a:txBody>
                  <a:tcPr/>
                </a:tc>
                <a:tc>
                  <a:txBody>
                    <a:bodyPr/>
                    <a:lstStyle/>
                    <a:p>
                      <a:r>
                        <a:rPr lang="en-US" sz="1400" dirty="0" err="1"/>
                        <a:t>KeyEvent</a:t>
                      </a:r>
                      <a:endParaRPr lang="en-US" sz="1400" dirty="0"/>
                    </a:p>
                  </a:txBody>
                  <a:tcPr/>
                </a:tc>
                <a:tc>
                  <a:txBody>
                    <a:bodyPr/>
                    <a:lstStyle/>
                    <a:p>
                      <a:r>
                        <a:rPr lang="en-US" sz="1400" dirty="0" err="1"/>
                        <a:t>KeyListener</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err="1">
                          <a:solidFill>
                            <a:schemeClr val="dk1"/>
                          </a:solidFill>
                          <a:effectLst/>
                          <a:latin typeface="+mn-lt"/>
                          <a:ea typeface="+mn-ea"/>
                          <a:cs typeface="+mn-cs"/>
                        </a:rPr>
                        <a:t>pv</a:t>
                      </a:r>
                      <a:r>
                        <a:rPr lang="en-IN" sz="1800"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KeyTyped</a:t>
                      </a:r>
                      <a:r>
                        <a:rPr lang="en-IN" sz="1800" kern="1200" dirty="0">
                          <a:solidFill>
                            <a:schemeClr val="dk1"/>
                          </a:solidFill>
                          <a:effectLst/>
                          <a:latin typeface="+mn-lt"/>
                          <a:ea typeface="+mn-ea"/>
                          <a:cs typeface="+mn-cs"/>
                        </a:rPr>
                        <a:t>(</a:t>
                      </a:r>
                      <a:r>
                        <a:rPr lang="en-IN" sz="1800" kern="1200" dirty="0" err="1">
                          <a:solidFill>
                            <a:schemeClr val="dk1"/>
                          </a:solidFill>
                          <a:effectLst/>
                          <a:latin typeface="+mn-lt"/>
                          <a:ea typeface="+mn-ea"/>
                          <a:cs typeface="+mn-cs"/>
                        </a:rPr>
                        <a:t>KeyEvent</a:t>
                      </a:r>
                      <a:r>
                        <a:rPr lang="en-IN" sz="1800" kern="1200" dirty="0">
                          <a:solidFill>
                            <a:schemeClr val="dk1"/>
                          </a:solidFill>
                          <a:effectLst/>
                          <a:latin typeface="+mn-lt"/>
                          <a:ea typeface="+mn-ea"/>
                          <a:cs typeface="+mn-cs"/>
                        </a:rPr>
                        <a:t> e)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err="1">
                          <a:solidFill>
                            <a:schemeClr val="dk1"/>
                          </a:solidFill>
                          <a:effectLst/>
                          <a:latin typeface="+mn-lt"/>
                          <a:ea typeface="+mn-ea"/>
                          <a:cs typeface="+mn-cs"/>
                        </a:rPr>
                        <a:t>pv</a:t>
                      </a:r>
                      <a:r>
                        <a:rPr lang="en-IN" sz="1800"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KeyPressed</a:t>
                      </a:r>
                      <a:r>
                        <a:rPr lang="en-IN" sz="1800" kern="1200" dirty="0">
                          <a:solidFill>
                            <a:schemeClr val="dk1"/>
                          </a:solidFill>
                          <a:effectLst/>
                          <a:latin typeface="+mn-lt"/>
                          <a:ea typeface="+mn-ea"/>
                          <a:cs typeface="+mn-cs"/>
                        </a:rPr>
                        <a:t>(</a:t>
                      </a:r>
                      <a:r>
                        <a:rPr lang="en-IN" sz="1800" kern="1200" dirty="0" err="1">
                          <a:solidFill>
                            <a:schemeClr val="dk1"/>
                          </a:solidFill>
                          <a:effectLst/>
                          <a:latin typeface="+mn-lt"/>
                          <a:ea typeface="+mn-ea"/>
                          <a:cs typeface="+mn-cs"/>
                        </a:rPr>
                        <a:t>KeyEvent</a:t>
                      </a:r>
                      <a:r>
                        <a:rPr lang="en-IN" sz="1800" kern="1200" dirty="0">
                          <a:solidFill>
                            <a:schemeClr val="dk1"/>
                          </a:solidFill>
                          <a:effectLst/>
                          <a:latin typeface="+mn-lt"/>
                          <a:ea typeface="+mn-ea"/>
                          <a:cs typeface="+mn-cs"/>
                        </a:rPr>
                        <a:t> e)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err="1">
                          <a:solidFill>
                            <a:schemeClr val="dk1"/>
                          </a:solidFill>
                          <a:effectLst/>
                          <a:latin typeface="+mn-lt"/>
                          <a:ea typeface="+mn-ea"/>
                          <a:cs typeface="+mn-cs"/>
                        </a:rPr>
                        <a:t>pv</a:t>
                      </a:r>
                      <a:r>
                        <a:rPr lang="en-IN" sz="1800"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KeyReleased</a:t>
                      </a:r>
                      <a:r>
                        <a:rPr lang="en-IN" sz="1800" kern="1200" dirty="0">
                          <a:solidFill>
                            <a:schemeClr val="dk1"/>
                          </a:solidFill>
                          <a:effectLst/>
                          <a:latin typeface="+mn-lt"/>
                          <a:ea typeface="+mn-ea"/>
                          <a:cs typeface="+mn-cs"/>
                        </a:rPr>
                        <a:t>(</a:t>
                      </a:r>
                      <a:r>
                        <a:rPr lang="en-IN" sz="1800" kern="1200" dirty="0" err="1">
                          <a:solidFill>
                            <a:schemeClr val="dk1"/>
                          </a:solidFill>
                          <a:effectLst/>
                          <a:latin typeface="+mn-lt"/>
                          <a:ea typeface="+mn-ea"/>
                          <a:cs typeface="+mn-cs"/>
                        </a:rPr>
                        <a:t>KeyEvent</a:t>
                      </a:r>
                      <a:r>
                        <a:rPr lang="en-IN" sz="1800" kern="1200" dirty="0">
                          <a:solidFill>
                            <a:schemeClr val="dk1"/>
                          </a:solidFill>
                          <a:effectLst/>
                          <a:latin typeface="+mn-lt"/>
                          <a:ea typeface="+mn-ea"/>
                          <a:cs typeface="+mn-cs"/>
                        </a:rPr>
                        <a:t> e) </a:t>
                      </a:r>
                      <a:endParaRPr lang="en-IN"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dirty="0"/>
                    </a:p>
                  </a:txBody>
                  <a:tcPr/>
                </a:tc>
                <a:extLst>
                  <a:ext uri="{0D108BD9-81ED-4DB2-BD59-A6C34878D82A}">
                    <a16:rowId xmlns:a16="http://schemas.microsoft.com/office/drawing/2014/main" val="331866143"/>
                  </a:ext>
                </a:extLst>
              </a:tr>
              <a:tr h="370840">
                <a:tc>
                  <a:txBody>
                    <a:bodyPr/>
                    <a:lstStyle/>
                    <a:p>
                      <a:endParaRPr lang="en-US" sz="1400" dirty="0"/>
                    </a:p>
                  </a:txBody>
                  <a:tcPr/>
                </a:tc>
                <a:tc>
                  <a:txBody>
                    <a:bodyPr/>
                    <a:lstStyle/>
                    <a:p>
                      <a:endParaRPr lang="en-US" sz="1400" dirty="0"/>
                    </a:p>
                  </a:txBody>
                  <a:tcPr/>
                </a:tc>
                <a:tc>
                  <a:txBody>
                    <a:bodyPr/>
                    <a:lstStyle/>
                    <a:p>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dirty="0"/>
                    </a:p>
                  </a:txBody>
                  <a:tcPr/>
                </a:tc>
                <a:extLst>
                  <a:ext uri="{0D108BD9-81ED-4DB2-BD59-A6C34878D82A}">
                    <a16:rowId xmlns:a16="http://schemas.microsoft.com/office/drawing/2014/main" val="2759603344"/>
                  </a:ext>
                </a:extLst>
              </a:tr>
              <a:tr h="370840">
                <a:tc>
                  <a:txBody>
                    <a:bodyPr/>
                    <a:lstStyle/>
                    <a:p>
                      <a:endParaRPr lang="en-US" sz="1400" dirty="0"/>
                    </a:p>
                  </a:txBody>
                  <a:tcPr/>
                </a:tc>
                <a:tc>
                  <a:txBody>
                    <a:bodyPr/>
                    <a:lstStyle/>
                    <a:p>
                      <a:endParaRPr lang="en-US" sz="1400" dirty="0"/>
                    </a:p>
                  </a:txBody>
                  <a:tcPr/>
                </a:tc>
                <a:tc>
                  <a:txBody>
                    <a:bodyPr/>
                    <a:lstStyle/>
                    <a:p>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dirty="0"/>
                    </a:p>
                  </a:txBody>
                  <a:tcPr/>
                </a:tc>
                <a:extLst>
                  <a:ext uri="{0D108BD9-81ED-4DB2-BD59-A6C34878D82A}">
                    <a16:rowId xmlns:a16="http://schemas.microsoft.com/office/drawing/2014/main" val="2314809642"/>
                  </a:ext>
                </a:extLst>
              </a:tr>
              <a:tr h="370840">
                <a:tc>
                  <a:txBody>
                    <a:bodyPr/>
                    <a:lstStyle/>
                    <a:p>
                      <a:endParaRPr lang="en-US" sz="1400" dirty="0"/>
                    </a:p>
                  </a:txBody>
                  <a:tcPr/>
                </a:tc>
                <a:tc>
                  <a:txBody>
                    <a:bodyPr/>
                    <a:lstStyle/>
                    <a:p>
                      <a:endParaRPr lang="en-US" sz="1400" dirty="0"/>
                    </a:p>
                  </a:txBody>
                  <a:tcPr/>
                </a:tc>
                <a:tc>
                  <a:txBody>
                    <a:bodyPr/>
                    <a:lstStyle/>
                    <a:p>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dirty="0"/>
                    </a:p>
                  </a:txBody>
                  <a:tcPr/>
                </a:tc>
                <a:extLst>
                  <a:ext uri="{0D108BD9-81ED-4DB2-BD59-A6C34878D82A}">
                    <a16:rowId xmlns:a16="http://schemas.microsoft.com/office/drawing/2014/main" val="941445549"/>
                  </a:ext>
                </a:extLst>
              </a:tr>
              <a:tr h="370840">
                <a:tc>
                  <a:txBody>
                    <a:bodyPr/>
                    <a:lstStyle/>
                    <a:p>
                      <a:endParaRPr lang="en-US" sz="1400" dirty="0"/>
                    </a:p>
                  </a:txBody>
                  <a:tcPr/>
                </a:tc>
                <a:tc>
                  <a:txBody>
                    <a:bodyPr/>
                    <a:lstStyle/>
                    <a:p>
                      <a:endParaRPr lang="en-US" sz="1400" dirty="0"/>
                    </a:p>
                  </a:txBody>
                  <a:tcPr/>
                </a:tc>
                <a:tc>
                  <a:txBody>
                    <a:bodyPr/>
                    <a:lstStyle/>
                    <a:p>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dirty="0"/>
                    </a:p>
                  </a:txBody>
                  <a:tcPr/>
                </a:tc>
                <a:extLst>
                  <a:ext uri="{0D108BD9-81ED-4DB2-BD59-A6C34878D82A}">
                    <a16:rowId xmlns:a16="http://schemas.microsoft.com/office/drawing/2014/main" val="1172776768"/>
                  </a:ext>
                </a:extLst>
              </a:tr>
              <a:tr h="370840">
                <a:tc>
                  <a:txBody>
                    <a:bodyPr/>
                    <a:lstStyle/>
                    <a:p>
                      <a:endParaRPr lang="en-US" sz="1400" dirty="0"/>
                    </a:p>
                  </a:txBody>
                  <a:tcPr/>
                </a:tc>
                <a:tc>
                  <a:txBody>
                    <a:bodyPr/>
                    <a:lstStyle/>
                    <a:p>
                      <a:endParaRPr lang="en-US" sz="1400" dirty="0"/>
                    </a:p>
                  </a:txBody>
                  <a:tcPr/>
                </a:tc>
                <a:tc>
                  <a:txBody>
                    <a:bodyPr/>
                    <a:lstStyle/>
                    <a:p>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dirty="0"/>
                    </a:p>
                  </a:txBody>
                  <a:tcPr/>
                </a:tc>
                <a:extLst>
                  <a:ext uri="{0D108BD9-81ED-4DB2-BD59-A6C34878D82A}">
                    <a16:rowId xmlns:a16="http://schemas.microsoft.com/office/drawing/2014/main" val="2301742496"/>
                  </a:ext>
                </a:extLst>
              </a:tr>
              <a:tr h="370840">
                <a:tc>
                  <a:txBody>
                    <a:bodyPr/>
                    <a:lstStyle/>
                    <a:p>
                      <a:endParaRPr lang="en-US" sz="1400" dirty="0"/>
                    </a:p>
                  </a:txBody>
                  <a:tcPr/>
                </a:tc>
                <a:tc>
                  <a:txBody>
                    <a:bodyPr/>
                    <a:lstStyle/>
                    <a:p>
                      <a:endParaRPr lang="en-US" sz="1400" dirty="0"/>
                    </a:p>
                  </a:txBody>
                  <a:tcPr/>
                </a:tc>
                <a:tc>
                  <a:txBody>
                    <a:bodyPr/>
                    <a:lstStyle/>
                    <a:p>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dirty="0"/>
                    </a:p>
                  </a:txBody>
                  <a:tcPr/>
                </a:tc>
                <a:extLst>
                  <a:ext uri="{0D108BD9-81ED-4DB2-BD59-A6C34878D82A}">
                    <a16:rowId xmlns:a16="http://schemas.microsoft.com/office/drawing/2014/main" val="3406766373"/>
                  </a:ext>
                </a:extLst>
              </a:tr>
              <a:tr h="370840">
                <a:tc>
                  <a:txBody>
                    <a:bodyPr/>
                    <a:lstStyle/>
                    <a:p>
                      <a:endParaRPr lang="en-US" sz="1400" dirty="0"/>
                    </a:p>
                  </a:txBody>
                  <a:tcPr/>
                </a:tc>
                <a:tc>
                  <a:txBody>
                    <a:bodyPr/>
                    <a:lstStyle/>
                    <a:p>
                      <a:endParaRPr lang="en-US" sz="1400" dirty="0"/>
                    </a:p>
                  </a:txBody>
                  <a:tcPr/>
                </a:tc>
                <a:tc>
                  <a:txBody>
                    <a:bodyPr/>
                    <a:lstStyle/>
                    <a:p>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dirty="0"/>
                    </a:p>
                  </a:txBody>
                  <a:tcPr/>
                </a:tc>
                <a:extLst>
                  <a:ext uri="{0D108BD9-81ED-4DB2-BD59-A6C34878D82A}">
                    <a16:rowId xmlns:a16="http://schemas.microsoft.com/office/drawing/2014/main" val="3055910501"/>
                  </a:ext>
                </a:extLst>
              </a:tr>
              <a:tr h="370840">
                <a:tc>
                  <a:txBody>
                    <a:bodyPr/>
                    <a:lstStyle/>
                    <a:p>
                      <a:endParaRPr lang="en-US" sz="1400" dirty="0"/>
                    </a:p>
                  </a:txBody>
                  <a:tcPr/>
                </a:tc>
                <a:tc>
                  <a:txBody>
                    <a:bodyPr/>
                    <a:lstStyle/>
                    <a:p>
                      <a:endParaRPr lang="en-US" sz="1400" dirty="0"/>
                    </a:p>
                  </a:txBody>
                  <a:tcPr/>
                </a:tc>
                <a:tc>
                  <a:txBody>
                    <a:bodyPr/>
                    <a:lstStyle/>
                    <a:p>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dirty="0"/>
                    </a:p>
                  </a:txBody>
                  <a:tcPr/>
                </a:tc>
                <a:extLst>
                  <a:ext uri="{0D108BD9-81ED-4DB2-BD59-A6C34878D82A}">
                    <a16:rowId xmlns:a16="http://schemas.microsoft.com/office/drawing/2014/main" val="4175456858"/>
                  </a:ext>
                </a:extLst>
              </a:tr>
            </a:tbl>
          </a:graphicData>
        </a:graphic>
      </p:graphicFrame>
      <p:sp>
        <p:nvSpPr>
          <p:cNvPr id="4" name="Footer Placeholder 3">
            <a:extLst>
              <a:ext uri="{FF2B5EF4-FFF2-40B4-BE49-F238E27FC236}">
                <a16:creationId xmlns:a16="http://schemas.microsoft.com/office/drawing/2014/main" id="{B4299B1B-BB2B-E4DA-08EA-83F2B143AAA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4793636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92693-B4D6-364C-8B0B-13C728C666AC}"/>
              </a:ext>
            </a:extLst>
          </p:cNvPr>
          <p:cNvSpPr>
            <a:spLocks noGrp="1"/>
          </p:cNvSpPr>
          <p:nvPr>
            <p:ph type="title"/>
          </p:nvPr>
        </p:nvSpPr>
        <p:spPr/>
        <p:txBody>
          <a:bodyPr/>
          <a:lstStyle/>
          <a:p>
            <a:r>
              <a:rPr lang="en-IN" sz="2800" dirty="0">
                <a:effectLst/>
                <a:latin typeface="Calibri" panose="020F0502020204030204" pitchFamily="34" charset="0"/>
              </a:rPr>
              <a:t>PROVIDING CLOSING OPTION TO THE FRAME </a:t>
            </a:r>
            <a:endParaRPr lang="en-US" sz="6000" dirty="0"/>
          </a:p>
        </p:txBody>
      </p:sp>
      <p:sp>
        <p:nvSpPr>
          <p:cNvPr id="3" name="Content Placeholder 2">
            <a:extLst>
              <a:ext uri="{FF2B5EF4-FFF2-40B4-BE49-F238E27FC236}">
                <a16:creationId xmlns:a16="http://schemas.microsoft.com/office/drawing/2014/main" id="{71E9A99D-1A95-8AF2-9C11-ED03F7EE654F}"/>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java.awt.event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Frame {</a:t>
            </a:r>
          </a:p>
          <a:p>
            <a:pPr marL="0" marR="0" indent="0">
              <a:spcBef>
                <a:spcPts val="0"/>
              </a:spcBef>
              <a:spcAft>
                <a:spcPts val="0"/>
              </a:spcAft>
              <a:buNone/>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(400,500);</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myframe</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.addWindowListener</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MyClassImpl</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buNone/>
            </a:pPr>
            <a:endParaRPr lang="en-US" dirty="0"/>
          </a:p>
        </p:txBody>
      </p:sp>
      <p:sp>
        <p:nvSpPr>
          <p:cNvPr id="4" name="Footer Placeholder 3">
            <a:extLst>
              <a:ext uri="{FF2B5EF4-FFF2-40B4-BE49-F238E27FC236}">
                <a16:creationId xmlns:a16="http://schemas.microsoft.com/office/drawing/2014/main" id="{F9A55818-D1CD-CBA7-5413-F0F24C502141}"/>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5944479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B1ACC-7F2C-4906-0EE2-AA5E4B053B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110B3E-02A5-D3D9-8059-53D66CEA5D6B}"/>
              </a:ext>
            </a:extLst>
          </p:cNvPr>
          <p:cNvSpPr>
            <a:spLocks noGrp="1"/>
          </p:cNvSpPr>
          <p:nvPr>
            <p:ph type="title"/>
          </p:nvPr>
        </p:nvSpPr>
        <p:spPr/>
        <p:txBody>
          <a:bodyPr/>
          <a:lstStyle/>
          <a:p>
            <a:r>
              <a:rPr lang="en-IN" sz="2800" dirty="0">
                <a:effectLst/>
                <a:latin typeface="Calibri" panose="020F0502020204030204" pitchFamily="34" charset="0"/>
              </a:rPr>
              <a:t>PROVIDING CLOSING OPTION TO THE FRAME </a:t>
            </a:r>
            <a:endParaRPr lang="en-US" sz="6000" dirty="0"/>
          </a:p>
        </p:txBody>
      </p:sp>
      <p:sp>
        <p:nvSpPr>
          <p:cNvPr id="3" name="Content Placeholder 2">
            <a:extLst>
              <a:ext uri="{FF2B5EF4-FFF2-40B4-BE49-F238E27FC236}">
                <a16:creationId xmlns:a16="http://schemas.microsoft.com/office/drawing/2014/main" id="{A57C6F4D-D8E1-1753-3FD9-1B085126EF0F}"/>
              </a:ext>
            </a:extLst>
          </p:cNvPr>
          <p:cNvSpPr>
            <a:spLocks noGrp="1"/>
          </p:cNvSpPr>
          <p:nvPr>
            <p:ph idx="1"/>
          </p:nvPr>
        </p:nvSpPr>
        <p:spPr/>
        <p:txBody>
          <a:bodyPr/>
          <a:lstStyle/>
          <a:p>
            <a:pPr marL="0" marR="0" indent="0">
              <a:spcBef>
                <a:spcPts val="0"/>
              </a:spcBef>
              <a:spcAft>
                <a:spcPts val="0"/>
              </a:spcAft>
              <a:buNone/>
            </a:pP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MyClassImpl</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implements</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WindowListener</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b="1" dirty="0">
                <a:solidFill>
                  <a:srgbClr val="7F0055"/>
                </a:solidFill>
                <a:effectLst/>
                <a:latin typeface="Menlo" panose="020B0609030804020204" pitchFamily="49" charset="0"/>
              </a:rPr>
              <a:t>public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windowActivated</a:t>
            </a:r>
            <a:r>
              <a:rPr lang="en-IN" sz="1600" dirty="0">
                <a:solidFill>
                  <a:srgbClr val="000000"/>
                </a:solidFill>
                <a:effectLst/>
                <a:latin typeface="Menlo" panose="020B0609030804020204" pitchFamily="49" charset="0"/>
              </a:rPr>
              <a:t>(</a:t>
            </a:r>
            <a:r>
              <a:rPr lang="en-IN" sz="1600" dirty="0" err="1">
                <a:solidFill>
                  <a:srgbClr val="000000"/>
                </a:solidFill>
                <a:effectLst/>
                <a:latin typeface="Menlo" panose="020B0609030804020204" pitchFamily="49" charset="0"/>
              </a:rPr>
              <a:t>WindowEvent</a:t>
            </a:r>
            <a:r>
              <a:rPr lang="en-IN" sz="1600" dirty="0">
                <a:solidFill>
                  <a:srgbClr val="000000"/>
                </a:solidFill>
                <a:effectLst/>
                <a:latin typeface="Menlo" panose="020B0609030804020204" pitchFamily="49" charset="0"/>
              </a:rPr>
              <a:t> </a:t>
            </a:r>
            <a:r>
              <a:rPr lang="en-IN" sz="1600" dirty="0">
                <a:solidFill>
                  <a:srgbClr val="6A3E3E"/>
                </a:solidFill>
                <a:effectLst/>
                <a:latin typeface="Menlo" panose="020B0609030804020204" pitchFamily="49" charset="0"/>
              </a:rPr>
              <a:t>e</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System.</a:t>
            </a:r>
            <a:r>
              <a:rPr lang="en-IN" sz="1600" b="1" i="1" dirty="0" err="1">
                <a:solidFill>
                  <a:srgbClr val="0000C0"/>
                </a:solidFill>
                <a:effectLst/>
                <a:latin typeface="Menlo" panose="020B0609030804020204" pitchFamily="49" charset="0"/>
              </a:rPr>
              <a:t>out</a:t>
            </a:r>
            <a:r>
              <a:rPr lang="en-IN" sz="1600" dirty="0" err="1">
                <a:solidFill>
                  <a:srgbClr val="000000"/>
                </a:solidFill>
                <a:effectLst/>
                <a:latin typeface="Menlo" panose="020B0609030804020204" pitchFamily="49" charset="0"/>
              </a:rPr>
              <a:t>.println</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"window activated"</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b="1" dirty="0">
                <a:solidFill>
                  <a:srgbClr val="7F0055"/>
                </a:solidFill>
                <a:effectLst/>
                <a:latin typeface="Menlo" panose="020B0609030804020204" pitchFamily="49" charset="0"/>
              </a:rPr>
              <a:t>public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windowDeactivated</a:t>
            </a:r>
            <a:r>
              <a:rPr lang="en-IN" sz="1600" dirty="0">
                <a:solidFill>
                  <a:srgbClr val="000000"/>
                </a:solidFill>
                <a:effectLst/>
                <a:latin typeface="Menlo" panose="020B0609030804020204" pitchFamily="49" charset="0"/>
              </a:rPr>
              <a:t>(</a:t>
            </a:r>
            <a:r>
              <a:rPr lang="en-IN" sz="1600" dirty="0" err="1">
                <a:solidFill>
                  <a:srgbClr val="000000"/>
                </a:solidFill>
                <a:effectLst/>
                <a:latin typeface="Menlo" panose="020B0609030804020204" pitchFamily="49" charset="0"/>
              </a:rPr>
              <a:t>WindowEvent</a:t>
            </a:r>
            <a:r>
              <a:rPr lang="en-IN" sz="1600" dirty="0">
                <a:solidFill>
                  <a:srgbClr val="000000"/>
                </a:solidFill>
                <a:effectLst/>
                <a:latin typeface="Menlo" panose="020B0609030804020204" pitchFamily="49" charset="0"/>
              </a:rPr>
              <a:t> </a:t>
            </a:r>
            <a:r>
              <a:rPr lang="en-IN" sz="1600" dirty="0">
                <a:solidFill>
                  <a:srgbClr val="6A3E3E"/>
                </a:solidFill>
                <a:effectLst/>
                <a:latin typeface="Menlo" panose="020B0609030804020204" pitchFamily="49" charset="0"/>
              </a:rPr>
              <a:t>e</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System.</a:t>
            </a:r>
            <a:r>
              <a:rPr lang="en-IN" sz="1600" b="1" i="1" dirty="0" err="1">
                <a:solidFill>
                  <a:srgbClr val="0000C0"/>
                </a:solidFill>
                <a:effectLst/>
                <a:latin typeface="Menlo" panose="020B0609030804020204" pitchFamily="49" charset="0"/>
              </a:rPr>
              <a:t>out</a:t>
            </a:r>
            <a:r>
              <a:rPr lang="en-IN" sz="1600" dirty="0" err="1">
                <a:solidFill>
                  <a:srgbClr val="000000"/>
                </a:solidFill>
                <a:effectLst/>
                <a:latin typeface="Menlo" panose="020B0609030804020204" pitchFamily="49" charset="0"/>
              </a:rPr>
              <a:t>.println</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"window deactivated"</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b="1" dirty="0">
                <a:solidFill>
                  <a:srgbClr val="7F0055"/>
                </a:solidFill>
                <a:effectLst/>
                <a:latin typeface="Menlo" panose="020B0609030804020204" pitchFamily="49" charset="0"/>
              </a:rPr>
              <a:t>public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windowIconified</a:t>
            </a:r>
            <a:r>
              <a:rPr lang="en-IN" sz="1600" dirty="0">
                <a:solidFill>
                  <a:srgbClr val="000000"/>
                </a:solidFill>
                <a:effectLst/>
                <a:latin typeface="Menlo" panose="020B0609030804020204" pitchFamily="49" charset="0"/>
              </a:rPr>
              <a:t>(</a:t>
            </a:r>
            <a:r>
              <a:rPr lang="en-IN" sz="1600" dirty="0" err="1">
                <a:solidFill>
                  <a:srgbClr val="000000"/>
                </a:solidFill>
                <a:effectLst/>
                <a:latin typeface="Menlo" panose="020B0609030804020204" pitchFamily="49" charset="0"/>
              </a:rPr>
              <a:t>WindowEvent</a:t>
            </a:r>
            <a:r>
              <a:rPr lang="en-IN" sz="1600" dirty="0">
                <a:solidFill>
                  <a:srgbClr val="000000"/>
                </a:solidFill>
                <a:effectLst/>
                <a:latin typeface="Menlo" panose="020B0609030804020204" pitchFamily="49" charset="0"/>
              </a:rPr>
              <a:t> </a:t>
            </a:r>
            <a:r>
              <a:rPr lang="en-IN" sz="1600" dirty="0">
                <a:solidFill>
                  <a:srgbClr val="6A3E3E"/>
                </a:solidFill>
                <a:effectLst/>
                <a:latin typeface="Menlo" panose="020B0609030804020204" pitchFamily="49" charset="0"/>
              </a:rPr>
              <a:t>e</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System.</a:t>
            </a:r>
            <a:r>
              <a:rPr lang="en-IN" sz="1600" b="1" i="1" dirty="0" err="1">
                <a:solidFill>
                  <a:srgbClr val="0000C0"/>
                </a:solidFill>
                <a:effectLst/>
                <a:latin typeface="Menlo" panose="020B0609030804020204" pitchFamily="49" charset="0"/>
              </a:rPr>
              <a:t>out</a:t>
            </a:r>
            <a:r>
              <a:rPr lang="en-IN" sz="1600" dirty="0" err="1">
                <a:solidFill>
                  <a:srgbClr val="000000"/>
                </a:solidFill>
                <a:effectLst/>
                <a:latin typeface="Menlo" panose="020B0609030804020204" pitchFamily="49" charset="0"/>
              </a:rPr>
              <a:t>.println</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"window iconified"</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b="1" dirty="0">
                <a:solidFill>
                  <a:srgbClr val="7F0055"/>
                </a:solidFill>
                <a:effectLst/>
                <a:latin typeface="Menlo" panose="020B0609030804020204" pitchFamily="49" charset="0"/>
              </a:rPr>
              <a:t>public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windowDeiconified</a:t>
            </a:r>
            <a:r>
              <a:rPr lang="en-IN" sz="1600" dirty="0">
                <a:solidFill>
                  <a:srgbClr val="000000"/>
                </a:solidFill>
                <a:effectLst/>
                <a:latin typeface="Menlo" panose="020B0609030804020204" pitchFamily="49" charset="0"/>
              </a:rPr>
              <a:t>(</a:t>
            </a:r>
            <a:r>
              <a:rPr lang="en-IN" sz="1600" dirty="0" err="1">
                <a:solidFill>
                  <a:srgbClr val="000000"/>
                </a:solidFill>
                <a:effectLst/>
                <a:latin typeface="Menlo" panose="020B0609030804020204" pitchFamily="49" charset="0"/>
              </a:rPr>
              <a:t>WindowEvent</a:t>
            </a:r>
            <a:r>
              <a:rPr lang="en-IN" sz="1600" dirty="0">
                <a:solidFill>
                  <a:srgbClr val="000000"/>
                </a:solidFill>
                <a:effectLst/>
                <a:latin typeface="Menlo" panose="020B0609030804020204" pitchFamily="49" charset="0"/>
              </a:rPr>
              <a:t> </a:t>
            </a:r>
            <a:r>
              <a:rPr lang="en-IN" sz="1600" dirty="0">
                <a:solidFill>
                  <a:srgbClr val="6A3E3E"/>
                </a:solidFill>
                <a:effectLst/>
                <a:latin typeface="Menlo" panose="020B0609030804020204" pitchFamily="49" charset="0"/>
              </a:rPr>
              <a:t>e</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System.</a:t>
            </a:r>
            <a:r>
              <a:rPr lang="en-IN" sz="1600" b="1" i="1" dirty="0" err="1">
                <a:solidFill>
                  <a:srgbClr val="0000C0"/>
                </a:solidFill>
                <a:effectLst/>
                <a:latin typeface="Menlo" panose="020B0609030804020204" pitchFamily="49" charset="0"/>
              </a:rPr>
              <a:t>out</a:t>
            </a:r>
            <a:r>
              <a:rPr lang="en-IN" sz="1600" dirty="0" err="1">
                <a:solidFill>
                  <a:srgbClr val="000000"/>
                </a:solidFill>
                <a:effectLst/>
                <a:latin typeface="Menlo" panose="020B0609030804020204" pitchFamily="49" charset="0"/>
              </a:rPr>
              <a:t>.println</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"window </a:t>
            </a:r>
            <a:r>
              <a:rPr lang="en-IN" sz="1600" dirty="0" err="1">
                <a:solidFill>
                  <a:srgbClr val="2A00FF"/>
                </a:solidFill>
                <a:effectLst/>
                <a:latin typeface="Menlo" panose="020B0609030804020204" pitchFamily="49" charset="0"/>
              </a:rPr>
              <a:t>deiconified</a:t>
            </a:r>
            <a:r>
              <a:rPr lang="en-IN" sz="1600" dirty="0">
                <a:solidFill>
                  <a:srgbClr val="2A00FF"/>
                </a:solidFill>
                <a:effectLst/>
                <a:latin typeface="Menlo" panose="020B0609030804020204" pitchFamily="49" charset="0"/>
              </a:rPr>
              <a:t>"</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b="1" dirty="0">
                <a:solidFill>
                  <a:srgbClr val="7F0055"/>
                </a:solidFill>
                <a:effectLst/>
                <a:latin typeface="Menlo" panose="020B0609030804020204" pitchFamily="49" charset="0"/>
              </a:rPr>
              <a:t>public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windowClosed</a:t>
            </a:r>
            <a:r>
              <a:rPr lang="en-IN" sz="1600" dirty="0">
                <a:solidFill>
                  <a:srgbClr val="000000"/>
                </a:solidFill>
                <a:effectLst/>
                <a:latin typeface="Menlo" panose="020B0609030804020204" pitchFamily="49" charset="0"/>
              </a:rPr>
              <a:t>(</a:t>
            </a:r>
            <a:r>
              <a:rPr lang="en-IN" sz="1600" dirty="0" err="1">
                <a:solidFill>
                  <a:srgbClr val="000000"/>
                </a:solidFill>
                <a:effectLst/>
                <a:latin typeface="Menlo" panose="020B0609030804020204" pitchFamily="49" charset="0"/>
              </a:rPr>
              <a:t>WindowEvent</a:t>
            </a:r>
            <a:r>
              <a:rPr lang="en-IN" sz="1600" dirty="0">
                <a:solidFill>
                  <a:srgbClr val="000000"/>
                </a:solidFill>
                <a:effectLst/>
                <a:latin typeface="Menlo" panose="020B0609030804020204" pitchFamily="49" charset="0"/>
              </a:rPr>
              <a:t> </a:t>
            </a:r>
            <a:r>
              <a:rPr lang="en-IN" sz="1600" dirty="0">
                <a:solidFill>
                  <a:srgbClr val="6A3E3E"/>
                </a:solidFill>
                <a:effectLst/>
                <a:latin typeface="Menlo" panose="020B0609030804020204" pitchFamily="49" charset="0"/>
              </a:rPr>
              <a:t>e</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System.</a:t>
            </a:r>
            <a:r>
              <a:rPr lang="en-IN" sz="1600" b="1" i="1" dirty="0" err="1">
                <a:solidFill>
                  <a:srgbClr val="0000C0"/>
                </a:solidFill>
                <a:effectLst/>
                <a:latin typeface="Menlo" panose="020B0609030804020204" pitchFamily="49" charset="0"/>
              </a:rPr>
              <a:t>out</a:t>
            </a:r>
            <a:r>
              <a:rPr lang="en-IN" sz="1600" dirty="0" err="1">
                <a:solidFill>
                  <a:srgbClr val="000000"/>
                </a:solidFill>
                <a:effectLst/>
                <a:latin typeface="Menlo" panose="020B0609030804020204" pitchFamily="49" charset="0"/>
              </a:rPr>
              <a:t>.println</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"window closed"</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b="1" dirty="0">
                <a:solidFill>
                  <a:srgbClr val="7F0055"/>
                </a:solidFill>
                <a:effectLst/>
                <a:latin typeface="Menlo" panose="020B0609030804020204" pitchFamily="49" charset="0"/>
              </a:rPr>
              <a:t>public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windowClosing</a:t>
            </a:r>
            <a:r>
              <a:rPr lang="en-IN" sz="1600" dirty="0">
                <a:solidFill>
                  <a:srgbClr val="000000"/>
                </a:solidFill>
                <a:effectLst/>
                <a:latin typeface="Menlo" panose="020B0609030804020204" pitchFamily="49" charset="0"/>
              </a:rPr>
              <a:t>(</a:t>
            </a:r>
            <a:r>
              <a:rPr lang="en-IN" sz="1600" dirty="0" err="1">
                <a:solidFill>
                  <a:srgbClr val="000000"/>
                </a:solidFill>
                <a:effectLst/>
                <a:latin typeface="Menlo" panose="020B0609030804020204" pitchFamily="49" charset="0"/>
              </a:rPr>
              <a:t>WindowEvent</a:t>
            </a:r>
            <a:r>
              <a:rPr lang="en-IN" sz="1600" dirty="0">
                <a:solidFill>
                  <a:srgbClr val="000000"/>
                </a:solidFill>
                <a:effectLst/>
                <a:latin typeface="Menlo" panose="020B0609030804020204" pitchFamily="49" charset="0"/>
              </a:rPr>
              <a:t> </a:t>
            </a:r>
            <a:r>
              <a:rPr lang="en-IN" sz="1600" dirty="0">
                <a:solidFill>
                  <a:srgbClr val="6A3E3E"/>
                </a:solidFill>
                <a:effectLst/>
                <a:latin typeface="Menlo" panose="020B0609030804020204" pitchFamily="49" charset="0"/>
              </a:rPr>
              <a:t>e</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System.</a:t>
            </a:r>
            <a:r>
              <a:rPr lang="en-IN" sz="1600" i="1" dirty="0" err="1">
                <a:solidFill>
                  <a:srgbClr val="000000"/>
                </a:solidFill>
                <a:effectLst/>
                <a:latin typeface="Menlo" panose="020B0609030804020204" pitchFamily="49" charset="0"/>
              </a:rPr>
              <a:t>exit</a:t>
            </a:r>
            <a:r>
              <a:rPr lang="en-IN" sz="1600" dirty="0">
                <a:solidFill>
                  <a:srgbClr val="000000"/>
                </a:solidFill>
                <a:effectLst/>
                <a:latin typeface="Menlo" panose="020B0609030804020204" pitchFamily="49" charset="0"/>
              </a:rPr>
              <a:t>(0);</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b="1" dirty="0">
                <a:solidFill>
                  <a:srgbClr val="7F0055"/>
                </a:solidFill>
                <a:effectLst/>
                <a:latin typeface="Menlo" panose="020B0609030804020204" pitchFamily="49" charset="0"/>
              </a:rPr>
              <a:t>public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windowOpened</a:t>
            </a:r>
            <a:r>
              <a:rPr lang="en-IN" sz="1600" dirty="0">
                <a:solidFill>
                  <a:srgbClr val="000000"/>
                </a:solidFill>
                <a:effectLst/>
                <a:latin typeface="Menlo" panose="020B0609030804020204" pitchFamily="49" charset="0"/>
              </a:rPr>
              <a:t>(</a:t>
            </a:r>
            <a:r>
              <a:rPr lang="en-IN" sz="1600" dirty="0" err="1">
                <a:solidFill>
                  <a:srgbClr val="000000"/>
                </a:solidFill>
                <a:effectLst/>
                <a:latin typeface="Menlo" panose="020B0609030804020204" pitchFamily="49" charset="0"/>
              </a:rPr>
              <a:t>WindowEvent</a:t>
            </a:r>
            <a:r>
              <a:rPr lang="en-IN" sz="1600" dirty="0">
                <a:solidFill>
                  <a:srgbClr val="000000"/>
                </a:solidFill>
                <a:effectLst/>
                <a:latin typeface="Menlo" panose="020B0609030804020204" pitchFamily="49" charset="0"/>
              </a:rPr>
              <a:t> </a:t>
            </a:r>
            <a:r>
              <a:rPr lang="en-IN" sz="1600" dirty="0">
                <a:solidFill>
                  <a:srgbClr val="6A3E3E"/>
                </a:solidFill>
                <a:effectLst/>
                <a:latin typeface="Menlo" panose="020B0609030804020204" pitchFamily="49" charset="0"/>
              </a:rPr>
              <a:t>e</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System.</a:t>
            </a:r>
            <a:r>
              <a:rPr lang="en-IN" sz="1600" b="1" i="1" dirty="0" err="1">
                <a:solidFill>
                  <a:srgbClr val="0000C0"/>
                </a:solidFill>
                <a:effectLst/>
                <a:latin typeface="Menlo" panose="020B0609030804020204" pitchFamily="49" charset="0"/>
              </a:rPr>
              <a:t>out</a:t>
            </a:r>
            <a:r>
              <a:rPr lang="en-IN" sz="1600" dirty="0" err="1">
                <a:solidFill>
                  <a:srgbClr val="000000"/>
                </a:solidFill>
                <a:effectLst/>
                <a:latin typeface="Menlo" panose="020B0609030804020204" pitchFamily="49" charset="0"/>
              </a:rPr>
              <a:t>.println</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"window Opened"</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endParaRPr lang="en-US" sz="2800" dirty="0"/>
          </a:p>
        </p:txBody>
      </p:sp>
      <p:sp>
        <p:nvSpPr>
          <p:cNvPr id="4" name="Footer Placeholder 3">
            <a:extLst>
              <a:ext uri="{FF2B5EF4-FFF2-40B4-BE49-F238E27FC236}">
                <a16:creationId xmlns:a16="http://schemas.microsoft.com/office/drawing/2014/main" id="{A88B8D52-32FB-A0C5-AABD-4194EDAA9127}"/>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6022620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CD430-E71A-5988-F191-A96CE5644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A99330-CFDC-8ECB-7949-284D6C27B81A}"/>
              </a:ext>
            </a:extLst>
          </p:cNvPr>
          <p:cNvSpPr>
            <a:spLocks noGrp="1"/>
          </p:cNvSpPr>
          <p:nvPr>
            <p:ph type="title"/>
          </p:nvPr>
        </p:nvSpPr>
        <p:spPr/>
        <p:txBody>
          <a:bodyPr/>
          <a:lstStyle/>
          <a:p>
            <a:r>
              <a:rPr lang="en-IN" sz="2800" dirty="0">
                <a:effectLst/>
                <a:latin typeface="Calibri" panose="020F0502020204030204" pitchFamily="34" charset="0"/>
              </a:rPr>
              <a:t>PROVIDING CLOSING OPTION TO THE FRAME </a:t>
            </a:r>
            <a:endParaRPr lang="en-US" sz="6000" dirty="0"/>
          </a:p>
        </p:txBody>
      </p:sp>
      <p:sp>
        <p:nvSpPr>
          <p:cNvPr id="3" name="Content Placeholder 2">
            <a:extLst>
              <a:ext uri="{FF2B5EF4-FFF2-40B4-BE49-F238E27FC236}">
                <a16:creationId xmlns:a16="http://schemas.microsoft.com/office/drawing/2014/main" id="{38069182-47B6-D716-27CF-2EB96BEC147E}"/>
              </a:ext>
            </a:extLst>
          </p:cNvPr>
          <p:cNvSpPr>
            <a:spLocks noGrp="1"/>
          </p:cNvSpPr>
          <p:nvPr>
            <p:ph idx="1"/>
          </p:nvPr>
        </p:nvSpPr>
        <p:spPr/>
        <p:txBody>
          <a:bodyPr/>
          <a:lstStyle/>
          <a:p>
            <a:pPr marL="0" marR="0" indent="0">
              <a:spcBef>
                <a:spcPts val="0"/>
              </a:spcBef>
              <a:spcAft>
                <a:spcPts val="0"/>
              </a:spcAft>
              <a:buNone/>
            </a:pPr>
            <a:br>
              <a:rPr lang="en-IN" sz="1800" dirty="0">
                <a:solidFill>
                  <a:srgbClr val="000000"/>
                </a:solidFill>
                <a:effectLst/>
                <a:latin typeface="Menlo" panose="020B0609030804020204" pitchFamily="49" charset="0"/>
              </a:rPr>
            </a:b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Demo{</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buNone/>
            </a:pPr>
            <a:endParaRPr lang="en-US" dirty="0"/>
          </a:p>
        </p:txBody>
      </p:sp>
      <p:sp>
        <p:nvSpPr>
          <p:cNvPr id="4" name="Footer Placeholder 3">
            <a:extLst>
              <a:ext uri="{FF2B5EF4-FFF2-40B4-BE49-F238E27FC236}">
                <a16:creationId xmlns:a16="http://schemas.microsoft.com/office/drawing/2014/main" id="{1F201B10-077B-1ABB-F6EB-3E17F49F15EC}"/>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0688224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08C3C-8FA9-530D-6B70-89F9659D8CA0}"/>
              </a:ext>
            </a:extLst>
          </p:cNvPr>
          <p:cNvSpPr>
            <a:spLocks noGrp="1"/>
          </p:cNvSpPr>
          <p:nvPr>
            <p:ph type="title"/>
          </p:nvPr>
        </p:nvSpPr>
        <p:spPr/>
        <p:txBody>
          <a:bodyPr/>
          <a:lstStyle/>
          <a:p>
            <a:r>
              <a:rPr lang="en-IN" sz="3200" dirty="0">
                <a:effectLst/>
                <a:latin typeface="Calibri" panose="020F0502020204030204" pitchFamily="34" charset="0"/>
              </a:rPr>
              <a:t>PROVIDING CLOSEING OPTION THE FRAME </a:t>
            </a:r>
            <a:endParaRPr lang="en-US" sz="6600" dirty="0"/>
          </a:p>
        </p:txBody>
      </p:sp>
      <p:sp>
        <p:nvSpPr>
          <p:cNvPr id="3" name="Content Placeholder 2">
            <a:extLst>
              <a:ext uri="{FF2B5EF4-FFF2-40B4-BE49-F238E27FC236}">
                <a16:creationId xmlns:a16="http://schemas.microsoft.com/office/drawing/2014/main" id="{A68714F1-E8C9-2B4C-0594-5124F01DA7BA}"/>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java.awt.event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Frame {</a:t>
            </a:r>
          </a:p>
          <a:p>
            <a:pPr marL="0" marR="0" indent="0">
              <a:spcBef>
                <a:spcPts val="0"/>
              </a:spcBef>
              <a:spcAft>
                <a:spcPts val="0"/>
              </a:spcAft>
              <a:buNone/>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(500,500);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red</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rattaiah</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.addWindowListener</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ListenerImpl</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spcBef>
                <a:spcPts val="0"/>
              </a:spcBef>
              <a:spcAft>
                <a:spcPts val="0"/>
              </a:spcAft>
              <a:buNone/>
            </a:pPr>
            <a:endParaRPr lang="en-IN" sz="1800" dirty="0">
              <a:solidFill>
                <a:srgbClr val="000000"/>
              </a:solidFill>
              <a:effectLst/>
              <a:latin typeface="Menlo" panose="020B0609030804020204" pitchFamily="49" charset="0"/>
            </a:endParaRPr>
          </a:p>
        </p:txBody>
      </p:sp>
      <p:sp>
        <p:nvSpPr>
          <p:cNvPr id="4" name="Footer Placeholder 3">
            <a:extLst>
              <a:ext uri="{FF2B5EF4-FFF2-40B4-BE49-F238E27FC236}">
                <a16:creationId xmlns:a16="http://schemas.microsoft.com/office/drawing/2014/main" id="{F4133DE6-4D6C-730A-A298-7209FE0B5CE4}"/>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4523760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6BB1A3-4BED-A6F0-A179-DF5F88EC3887}"/>
              </a:ext>
            </a:extLst>
          </p:cNvPr>
          <p:cNvSpPr>
            <a:spLocks noGrp="1"/>
          </p:cNvSpPr>
          <p:nvPr>
            <p:ph idx="1"/>
          </p:nvPr>
        </p:nvSpPr>
        <p:spPr/>
        <p:txBody>
          <a:bodyPr/>
          <a:lstStyle/>
          <a:p>
            <a:pPr marL="0" marR="0" indent="0">
              <a:spcBef>
                <a:spcPts val="0"/>
              </a:spcBef>
              <a:spcAft>
                <a:spcPts val="0"/>
              </a:spcAft>
              <a:buNone/>
            </a:pPr>
            <a:r>
              <a:rPr lang="en-IN" sz="2400" b="1" dirty="0">
                <a:solidFill>
                  <a:srgbClr val="7F0055"/>
                </a:solidFill>
                <a:effectLst/>
                <a:latin typeface="Menlo" panose="020B0609030804020204" pitchFamily="49" charset="0"/>
              </a:rPr>
              <a:t>class</a:t>
            </a:r>
            <a:r>
              <a:rPr lang="en-IN" sz="2400" dirty="0">
                <a:solidFill>
                  <a:srgbClr val="000000"/>
                </a:solidFill>
                <a:effectLst/>
                <a:latin typeface="Menlo" panose="020B0609030804020204" pitchFamily="49" charset="0"/>
              </a:rPr>
              <a:t> </a:t>
            </a:r>
            <a:r>
              <a:rPr lang="en-IN" sz="2400" dirty="0" err="1">
                <a:solidFill>
                  <a:srgbClr val="000000"/>
                </a:solidFill>
                <a:effectLst/>
                <a:latin typeface="Menlo" panose="020B0609030804020204" pitchFamily="49" charset="0"/>
              </a:rPr>
              <a:t>ListenerImpl</a:t>
            </a:r>
            <a:r>
              <a:rPr lang="en-IN" sz="2400" dirty="0">
                <a:solidFill>
                  <a:srgbClr val="000000"/>
                </a:solidFill>
                <a:effectLst/>
                <a:latin typeface="Menlo" panose="020B0609030804020204" pitchFamily="49" charset="0"/>
              </a:rPr>
              <a:t> </a:t>
            </a:r>
            <a:r>
              <a:rPr lang="en-IN" sz="2400" b="1" dirty="0">
                <a:solidFill>
                  <a:srgbClr val="7F0055"/>
                </a:solidFill>
                <a:effectLst/>
                <a:latin typeface="Menlo" panose="020B0609030804020204" pitchFamily="49" charset="0"/>
              </a:rPr>
              <a:t>extends</a:t>
            </a:r>
            <a:r>
              <a:rPr lang="en-IN" sz="2400" dirty="0">
                <a:solidFill>
                  <a:srgbClr val="000000"/>
                </a:solidFill>
                <a:effectLst/>
                <a:latin typeface="Menlo" panose="020B0609030804020204" pitchFamily="49" charset="0"/>
              </a:rPr>
              <a:t> </a:t>
            </a:r>
            <a:r>
              <a:rPr lang="en-IN" sz="2400" dirty="0" err="1">
                <a:solidFill>
                  <a:srgbClr val="000000"/>
                </a:solidFill>
                <a:effectLst/>
                <a:latin typeface="Menlo" panose="020B0609030804020204" pitchFamily="49" charset="0"/>
              </a:rPr>
              <a:t>WindowAdapter</a:t>
            </a:r>
            <a:r>
              <a:rPr lang="en-IN" sz="2400" dirty="0">
                <a:solidFill>
                  <a:srgbClr val="000000"/>
                </a:solidFill>
                <a:effectLst/>
                <a:latin typeface="Menlo" panose="020B0609030804020204" pitchFamily="49" charset="0"/>
              </a:rPr>
              <a:t> {</a:t>
            </a:r>
          </a:p>
          <a:p>
            <a:pPr marL="0" marR="0" indent="0">
              <a:spcBef>
                <a:spcPts val="0"/>
              </a:spcBef>
              <a:spcAft>
                <a:spcPts val="0"/>
              </a:spcAft>
              <a:buNone/>
            </a:pPr>
            <a:r>
              <a:rPr lang="en-IN" sz="2400" b="1" dirty="0">
                <a:solidFill>
                  <a:srgbClr val="7F0055"/>
                </a:solidFill>
                <a:effectLst/>
                <a:latin typeface="Menlo" panose="020B0609030804020204" pitchFamily="49" charset="0"/>
              </a:rPr>
              <a:t>public</a:t>
            </a:r>
            <a:r>
              <a:rPr lang="en-IN" sz="2400" dirty="0">
                <a:solidFill>
                  <a:srgbClr val="000000"/>
                </a:solidFill>
                <a:effectLst/>
                <a:latin typeface="Menlo" panose="020B0609030804020204" pitchFamily="49" charset="0"/>
              </a:rPr>
              <a:t> </a:t>
            </a:r>
            <a:r>
              <a:rPr lang="en-IN" sz="2400" b="1" dirty="0">
                <a:solidFill>
                  <a:srgbClr val="7F0055"/>
                </a:solidFill>
                <a:effectLst/>
                <a:latin typeface="Menlo" panose="020B0609030804020204" pitchFamily="49" charset="0"/>
              </a:rPr>
              <a:t>void</a:t>
            </a:r>
            <a:r>
              <a:rPr lang="en-IN" sz="2400" dirty="0">
                <a:solidFill>
                  <a:srgbClr val="000000"/>
                </a:solidFill>
                <a:effectLst/>
                <a:latin typeface="Menlo" panose="020B0609030804020204" pitchFamily="49" charset="0"/>
              </a:rPr>
              <a:t> </a:t>
            </a:r>
            <a:r>
              <a:rPr lang="en-IN" sz="2400" dirty="0" err="1">
                <a:solidFill>
                  <a:srgbClr val="000000"/>
                </a:solidFill>
                <a:effectLst/>
                <a:latin typeface="Menlo" panose="020B0609030804020204" pitchFamily="49" charset="0"/>
              </a:rPr>
              <a:t>windowClosing</a:t>
            </a:r>
            <a:r>
              <a:rPr lang="en-IN" sz="2400" dirty="0">
                <a:solidFill>
                  <a:srgbClr val="000000"/>
                </a:solidFill>
                <a:effectLst/>
                <a:latin typeface="Menlo" panose="020B0609030804020204" pitchFamily="49" charset="0"/>
              </a:rPr>
              <a:t>(</a:t>
            </a:r>
            <a:r>
              <a:rPr lang="en-IN" sz="2400" dirty="0" err="1">
                <a:solidFill>
                  <a:srgbClr val="000000"/>
                </a:solidFill>
                <a:effectLst/>
                <a:latin typeface="Menlo" panose="020B0609030804020204" pitchFamily="49" charset="0"/>
              </a:rPr>
              <a:t>WindowEvent</a:t>
            </a:r>
            <a:r>
              <a:rPr lang="en-IN" sz="2400" dirty="0">
                <a:solidFill>
                  <a:srgbClr val="000000"/>
                </a:solidFill>
                <a:effectLst/>
                <a:latin typeface="Menlo" panose="020B0609030804020204" pitchFamily="49" charset="0"/>
              </a:rPr>
              <a:t> </a:t>
            </a:r>
            <a:r>
              <a:rPr lang="en-IN" sz="2400" dirty="0">
                <a:solidFill>
                  <a:srgbClr val="6A3E3E"/>
                </a:solidFill>
                <a:effectLst/>
                <a:latin typeface="Menlo" panose="020B0609030804020204" pitchFamily="49" charset="0"/>
              </a:rPr>
              <a:t>we</a:t>
            </a:r>
            <a:r>
              <a:rPr lang="en-IN" sz="2400" dirty="0">
                <a:solidFill>
                  <a:srgbClr val="000000"/>
                </a:solidFill>
                <a:effectLst/>
                <a:latin typeface="Menlo" panose="020B0609030804020204" pitchFamily="49" charset="0"/>
              </a:rPr>
              <a:t>) {</a:t>
            </a:r>
          </a:p>
          <a:p>
            <a:pPr marL="0" marR="0" indent="0">
              <a:spcBef>
                <a:spcPts val="0"/>
              </a:spcBef>
              <a:spcAft>
                <a:spcPts val="0"/>
              </a:spcAft>
              <a:buNone/>
            </a:pPr>
            <a:r>
              <a:rPr lang="en-IN" sz="2400" dirty="0" err="1">
                <a:solidFill>
                  <a:srgbClr val="000000"/>
                </a:solidFill>
                <a:effectLst/>
                <a:latin typeface="Menlo" panose="020B0609030804020204" pitchFamily="49" charset="0"/>
              </a:rPr>
              <a:t>System.</a:t>
            </a:r>
            <a:r>
              <a:rPr lang="en-IN" sz="2400" i="1" dirty="0" err="1">
                <a:solidFill>
                  <a:srgbClr val="000000"/>
                </a:solidFill>
                <a:effectLst/>
                <a:latin typeface="Menlo" panose="020B0609030804020204" pitchFamily="49" charset="0"/>
              </a:rPr>
              <a:t>exit</a:t>
            </a:r>
            <a:r>
              <a:rPr lang="en-IN" sz="2400" dirty="0">
                <a:solidFill>
                  <a:srgbClr val="000000"/>
                </a:solidFill>
                <a:effectLst/>
                <a:latin typeface="Menlo" panose="020B0609030804020204" pitchFamily="49" charset="0"/>
              </a:rPr>
              <a:t>(0);</a:t>
            </a:r>
          </a:p>
          <a:p>
            <a:pPr marL="0" marR="0" indent="0">
              <a:spcBef>
                <a:spcPts val="0"/>
              </a:spcBef>
              <a:spcAft>
                <a:spcPts val="0"/>
              </a:spcAft>
              <a:buNone/>
            </a:pPr>
            <a:r>
              <a:rPr lang="en-IN" sz="2400" dirty="0">
                <a:solidFill>
                  <a:srgbClr val="000000"/>
                </a:solidFill>
                <a:effectLst/>
                <a:latin typeface="Menlo" panose="020B0609030804020204" pitchFamily="49" charset="0"/>
              </a:rPr>
              <a:t>}</a:t>
            </a:r>
          </a:p>
          <a:p>
            <a:pPr marL="0" marR="0" indent="0">
              <a:spcBef>
                <a:spcPts val="0"/>
              </a:spcBef>
              <a:spcAft>
                <a:spcPts val="0"/>
              </a:spcAft>
              <a:buNone/>
            </a:pPr>
            <a:r>
              <a:rPr lang="en-IN" sz="2400" dirty="0">
                <a:solidFill>
                  <a:srgbClr val="000000"/>
                </a:solidFill>
                <a:effectLst/>
                <a:latin typeface="Menlo" panose="020B0609030804020204" pitchFamily="49" charset="0"/>
              </a:rPr>
              <a:t>}</a:t>
            </a:r>
          </a:p>
          <a:p>
            <a:pPr marL="0" marR="0" indent="0">
              <a:spcBef>
                <a:spcPts val="0"/>
              </a:spcBef>
              <a:spcAft>
                <a:spcPts val="0"/>
              </a:spcAft>
              <a:buNone/>
            </a:pPr>
            <a:endParaRPr lang="en-IN" sz="2400" dirty="0">
              <a:solidFill>
                <a:srgbClr val="000000"/>
              </a:solidFill>
              <a:effectLst/>
              <a:latin typeface="Menlo" panose="020B0609030804020204" pitchFamily="49" charset="0"/>
            </a:endParaRPr>
          </a:p>
          <a:p>
            <a:pPr marL="0" marR="0" indent="0">
              <a:spcBef>
                <a:spcPts val="0"/>
              </a:spcBef>
              <a:spcAft>
                <a:spcPts val="0"/>
              </a:spcAft>
              <a:buNone/>
            </a:pPr>
            <a:r>
              <a:rPr lang="en-IN" sz="2400" b="1" dirty="0">
                <a:solidFill>
                  <a:srgbClr val="7F0055"/>
                </a:solidFill>
                <a:effectLst/>
                <a:latin typeface="Menlo" panose="020B0609030804020204" pitchFamily="49" charset="0"/>
              </a:rPr>
              <a:t>class</a:t>
            </a:r>
            <a:r>
              <a:rPr lang="en-IN" sz="2400" dirty="0">
                <a:solidFill>
                  <a:srgbClr val="000000"/>
                </a:solidFill>
                <a:effectLst/>
                <a:latin typeface="Menlo" panose="020B0609030804020204" pitchFamily="49" charset="0"/>
              </a:rPr>
              <a:t> Demo {</a:t>
            </a:r>
          </a:p>
          <a:p>
            <a:pPr marL="0" marR="0" indent="0">
              <a:spcBef>
                <a:spcPts val="0"/>
              </a:spcBef>
              <a:spcAft>
                <a:spcPts val="0"/>
              </a:spcAft>
              <a:buNone/>
            </a:pPr>
            <a:r>
              <a:rPr lang="en-IN" sz="2400" b="1" dirty="0">
                <a:solidFill>
                  <a:srgbClr val="7F0055"/>
                </a:solidFill>
                <a:effectLst/>
                <a:latin typeface="Menlo" panose="020B0609030804020204" pitchFamily="49" charset="0"/>
              </a:rPr>
              <a:t>public</a:t>
            </a:r>
            <a:r>
              <a:rPr lang="en-IN" sz="2400" dirty="0">
                <a:solidFill>
                  <a:srgbClr val="000000"/>
                </a:solidFill>
                <a:effectLst/>
                <a:latin typeface="Menlo" panose="020B0609030804020204" pitchFamily="49" charset="0"/>
              </a:rPr>
              <a:t> </a:t>
            </a:r>
            <a:r>
              <a:rPr lang="en-IN" sz="2400" b="1" dirty="0">
                <a:solidFill>
                  <a:srgbClr val="7F0055"/>
                </a:solidFill>
                <a:effectLst/>
                <a:latin typeface="Menlo" panose="020B0609030804020204" pitchFamily="49" charset="0"/>
              </a:rPr>
              <a:t>static</a:t>
            </a:r>
            <a:r>
              <a:rPr lang="en-IN" sz="2400" dirty="0">
                <a:solidFill>
                  <a:srgbClr val="000000"/>
                </a:solidFill>
                <a:effectLst/>
                <a:latin typeface="Menlo" panose="020B0609030804020204" pitchFamily="49" charset="0"/>
              </a:rPr>
              <a:t> </a:t>
            </a:r>
            <a:r>
              <a:rPr lang="en-IN" sz="2400" b="1" dirty="0">
                <a:solidFill>
                  <a:srgbClr val="7F0055"/>
                </a:solidFill>
                <a:effectLst/>
                <a:latin typeface="Menlo" panose="020B0609030804020204" pitchFamily="49" charset="0"/>
              </a:rPr>
              <a:t>void</a:t>
            </a:r>
            <a:r>
              <a:rPr lang="en-IN" sz="2400" dirty="0">
                <a:solidFill>
                  <a:srgbClr val="000000"/>
                </a:solidFill>
                <a:effectLst/>
                <a:latin typeface="Menlo" panose="020B0609030804020204" pitchFamily="49" charset="0"/>
              </a:rPr>
              <a:t> main(String[] </a:t>
            </a:r>
            <a:r>
              <a:rPr lang="en-IN" sz="2400" dirty="0" err="1">
                <a:solidFill>
                  <a:srgbClr val="6A3E3E"/>
                </a:solidFill>
                <a:effectLst/>
                <a:latin typeface="Menlo" panose="020B0609030804020204" pitchFamily="49" charset="0"/>
              </a:rPr>
              <a:t>args</a:t>
            </a:r>
            <a:r>
              <a:rPr lang="en-IN" sz="2400" dirty="0">
                <a:solidFill>
                  <a:srgbClr val="000000"/>
                </a:solidFill>
                <a:effectLst/>
                <a:latin typeface="Menlo" panose="020B0609030804020204" pitchFamily="49" charset="0"/>
              </a:rPr>
              <a:t>) {</a:t>
            </a:r>
          </a:p>
          <a:p>
            <a:pPr marL="0" marR="0" indent="0">
              <a:spcBef>
                <a:spcPts val="0"/>
              </a:spcBef>
              <a:spcAft>
                <a:spcPts val="0"/>
              </a:spcAft>
              <a:buNone/>
            </a:pPr>
            <a:r>
              <a:rPr lang="en-IN" sz="2400" dirty="0" err="1">
                <a:solidFill>
                  <a:srgbClr val="000000"/>
                </a:solidFill>
                <a:effectLst/>
                <a:latin typeface="Menlo" panose="020B0609030804020204" pitchFamily="49" charset="0"/>
              </a:rPr>
              <a:t>MyFrame</a:t>
            </a:r>
            <a:r>
              <a:rPr lang="en-IN" sz="2400" dirty="0">
                <a:solidFill>
                  <a:srgbClr val="000000"/>
                </a:solidFill>
                <a:effectLst/>
                <a:latin typeface="Menlo" panose="020B0609030804020204" pitchFamily="49" charset="0"/>
              </a:rPr>
              <a:t> </a:t>
            </a:r>
            <a:r>
              <a:rPr lang="en-IN" sz="2400" dirty="0">
                <a:solidFill>
                  <a:srgbClr val="6A3E3E"/>
                </a:solidFill>
                <a:effectLst/>
                <a:latin typeface="Menlo" panose="020B0609030804020204" pitchFamily="49" charset="0"/>
              </a:rPr>
              <a:t>f</a:t>
            </a:r>
            <a:r>
              <a:rPr lang="en-IN" sz="2400" dirty="0">
                <a:solidFill>
                  <a:srgbClr val="000000"/>
                </a:solidFill>
                <a:effectLst/>
                <a:latin typeface="Menlo" panose="020B0609030804020204" pitchFamily="49" charset="0"/>
              </a:rPr>
              <a:t>=</a:t>
            </a:r>
            <a:r>
              <a:rPr lang="en-IN" sz="2400" b="1" dirty="0">
                <a:solidFill>
                  <a:srgbClr val="7F0055"/>
                </a:solidFill>
                <a:effectLst/>
                <a:latin typeface="Menlo" panose="020B0609030804020204" pitchFamily="49" charset="0"/>
              </a:rPr>
              <a:t>new</a:t>
            </a:r>
            <a:r>
              <a:rPr lang="en-IN" sz="2400" dirty="0">
                <a:solidFill>
                  <a:srgbClr val="000000"/>
                </a:solidFill>
                <a:effectLst/>
                <a:latin typeface="Menlo" panose="020B0609030804020204" pitchFamily="49" charset="0"/>
              </a:rPr>
              <a:t> </a:t>
            </a:r>
            <a:r>
              <a:rPr lang="en-IN" sz="2400" dirty="0" err="1">
                <a:solidFill>
                  <a:srgbClr val="000000"/>
                </a:solidFill>
                <a:effectLst/>
                <a:latin typeface="Menlo" panose="020B0609030804020204" pitchFamily="49" charset="0"/>
              </a:rPr>
              <a:t>MyFrame</a:t>
            </a:r>
            <a:r>
              <a:rPr lang="en-IN" sz="2400" dirty="0">
                <a:solidFill>
                  <a:srgbClr val="000000"/>
                </a:solidFill>
                <a:effectLst/>
                <a:latin typeface="Menlo" panose="020B0609030804020204" pitchFamily="49" charset="0"/>
              </a:rPr>
              <a:t>();</a:t>
            </a:r>
          </a:p>
          <a:p>
            <a:pPr marL="0" marR="0" indent="0">
              <a:spcBef>
                <a:spcPts val="0"/>
              </a:spcBef>
              <a:spcAft>
                <a:spcPts val="0"/>
              </a:spcAft>
              <a:buNone/>
            </a:pPr>
            <a:r>
              <a:rPr lang="en-IN" sz="2400" dirty="0">
                <a:solidFill>
                  <a:srgbClr val="000000"/>
                </a:solidFill>
                <a:effectLst/>
                <a:latin typeface="Menlo" panose="020B0609030804020204" pitchFamily="49" charset="0"/>
              </a:rPr>
              <a:t>}</a:t>
            </a:r>
          </a:p>
          <a:p>
            <a:pPr marL="0" marR="0" indent="0">
              <a:spcBef>
                <a:spcPts val="0"/>
              </a:spcBef>
              <a:spcAft>
                <a:spcPts val="0"/>
              </a:spcAft>
              <a:buNone/>
            </a:pPr>
            <a:r>
              <a:rPr lang="en-IN" sz="2400" dirty="0">
                <a:solidFill>
                  <a:srgbClr val="000000"/>
                </a:solidFill>
                <a:effectLst/>
                <a:latin typeface="Menlo" panose="020B0609030804020204" pitchFamily="49" charset="0"/>
              </a:rPr>
              <a:t>}</a:t>
            </a:r>
          </a:p>
          <a:p>
            <a:pPr marL="0" indent="0">
              <a:spcBef>
                <a:spcPts val="0"/>
              </a:spcBef>
              <a:spcAft>
                <a:spcPts val="0"/>
              </a:spcAft>
              <a:buNone/>
            </a:pPr>
            <a:r>
              <a:rPr lang="en-IN" sz="1800" b="1" dirty="0">
                <a:effectLst/>
                <a:latin typeface="Calibri" panose="020F0502020204030204" pitchFamily="34" charset="0"/>
              </a:rPr>
              <a:t>Note :- by using </a:t>
            </a:r>
            <a:r>
              <a:rPr lang="en-IN" sz="1800" b="1" dirty="0" err="1">
                <a:effectLst/>
                <a:latin typeface="Calibri" panose="020F0502020204030204" pitchFamily="34" charset="0"/>
              </a:rPr>
              <a:t>WindowAdaptor</a:t>
            </a:r>
            <a:r>
              <a:rPr lang="en-IN" sz="1800" b="1" dirty="0">
                <a:effectLst/>
                <a:latin typeface="Calibri" panose="020F0502020204030204" pitchFamily="34" charset="0"/>
              </a:rPr>
              <a:t> class we can close the frame. Internally </a:t>
            </a:r>
            <a:r>
              <a:rPr lang="en-IN" sz="1800" b="1" dirty="0" err="1">
                <a:effectLst/>
                <a:latin typeface="Calibri" panose="020F0502020204030204" pitchFamily="34" charset="0"/>
              </a:rPr>
              <a:t>WindowAdaptor</a:t>
            </a:r>
            <a:r>
              <a:rPr lang="en-IN" sz="1800" b="1" dirty="0">
                <a:effectLst/>
                <a:latin typeface="Calibri" panose="020F0502020204030204" pitchFamily="34" charset="0"/>
              </a:rPr>
              <a:t> class implements </a:t>
            </a:r>
            <a:r>
              <a:rPr lang="en-IN" sz="1800" b="1" dirty="0" err="1">
                <a:effectLst/>
                <a:latin typeface="Calibri" panose="020F0502020204030204" pitchFamily="34" charset="0"/>
              </a:rPr>
              <a:t>WindowListener</a:t>
            </a:r>
            <a:r>
              <a:rPr lang="en-IN" sz="1800" b="1" dirty="0">
                <a:effectLst/>
                <a:latin typeface="Calibri" panose="020F0502020204030204" pitchFamily="34" charset="0"/>
              </a:rPr>
              <a:t> interface. Hence </a:t>
            </a:r>
            <a:r>
              <a:rPr lang="en-IN" sz="1800" b="1" dirty="0" err="1">
                <a:effectLst/>
                <a:latin typeface="Calibri" panose="020F0502020204030204" pitchFamily="34" charset="0"/>
              </a:rPr>
              <a:t>WindowAdaptor</a:t>
            </a:r>
            <a:r>
              <a:rPr lang="en-IN" sz="1800" b="1" dirty="0">
                <a:effectLst/>
                <a:latin typeface="Calibri" panose="020F0502020204030204" pitchFamily="34" charset="0"/>
              </a:rPr>
              <a:t> class contains empty implementation of abstract methods. </a:t>
            </a:r>
            <a:endParaRPr lang="en-IN" sz="1400" b="1" dirty="0"/>
          </a:p>
          <a:p>
            <a:pPr marL="0" marR="0" indent="0">
              <a:spcBef>
                <a:spcPts val="0"/>
              </a:spcBef>
              <a:spcAft>
                <a:spcPts val="0"/>
              </a:spcAft>
              <a:buNone/>
            </a:pPr>
            <a:endParaRPr lang="en-IN" sz="2400" dirty="0">
              <a:solidFill>
                <a:srgbClr val="000000"/>
              </a:solidFill>
              <a:latin typeface="Menlo" panose="020B0609030804020204" pitchFamily="49" charset="0"/>
            </a:endParaRPr>
          </a:p>
          <a:p>
            <a:pPr marL="0" marR="0" indent="0">
              <a:spcBef>
                <a:spcPts val="0"/>
              </a:spcBef>
              <a:spcAft>
                <a:spcPts val="0"/>
              </a:spcAft>
              <a:buNone/>
            </a:pPr>
            <a:endParaRPr lang="en-IN" sz="2400" dirty="0">
              <a:solidFill>
                <a:srgbClr val="000000"/>
              </a:solidFill>
              <a:effectLst/>
              <a:latin typeface="Menlo" panose="020B0609030804020204" pitchFamily="49" charset="0"/>
            </a:endParaRPr>
          </a:p>
        </p:txBody>
      </p:sp>
      <p:sp>
        <p:nvSpPr>
          <p:cNvPr id="2" name="Title 1">
            <a:extLst>
              <a:ext uri="{FF2B5EF4-FFF2-40B4-BE49-F238E27FC236}">
                <a16:creationId xmlns:a16="http://schemas.microsoft.com/office/drawing/2014/main" id="{03CA91C7-9204-356B-BB49-1AEBCE408E06}"/>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59285B34-63AB-4E0A-E165-DE159E671C8D}"/>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5817774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BB866-3D2C-5539-A389-CC23733D71FA}"/>
              </a:ext>
            </a:extLst>
          </p:cNvPr>
          <p:cNvSpPr>
            <a:spLocks noGrp="1"/>
          </p:cNvSpPr>
          <p:nvPr>
            <p:ph type="title"/>
          </p:nvPr>
        </p:nvSpPr>
        <p:spPr/>
        <p:txBody>
          <a:bodyPr/>
          <a:lstStyle/>
          <a:p>
            <a:r>
              <a:rPr lang="en-IN" sz="3200" dirty="0">
                <a:effectLst/>
                <a:latin typeface="Calibri" panose="020F0502020204030204" pitchFamily="34" charset="0"/>
              </a:rPr>
              <a:t>PROVIDING CLOSEING OPTION THE FRAME </a:t>
            </a:r>
            <a:endParaRPr lang="en-US" sz="6600" dirty="0"/>
          </a:p>
        </p:txBody>
      </p:sp>
      <p:sp>
        <p:nvSpPr>
          <p:cNvPr id="3" name="Content Placeholder 2">
            <a:extLst>
              <a:ext uri="{FF2B5EF4-FFF2-40B4-BE49-F238E27FC236}">
                <a16:creationId xmlns:a16="http://schemas.microsoft.com/office/drawing/2014/main" id="{9D545981-F75C-0BFA-A327-569CDD7A9AD7}"/>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java.awt.event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Frame {</a:t>
            </a:r>
          </a:p>
          <a:p>
            <a:pPr marL="0" marR="0" indent="0">
              <a:spcBef>
                <a:spcPts val="0"/>
              </a:spcBef>
              <a:spcAft>
                <a:spcPts val="0"/>
              </a:spcAft>
              <a:buNone/>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(500,500);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red</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rattaiah</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.addWindowListener</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WindowAdapter</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windowClosing</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WindowEvent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we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000000"/>
                </a:solidFill>
                <a:effectLst/>
                <a:latin typeface="Menlo" panose="020B0609030804020204" pitchFamily="49" charset="0"/>
              </a:rPr>
              <a:t>System.</a:t>
            </a:r>
            <a:r>
              <a:rPr lang="en-IN" sz="1800" i="1" dirty="0" err="1">
                <a:solidFill>
                  <a:srgbClr val="000000"/>
                </a:solidFill>
                <a:effectLst/>
                <a:latin typeface="Menlo" panose="020B0609030804020204" pitchFamily="49" charset="0"/>
              </a:rPr>
              <a:t>exit</a:t>
            </a:r>
            <a:r>
              <a:rPr lang="en-IN" sz="1800" dirty="0">
                <a:solidFill>
                  <a:srgbClr val="000000"/>
                </a:solidFill>
                <a:effectLst/>
                <a:latin typeface="Menlo" panose="020B0609030804020204" pitchFamily="49" charset="0"/>
              </a:rPr>
              <a:t>(0);</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FrameEx</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endParaRPr lang="en-US" sz="1800" dirty="0"/>
          </a:p>
          <a:p>
            <a:pPr marL="0" marR="0" indent="0">
              <a:spcBef>
                <a:spcPts val="0"/>
              </a:spcBef>
              <a:spcAft>
                <a:spcPts val="0"/>
              </a:spcAft>
              <a:buNone/>
            </a:pPr>
            <a:br>
              <a:rPr lang="en-IN" sz="1800" dirty="0">
                <a:solidFill>
                  <a:srgbClr val="000000"/>
                </a:solidFill>
                <a:effectLst/>
                <a:latin typeface="Menlo" panose="020B0609030804020204" pitchFamily="49" charset="0"/>
              </a:rPr>
            </a:br>
            <a:endParaRPr lang="en-US" dirty="0"/>
          </a:p>
        </p:txBody>
      </p:sp>
      <p:sp>
        <p:nvSpPr>
          <p:cNvPr id="4" name="Footer Placeholder 3">
            <a:extLst>
              <a:ext uri="{FF2B5EF4-FFF2-40B4-BE49-F238E27FC236}">
                <a16:creationId xmlns:a16="http://schemas.microsoft.com/office/drawing/2014/main" id="{27C52909-50E1-C77D-8557-14E994C6A413}"/>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8691750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92F0A-92CA-B5D7-F5F2-293199D44C04}"/>
              </a:ext>
            </a:extLst>
          </p:cNvPr>
          <p:cNvSpPr>
            <a:spLocks noGrp="1"/>
          </p:cNvSpPr>
          <p:nvPr>
            <p:ph type="title"/>
          </p:nvPr>
        </p:nvSpPr>
        <p:spPr/>
        <p:txBody>
          <a:bodyPr/>
          <a:lstStyle/>
          <a:p>
            <a:r>
              <a:rPr lang="en-IN" sz="3600" dirty="0">
                <a:effectLst/>
                <a:latin typeface="Calibri" panose="020F0502020204030204" pitchFamily="34" charset="0"/>
              </a:rPr>
              <a:t>WRITE SOME TEXT INTO THE FRAME </a:t>
            </a:r>
            <a:endParaRPr lang="en-US" sz="7200" dirty="0"/>
          </a:p>
        </p:txBody>
      </p:sp>
      <p:sp>
        <p:nvSpPr>
          <p:cNvPr id="3" name="Content Placeholder 2">
            <a:extLst>
              <a:ext uri="{FF2B5EF4-FFF2-40B4-BE49-F238E27FC236}">
                <a16:creationId xmlns:a16="http://schemas.microsoft.com/office/drawing/2014/main" id="{95D731FE-B971-3F7A-C169-BDD53D2F0604}"/>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Frame</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(500,500);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red</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rattaiah</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paint(Graphics </a:t>
            </a:r>
            <a:r>
              <a:rPr lang="en-IN" sz="1800" dirty="0">
                <a:solidFill>
                  <a:srgbClr val="6A3E3E"/>
                </a:solidFill>
                <a:effectLst/>
                <a:latin typeface="Menlo" panose="020B0609030804020204" pitchFamily="49" charset="0"/>
              </a:rPr>
              <a:t>g</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Font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Font(</a:t>
            </a:r>
            <a:r>
              <a:rPr lang="en-IN" sz="1800" dirty="0">
                <a:solidFill>
                  <a:srgbClr val="2A00FF"/>
                </a:solidFill>
                <a:effectLst/>
                <a:latin typeface="Menlo" panose="020B0609030804020204" pitchFamily="49" charset="0"/>
              </a:rPr>
              <a:t>"arial"</a:t>
            </a:r>
            <a:r>
              <a:rPr lang="en-IN" sz="1800" dirty="0">
                <a:solidFill>
                  <a:srgbClr val="000000"/>
                </a:solidFill>
                <a:effectLst/>
                <a:latin typeface="Menlo" panose="020B0609030804020204" pitchFamily="49" charset="0"/>
              </a:rPr>
              <a:t>,Font.</a:t>
            </a:r>
            <a:r>
              <a:rPr lang="en-IN" sz="1800" b="1" i="1" dirty="0">
                <a:solidFill>
                  <a:srgbClr val="0000C0"/>
                </a:solidFill>
                <a:effectLst/>
                <a:latin typeface="Menlo" panose="020B0609030804020204" pitchFamily="49" charset="0"/>
              </a:rPr>
              <a:t>BOLD</a:t>
            </a:r>
            <a:r>
              <a:rPr lang="en-IN" sz="1800" dirty="0">
                <a:solidFill>
                  <a:srgbClr val="000000"/>
                </a:solidFill>
                <a:effectLst/>
                <a:latin typeface="Menlo" panose="020B0609030804020204" pitchFamily="49" charset="0"/>
              </a:rPr>
              <a:t>,20); </a:t>
            </a:r>
          </a:p>
          <a:p>
            <a:pPr marL="0" marR="0" indent="0">
              <a:spcBef>
                <a:spcPts val="0"/>
              </a:spcBef>
              <a:spcAft>
                <a:spcPts val="0"/>
              </a:spcAft>
              <a:buNone/>
            </a:pP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.setFont</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.setForeground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green</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.drawString</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"HI BTECH "</a:t>
            </a:r>
            <a:r>
              <a:rPr lang="en-IN" sz="1800" dirty="0">
                <a:solidFill>
                  <a:srgbClr val="000000"/>
                </a:solidFill>
                <a:effectLst/>
                <a:latin typeface="Menlo" panose="020B0609030804020204" pitchFamily="49" charset="0"/>
              </a:rPr>
              <a:t>,100,100); </a:t>
            </a:r>
          </a:p>
          <a:p>
            <a:pPr marL="0" marR="0" indent="0">
              <a:spcBef>
                <a:spcPts val="0"/>
              </a:spcBef>
              <a:spcAft>
                <a:spcPts val="0"/>
              </a:spcAft>
              <a:buNone/>
            </a:pP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.drawString</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"good boys &amp;"</a:t>
            </a:r>
            <a:r>
              <a:rPr lang="en-IN" sz="1800" dirty="0">
                <a:solidFill>
                  <a:srgbClr val="000000"/>
                </a:solidFill>
                <a:effectLst/>
                <a:latin typeface="Menlo" panose="020B0609030804020204" pitchFamily="49" charset="0"/>
              </a:rPr>
              <a:t>,200,200); </a:t>
            </a:r>
          </a:p>
          <a:p>
            <a:pPr marL="0" marR="0" indent="0">
              <a:spcBef>
                <a:spcPts val="0"/>
              </a:spcBef>
              <a:spcAft>
                <a:spcPts val="0"/>
              </a:spcAft>
              <a:buNone/>
            </a:pP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.drawString</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"good girls"</a:t>
            </a:r>
            <a:r>
              <a:rPr lang="en-IN" sz="1800" dirty="0">
                <a:solidFill>
                  <a:srgbClr val="000000"/>
                </a:solidFill>
                <a:effectLst/>
                <a:latin typeface="Menlo" panose="020B0609030804020204" pitchFamily="49" charset="0"/>
              </a:rPr>
              <a:t>,300,300); }</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Demo{</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frame</a:t>
            </a:r>
            <a:r>
              <a:rPr lang="en-IN" sz="1800" dirty="0">
                <a:solidFill>
                  <a:srgbClr val="000000"/>
                </a:solidFill>
                <a:effectLst/>
                <a:latin typeface="Menlo" panose="020B0609030804020204" pitchFamily="49" charset="0"/>
              </a:rPr>
              <a:t> = </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buNone/>
            </a:pPr>
            <a:endParaRPr lang="en-US" dirty="0"/>
          </a:p>
        </p:txBody>
      </p:sp>
      <p:sp>
        <p:nvSpPr>
          <p:cNvPr id="4" name="Footer Placeholder 3">
            <a:extLst>
              <a:ext uri="{FF2B5EF4-FFF2-40B4-BE49-F238E27FC236}">
                <a16:creationId xmlns:a16="http://schemas.microsoft.com/office/drawing/2014/main" id="{3F0D3FE9-7EEB-F906-E79B-1EAEBB68715C}"/>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1513353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C9752-9B40-4914-7345-A1A2437FF655}"/>
              </a:ext>
            </a:extLst>
          </p:cNvPr>
          <p:cNvSpPr>
            <a:spLocks noGrp="1"/>
          </p:cNvSpPr>
          <p:nvPr>
            <p:ph type="title"/>
          </p:nvPr>
        </p:nvSpPr>
        <p:spPr/>
        <p:txBody>
          <a:bodyPr/>
          <a:lstStyle/>
          <a:p>
            <a:r>
              <a:rPr lang="en-IN" dirty="0"/>
              <a:t>LAYOUT MACHANISUMS- FLOWLAYOUT</a:t>
            </a:r>
            <a:endParaRPr lang="en-US" dirty="0"/>
          </a:p>
        </p:txBody>
      </p:sp>
      <p:sp>
        <p:nvSpPr>
          <p:cNvPr id="3" name="Content Placeholder 2">
            <a:extLst>
              <a:ext uri="{FF2B5EF4-FFF2-40B4-BE49-F238E27FC236}">
                <a16:creationId xmlns:a16="http://schemas.microsoft.com/office/drawing/2014/main" id="{E91A041B-005B-29C4-ABE2-5FE2680E7F72}"/>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java.awt.event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Frame {</a:t>
            </a:r>
          </a:p>
          <a:p>
            <a:pPr marL="0" marR="0" indent="0">
              <a:spcBef>
                <a:spcPts val="0"/>
              </a:spcBef>
              <a:spcAft>
                <a:spcPts val="0"/>
              </a:spcAft>
              <a:buNone/>
            </a:pPr>
            <a:r>
              <a:rPr lang="en-IN" sz="1800" dirty="0">
                <a:solidFill>
                  <a:srgbClr val="000000"/>
                </a:solidFill>
                <a:effectLst/>
                <a:latin typeface="Menlo" panose="020B0609030804020204" pitchFamily="49" charset="0"/>
              </a:rPr>
              <a:t>Label </a:t>
            </a:r>
            <a:r>
              <a:rPr lang="en-IN" sz="1800" dirty="0">
                <a:solidFill>
                  <a:srgbClr val="0000C0"/>
                </a:solidFill>
                <a:effectLst/>
                <a:latin typeface="Menlo" panose="020B0609030804020204" pitchFamily="49" charset="0"/>
              </a:rPr>
              <a:t>l1</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l2</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000000"/>
                </a:solidFill>
                <a:effectLst/>
                <a:latin typeface="Menlo" panose="020B0609030804020204" pitchFamily="49" charset="0"/>
              </a:rPr>
              <a:t>TextField</a:t>
            </a: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tx1</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tx2</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Button </a:t>
            </a:r>
            <a:r>
              <a:rPr lang="en-IN" sz="1800" dirty="0">
                <a:solidFill>
                  <a:srgbClr val="0000C0"/>
                </a:solidFill>
                <a:effectLst/>
                <a:latin typeface="Menlo" panose="020B0609030804020204" pitchFamily="49" charset="0"/>
              </a:rPr>
              <a:t>b</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(340,500);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green</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rattaiah</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C0"/>
                </a:solidFill>
                <a:effectLst/>
                <a:latin typeface="Menlo" panose="020B0609030804020204" pitchFamily="49" charset="0"/>
              </a:rPr>
              <a:t>l1</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Label(</a:t>
            </a:r>
            <a:r>
              <a:rPr lang="en-IN" sz="1800" dirty="0">
                <a:solidFill>
                  <a:srgbClr val="2A00FF"/>
                </a:solidFill>
                <a:effectLst/>
                <a:latin typeface="Menlo" panose="020B0609030804020204" pitchFamily="49" charset="0"/>
              </a:rPr>
              <a:t>"user name:"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C0"/>
                </a:solidFill>
                <a:effectLst/>
                <a:latin typeface="Menlo" panose="020B0609030804020204" pitchFamily="49" charset="0"/>
              </a:rPr>
              <a:t>l2</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Label(</a:t>
            </a:r>
            <a:r>
              <a:rPr lang="en-IN" sz="1800" dirty="0">
                <a:solidFill>
                  <a:srgbClr val="2A00FF"/>
                </a:solidFill>
                <a:effectLst/>
                <a:latin typeface="Menlo" panose="020B0609030804020204" pitchFamily="49" charset="0"/>
              </a:rPr>
              <a:t>"password:"</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C0"/>
                </a:solidFill>
                <a:effectLst/>
                <a:latin typeface="Menlo" panose="020B0609030804020204" pitchFamily="49" charset="0"/>
              </a:rPr>
              <a:t>tx1</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TextField</a:t>
            </a:r>
            <a:r>
              <a:rPr lang="en-IN" sz="1800" dirty="0">
                <a:solidFill>
                  <a:srgbClr val="000000"/>
                </a:solidFill>
                <a:effectLst/>
                <a:latin typeface="Menlo" panose="020B0609030804020204" pitchFamily="49" charset="0"/>
              </a:rPr>
              <a:t>(25); </a:t>
            </a:r>
          </a:p>
          <a:p>
            <a:pPr marL="0" marR="0" indent="0">
              <a:spcBef>
                <a:spcPts val="0"/>
              </a:spcBef>
              <a:spcAft>
                <a:spcPts val="0"/>
              </a:spcAft>
              <a:buNone/>
            </a:pPr>
            <a:r>
              <a:rPr lang="en-IN" sz="1800" dirty="0">
                <a:solidFill>
                  <a:srgbClr val="0000C0"/>
                </a:solidFill>
                <a:effectLst/>
                <a:latin typeface="Menlo" panose="020B0609030804020204" pitchFamily="49" charset="0"/>
              </a:rPr>
              <a:t>tx2</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TextField</a:t>
            </a:r>
            <a:r>
              <a:rPr lang="en-IN" sz="1800" dirty="0">
                <a:solidFill>
                  <a:srgbClr val="000000"/>
                </a:solidFill>
                <a:effectLst/>
                <a:latin typeface="Menlo" panose="020B0609030804020204" pitchFamily="49" charset="0"/>
              </a:rPr>
              <a:t>(25);</a:t>
            </a:r>
          </a:p>
          <a:p>
            <a:pPr marL="0" marR="0" indent="0">
              <a:spcBef>
                <a:spcPts val="0"/>
              </a:spcBef>
              <a:spcAft>
                <a:spcPts val="0"/>
              </a:spcAft>
              <a:buNone/>
            </a:pPr>
            <a:r>
              <a:rPr lang="en-IN" sz="1800" dirty="0">
                <a:solidFill>
                  <a:srgbClr val="0000C0"/>
                </a:solidFill>
                <a:effectLst/>
                <a:latin typeface="Menlo" panose="020B0609030804020204" pitchFamily="49" charset="0"/>
              </a:rPr>
              <a:t>b</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Button(</a:t>
            </a:r>
            <a:r>
              <a:rPr lang="en-IN" sz="1800" dirty="0">
                <a:solidFill>
                  <a:srgbClr val="2A00FF"/>
                </a:solidFill>
                <a:effectLst/>
                <a:latin typeface="Menlo" panose="020B0609030804020204" pitchFamily="49" charset="0"/>
              </a:rPr>
              <a:t>"login"</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C0"/>
                </a:solidFill>
                <a:effectLst/>
                <a:latin typeface="Menlo" panose="020B0609030804020204" pitchFamily="49" charset="0"/>
              </a:rPr>
              <a:t>tx2</a:t>
            </a:r>
            <a:r>
              <a:rPr lang="en-IN" sz="1800" dirty="0">
                <a:solidFill>
                  <a:srgbClr val="000000"/>
                </a:solidFill>
                <a:effectLst/>
                <a:latin typeface="Menlo" panose="020B0609030804020204" pitchFamily="49" charset="0"/>
              </a:rPr>
              <a:t>.setEchoChar(</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indent="0">
              <a:buNone/>
            </a:pPr>
            <a:endParaRPr lang="en-US" dirty="0"/>
          </a:p>
        </p:txBody>
      </p:sp>
      <p:sp>
        <p:nvSpPr>
          <p:cNvPr id="4" name="Footer Placeholder 3">
            <a:extLst>
              <a:ext uri="{FF2B5EF4-FFF2-40B4-BE49-F238E27FC236}">
                <a16:creationId xmlns:a16="http://schemas.microsoft.com/office/drawing/2014/main" id="{AD0007B8-B59F-5EF8-5B58-7318131D8E2D}"/>
              </a:ext>
            </a:extLst>
          </p:cNvPr>
          <p:cNvSpPr>
            <a:spLocks noGrp="1"/>
          </p:cNvSpPr>
          <p:nvPr>
            <p:ph type="ftr" sz="quarter" idx="11"/>
          </p:nvPr>
        </p:nvSpPr>
        <p:spPr/>
        <p:txBody>
          <a:bodyPr/>
          <a:lstStyle/>
          <a:p>
            <a:pPr>
              <a:defRPr/>
            </a:pPr>
            <a:r>
              <a:rPr lang="en-US"/>
              <a:t>Dr. Naveen Kumar, Associate Professor, AIIT, AUP</a:t>
            </a:r>
          </a:p>
        </p:txBody>
      </p:sp>
      <p:sp>
        <p:nvSpPr>
          <p:cNvPr id="5" name="TextBox 4">
            <a:extLst>
              <a:ext uri="{FF2B5EF4-FFF2-40B4-BE49-F238E27FC236}">
                <a16:creationId xmlns:a16="http://schemas.microsoft.com/office/drawing/2014/main" id="{FC2EADC7-D6C4-619F-0072-53115223A004}"/>
              </a:ext>
            </a:extLst>
          </p:cNvPr>
          <p:cNvSpPr txBox="1"/>
          <p:nvPr/>
        </p:nvSpPr>
        <p:spPr>
          <a:xfrm>
            <a:off x="-2413000" y="2654300"/>
            <a:ext cx="184731" cy="461665"/>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CD509403-FBA5-9178-71FB-63E857BD1454}"/>
              </a:ext>
            </a:extLst>
          </p:cNvPr>
          <p:cNvSpPr txBox="1"/>
          <p:nvPr/>
        </p:nvSpPr>
        <p:spPr>
          <a:xfrm>
            <a:off x="-901700" y="2819400"/>
            <a:ext cx="184731" cy="461665"/>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0C53CB56-9803-8661-1278-5AC7E4CCCEB9}"/>
              </a:ext>
            </a:extLst>
          </p:cNvPr>
          <p:cNvSpPr txBox="1"/>
          <p:nvPr/>
        </p:nvSpPr>
        <p:spPr>
          <a:xfrm>
            <a:off x="4572000" y="2184142"/>
            <a:ext cx="7811800" cy="4770537"/>
          </a:xfrm>
          <a:prstGeom prst="rect">
            <a:avLst/>
          </a:prstGeom>
          <a:noFill/>
        </p:spPr>
        <p:txBody>
          <a:bodyPr wrap="square" rtlCol="0">
            <a:spAutoFit/>
          </a:bodyPr>
          <a:lstStyle/>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.setLayout</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FlowLayout</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.add</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l1</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.add</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tx1</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.add</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l2</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.add</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tx2</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.add</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b</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endParaRPr lang="en-IN" sz="1600" dirty="0">
              <a:solidFill>
                <a:srgbClr val="000000"/>
              </a:solidFill>
              <a:effectLst/>
              <a:latin typeface="Menlo" panose="020B0609030804020204" pitchFamily="49" charset="0"/>
            </a:endParaRPr>
          </a:p>
          <a:p>
            <a:pPr marL="0" marR="0" indent="0">
              <a:spcBef>
                <a:spcPts val="0"/>
              </a:spcBef>
              <a:spcAft>
                <a:spcPts val="0"/>
              </a:spcAft>
              <a:buNone/>
            </a:pPr>
            <a:endParaRPr lang="en-IN" sz="1600" dirty="0">
              <a:solidFill>
                <a:srgbClr val="000000"/>
              </a:solidFill>
              <a:latin typeface="Menlo" panose="020B0609030804020204" pitchFamily="49" charset="0"/>
            </a:endParaRPr>
          </a:p>
          <a:p>
            <a:pPr marL="0" marR="0" indent="0">
              <a:spcBef>
                <a:spcPts val="0"/>
              </a:spcBef>
              <a:spcAft>
                <a:spcPts val="0"/>
              </a:spcAft>
              <a:buNone/>
            </a:pPr>
            <a:endParaRPr lang="en-IN" sz="1600" dirty="0">
              <a:solidFill>
                <a:srgbClr val="000000"/>
              </a:solidFill>
              <a:effectLst/>
              <a:latin typeface="Menlo" panose="020B0609030804020204" pitchFamily="49" charset="0"/>
            </a:endParaRPr>
          </a:p>
          <a:p>
            <a:pPr marL="0" marR="0" indent="0">
              <a:spcBef>
                <a:spcPts val="0"/>
              </a:spcBef>
              <a:spcAft>
                <a:spcPts val="0"/>
              </a:spcAft>
              <a:buNone/>
            </a:pPr>
            <a:endParaRPr lang="en-IN" sz="1600" dirty="0">
              <a:solidFill>
                <a:srgbClr val="000000"/>
              </a:solidFill>
              <a:effectLst/>
              <a:latin typeface="Menlo" panose="020B0609030804020204" pitchFamily="49" charset="0"/>
            </a:endParaRPr>
          </a:p>
          <a:p>
            <a:pPr marL="0" marR="0" indent="0">
              <a:spcBef>
                <a:spcPts val="0"/>
              </a:spcBef>
              <a:spcAft>
                <a:spcPts val="0"/>
              </a:spcAft>
              <a:buNone/>
            </a:pP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Demo{</a:t>
            </a:r>
          </a:p>
          <a:p>
            <a:pPr marL="0" marR="0" indent="0">
              <a:spcBef>
                <a:spcPts val="0"/>
              </a:spcBef>
              <a:spcAft>
                <a:spcPts val="0"/>
              </a:spcAft>
              <a:buNone/>
            </a:pPr>
            <a:r>
              <a:rPr lang="en-IN" sz="1600" b="1" dirty="0">
                <a:solidFill>
                  <a:srgbClr val="7F0055"/>
                </a:solidFill>
                <a:effectLst/>
                <a:latin typeface="Menlo" panose="020B0609030804020204" pitchFamily="49" charset="0"/>
              </a:rPr>
              <a:t>public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static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main(String[] </a:t>
            </a:r>
            <a:r>
              <a:rPr lang="en-IN" sz="1600" dirty="0" err="1">
                <a:solidFill>
                  <a:srgbClr val="6A3E3E"/>
                </a:solidFill>
                <a:effectLst/>
                <a:latin typeface="Menlo" panose="020B0609030804020204" pitchFamily="49" charset="0"/>
              </a:rPr>
              <a:t>args</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MyFrame</a:t>
            </a:r>
            <a:r>
              <a:rPr lang="en-IN" sz="1600" dirty="0">
                <a:solidFill>
                  <a:srgbClr val="000000"/>
                </a:solidFill>
                <a:effectLst/>
                <a:latin typeface="Menlo" panose="020B0609030804020204" pitchFamily="49" charset="0"/>
              </a:rPr>
              <a:t> </a:t>
            </a:r>
            <a:r>
              <a:rPr lang="en-IN" sz="1600" dirty="0">
                <a:solidFill>
                  <a:srgbClr val="6A3E3E"/>
                </a:solidFill>
                <a:effectLst/>
                <a:latin typeface="Menlo" panose="020B0609030804020204" pitchFamily="49" charset="0"/>
              </a:rPr>
              <a:t>f</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MyFrame</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endParaRPr lang="en-US" sz="1600" dirty="0"/>
          </a:p>
        </p:txBody>
      </p:sp>
    </p:spTree>
    <p:extLst>
      <p:ext uri="{BB962C8B-B14F-4D97-AF65-F5344CB8AC3E}">
        <p14:creationId xmlns:p14="http://schemas.microsoft.com/office/powerpoint/2010/main" val="3152014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63B58-F6BD-076C-01C6-EB278AA6475B}"/>
              </a:ext>
            </a:extLst>
          </p:cNvPr>
          <p:cNvSpPr>
            <a:spLocks noGrp="1"/>
          </p:cNvSpPr>
          <p:nvPr>
            <p:ph type="title"/>
          </p:nvPr>
        </p:nvSpPr>
        <p:spPr/>
        <p:txBody>
          <a:bodyPr/>
          <a:lstStyle/>
          <a:p>
            <a:r>
              <a:rPr lang="en-IN" dirty="0"/>
              <a:t>BORDERLAYOUT</a:t>
            </a:r>
            <a:endParaRPr lang="en-US" dirty="0"/>
          </a:p>
        </p:txBody>
      </p:sp>
      <p:sp>
        <p:nvSpPr>
          <p:cNvPr id="3" name="Content Placeholder 2">
            <a:extLst>
              <a:ext uri="{FF2B5EF4-FFF2-40B4-BE49-F238E27FC236}">
                <a16:creationId xmlns:a16="http://schemas.microsoft.com/office/drawing/2014/main" id="{CC8B114D-76F9-8CEF-C7A4-1300FE49CD2C}"/>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Frame {</a:t>
            </a:r>
          </a:p>
          <a:p>
            <a:pPr marL="0" marR="0" indent="0">
              <a:spcBef>
                <a:spcPts val="0"/>
              </a:spcBef>
              <a:spcAft>
                <a:spcPts val="0"/>
              </a:spcAft>
              <a:buNone/>
            </a:pPr>
            <a:r>
              <a:rPr lang="en-IN" sz="1800" dirty="0">
                <a:solidFill>
                  <a:srgbClr val="000000"/>
                </a:solidFill>
                <a:effectLst/>
                <a:latin typeface="Menlo" panose="020B0609030804020204" pitchFamily="49" charset="0"/>
              </a:rPr>
              <a:t>Button </a:t>
            </a:r>
            <a:r>
              <a:rPr lang="en-IN" sz="1800" dirty="0">
                <a:solidFill>
                  <a:srgbClr val="0000C0"/>
                </a:solidFill>
                <a:effectLst/>
                <a:latin typeface="Menlo" panose="020B0609030804020204" pitchFamily="49" charset="0"/>
              </a:rPr>
              <a:t>b1</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b2</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b3</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b4</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b5</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green</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(400,400);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.setLayout</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BorderLayout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C0"/>
                </a:solidFill>
                <a:effectLst/>
                <a:latin typeface="Menlo" panose="020B0609030804020204" pitchFamily="49" charset="0"/>
              </a:rPr>
              <a:t>b1</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Button(</a:t>
            </a:r>
            <a:r>
              <a:rPr lang="en-IN" sz="1800" dirty="0">
                <a:solidFill>
                  <a:srgbClr val="2A00FF"/>
                </a:solidFill>
                <a:effectLst/>
                <a:latin typeface="Menlo" panose="020B0609030804020204" pitchFamily="49" charset="0"/>
              </a:rPr>
              <a:t>"Boys"</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C0"/>
                </a:solidFill>
                <a:effectLst/>
                <a:latin typeface="Menlo" panose="020B0609030804020204" pitchFamily="49" charset="0"/>
              </a:rPr>
              <a:t>b2</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Button(</a:t>
            </a:r>
            <a:r>
              <a:rPr lang="en-IN" sz="1800" dirty="0">
                <a:solidFill>
                  <a:srgbClr val="2A00FF"/>
                </a:solidFill>
                <a:effectLst/>
                <a:latin typeface="Menlo" panose="020B0609030804020204" pitchFamily="49" charset="0"/>
              </a:rPr>
              <a:t>"Girls"</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C0"/>
                </a:solidFill>
                <a:effectLst/>
                <a:latin typeface="Menlo" panose="020B0609030804020204" pitchFamily="49" charset="0"/>
              </a:rPr>
              <a:t>b3</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Button(</a:t>
            </a:r>
            <a:r>
              <a:rPr lang="en-IN" sz="1800" dirty="0">
                <a:solidFill>
                  <a:srgbClr val="2A00FF"/>
                </a:solidFill>
                <a:effectLst/>
                <a:latin typeface="Menlo" panose="020B0609030804020204" pitchFamily="49" charset="0"/>
              </a:rPr>
              <a:t>"management"</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C0"/>
                </a:solidFill>
                <a:effectLst/>
                <a:latin typeface="Menlo" panose="020B0609030804020204" pitchFamily="49" charset="0"/>
              </a:rPr>
              <a:t>b4</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Button(</a:t>
            </a:r>
            <a:r>
              <a:rPr lang="en-IN" sz="1800" dirty="0">
                <a:solidFill>
                  <a:srgbClr val="2A00FF"/>
                </a:solidFill>
                <a:effectLst/>
                <a:latin typeface="Menlo" panose="020B0609030804020204" pitchFamily="49" charset="0"/>
              </a:rPr>
              <a:t>"Teaching Staff"</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C0"/>
                </a:solidFill>
                <a:effectLst/>
                <a:latin typeface="Menlo" panose="020B0609030804020204" pitchFamily="49" charset="0"/>
              </a:rPr>
              <a:t>b5</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Button(</a:t>
            </a:r>
            <a:r>
              <a:rPr lang="en-IN" sz="1800" dirty="0">
                <a:solidFill>
                  <a:srgbClr val="2A00FF"/>
                </a:solidFill>
                <a:effectLst/>
                <a:latin typeface="Menlo" panose="020B0609030804020204" pitchFamily="49" charset="0"/>
              </a:rPr>
              <a:t>"non-teaching staff"</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"North"</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b1</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"Center"</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b2</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"South"</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b3</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"East"</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b4</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"West"</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b5</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endParaRPr lang="en-US" dirty="0"/>
          </a:p>
        </p:txBody>
      </p:sp>
      <p:sp>
        <p:nvSpPr>
          <p:cNvPr id="4" name="Footer Placeholder 3">
            <a:extLst>
              <a:ext uri="{FF2B5EF4-FFF2-40B4-BE49-F238E27FC236}">
                <a16:creationId xmlns:a16="http://schemas.microsoft.com/office/drawing/2014/main" id="{2521A48E-ABB3-2B8C-077C-F2DE01513B47}"/>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0747418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C2CFB-8C99-68C4-0910-99437A1C36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BCE76F-7B1C-B283-D35D-0F1082ED0DBE}"/>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6C7E99DA-C4C4-AF90-56E1-FC513E0EDB41}"/>
              </a:ext>
            </a:extLst>
          </p:cNvPr>
          <p:cNvSpPr>
            <a:spLocks noGrp="1"/>
          </p:cNvSpPr>
          <p:nvPr>
            <p:ph type="ftr" sz="quarter" idx="11"/>
          </p:nvPr>
        </p:nvSpPr>
        <p:spPr/>
        <p:txBody>
          <a:bodyPr/>
          <a:lstStyle/>
          <a:p>
            <a:pPr>
              <a:defRPr/>
            </a:pPr>
            <a:r>
              <a:rPr lang="en-US"/>
              <a:t>Dr. Naveen Kumar, Associate Professor, AIIT, AUP</a:t>
            </a:r>
          </a:p>
        </p:txBody>
      </p:sp>
      <p:pic>
        <p:nvPicPr>
          <p:cNvPr id="1026" name="Picture 2" descr="BorderLayout class">
            <a:extLst>
              <a:ext uri="{FF2B5EF4-FFF2-40B4-BE49-F238E27FC236}">
                <a16:creationId xmlns:a16="http://schemas.microsoft.com/office/drawing/2014/main" id="{E8DB665C-A2CD-34D5-FE65-561DAE39DB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 y="0"/>
            <a:ext cx="4152900" cy="42944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orderLayout class">
            <a:extLst>
              <a:ext uri="{FF2B5EF4-FFF2-40B4-BE49-F238E27FC236}">
                <a16:creationId xmlns:a16="http://schemas.microsoft.com/office/drawing/2014/main" id="{5289AE69-9CA8-D4B0-6BFB-42AF5CEEC1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1501" y="165100"/>
            <a:ext cx="4178578" cy="41411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orderLayout class">
            <a:extLst>
              <a:ext uri="{FF2B5EF4-FFF2-40B4-BE49-F238E27FC236}">
                <a16:creationId xmlns:a16="http://schemas.microsoft.com/office/drawing/2014/main" id="{DEAABC71-350E-E123-F91E-ABD328E95E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400" y="4088595"/>
            <a:ext cx="2717800" cy="26932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54160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DE518-DDA9-C94D-0E7F-43B147D222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759DE9B-8E3A-8F16-8102-88805A2FBDF3}"/>
              </a:ext>
            </a:extLst>
          </p:cNvPr>
          <p:cNvSpPr>
            <a:spLocks noGrp="1"/>
          </p:cNvSpPr>
          <p:nvPr>
            <p:ph idx="1"/>
          </p:nvPr>
        </p:nvSpPr>
        <p:spPr/>
        <p:txBody>
          <a:bodyPr/>
          <a:lstStyle/>
          <a:p>
            <a:pPr marL="0" marR="0" indent="0">
              <a:spcBef>
                <a:spcPts val="0"/>
              </a:spcBef>
              <a:spcAft>
                <a:spcPts val="0"/>
              </a:spcAft>
              <a:buNone/>
            </a:pPr>
            <a:endParaRPr lang="en-IN" sz="2400" dirty="0">
              <a:solidFill>
                <a:srgbClr val="000000"/>
              </a:solidFill>
              <a:effectLst/>
              <a:latin typeface="Menlo" panose="020B0609030804020204" pitchFamily="49" charset="0"/>
            </a:endParaRPr>
          </a:p>
          <a:p>
            <a:pPr marL="0" marR="0" indent="0">
              <a:spcBef>
                <a:spcPts val="0"/>
              </a:spcBef>
              <a:spcAft>
                <a:spcPts val="0"/>
              </a:spcAft>
              <a:buNone/>
            </a:pPr>
            <a:r>
              <a:rPr lang="en-IN" sz="2400" b="1" dirty="0">
                <a:solidFill>
                  <a:srgbClr val="7F0055"/>
                </a:solidFill>
                <a:effectLst/>
                <a:latin typeface="Menlo" panose="020B0609030804020204" pitchFamily="49" charset="0"/>
              </a:rPr>
              <a:t>class</a:t>
            </a:r>
            <a:r>
              <a:rPr lang="en-IN" sz="2400" dirty="0">
                <a:solidFill>
                  <a:srgbClr val="000000"/>
                </a:solidFill>
                <a:effectLst/>
                <a:latin typeface="Menlo" panose="020B0609030804020204" pitchFamily="49" charset="0"/>
              </a:rPr>
              <a:t> Demo {</a:t>
            </a:r>
          </a:p>
          <a:p>
            <a:pPr marL="0" marR="0" indent="0">
              <a:spcBef>
                <a:spcPts val="0"/>
              </a:spcBef>
              <a:spcAft>
                <a:spcPts val="0"/>
              </a:spcAft>
              <a:buNone/>
            </a:pPr>
            <a:r>
              <a:rPr lang="en-IN" sz="2400" b="1" dirty="0">
                <a:solidFill>
                  <a:srgbClr val="7F0055"/>
                </a:solidFill>
                <a:effectLst/>
                <a:latin typeface="Menlo" panose="020B0609030804020204" pitchFamily="49" charset="0"/>
              </a:rPr>
              <a:t>public</a:t>
            </a:r>
            <a:r>
              <a:rPr lang="en-IN" sz="2400" dirty="0">
                <a:solidFill>
                  <a:srgbClr val="000000"/>
                </a:solidFill>
                <a:effectLst/>
                <a:latin typeface="Menlo" panose="020B0609030804020204" pitchFamily="49" charset="0"/>
              </a:rPr>
              <a:t> </a:t>
            </a:r>
            <a:r>
              <a:rPr lang="en-IN" sz="2400" b="1" dirty="0">
                <a:solidFill>
                  <a:srgbClr val="7F0055"/>
                </a:solidFill>
                <a:effectLst/>
                <a:latin typeface="Menlo" panose="020B0609030804020204" pitchFamily="49" charset="0"/>
              </a:rPr>
              <a:t>static</a:t>
            </a:r>
            <a:r>
              <a:rPr lang="en-IN" sz="2400" dirty="0">
                <a:solidFill>
                  <a:srgbClr val="000000"/>
                </a:solidFill>
                <a:effectLst/>
                <a:latin typeface="Menlo" panose="020B0609030804020204" pitchFamily="49" charset="0"/>
              </a:rPr>
              <a:t> </a:t>
            </a:r>
            <a:r>
              <a:rPr lang="en-IN" sz="2400" b="1" dirty="0">
                <a:solidFill>
                  <a:srgbClr val="7F0055"/>
                </a:solidFill>
                <a:effectLst/>
                <a:latin typeface="Menlo" panose="020B0609030804020204" pitchFamily="49" charset="0"/>
              </a:rPr>
              <a:t>void</a:t>
            </a:r>
            <a:r>
              <a:rPr lang="en-IN" sz="2400" dirty="0">
                <a:solidFill>
                  <a:srgbClr val="000000"/>
                </a:solidFill>
                <a:effectLst/>
                <a:latin typeface="Menlo" panose="020B0609030804020204" pitchFamily="49" charset="0"/>
              </a:rPr>
              <a:t> main(String[] </a:t>
            </a:r>
            <a:r>
              <a:rPr lang="en-IN" sz="2400" dirty="0" err="1">
                <a:solidFill>
                  <a:srgbClr val="6A3E3E"/>
                </a:solidFill>
                <a:effectLst/>
                <a:latin typeface="Menlo" panose="020B0609030804020204" pitchFamily="49" charset="0"/>
              </a:rPr>
              <a:t>args</a:t>
            </a:r>
            <a:r>
              <a:rPr lang="en-IN" sz="2400" dirty="0">
                <a:solidFill>
                  <a:srgbClr val="000000"/>
                </a:solidFill>
                <a:effectLst/>
                <a:latin typeface="Menlo" panose="020B0609030804020204" pitchFamily="49" charset="0"/>
              </a:rPr>
              <a:t>) {</a:t>
            </a:r>
          </a:p>
          <a:p>
            <a:pPr marL="0" marR="0" indent="0">
              <a:spcBef>
                <a:spcPts val="0"/>
              </a:spcBef>
              <a:spcAft>
                <a:spcPts val="0"/>
              </a:spcAft>
              <a:buNone/>
            </a:pPr>
            <a:r>
              <a:rPr lang="en-IN" sz="2400" dirty="0" err="1">
                <a:solidFill>
                  <a:srgbClr val="000000"/>
                </a:solidFill>
                <a:effectLst/>
                <a:latin typeface="Menlo" panose="020B0609030804020204" pitchFamily="49" charset="0"/>
              </a:rPr>
              <a:t>MyFrame</a:t>
            </a:r>
            <a:r>
              <a:rPr lang="en-IN" sz="2400" dirty="0">
                <a:solidFill>
                  <a:srgbClr val="000000"/>
                </a:solidFill>
                <a:effectLst/>
                <a:latin typeface="Menlo" panose="020B0609030804020204" pitchFamily="49" charset="0"/>
              </a:rPr>
              <a:t> </a:t>
            </a:r>
            <a:r>
              <a:rPr lang="en-IN" sz="2400" dirty="0">
                <a:solidFill>
                  <a:srgbClr val="6A3E3E"/>
                </a:solidFill>
                <a:effectLst/>
                <a:latin typeface="Menlo" panose="020B0609030804020204" pitchFamily="49" charset="0"/>
              </a:rPr>
              <a:t>f</a:t>
            </a:r>
            <a:r>
              <a:rPr lang="en-IN" sz="2400" dirty="0">
                <a:solidFill>
                  <a:srgbClr val="000000"/>
                </a:solidFill>
                <a:effectLst/>
                <a:latin typeface="Menlo" panose="020B0609030804020204" pitchFamily="49" charset="0"/>
              </a:rPr>
              <a:t>=</a:t>
            </a:r>
            <a:r>
              <a:rPr lang="en-IN" sz="2400" b="1" dirty="0">
                <a:solidFill>
                  <a:srgbClr val="7F0055"/>
                </a:solidFill>
                <a:effectLst/>
                <a:latin typeface="Menlo" panose="020B0609030804020204" pitchFamily="49" charset="0"/>
              </a:rPr>
              <a:t>new</a:t>
            </a:r>
            <a:r>
              <a:rPr lang="en-IN" sz="2400" dirty="0">
                <a:solidFill>
                  <a:srgbClr val="000000"/>
                </a:solidFill>
                <a:effectLst/>
                <a:latin typeface="Menlo" panose="020B0609030804020204" pitchFamily="49" charset="0"/>
              </a:rPr>
              <a:t> </a:t>
            </a:r>
            <a:r>
              <a:rPr lang="en-IN" sz="2400" dirty="0" err="1">
                <a:solidFill>
                  <a:srgbClr val="000000"/>
                </a:solidFill>
                <a:effectLst/>
                <a:latin typeface="Menlo" panose="020B0609030804020204" pitchFamily="49" charset="0"/>
              </a:rPr>
              <a:t>MyFrame</a:t>
            </a:r>
            <a:r>
              <a:rPr lang="en-IN" sz="2400" dirty="0">
                <a:solidFill>
                  <a:srgbClr val="000000"/>
                </a:solidFill>
                <a:effectLst/>
                <a:latin typeface="Menlo" panose="020B0609030804020204" pitchFamily="49" charset="0"/>
              </a:rPr>
              <a:t>();</a:t>
            </a:r>
          </a:p>
          <a:p>
            <a:pPr marL="0" marR="0" indent="0">
              <a:spcBef>
                <a:spcPts val="0"/>
              </a:spcBef>
              <a:spcAft>
                <a:spcPts val="0"/>
              </a:spcAft>
              <a:buNone/>
            </a:pPr>
            <a:r>
              <a:rPr lang="en-IN" sz="2400" dirty="0">
                <a:solidFill>
                  <a:srgbClr val="000000"/>
                </a:solidFill>
                <a:effectLst/>
                <a:latin typeface="Menlo" panose="020B0609030804020204" pitchFamily="49" charset="0"/>
              </a:rPr>
              <a:t>} }</a:t>
            </a:r>
          </a:p>
          <a:p>
            <a:pPr marL="0" indent="0">
              <a:buNone/>
            </a:pPr>
            <a:endParaRPr lang="en-US" sz="2400" dirty="0"/>
          </a:p>
          <a:p>
            <a:pPr marL="0" indent="0">
              <a:buNone/>
            </a:pPr>
            <a:endParaRPr lang="en-US" sz="2400" dirty="0"/>
          </a:p>
        </p:txBody>
      </p:sp>
      <p:sp>
        <p:nvSpPr>
          <p:cNvPr id="4" name="Footer Placeholder 3">
            <a:extLst>
              <a:ext uri="{FF2B5EF4-FFF2-40B4-BE49-F238E27FC236}">
                <a16:creationId xmlns:a16="http://schemas.microsoft.com/office/drawing/2014/main" id="{63264FAB-4CFD-9283-0B99-F25748319273}"/>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5607669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EBC42-CC88-90A8-843D-63668C44E76A}"/>
              </a:ext>
            </a:extLst>
          </p:cNvPr>
          <p:cNvSpPr>
            <a:spLocks noGrp="1"/>
          </p:cNvSpPr>
          <p:nvPr>
            <p:ph type="title"/>
          </p:nvPr>
        </p:nvSpPr>
        <p:spPr/>
        <p:txBody>
          <a:bodyPr/>
          <a:lstStyle/>
          <a:p>
            <a:r>
              <a:rPr lang="en-US" dirty="0" err="1"/>
              <a:t>CardLayout</a:t>
            </a:r>
            <a:endParaRPr lang="en-US" dirty="0"/>
          </a:p>
        </p:txBody>
      </p:sp>
      <p:sp>
        <p:nvSpPr>
          <p:cNvPr id="3" name="Content Placeholder 2">
            <a:extLst>
              <a:ext uri="{FF2B5EF4-FFF2-40B4-BE49-F238E27FC236}">
                <a16:creationId xmlns:a16="http://schemas.microsoft.com/office/drawing/2014/main" id="{5A7AE4F8-21C3-C975-1982-7BA0A8159C98}"/>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Frame {</a:t>
            </a:r>
          </a:p>
          <a:p>
            <a:pPr marL="0" marR="0" indent="0">
              <a:spcBef>
                <a:spcPts val="0"/>
              </a:spcBef>
              <a:spcAft>
                <a:spcPts val="0"/>
              </a:spcAft>
              <a:buNone/>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(400,400);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.setLayout</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CardLayout</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Button </a:t>
            </a:r>
            <a:r>
              <a:rPr lang="en-IN" sz="1800" dirty="0">
                <a:solidFill>
                  <a:srgbClr val="6A3E3E"/>
                </a:solidFill>
                <a:effectLst/>
                <a:latin typeface="Menlo" panose="020B0609030804020204" pitchFamily="49" charset="0"/>
              </a:rPr>
              <a:t>b1</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Button(</a:t>
            </a:r>
            <a:r>
              <a:rPr lang="en-IN" sz="1800" dirty="0">
                <a:solidFill>
                  <a:srgbClr val="2A00FF"/>
                </a:solidFill>
                <a:effectLst/>
                <a:latin typeface="Menlo" panose="020B0609030804020204" pitchFamily="49" charset="0"/>
              </a:rPr>
              <a:t>"button1"</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Button </a:t>
            </a:r>
            <a:r>
              <a:rPr lang="en-IN" sz="1800" dirty="0">
                <a:solidFill>
                  <a:srgbClr val="6A3E3E"/>
                </a:solidFill>
                <a:effectLst/>
                <a:latin typeface="Menlo" panose="020B0609030804020204" pitchFamily="49" charset="0"/>
              </a:rPr>
              <a:t>b2</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Button(</a:t>
            </a:r>
            <a:r>
              <a:rPr lang="en-IN" sz="1800" dirty="0">
                <a:solidFill>
                  <a:srgbClr val="2A00FF"/>
                </a:solidFill>
                <a:effectLst/>
                <a:latin typeface="Menlo" panose="020B0609030804020204" pitchFamily="49" charset="0"/>
              </a:rPr>
              <a:t>"button2"</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Button </a:t>
            </a:r>
            <a:r>
              <a:rPr lang="en-IN" sz="1800" dirty="0">
                <a:solidFill>
                  <a:srgbClr val="6A3E3E"/>
                </a:solidFill>
                <a:effectLst/>
                <a:latin typeface="Menlo" panose="020B0609030804020204" pitchFamily="49" charset="0"/>
              </a:rPr>
              <a:t>b3</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Button(</a:t>
            </a:r>
            <a:r>
              <a:rPr lang="en-IN" sz="1800" dirty="0">
                <a:solidFill>
                  <a:srgbClr val="2A00FF"/>
                </a:solidFill>
                <a:effectLst/>
                <a:latin typeface="Menlo" panose="020B0609030804020204" pitchFamily="49" charset="0"/>
              </a:rPr>
              <a:t>"button3"</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Button </a:t>
            </a:r>
            <a:r>
              <a:rPr lang="en-IN" sz="1800" dirty="0">
                <a:solidFill>
                  <a:srgbClr val="6A3E3E"/>
                </a:solidFill>
                <a:effectLst/>
                <a:latin typeface="Menlo" panose="020B0609030804020204" pitchFamily="49" charset="0"/>
              </a:rPr>
              <a:t>b4</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Button(</a:t>
            </a:r>
            <a:r>
              <a:rPr lang="en-IN" sz="1800" dirty="0">
                <a:solidFill>
                  <a:srgbClr val="2A00FF"/>
                </a:solidFill>
                <a:effectLst/>
                <a:latin typeface="Menlo" panose="020B0609030804020204" pitchFamily="49" charset="0"/>
              </a:rPr>
              <a:t>"button4"</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Button </a:t>
            </a:r>
            <a:r>
              <a:rPr lang="en-IN" sz="1800" dirty="0">
                <a:solidFill>
                  <a:srgbClr val="6A3E3E"/>
                </a:solidFill>
                <a:effectLst/>
                <a:latin typeface="Menlo" panose="020B0609030804020204" pitchFamily="49" charset="0"/>
              </a:rPr>
              <a:t>b5</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Button(</a:t>
            </a:r>
            <a:r>
              <a:rPr lang="en-IN" sz="1800" dirty="0">
                <a:solidFill>
                  <a:srgbClr val="2A00FF"/>
                </a:solidFill>
                <a:effectLst/>
                <a:latin typeface="Menlo" panose="020B0609030804020204" pitchFamily="49" charset="0"/>
              </a:rPr>
              <a:t>"button5"</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"First Card"</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b1</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"Second Card"</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b2</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Thrid</a:t>
            </a:r>
            <a:r>
              <a:rPr lang="en-IN" sz="1800" dirty="0">
                <a:solidFill>
                  <a:srgbClr val="2A00FF"/>
                </a:solidFill>
                <a:effectLst/>
                <a:latin typeface="Menlo" panose="020B0609030804020204" pitchFamily="49" charset="0"/>
              </a:rPr>
              <a:t> Card"</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b3</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"Fourth Card"</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b4</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"Fifth Card"</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b5</a:t>
            </a:r>
            <a:r>
              <a:rPr lang="en-IN" sz="1800" dirty="0">
                <a:solidFill>
                  <a:srgbClr val="000000"/>
                </a:solidFill>
                <a:effectLst/>
                <a:latin typeface="Menlo" panose="020B0609030804020204" pitchFamily="49" charset="0"/>
              </a:rPr>
              <a:t>); }</a:t>
            </a:r>
            <a:r>
              <a:rPr lang="en-IN" sz="1800" dirty="0">
                <a:solidFill>
                  <a:srgbClr val="000000"/>
                </a:solidFill>
                <a:latin typeface="Menlo" panose="020B0609030804020204" pitchFamily="49" charset="0"/>
              </a:rPr>
              <a:t> </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Demo {</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frame</a:t>
            </a:r>
            <a:r>
              <a:rPr lang="en-IN" sz="1800" dirty="0">
                <a:solidFill>
                  <a:srgbClr val="000000"/>
                </a:solidFill>
                <a:effectLst/>
                <a:latin typeface="Menlo" panose="020B0609030804020204" pitchFamily="49" charset="0"/>
              </a:rPr>
              <a:t> = </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buNone/>
            </a:pPr>
            <a:endParaRPr lang="en-US" dirty="0"/>
          </a:p>
        </p:txBody>
      </p:sp>
      <p:sp>
        <p:nvSpPr>
          <p:cNvPr id="4" name="Footer Placeholder 3">
            <a:extLst>
              <a:ext uri="{FF2B5EF4-FFF2-40B4-BE49-F238E27FC236}">
                <a16:creationId xmlns:a16="http://schemas.microsoft.com/office/drawing/2014/main" id="{8AED1A46-22C4-9E7C-2307-4B494BD7B63D}"/>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8295052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F8C92-767B-A7CB-45D4-1CEFCF39D5C7}"/>
              </a:ext>
            </a:extLst>
          </p:cNvPr>
          <p:cNvSpPr>
            <a:spLocks noGrp="1"/>
          </p:cNvSpPr>
          <p:nvPr>
            <p:ph type="title"/>
          </p:nvPr>
        </p:nvSpPr>
        <p:spPr/>
        <p:txBody>
          <a:bodyPr/>
          <a:lstStyle/>
          <a:p>
            <a:r>
              <a:rPr lang="en-US" dirty="0" err="1"/>
              <a:t>GridLayout</a:t>
            </a:r>
            <a:endParaRPr lang="en-US" dirty="0"/>
          </a:p>
        </p:txBody>
      </p:sp>
      <p:sp>
        <p:nvSpPr>
          <p:cNvPr id="3" name="Content Placeholder 2">
            <a:extLst>
              <a:ext uri="{FF2B5EF4-FFF2-40B4-BE49-F238E27FC236}">
                <a16:creationId xmlns:a16="http://schemas.microsoft.com/office/drawing/2014/main" id="{B42C3071-6200-5145-A10F-BFF3EC8172B1}"/>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Frame</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(500,500);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rattaiah</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red</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.setLayout</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GridLayout</a:t>
            </a:r>
            <a:r>
              <a:rPr lang="en-IN" sz="1800" dirty="0">
                <a:solidFill>
                  <a:srgbClr val="000000"/>
                </a:solidFill>
                <a:effectLst/>
                <a:latin typeface="Menlo" panose="020B0609030804020204" pitchFamily="49" charset="0"/>
              </a:rPr>
              <a:t>(4,4)); </a:t>
            </a:r>
          </a:p>
          <a:p>
            <a:pPr marL="0" marR="0" indent="0">
              <a:spcBef>
                <a:spcPts val="0"/>
              </a:spcBef>
              <a:spcAft>
                <a:spcPts val="0"/>
              </a:spcAft>
              <a:buNone/>
            </a:pPr>
            <a:r>
              <a:rPr lang="en-IN" sz="1800" b="1" dirty="0">
                <a:solidFill>
                  <a:srgbClr val="7F0055"/>
                </a:solidFill>
                <a:effectLst/>
                <a:latin typeface="Menlo" panose="020B0609030804020204" pitchFamily="49" charset="0"/>
              </a:rPr>
              <a:t>for</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=0;</a:t>
            </a:r>
            <a:r>
              <a:rPr lang="en-IN" sz="1800" dirty="0">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&lt;10 ;</a:t>
            </a:r>
            <a:r>
              <a:rPr lang="en-IN" sz="1800" dirty="0" err="1">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 ){ </a:t>
            </a:r>
          </a:p>
          <a:p>
            <a:pPr marL="0" marR="0" indent="0">
              <a:spcBef>
                <a:spcPts val="0"/>
              </a:spcBef>
              <a:spcAft>
                <a:spcPts val="0"/>
              </a:spcAft>
              <a:buNone/>
            </a:pPr>
            <a:r>
              <a:rPr lang="en-IN" sz="1800" dirty="0">
                <a:solidFill>
                  <a:srgbClr val="000000"/>
                </a:solidFill>
                <a:effectLst/>
                <a:latin typeface="Menlo" panose="020B0609030804020204" pitchFamily="49" charset="0"/>
              </a:rPr>
              <a:t>Button </a:t>
            </a:r>
            <a:r>
              <a:rPr lang="en-IN" sz="1800" dirty="0">
                <a:solidFill>
                  <a:srgbClr val="6A3E3E"/>
                </a:solidFill>
                <a:effectLst/>
                <a:latin typeface="Menlo" panose="020B0609030804020204" pitchFamily="49" charset="0"/>
              </a:rPr>
              <a:t>b</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Button(</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b</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Demo {</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buNone/>
            </a:pPr>
            <a:endParaRPr lang="en-US" dirty="0"/>
          </a:p>
        </p:txBody>
      </p:sp>
      <p:sp>
        <p:nvSpPr>
          <p:cNvPr id="4" name="Footer Placeholder 3">
            <a:extLst>
              <a:ext uri="{FF2B5EF4-FFF2-40B4-BE49-F238E27FC236}">
                <a16:creationId xmlns:a16="http://schemas.microsoft.com/office/drawing/2014/main" id="{51A391D9-A129-9F21-8710-0AB80C2064A7}"/>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6456694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90BBE-1B2D-C2EC-20D4-1B304A71B9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D9D488-BFCB-7EB3-3C37-D6ABDC69949E}"/>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30357CD8-F391-DF18-781C-04179A7CE02B}"/>
              </a:ext>
            </a:extLst>
          </p:cNvPr>
          <p:cNvSpPr>
            <a:spLocks noGrp="1"/>
          </p:cNvSpPr>
          <p:nvPr>
            <p:ph type="ftr" sz="quarter" idx="11"/>
          </p:nvPr>
        </p:nvSpPr>
        <p:spPr/>
        <p:txBody>
          <a:bodyPr/>
          <a:lstStyle/>
          <a:p>
            <a:pPr>
              <a:defRPr/>
            </a:pPr>
            <a:r>
              <a:rPr lang="en-US"/>
              <a:t>Dr. Naveen Kumar, Associate Professor, AIIT, AUP</a:t>
            </a:r>
          </a:p>
        </p:txBody>
      </p:sp>
      <p:pic>
        <p:nvPicPr>
          <p:cNvPr id="2050" name="Picture 2" descr="Java GridLayout">
            <a:extLst>
              <a:ext uri="{FF2B5EF4-FFF2-40B4-BE49-F238E27FC236}">
                <a16:creationId xmlns:a16="http://schemas.microsoft.com/office/drawing/2014/main" id="{B5AB9AD7-D2D1-D5B0-FCE5-A9ABDB00BC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082"/>
            <a:ext cx="7848600" cy="368039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Java GridLayout">
            <a:extLst>
              <a:ext uri="{FF2B5EF4-FFF2-40B4-BE49-F238E27FC236}">
                <a16:creationId xmlns:a16="http://schemas.microsoft.com/office/drawing/2014/main" id="{8F8164A3-3362-C7BD-B25C-F3E9BCC3E6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453493"/>
            <a:ext cx="3530600" cy="340450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Java GridLayout">
            <a:extLst>
              <a:ext uri="{FF2B5EF4-FFF2-40B4-BE49-F238E27FC236}">
                <a16:creationId xmlns:a16="http://schemas.microsoft.com/office/drawing/2014/main" id="{DEACF2A1-9526-502F-A0C5-286AEE6CD4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9490" y="3453493"/>
            <a:ext cx="3405810" cy="3440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94509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A2DA5-4613-74C6-C640-F7297A907BC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FD9F7E-A898-8D94-753B-F480105A5A8B}"/>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012C55E8-5BA0-11C5-4612-88328C61B056}"/>
              </a:ext>
            </a:extLst>
          </p:cNvPr>
          <p:cNvSpPr>
            <a:spLocks noGrp="1"/>
          </p:cNvSpPr>
          <p:nvPr>
            <p:ph type="ftr" sz="quarter" idx="11"/>
          </p:nvPr>
        </p:nvSpPr>
        <p:spPr/>
        <p:txBody>
          <a:bodyPr/>
          <a:lstStyle/>
          <a:p>
            <a:pPr>
              <a:defRPr/>
            </a:pPr>
            <a:r>
              <a:rPr lang="en-US"/>
              <a:t>Dr. Naveen Kumar, Associate Professor, AIIT, AUP</a:t>
            </a:r>
          </a:p>
        </p:txBody>
      </p:sp>
      <p:pic>
        <p:nvPicPr>
          <p:cNvPr id="3074" name="Picture 2" descr="Java FlowLayout">
            <a:extLst>
              <a:ext uri="{FF2B5EF4-FFF2-40B4-BE49-F238E27FC236}">
                <a16:creationId xmlns:a16="http://schemas.microsoft.com/office/drawing/2014/main" id="{3B007D3F-01D1-C311-6937-3084B20AB0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654800" cy="383562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Java FlowLayout">
            <a:extLst>
              <a:ext uri="{FF2B5EF4-FFF2-40B4-BE49-F238E27FC236}">
                <a16:creationId xmlns:a16="http://schemas.microsoft.com/office/drawing/2014/main" id="{E9DFA7D9-AF96-246A-7E1D-81A24EAE2E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0832" y="4023002"/>
            <a:ext cx="2843168" cy="2834998"/>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Java FlowLayout">
            <a:extLst>
              <a:ext uri="{FF2B5EF4-FFF2-40B4-BE49-F238E27FC236}">
                <a16:creationId xmlns:a16="http://schemas.microsoft.com/office/drawing/2014/main" id="{5C05EC84-4EC7-CB8E-890D-396635DB6E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891995"/>
            <a:ext cx="3132418" cy="258500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Java FlowLayout">
            <a:extLst>
              <a:ext uri="{FF2B5EF4-FFF2-40B4-BE49-F238E27FC236}">
                <a16:creationId xmlns:a16="http://schemas.microsoft.com/office/drawing/2014/main" id="{FC3DE95C-AED2-D339-87D0-641FA5D9F1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1730" y="3993873"/>
            <a:ext cx="3120540" cy="2575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26837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3D086-6F7F-3B4C-A992-6D731AEC87CE}"/>
              </a:ext>
            </a:extLst>
          </p:cNvPr>
          <p:cNvSpPr>
            <a:spLocks noGrp="1"/>
          </p:cNvSpPr>
          <p:nvPr>
            <p:ph type="title"/>
          </p:nvPr>
        </p:nvSpPr>
        <p:spPr/>
        <p:txBody>
          <a:bodyPr/>
          <a:lstStyle/>
          <a:p>
            <a:r>
              <a:rPr lang="en-US" dirty="0" err="1"/>
              <a:t>BoxLayout</a:t>
            </a:r>
            <a:r>
              <a:rPr lang="en-US" dirty="0"/>
              <a:t> with X-AXIS</a:t>
            </a:r>
          </a:p>
        </p:txBody>
      </p:sp>
      <p:sp>
        <p:nvSpPr>
          <p:cNvPr id="3" name="Content Placeholder 2">
            <a:extLst>
              <a:ext uri="{FF2B5EF4-FFF2-40B4-BE49-F238E27FC236}">
                <a16:creationId xmlns:a16="http://schemas.microsoft.com/office/drawing/2014/main" id="{17B5732E-5840-16FD-4905-D47408FD8CA4}"/>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DD34ED6F-B008-A236-A3ED-7F84A9AA1FAD}"/>
              </a:ext>
            </a:extLst>
          </p:cNvPr>
          <p:cNvSpPr>
            <a:spLocks noGrp="1"/>
          </p:cNvSpPr>
          <p:nvPr>
            <p:ph type="ftr" sz="quarter" idx="11"/>
          </p:nvPr>
        </p:nvSpPr>
        <p:spPr/>
        <p:txBody>
          <a:bodyPr/>
          <a:lstStyle/>
          <a:p>
            <a:pPr>
              <a:defRPr/>
            </a:pPr>
            <a:r>
              <a:rPr lang="en-US"/>
              <a:t>Dr. Naveen Kumar, Associate Professor, AIIT, AUP</a:t>
            </a:r>
          </a:p>
        </p:txBody>
      </p:sp>
      <p:pic>
        <p:nvPicPr>
          <p:cNvPr id="4098" name="Picture 2" descr="BoxLayout class example">
            <a:extLst>
              <a:ext uri="{FF2B5EF4-FFF2-40B4-BE49-F238E27FC236}">
                <a16:creationId xmlns:a16="http://schemas.microsoft.com/office/drawing/2014/main" id="{33540947-F1B4-DAE8-588D-AC99A8913B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3400" y="1295400"/>
            <a:ext cx="5537200" cy="5575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12357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26C35-A974-AEFE-7075-77D94526D2BF}"/>
              </a:ext>
            </a:extLst>
          </p:cNvPr>
          <p:cNvSpPr>
            <a:spLocks noGrp="1"/>
          </p:cNvSpPr>
          <p:nvPr>
            <p:ph type="title"/>
          </p:nvPr>
        </p:nvSpPr>
        <p:spPr/>
        <p:txBody>
          <a:bodyPr/>
          <a:lstStyle/>
          <a:p>
            <a:r>
              <a:rPr lang="en-US" dirty="0" err="1"/>
              <a:t>BoxLayout</a:t>
            </a:r>
            <a:r>
              <a:rPr lang="en-US" dirty="0"/>
              <a:t> with LINE-AXIS</a:t>
            </a:r>
          </a:p>
        </p:txBody>
      </p:sp>
      <p:sp>
        <p:nvSpPr>
          <p:cNvPr id="3" name="Content Placeholder 2">
            <a:extLst>
              <a:ext uri="{FF2B5EF4-FFF2-40B4-BE49-F238E27FC236}">
                <a16:creationId xmlns:a16="http://schemas.microsoft.com/office/drawing/2014/main" id="{7952FCF2-186F-52EA-6BE3-2A53E477E6CD}"/>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414DD232-8104-BB29-1982-E09F5941942C}"/>
              </a:ext>
            </a:extLst>
          </p:cNvPr>
          <p:cNvSpPr>
            <a:spLocks noGrp="1"/>
          </p:cNvSpPr>
          <p:nvPr>
            <p:ph type="ftr" sz="quarter" idx="11"/>
          </p:nvPr>
        </p:nvSpPr>
        <p:spPr/>
        <p:txBody>
          <a:bodyPr/>
          <a:lstStyle/>
          <a:p>
            <a:pPr>
              <a:defRPr/>
            </a:pPr>
            <a:r>
              <a:rPr lang="en-US"/>
              <a:t>Dr. Naveen Kumar, Associate Professor, AIIT, AUP</a:t>
            </a:r>
          </a:p>
        </p:txBody>
      </p:sp>
      <p:pic>
        <p:nvPicPr>
          <p:cNvPr id="5122" name="Picture 2" descr="BoxLayout class example">
            <a:extLst>
              <a:ext uri="{FF2B5EF4-FFF2-40B4-BE49-F238E27FC236}">
                <a16:creationId xmlns:a16="http://schemas.microsoft.com/office/drawing/2014/main" id="{55B54753-7928-8C6A-0BCF-0D4E2CE2CE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3550" y="1346200"/>
            <a:ext cx="5676900" cy="543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31021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DE586-97B5-F833-E4D2-BE9FDC475EF4}"/>
              </a:ext>
            </a:extLst>
          </p:cNvPr>
          <p:cNvSpPr>
            <a:spLocks noGrp="1"/>
          </p:cNvSpPr>
          <p:nvPr>
            <p:ph type="title"/>
          </p:nvPr>
        </p:nvSpPr>
        <p:spPr/>
        <p:txBody>
          <a:bodyPr/>
          <a:lstStyle/>
          <a:p>
            <a:r>
              <a:rPr lang="en-US" dirty="0" err="1"/>
              <a:t>BoxLayout</a:t>
            </a:r>
            <a:r>
              <a:rPr lang="en-US" dirty="0"/>
              <a:t> with PAGE-AXIS</a:t>
            </a:r>
          </a:p>
        </p:txBody>
      </p:sp>
      <p:sp>
        <p:nvSpPr>
          <p:cNvPr id="3" name="Content Placeholder 2">
            <a:extLst>
              <a:ext uri="{FF2B5EF4-FFF2-40B4-BE49-F238E27FC236}">
                <a16:creationId xmlns:a16="http://schemas.microsoft.com/office/drawing/2014/main" id="{6AA05CD1-1E7C-3674-547E-83A7A7C3A8ED}"/>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8A19CDC6-2B7E-6773-ECA4-315C42517107}"/>
              </a:ext>
            </a:extLst>
          </p:cNvPr>
          <p:cNvSpPr>
            <a:spLocks noGrp="1"/>
          </p:cNvSpPr>
          <p:nvPr>
            <p:ph type="ftr" sz="quarter" idx="11"/>
          </p:nvPr>
        </p:nvSpPr>
        <p:spPr/>
        <p:txBody>
          <a:bodyPr/>
          <a:lstStyle/>
          <a:p>
            <a:pPr>
              <a:defRPr/>
            </a:pPr>
            <a:r>
              <a:rPr lang="en-US"/>
              <a:t>Dr. Naveen Kumar, Associate Professor, AIIT, AUP</a:t>
            </a:r>
          </a:p>
        </p:txBody>
      </p:sp>
      <p:pic>
        <p:nvPicPr>
          <p:cNvPr id="6146" name="Picture 2" descr="BoxLayout class example">
            <a:extLst>
              <a:ext uri="{FF2B5EF4-FFF2-40B4-BE49-F238E27FC236}">
                <a16:creationId xmlns:a16="http://schemas.microsoft.com/office/drawing/2014/main" id="{04AD828C-E67F-6291-8E27-85FCDE61B1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1241501"/>
            <a:ext cx="2603210" cy="2634449"/>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BoxLayout class example">
            <a:extLst>
              <a:ext uri="{FF2B5EF4-FFF2-40B4-BE49-F238E27FC236}">
                <a16:creationId xmlns:a16="http://schemas.microsoft.com/office/drawing/2014/main" id="{6FE91F00-0B83-E99A-8498-EEA6EF464C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7150" y="1235075"/>
            <a:ext cx="2952750" cy="264087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BoxLayout class example">
            <a:extLst>
              <a:ext uri="{FF2B5EF4-FFF2-40B4-BE49-F238E27FC236}">
                <a16:creationId xmlns:a16="http://schemas.microsoft.com/office/drawing/2014/main" id="{05C70F3E-79EA-4124-2838-15D1AA270A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510" y="3887708"/>
            <a:ext cx="2952750" cy="29702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06139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BA1A3-EA36-3AE5-34BC-2A2844FB19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595963-9A87-E91B-E131-C3E51F9319F1}"/>
              </a:ext>
            </a:extLst>
          </p:cNvPr>
          <p:cNvSpPr>
            <a:spLocks noGrp="1"/>
          </p:cNvSpPr>
          <p:nvPr>
            <p:ph type="title"/>
          </p:nvPr>
        </p:nvSpPr>
        <p:spPr/>
        <p:txBody>
          <a:bodyPr/>
          <a:lstStyle/>
          <a:p>
            <a:r>
              <a:rPr lang="en-US" dirty="0"/>
              <a:t>Login Form</a:t>
            </a:r>
          </a:p>
        </p:txBody>
      </p:sp>
      <p:sp>
        <p:nvSpPr>
          <p:cNvPr id="3" name="Content Placeholder 2">
            <a:extLst>
              <a:ext uri="{FF2B5EF4-FFF2-40B4-BE49-F238E27FC236}">
                <a16:creationId xmlns:a16="http://schemas.microsoft.com/office/drawing/2014/main" id="{2DE18EC7-7EA8-FB2B-EF21-4F7178794687}"/>
              </a:ext>
            </a:extLst>
          </p:cNvPr>
          <p:cNvSpPr>
            <a:spLocks noGrp="1"/>
          </p:cNvSpPr>
          <p:nvPr>
            <p:ph idx="1"/>
          </p:nvPr>
        </p:nvSpPr>
        <p:spPr/>
        <p:txBody>
          <a:bodyPr/>
          <a:lstStyle/>
          <a:p>
            <a:pPr marL="0" marR="0" indent="0">
              <a:spcBef>
                <a:spcPts val="0"/>
              </a:spcBef>
              <a:spcAft>
                <a:spcPts val="0"/>
              </a:spcAft>
              <a:buNone/>
            </a:pP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a:t>
            </a:r>
            <a:r>
              <a:rPr lang="en-IN" sz="1600" u="sng" dirty="0" err="1">
                <a:solidFill>
                  <a:srgbClr val="000000"/>
                </a:solidFill>
                <a:effectLst/>
                <a:latin typeface="Menlo" panose="020B0609030804020204" pitchFamily="49" charset="0"/>
              </a:rPr>
              <a:t>MyFrame</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extends</a:t>
            </a:r>
            <a:r>
              <a:rPr lang="en-IN" sz="1600" dirty="0">
                <a:solidFill>
                  <a:srgbClr val="000000"/>
                </a:solidFill>
                <a:effectLst/>
                <a:latin typeface="Menlo" panose="020B0609030804020204" pitchFamily="49" charset="0"/>
              </a:rPr>
              <a:t> Frame </a:t>
            </a:r>
            <a:r>
              <a:rPr lang="en-IN" sz="1600" b="1" dirty="0">
                <a:solidFill>
                  <a:srgbClr val="7F0055"/>
                </a:solidFill>
                <a:effectLst/>
                <a:latin typeface="Menlo" panose="020B0609030804020204" pitchFamily="49" charset="0"/>
              </a:rPr>
              <a:t>implements</a:t>
            </a:r>
            <a:r>
              <a:rPr lang="en-IN" sz="1600" dirty="0">
                <a:solidFill>
                  <a:srgbClr val="000000"/>
                </a:solidFill>
                <a:effectLst/>
                <a:latin typeface="Menlo" panose="020B0609030804020204" pitchFamily="49" charset="0"/>
              </a:rPr>
              <a:t> ActionListener {</a:t>
            </a:r>
          </a:p>
          <a:p>
            <a:pPr marL="0" marR="0" indent="0">
              <a:spcBef>
                <a:spcPts val="0"/>
              </a:spcBef>
              <a:spcAft>
                <a:spcPts val="0"/>
              </a:spcAft>
              <a:buNone/>
            </a:pPr>
            <a:r>
              <a:rPr lang="en-IN" sz="1600" dirty="0">
                <a:solidFill>
                  <a:srgbClr val="000000"/>
                </a:solidFill>
                <a:effectLst/>
                <a:latin typeface="Menlo" panose="020B0609030804020204" pitchFamily="49" charset="0"/>
              </a:rPr>
              <a:t>Label </a:t>
            </a:r>
            <a:r>
              <a:rPr lang="en-IN" sz="1600" dirty="0">
                <a:solidFill>
                  <a:srgbClr val="0000C0"/>
                </a:solidFill>
                <a:effectLst/>
                <a:latin typeface="Menlo" panose="020B0609030804020204" pitchFamily="49" charset="0"/>
              </a:rPr>
              <a:t>l1</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l2</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TextField</a:t>
            </a:r>
            <a:r>
              <a:rPr lang="en-IN" sz="1600" dirty="0">
                <a:solidFill>
                  <a:srgbClr val="000000"/>
                </a:solidFill>
                <a:effectLst/>
                <a:latin typeface="Menlo" panose="020B0609030804020204" pitchFamily="49" charset="0"/>
              </a:rPr>
              <a:t> </a:t>
            </a:r>
            <a:r>
              <a:rPr lang="en-IN" sz="1600" dirty="0">
                <a:solidFill>
                  <a:srgbClr val="0000C0"/>
                </a:solidFill>
                <a:effectLst/>
                <a:latin typeface="Menlo" panose="020B0609030804020204" pitchFamily="49" charset="0"/>
              </a:rPr>
              <a:t>tx1</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tx2</a:t>
            </a:r>
            <a:r>
              <a:rPr lang="en-IN" sz="1600" dirty="0">
                <a:solidFill>
                  <a:srgbClr val="000000"/>
                </a:solidFill>
                <a:effectLst/>
                <a:latin typeface="Menlo" panose="020B0609030804020204" pitchFamily="49" charset="0"/>
              </a:rPr>
              <a:t>; Button </a:t>
            </a:r>
            <a:r>
              <a:rPr lang="en-IN" sz="1600" dirty="0">
                <a:solidFill>
                  <a:srgbClr val="0000C0"/>
                </a:solidFill>
                <a:effectLst/>
                <a:latin typeface="Menlo" panose="020B0609030804020204" pitchFamily="49" charset="0"/>
              </a:rPr>
              <a:t>b</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String </a:t>
            </a:r>
            <a:r>
              <a:rPr lang="en-IN" sz="1600" dirty="0">
                <a:solidFill>
                  <a:srgbClr val="0000C0"/>
                </a:solidFill>
                <a:effectLst/>
                <a:latin typeface="Menlo" panose="020B0609030804020204" pitchFamily="49" charset="0"/>
              </a:rPr>
              <a:t>status</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MyFrame</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err="1">
                <a:solidFill>
                  <a:srgbClr val="000000"/>
                </a:solidFill>
                <a:effectLst/>
                <a:latin typeface="Menlo" panose="020B0609030804020204" pitchFamily="49" charset="0"/>
              </a:rPr>
              <a:t>setVisible</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true</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setSize</a:t>
            </a:r>
            <a:r>
              <a:rPr lang="en-IN" sz="1600" dirty="0">
                <a:solidFill>
                  <a:srgbClr val="000000"/>
                </a:solidFill>
                <a:effectLst/>
                <a:latin typeface="Menlo" panose="020B0609030804020204" pitchFamily="49" charset="0"/>
              </a:rPr>
              <a:t>(400,400); </a:t>
            </a:r>
          </a:p>
          <a:p>
            <a:pPr marL="0" marR="0" indent="0">
              <a:spcBef>
                <a:spcPts val="0"/>
              </a:spcBef>
              <a:spcAft>
                <a:spcPts val="0"/>
              </a:spcAft>
              <a:buNone/>
            </a:pPr>
            <a:r>
              <a:rPr lang="en-IN" sz="1600" dirty="0" err="1">
                <a:solidFill>
                  <a:srgbClr val="000000"/>
                </a:solidFill>
                <a:effectLst/>
                <a:latin typeface="Menlo" panose="020B0609030804020204" pitchFamily="49" charset="0"/>
              </a:rPr>
              <a:t>setTitle</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"girls"</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setBackground</a:t>
            </a:r>
            <a:r>
              <a:rPr lang="en-IN" sz="1600" dirty="0">
                <a:solidFill>
                  <a:srgbClr val="000000"/>
                </a:solidFill>
                <a:effectLst/>
                <a:latin typeface="Menlo" panose="020B0609030804020204" pitchFamily="49" charset="0"/>
              </a:rPr>
              <a:t>(</a:t>
            </a:r>
            <a:r>
              <a:rPr lang="en-IN" sz="1600" dirty="0" err="1">
                <a:solidFill>
                  <a:srgbClr val="000000"/>
                </a:solidFill>
                <a:effectLst/>
                <a:latin typeface="Menlo" panose="020B0609030804020204" pitchFamily="49" charset="0"/>
              </a:rPr>
              <a:t>Color.</a:t>
            </a:r>
            <a:r>
              <a:rPr lang="en-IN" sz="1600" b="1" i="1" dirty="0" err="1">
                <a:solidFill>
                  <a:srgbClr val="0000C0"/>
                </a:solidFill>
                <a:effectLst/>
                <a:latin typeface="Menlo" panose="020B0609030804020204" pitchFamily="49" charset="0"/>
              </a:rPr>
              <a:t>red</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C0"/>
                </a:solidFill>
                <a:effectLst/>
                <a:latin typeface="Menlo" panose="020B0609030804020204" pitchFamily="49" charset="0"/>
              </a:rPr>
              <a:t>l1</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Label(</a:t>
            </a:r>
            <a:r>
              <a:rPr lang="en-IN" sz="1600" dirty="0">
                <a:solidFill>
                  <a:srgbClr val="2A00FF"/>
                </a:solidFill>
                <a:effectLst/>
                <a:latin typeface="Menlo" panose="020B0609030804020204" pitchFamily="49" charset="0"/>
              </a:rPr>
              <a:t>"user name:"</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C0"/>
                </a:solidFill>
                <a:effectLst/>
                <a:latin typeface="Menlo" panose="020B0609030804020204" pitchFamily="49" charset="0"/>
              </a:rPr>
              <a:t>l2</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Label(</a:t>
            </a:r>
            <a:r>
              <a:rPr lang="en-IN" sz="1600" dirty="0">
                <a:solidFill>
                  <a:srgbClr val="2A00FF"/>
                </a:solidFill>
                <a:effectLst/>
                <a:latin typeface="Menlo" panose="020B0609030804020204" pitchFamily="49" charset="0"/>
              </a:rPr>
              <a:t>"password:"</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C0"/>
                </a:solidFill>
                <a:effectLst/>
                <a:latin typeface="Menlo" panose="020B0609030804020204" pitchFamily="49" charset="0"/>
              </a:rPr>
              <a:t>tx1</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TextField</a:t>
            </a:r>
            <a:r>
              <a:rPr lang="en-IN" sz="1600" dirty="0">
                <a:solidFill>
                  <a:srgbClr val="000000"/>
                </a:solidFill>
                <a:effectLst/>
                <a:latin typeface="Menlo" panose="020B0609030804020204" pitchFamily="49" charset="0"/>
              </a:rPr>
              <a:t>(25); </a:t>
            </a:r>
          </a:p>
          <a:p>
            <a:pPr marL="0" marR="0" indent="0">
              <a:spcBef>
                <a:spcPts val="0"/>
              </a:spcBef>
              <a:spcAft>
                <a:spcPts val="0"/>
              </a:spcAft>
              <a:buNone/>
            </a:pPr>
            <a:r>
              <a:rPr lang="en-IN" sz="1600" dirty="0">
                <a:solidFill>
                  <a:srgbClr val="0000C0"/>
                </a:solidFill>
                <a:effectLst/>
                <a:latin typeface="Menlo" panose="020B0609030804020204" pitchFamily="49" charset="0"/>
              </a:rPr>
              <a:t>tx2</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TextField</a:t>
            </a:r>
            <a:r>
              <a:rPr lang="en-IN" sz="1600" dirty="0">
                <a:solidFill>
                  <a:srgbClr val="000000"/>
                </a:solidFill>
                <a:effectLst/>
                <a:latin typeface="Menlo" panose="020B0609030804020204" pitchFamily="49" charset="0"/>
              </a:rPr>
              <a:t>(25);</a:t>
            </a:r>
          </a:p>
          <a:p>
            <a:pPr marL="0" marR="0" indent="0">
              <a:spcBef>
                <a:spcPts val="0"/>
              </a:spcBef>
              <a:spcAft>
                <a:spcPts val="0"/>
              </a:spcAft>
              <a:buNone/>
            </a:pPr>
            <a:r>
              <a:rPr lang="en-IN" sz="1600" dirty="0">
                <a:solidFill>
                  <a:srgbClr val="0000C0"/>
                </a:solidFill>
                <a:effectLst/>
                <a:latin typeface="Menlo" panose="020B0609030804020204" pitchFamily="49" charset="0"/>
              </a:rPr>
              <a:t>b</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Button(</a:t>
            </a:r>
            <a:r>
              <a:rPr lang="en-IN" sz="1600" dirty="0">
                <a:solidFill>
                  <a:srgbClr val="2A00FF"/>
                </a:solidFill>
                <a:effectLst/>
                <a:latin typeface="Menlo" panose="020B0609030804020204" pitchFamily="49" charset="0"/>
              </a:rPr>
              <a:t>"login"</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C0"/>
                </a:solidFill>
                <a:effectLst/>
                <a:latin typeface="Menlo" panose="020B0609030804020204" pitchFamily="49" charset="0"/>
              </a:rPr>
              <a:t>b</a:t>
            </a:r>
            <a:r>
              <a:rPr lang="en-IN" sz="1600" dirty="0" err="1">
                <a:solidFill>
                  <a:srgbClr val="000000"/>
                </a:solidFill>
                <a:effectLst/>
                <a:latin typeface="Menlo" panose="020B0609030804020204" pitchFamily="49" charset="0"/>
              </a:rPr>
              <a:t>.addActionListener</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this</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C0"/>
                </a:solidFill>
                <a:effectLst/>
                <a:latin typeface="Menlo" panose="020B0609030804020204" pitchFamily="49" charset="0"/>
              </a:rPr>
              <a:t>tx2</a:t>
            </a:r>
            <a:r>
              <a:rPr lang="en-IN" sz="1600" dirty="0">
                <a:solidFill>
                  <a:srgbClr val="000000"/>
                </a:solidFill>
                <a:effectLst/>
                <a:latin typeface="Menlo" panose="020B0609030804020204" pitchFamily="49" charset="0"/>
              </a:rPr>
              <a:t>.setEchoChar(</a:t>
            </a:r>
            <a:r>
              <a:rPr lang="en-IN" sz="1600" dirty="0">
                <a:solidFill>
                  <a:srgbClr val="2A00FF"/>
                </a:solidFill>
                <a:effectLst/>
                <a:latin typeface="Menlo" panose="020B0609030804020204" pitchFamily="49" charset="0"/>
              </a:rPr>
              <a:t>'*'</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.setLayout</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FlowLayout</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.add</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l1</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.add</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tx1</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.add</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l2</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.add</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tx2</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b="1" dirty="0" err="1">
                <a:solidFill>
                  <a:srgbClr val="7F0055"/>
                </a:solidFill>
                <a:effectLst/>
                <a:latin typeface="Menlo" panose="020B0609030804020204" pitchFamily="49" charset="0"/>
              </a:rPr>
              <a:t>this</a:t>
            </a:r>
            <a:r>
              <a:rPr lang="en-IN" sz="1600" dirty="0" err="1">
                <a:solidFill>
                  <a:srgbClr val="000000"/>
                </a:solidFill>
                <a:effectLst/>
                <a:latin typeface="Menlo" panose="020B0609030804020204" pitchFamily="49" charset="0"/>
              </a:rPr>
              <a:t>.add</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b</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endParaRPr lang="en-US" sz="2800" dirty="0"/>
          </a:p>
        </p:txBody>
      </p:sp>
      <p:sp>
        <p:nvSpPr>
          <p:cNvPr id="4" name="Footer Placeholder 3">
            <a:extLst>
              <a:ext uri="{FF2B5EF4-FFF2-40B4-BE49-F238E27FC236}">
                <a16:creationId xmlns:a16="http://schemas.microsoft.com/office/drawing/2014/main" id="{9CE6F40E-C79D-6A85-55C8-BD179913C2D2}"/>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42793973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D7B56-7765-181F-2341-CAE39BD3DC06}"/>
              </a:ext>
            </a:extLst>
          </p:cNvPr>
          <p:cNvSpPr>
            <a:spLocks noGrp="1"/>
          </p:cNvSpPr>
          <p:nvPr>
            <p:ph type="title"/>
          </p:nvPr>
        </p:nvSpPr>
        <p:spPr/>
        <p:txBody>
          <a:bodyPr/>
          <a:lstStyle/>
          <a:p>
            <a:r>
              <a:rPr lang="en-US" dirty="0"/>
              <a:t>Login Form</a:t>
            </a:r>
          </a:p>
        </p:txBody>
      </p:sp>
      <p:sp>
        <p:nvSpPr>
          <p:cNvPr id="3" name="Content Placeholder 2">
            <a:extLst>
              <a:ext uri="{FF2B5EF4-FFF2-40B4-BE49-F238E27FC236}">
                <a16:creationId xmlns:a16="http://schemas.microsoft.com/office/drawing/2014/main" id="{DE374517-5DE3-9FD9-EAC0-6FBB2F463F79}"/>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actionPerformed</a:t>
            </a:r>
            <a:r>
              <a:rPr lang="en-IN" sz="1800" dirty="0">
                <a:solidFill>
                  <a:srgbClr val="000000"/>
                </a:solidFill>
                <a:effectLst/>
                <a:latin typeface="Menlo" panose="020B0609030804020204" pitchFamily="49" charset="0"/>
              </a:rPr>
              <a:t>(</a:t>
            </a:r>
            <a:r>
              <a:rPr lang="en-IN" sz="1800" u="sng" dirty="0" err="1">
                <a:solidFill>
                  <a:srgbClr val="000000"/>
                </a:solidFill>
                <a:effectLst/>
                <a:latin typeface="Menlo" panose="020B0609030804020204" pitchFamily="49" charset="0"/>
              </a:rPr>
              <a:t>ActionEvent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ae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String </a:t>
            </a:r>
            <a:r>
              <a:rPr lang="en-IN" sz="1800" dirty="0" err="1">
                <a:solidFill>
                  <a:srgbClr val="6A3E3E"/>
                </a:solidFill>
                <a:effectLst/>
                <a:latin typeface="Menlo" panose="020B0609030804020204" pitchFamily="49" charset="0"/>
              </a:rPr>
              <a:t>uname</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tx1</a:t>
            </a:r>
            <a:r>
              <a:rPr lang="en-IN" sz="1800" dirty="0">
                <a:solidFill>
                  <a:srgbClr val="000000"/>
                </a:solidFill>
                <a:effectLst/>
                <a:latin typeface="Menlo" panose="020B0609030804020204" pitchFamily="49" charset="0"/>
              </a:rPr>
              <a:t>.getText(); </a:t>
            </a:r>
          </a:p>
          <a:p>
            <a:pPr marL="0" marR="0" indent="0">
              <a:spcBef>
                <a:spcPts val="0"/>
              </a:spcBef>
              <a:spcAft>
                <a:spcPts val="0"/>
              </a:spcAft>
              <a:buNone/>
            </a:pPr>
            <a:r>
              <a:rPr lang="en-IN" sz="1800" dirty="0">
                <a:solidFill>
                  <a:srgbClr val="000000"/>
                </a:solidFill>
                <a:effectLst/>
                <a:latin typeface="Menlo" panose="020B0609030804020204" pitchFamily="49" charset="0"/>
              </a:rPr>
              <a:t>String </a:t>
            </a:r>
            <a:r>
              <a:rPr lang="en-IN" sz="1800" dirty="0" err="1">
                <a:solidFill>
                  <a:srgbClr val="6A3E3E"/>
                </a:solidFill>
                <a:effectLst/>
                <a:latin typeface="Menlo" panose="020B0609030804020204" pitchFamily="49" charset="0"/>
              </a:rPr>
              <a:t>upwd</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tx2</a:t>
            </a:r>
            <a:r>
              <a:rPr lang="en-IN" sz="1800" dirty="0">
                <a:solidFill>
                  <a:srgbClr val="000000"/>
                </a:solidFill>
                <a:effectLst/>
                <a:latin typeface="Menlo" panose="020B0609030804020204" pitchFamily="49" charset="0"/>
              </a:rPr>
              <a:t>.getText();</a:t>
            </a:r>
          </a:p>
          <a:p>
            <a:pPr marL="0" marR="0" indent="0">
              <a:spcBef>
                <a:spcPts val="0"/>
              </a:spcBef>
              <a:spcAft>
                <a:spcPts val="0"/>
              </a:spcAft>
              <a:buNone/>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uname</a:t>
            </a:r>
            <a:r>
              <a:rPr lang="en-IN" sz="1800" dirty="0" err="1">
                <a:solidFill>
                  <a:srgbClr val="000000"/>
                </a:solidFill>
                <a:effectLst/>
                <a:latin typeface="Menlo" panose="020B0609030804020204" pitchFamily="49" charset="0"/>
              </a:rPr>
              <a:t>.equals</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navbharti</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)&amp;&amp;</a:t>
            </a:r>
            <a:r>
              <a:rPr lang="en-IN" sz="1800" dirty="0" err="1">
                <a:solidFill>
                  <a:srgbClr val="6A3E3E"/>
                </a:solidFill>
                <a:effectLst/>
                <a:latin typeface="Menlo" panose="020B0609030804020204" pitchFamily="49" charset="0"/>
              </a:rPr>
              <a:t>upwd</a:t>
            </a:r>
            <a:r>
              <a:rPr lang="en-IN" sz="1800" dirty="0" err="1">
                <a:solidFill>
                  <a:srgbClr val="000000"/>
                </a:solidFill>
                <a:effectLst/>
                <a:latin typeface="Menlo" panose="020B0609030804020204" pitchFamily="49" charset="0"/>
              </a:rPr>
              <a:t>.equals</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aiitamity</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C0"/>
                </a:solidFill>
                <a:effectLst/>
                <a:latin typeface="Menlo" panose="020B0609030804020204" pitchFamily="49" charset="0"/>
              </a:rPr>
              <a:t>status</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"login success"</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else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 repaint();</a:t>
            </a:r>
          </a:p>
          <a:p>
            <a:pPr marL="0" marR="0" indent="0">
              <a:spcBef>
                <a:spcPts val="0"/>
              </a:spcBef>
              <a:spcAft>
                <a:spcPts val="0"/>
              </a:spcAft>
              <a:buNone/>
            </a:pPr>
            <a:r>
              <a:rPr lang="en-IN" sz="1800" dirty="0">
                <a:solidFill>
                  <a:srgbClr val="0000C0"/>
                </a:solidFill>
                <a:effectLst/>
                <a:latin typeface="Menlo" panose="020B0609030804020204" pitchFamily="49" charset="0"/>
              </a:rPr>
              <a:t>status</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"login failure"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paint(Graphics </a:t>
            </a:r>
            <a:r>
              <a:rPr lang="en-IN" sz="1800" dirty="0">
                <a:solidFill>
                  <a:srgbClr val="6A3E3E"/>
                </a:solidFill>
                <a:effectLst/>
                <a:latin typeface="Menlo" panose="020B0609030804020204" pitchFamily="49" charset="0"/>
              </a:rPr>
              <a:t>g</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Font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Font(</a:t>
            </a:r>
            <a:r>
              <a:rPr lang="en-IN" sz="1800" dirty="0">
                <a:solidFill>
                  <a:srgbClr val="2A00FF"/>
                </a:solidFill>
                <a:effectLst/>
                <a:latin typeface="Menlo" panose="020B0609030804020204" pitchFamily="49" charset="0"/>
              </a:rPr>
              <a:t>"arial"</a:t>
            </a:r>
            <a:r>
              <a:rPr lang="en-IN" sz="1800" dirty="0">
                <a:solidFill>
                  <a:srgbClr val="000000"/>
                </a:solidFill>
                <a:effectLst/>
                <a:latin typeface="Menlo" panose="020B0609030804020204" pitchFamily="49" charset="0"/>
              </a:rPr>
              <a:t>,Font.</a:t>
            </a:r>
            <a:r>
              <a:rPr lang="en-IN" sz="1800" b="1" i="1" dirty="0">
                <a:solidFill>
                  <a:srgbClr val="0000C0"/>
                </a:solidFill>
                <a:effectLst/>
                <a:latin typeface="Menlo" panose="020B0609030804020204" pitchFamily="49" charset="0"/>
              </a:rPr>
              <a:t>BOLD</a:t>
            </a:r>
            <a:r>
              <a:rPr lang="en-IN" sz="1800" dirty="0">
                <a:solidFill>
                  <a:srgbClr val="000000"/>
                </a:solidFill>
                <a:effectLst/>
                <a:latin typeface="Menlo" panose="020B0609030804020204" pitchFamily="49" charset="0"/>
              </a:rPr>
              <a:t>,30); </a:t>
            </a:r>
          </a:p>
          <a:p>
            <a:pPr marL="0" marR="0" indent="0">
              <a:spcBef>
                <a:spcPts val="0"/>
              </a:spcBef>
              <a:spcAft>
                <a:spcPts val="0"/>
              </a:spcAft>
              <a:buNone/>
            </a:pP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.setFont</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 </a:t>
            </a: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.setForeground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green</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.drawString</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"Status:----"</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status</a:t>
            </a:r>
            <a:r>
              <a:rPr lang="en-IN" sz="1800" dirty="0">
                <a:solidFill>
                  <a:srgbClr val="000000"/>
                </a:solidFill>
                <a:effectLst/>
                <a:latin typeface="Menlo" panose="020B0609030804020204" pitchFamily="49" charset="0"/>
              </a:rPr>
              <a:t>,50,300);</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buNone/>
            </a:pPr>
            <a:endParaRPr lang="en-US" dirty="0"/>
          </a:p>
        </p:txBody>
      </p:sp>
      <p:sp>
        <p:nvSpPr>
          <p:cNvPr id="4" name="Footer Placeholder 3">
            <a:extLst>
              <a:ext uri="{FF2B5EF4-FFF2-40B4-BE49-F238E27FC236}">
                <a16:creationId xmlns:a16="http://schemas.microsoft.com/office/drawing/2014/main" id="{FDDB7A2E-12CA-5CBE-F5B6-C8973A1EDB8D}"/>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8153543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57F60-6F5A-DD94-2B18-58FE55287607}"/>
              </a:ext>
            </a:extLst>
          </p:cNvPr>
          <p:cNvSpPr>
            <a:spLocks noGrp="1"/>
          </p:cNvSpPr>
          <p:nvPr>
            <p:ph type="title"/>
          </p:nvPr>
        </p:nvSpPr>
        <p:spPr/>
        <p:txBody>
          <a:bodyPr/>
          <a:lstStyle/>
          <a:p>
            <a:r>
              <a:rPr lang="en-IN" sz="3600" dirty="0">
                <a:effectLst/>
                <a:latin typeface="Calibri" panose="020F0502020204030204" pitchFamily="34" charset="0"/>
              </a:rPr>
              <a:t>MENUITEMS </a:t>
            </a:r>
            <a:endParaRPr lang="en-US" sz="7200" dirty="0"/>
          </a:p>
        </p:txBody>
      </p:sp>
      <p:sp>
        <p:nvSpPr>
          <p:cNvPr id="3" name="Content Placeholder 2">
            <a:extLst>
              <a:ext uri="{FF2B5EF4-FFF2-40B4-BE49-F238E27FC236}">
                <a16:creationId xmlns:a16="http://schemas.microsoft.com/office/drawing/2014/main" id="{39BB2E4C-74E5-60A6-E7DD-CC6161CA6E4D}"/>
              </a:ext>
            </a:extLst>
          </p:cNvPr>
          <p:cNvSpPr>
            <a:spLocks noGrp="1"/>
          </p:cNvSpPr>
          <p:nvPr>
            <p:ph idx="1"/>
          </p:nvPr>
        </p:nvSpPr>
        <p:spPr/>
        <p:txBody>
          <a:bodyPr/>
          <a:lstStyle/>
          <a:p>
            <a:pPr marL="0" marR="0">
              <a:spcBef>
                <a:spcPts val="0"/>
              </a:spcBef>
              <a:spcAft>
                <a:spcPts val="0"/>
              </a:spcAft>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java.awt.event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Frame </a:t>
            </a:r>
            <a:r>
              <a:rPr lang="en-IN" sz="1800" b="1" dirty="0">
                <a:solidFill>
                  <a:srgbClr val="7F0055"/>
                </a:solidFill>
                <a:effectLst/>
                <a:latin typeface="Menlo" panose="020B0609030804020204" pitchFamily="49" charset="0"/>
              </a:rPr>
              <a:t>implements</a:t>
            </a:r>
            <a:r>
              <a:rPr lang="en-IN" sz="1800" dirty="0">
                <a:solidFill>
                  <a:srgbClr val="000000"/>
                </a:solidFill>
                <a:effectLst/>
                <a:latin typeface="Menlo" panose="020B0609030804020204" pitchFamily="49" charset="0"/>
              </a:rPr>
              <a:t> ActionListener {</a:t>
            </a:r>
          </a:p>
          <a:p>
            <a:pPr marL="0" marR="0">
              <a:spcBef>
                <a:spcPts val="0"/>
              </a:spcBef>
              <a:spcAft>
                <a:spcPts val="0"/>
              </a:spcAft>
            </a:pPr>
            <a:r>
              <a:rPr lang="en-IN" sz="1800" dirty="0">
                <a:solidFill>
                  <a:srgbClr val="000000"/>
                </a:solidFill>
                <a:effectLst/>
                <a:latin typeface="Menlo" panose="020B0609030804020204" pitchFamily="49" charset="0"/>
              </a:rPr>
              <a:t>String </a:t>
            </a:r>
            <a:r>
              <a:rPr lang="en-IN" sz="1800" dirty="0">
                <a:solidFill>
                  <a:srgbClr val="0000C0"/>
                </a:solidFill>
                <a:effectLst/>
                <a:latin typeface="Menlo" panose="020B0609030804020204" pitchFamily="49" charset="0"/>
              </a:rPr>
              <a:t>label</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000000"/>
                </a:solidFill>
                <a:effectLst/>
                <a:latin typeface="Menlo" panose="020B0609030804020204" pitchFamily="49" charset="0"/>
              </a:rPr>
              <a:t>MenuBar</a:t>
            </a: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mb</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Menu </a:t>
            </a:r>
            <a:r>
              <a:rPr lang="en-IN" sz="1800" dirty="0">
                <a:solidFill>
                  <a:srgbClr val="0000C0"/>
                </a:solidFill>
                <a:effectLst/>
                <a:latin typeface="Menlo" panose="020B0609030804020204" pitchFamily="49" charset="0"/>
              </a:rPr>
              <a:t>m1</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m2</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m3</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000000"/>
                </a:solidFill>
                <a:effectLst/>
                <a:latin typeface="Menlo" panose="020B0609030804020204" pitchFamily="49" charset="0"/>
              </a:rPr>
              <a:t>MenuItem</a:t>
            </a: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mi1</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mi2</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mi3</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(300,300); </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myFrame</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green</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C0"/>
                </a:solidFill>
                <a:effectLst/>
                <a:latin typeface="Menlo" panose="020B0609030804020204" pitchFamily="49" charset="0"/>
              </a:rPr>
              <a:t>mb</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MenuBar</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.setMenuBar</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mb</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C0"/>
                </a:solidFill>
                <a:effectLst/>
                <a:latin typeface="Menlo" panose="020B0609030804020204" pitchFamily="49" charset="0"/>
              </a:rPr>
              <a:t>m1</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Menu(</a:t>
            </a:r>
            <a:r>
              <a:rPr lang="en-IN" sz="1800" dirty="0">
                <a:solidFill>
                  <a:srgbClr val="2A00FF"/>
                </a:solidFill>
                <a:effectLst/>
                <a:latin typeface="Menlo" panose="020B0609030804020204" pitchFamily="49" charset="0"/>
              </a:rPr>
              <a:t>"new"</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C0"/>
                </a:solidFill>
                <a:effectLst/>
                <a:latin typeface="Menlo" panose="020B0609030804020204" pitchFamily="49" charset="0"/>
              </a:rPr>
              <a:t>m2</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Menu(</a:t>
            </a:r>
            <a:r>
              <a:rPr lang="en-IN" sz="1800" dirty="0">
                <a:solidFill>
                  <a:srgbClr val="2A00FF"/>
                </a:solidFill>
                <a:effectLst/>
                <a:latin typeface="Menlo" panose="020B0609030804020204" pitchFamily="49" charset="0"/>
              </a:rPr>
              <a:t>"option"</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C0"/>
                </a:solidFill>
                <a:effectLst/>
                <a:latin typeface="Menlo" panose="020B0609030804020204" pitchFamily="49" charset="0"/>
              </a:rPr>
              <a:t>m3</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Menu(</a:t>
            </a:r>
            <a:r>
              <a:rPr lang="en-IN" sz="1800" dirty="0">
                <a:solidFill>
                  <a:srgbClr val="2A00FF"/>
                </a:solidFill>
                <a:effectLst/>
                <a:latin typeface="Menlo" panose="020B0609030804020204" pitchFamily="49" charset="0"/>
              </a:rPr>
              <a:t>"edit"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err="1">
                <a:solidFill>
                  <a:srgbClr val="0000C0"/>
                </a:solidFill>
                <a:effectLst/>
                <a:latin typeface="Menlo" panose="020B0609030804020204" pitchFamily="49" charset="0"/>
              </a:rPr>
              <a:t>mb</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m1</a:t>
            </a:r>
            <a:r>
              <a:rPr lang="en-IN" sz="1800" dirty="0">
                <a:solidFill>
                  <a:srgbClr val="000000"/>
                </a:solidFill>
                <a:effectLst/>
                <a:latin typeface="Menlo" panose="020B0609030804020204" pitchFamily="49" charset="0"/>
              </a:rPr>
              <a:t>); </a:t>
            </a:r>
            <a:r>
              <a:rPr lang="en-IN" sz="1800" dirty="0" err="1">
                <a:solidFill>
                  <a:srgbClr val="0000C0"/>
                </a:solidFill>
                <a:effectLst/>
                <a:latin typeface="Menlo" panose="020B0609030804020204" pitchFamily="49" charset="0"/>
              </a:rPr>
              <a:t>mb</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m2</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0000C0"/>
                </a:solidFill>
                <a:effectLst/>
                <a:latin typeface="Menlo" panose="020B0609030804020204" pitchFamily="49" charset="0"/>
              </a:rPr>
              <a:t>mb</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m3</a:t>
            </a:r>
            <a:r>
              <a:rPr lang="en-IN" sz="1800" dirty="0">
                <a:solidFill>
                  <a:srgbClr val="000000"/>
                </a:solidFill>
                <a:effectLst/>
                <a:latin typeface="Menlo" panose="020B0609030804020204" pitchFamily="49" charset="0"/>
              </a:rPr>
              <a:t>);</a:t>
            </a:r>
            <a:endParaRPr lang="en-US" dirty="0"/>
          </a:p>
        </p:txBody>
      </p:sp>
      <p:sp>
        <p:nvSpPr>
          <p:cNvPr id="4" name="Footer Placeholder 3">
            <a:extLst>
              <a:ext uri="{FF2B5EF4-FFF2-40B4-BE49-F238E27FC236}">
                <a16:creationId xmlns:a16="http://schemas.microsoft.com/office/drawing/2014/main" id="{0A0D8B88-EBCA-3237-C8F0-BED21350E6F8}"/>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9116714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0EDBA-BCDA-124B-7982-182D5F6ED6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45A76F-40A9-5467-B366-90D23849BAEA}"/>
              </a:ext>
            </a:extLst>
          </p:cNvPr>
          <p:cNvSpPr>
            <a:spLocks noGrp="1"/>
          </p:cNvSpPr>
          <p:nvPr>
            <p:ph type="title"/>
          </p:nvPr>
        </p:nvSpPr>
        <p:spPr/>
        <p:txBody>
          <a:bodyPr/>
          <a:lstStyle/>
          <a:p>
            <a:r>
              <a:rPr lang="en-IN" sz="3600" dirty="0">
                <a:effectLst/>
                <a:latin typeface="Calibri" panose="020F0502020204030204" pitchFamily="34" charset="0"/>
              </a:rPr>
              <a:t>MENUITEMS </a:t>
            </a:r>
            <a:endParaRPr lang="en-US" sz="7200" dirty="0"/>
          </a:p>
        </p:txBody>
      </p:sp>
      <p:sp>
        <p:nvSpPr>
          <p:cNvPr id="3" name="Content Placeholder 2">
            <a:extLst>
              <a:ext uri="{FF2B5EF4-FFF2-40B4-BE49-F238E27FC236}">
                <a16:creationId xmlns:a16="http://schemas.microsoft.com/office/drawing/2014/main" id="{E78ABE0E-5D63-DD83-E5D7-05DCF6D11ED2}"/>
              </a:ext>
            </a:extLst>
          </p:cNvPr>
          <p:cNvSpPr>
            <a:spLocks noGrp="1"/>
          </p:cNvSpPr>
          <p:nvPr>
            <p:ph idx="1"/>
          </p:nvPr>
        </p:nvSpPr>
        <p:spPr/>
        <p:txBody>
          <a:bodyPr/>
          <a:lstStyle/>
          <a:p>
            <a:pPr marL="0" marR="0">
              <a:spcBef>
                <a:spcPts val="0"/>
              </a:spcBef>
              <a:spcAft>
                <a:spcPts val="0"/>
              </a:spcAft>
            </a:pPr>
            <a:r>
              <a:rPr lang="en-IN" sz="1800" dirty="0">
                <a:solidFill>
                  <a:srgbClr val="0000C0"/>
                </a:solidFill>
                <a:effectLst/>
                <a:latin typeface="Menlo" panose="020B0609030804020204" pitchFamily="49" charset="0"/>
              </a:rPr>
              <a:t>mi1</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MenuItem</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"open"</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C0"/>
                </a:solidFill>
                <a:effectLst/>
                <a:latin typeface="Menlo" panose="020B0609030804020204" pitchFamily="49" charset="0"/>
              </a:rPr>
              <a:t>mi2</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MenuItem</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"save"</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C0"/>
                </a:solidFill>
                <a:effectLst/>
                <a:latin typeface="Menlo" panose="020B0609030804020204" pitchFamily="49" charset="0"/>
              </a:rPr>
              <a:t>mi3</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MenuItem</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saveas</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C0"/>
                </a:solidFill>
                <a:effectLst/>
                <a:latin typeface="Menlo" panose="020B0609030804020204" pitchFamily="49" charset="0"/>
              </a:rPr>
              <a:t>mi1</a:t>
            </a:r>
            <a:r>
              <a:rPr lang="en-IN" sz="1800" dirty="0">
                <a:solidFill>
                  <a:srgbClr val="000000"/>
                </a:solidFill>
                <a:effectLst/>
                <a:latin typeface="Menlo" panose="020B0609030804020204" pitchFamily="49" charset="0"/>
              </a:rPr>
              <a:t>.addActionListener(</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C0"/>
                </a:solidFill>
                <a:effectLst/>
                <a:latin typeface="Menlo" panose="020B0609030804020204" pitchFamily="49" charset="0"/>
              </a:rPr>
              <a:t>mi2</a:t>
            </a:r>
            <a:r>
              <a:rPr lang="en-IN" sz="1800" dirty="0">
                <a:solidFill>
                  <a:srgbClr val="000000"/>
                </a:solidFill>
                <a:effectLst/>
                <a:latin typeface="Menlo" panose="020B0609030804020204" pitchFamily="49" charset="0"/>
              </a:rPr>
              <a:t>.addActionListener(</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C0"/>
                </a:solidFill>
                <a:effectLst/>
                <a:latin typeface="Menlo" panose="020B0609030804020204" pitchFamily="49" charset="0"/>
              </a:rPr>
              <a:t>mi3</a:t>
            </a:r>
            <a:r>
              <a:rPr lang="en-IN" sz="1800" dirty="0">
                <a:solidFill>
                  <a:srgbClr val="000000"/>
                </a:solidFill>
                <a:effectLst/>
                <a:latin typeface="Menlo" panose="020B0609030804020204" pitchFamily="49" charset="0"/>
              </a:rPr>
              <a:t>.addActionListener(</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C0"/>
                </a:solidFill>
                <a:effectLst/>
                <a:latin typeface="Menlo" panose="020B0609030804020204" pitchFamily="49" charset="0"/>
              </a:rPr>
              <a:t>m1</a:t>
            </a:r>
            <a:r>
              <a:rPr lang="en-IN" sz="1800" dirty="0">
                <a:solidFill>
                  <a:srgbClr val="000000"/>
                </a:solidFill>
                <a:effectLst/>
                <a:latin typeface="Menlo" panose="020B0609030804020204" pitchFamily="49" charset="0"/>
              </a:rPr>
              <a:t>.add(</a:t>
            </a:r>
            <a:r>
              <a:rPr lang="en-IN" sz="1800" dirty="0">
                <a:solidFill>
                  <a:srgbClr val="0000C0"/>
                </a:solidFill>
                <a:effectLst/>
                <a:latin typeface="Menlo" panose="020B0609030804020204" pitchFamily="49" charset="0"/>
              </a:rPr>
              <a:t>mi1</a:t>
            </a: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m1</a:t>
            </a:r>
            <a:r>
              <a:rPr lang="en-IN" sz="1800" dirty="0">
                <a:solidFill>
                  <a:srgbClr val="000000"/>
                </a:solidFill>
                <a:effectLst/>
                <a:latin typeface="Menlo" panose="020B0609030804020204" pitchFamily="49" charset="0"/>
              </a:rPr>
              <a:t>.add(</a:t>
            </a:r>
            <a:r>
              <a:rPr lang="en-IN" sz="1800" dirty="0">
                <a:solidFill>
                  <a:srgbClr val="0000C0"/>
                </a:solidFill>
                <a:effectLst/>
                <a:latin typeface="Menlo" panose="020B0609030804020204" pitchFamily="49" charset="0"/>
              </a:rPr>
              <a:t>mi2</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repaint(); }</a:t>
            </a:r>
            <a:endParaRPr lang="en-IN" sz="1800" b="1" dirty="0">
              <a:solidFill>
                <a:srgbClr val="7F0055"/>
              </a:solidFill>
              <a:effectLst/>
              <a:latin typeface="Menlo" panose="020B0609030804020204" pitchFamily="49" charset="0"/>
            </a:endParaRP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mouseReleased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MouseEvent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e</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u="sng" dirty="0" err="1">
                <a:solidFill>
                  <a:srgbClr val="000000"/>
                </a:solidFill>
                <a:effectLst/>
                <a:latin typeface="Menlo" panose="020B0609030804020204" pitchFamily="49" charset="0"/>
              </a:rPr>
              <a:t>msg</a:t>
            </a:r>
            <a:r>
              <a:rPr lang="en-IN" sz="1800" dirty="0">
                <a:solidFill>
                  <a:srgbClr val="000000"/>
                </a:solidFill>
                <a:effectLst/>
                <a:latin typeface="Menlo" panose="020B0609030804020204" pitchFamily="49" charset="0"/>
              </a:rPr>
              <a:t>[2]=</a:t>
            </a:r>
            <a:r>
              <a:rPr lang="en-IN" sz="1800" dirty="0">
                <a:solidFill>
                  <a:srgbClr val="2A00FF"/>
                </a:solidFill>
                <a:effectLst/>
                <a:latin typeface="Menlo" panose="020B0609030804020204" pitchFamily="49" charset="0"/>
              </a:rPr>
              <a:t>"mouse released......("</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.getX</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.getY</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repaint(); }</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mouseEntered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MouseEvent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e</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u="sng" dirty="0" err="1">
                <a:solidFill>
                  <a:srgbClr val="000000"/>
                </a:solidFill>
                <a:effectLst/>
                <a:latin typeface="Menlo" panose="020B0609030804020204" pitchFamily="49" charset="0"/>
              </a:rPr>
              <a:t>msg</a:t>
            </a:r>
            <a:r>
              <a:rPr lang="en-IN" sz="1800" dirty="0">
                <a:solidFill>
                  <a:srgbClr val="000000"/>
                </a:solidFill>
                <a:effectLst/>
                <a:latin typeface="Menlo" panose="020B0609030804020204" pitchFamily="49" charset="0"/>
              </a:rPr>
              <a:t>[3]=</a:t>
            </a:r>
            <a:r>
              <a:rPr lang="en-IN" sz="1800" dirty="0">
                <a:solidFill>
                  <a:srgbClr val="2A00FF"/>
                </a:solidFill>
                <a:effectLst/>
                <a:latin typeface="Menlo" panose="020B0609030804020204" pitchFamily="49" charset="0"/>
              </a:rPr>
              <a:t>"mouse entered......("</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.getX</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.getY</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repaint(); }</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mouseExited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MouseEvent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e</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u="sng" dirty="0" err="1">
                <a:solidFill>
                  <a:srgbClr val="000000"/>
                </a:solidFill>
                <a:effectLst/>
                <a:latin typeface="Menlo" panose="020B0609030804020204" pitchFamily="49" charset="0"/>
              </a:rPr>
              <a:t>msg</a:t>
            </a:r>
            <a:r>
              <a:rPr lang="en-IN" sz="1800" dirty="0">
                <a:solidFill>
                  <a:srgbClr val="000000"/>
                </a:solidFill>
                <a:effectLst/>
                <a:latin typeface="Menlo" panose="020B0609030804020204" pitchFamily="49" charset="0"/>
              </a:rPr>
              <a:t>[4]=</a:t>
            </a:r>
            <a:r>
              <a:rPr lang="en-IN" sz="1800" dirty="0">
                <a:solidFill>
                  <a:srgbClr val="2A00FF"/>
                </a:solidFill>
                <a:effectLst/>
                <a:latin typeface="Menlo" panose="020B0609030804020204" pitchFamily="49" charset="0"/>
              </a:rPr>
              <a:t>"mouse exited......("</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.getX</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.getY</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repaint(); }</a:t>
            </a:r>
          </a:p>
        </p:txBody>
      </p:sp>
      <p:sp>
        <p:nvSpPr>
          <p:cNvPr id="4" name="Footer Placeholder 3">
            <a:extLst>
              <a:ext uri="{FF2B5EF4-FFF2-40B4-BE49-F238E27FC236}">
                <a16:creationId xmlns:a16="http://schemas.microsoft.com/office/drawing/2014/main" id="{92112F1D-98CA-ABFD-3263-A3A4CEFA379C}"/>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8662368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49294-3BC6-4A7C-1FB0-F10934473C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5456DF-9433-2E6A-21FB-58BF71F0F338}"/>
              </a:ext>
            </a:extLst>
          </p:cNvPr>
          <p:cNvSpPr>
            <a:spLocks noGrp="1"/>
          </p:cNvSpPr>
          <p:nvPr>
            <p:ph type="title"/>
          </p:nvPr>
        </p:nvSpPr>
        <p:spPr/>
        <p:txBody>
          <a:bodyPr/>
          <a:lstStyle/>
          <a:p>
            <a:r>
              <a:rPr lang="en-IN" sz="3600" dirty="0">
                <a:effectLst/>
                <a:latin typeface="Calibri" panose="020F0502020204030204" pitchFamily="34" charset="0"/>
              </a:rPr>
              <a:t>MENUITEMS </a:t>
            </a:r>
            <a:endParaRPr lang="en-US" sz="7200" dirty="0"/>
          </a:p>
        </p:txBody>
      </p:sp>
      <p:sp>
        <p:nvSpPr>
          <p:cNvPr id="3" name="Content Placeholder 2">
            <a:extLst>
              <a:ext uri="{FF2B5EF4-FFF2-40B4-BE49-F238E27FC236}">
                <a16:creationId xmlns:a16="http://schemas.microsoft.com/office/drawing/2014/main" id="{E0A5DFCD-97EB-2F77-2860-609610AAA067}"/>
              </a:ext>
            </a:extLst>
          </p:cNvPr>
          <p:cNvSpPr>
            <a:spLocks noGrp="1"/>
          </p:cNvSpPr>
          <p:nvPr>
            <p:ph idx="1"/>
          </p:nvPr>
        </p:nvSpPr>
        <p:spPr/>
        <p:txBody>
          <a:bodyPr/>
          <a:lstStyle/>
          <a:p>
            <a:pPr marL="0" marR="0">
              <a:spcBef>
                <a:spcPts val="0"/>
              </a:spcBef>
              <a:spcAft>
                <a:spcPts val="0"/>
              </a:spcAft>
            </a:pP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paint(Graphics </a:t>
            </a:r>
            <a:r>
              <a:rPr lang="en-IN" sz="1800" dirty="0">
                <a:solidFill>
                  <a:srgbClr val="6A3E3E"/>
                </a:solidFill>
                <a:effectLst/>
                <a:latin typeface="Menlo" panose="020B0609030804020204" pitchFamily="49" charset="0"/>
              </a:rPr>
              <a:t>g</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X</a:t>
            </a:r>
            <a:r>
              <a:rPr lang="en-IN" sz="1800" dirty="0">
                <a:solidFill>
                  <a:srgbClr val="000000"/>
                </a:solidFill>
                <a:effectLst/>
                <a:latin typeface="Menlo" panose="020B0609030804020204" pitchFamily="49" charset="0"/>
              </a:rPr>
              <a:t>=50;</a:t>
            </a:r>
          </a:p>
          <a:p>
            <a:pPr marL="0" marR="0">
              <a:spcBef>
                <a:spcPts val="0"/>
              </a:spcBef>
              <a:spcAft>
                <a:spcPts val="0"/>
              </a:spcAft>
            </a:pP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Y</a:t>
            </a:r>
            <a:r>
              <a:rPr lang="en-IN" sz="1800" dirty="0">
                <a:solidFill>
                  <a:srgbClr val="000000"/>
                </a:solidFill>
                <a:effectLst/>
                <a:latin typeface="Menlo" panose="020B0609030804020204" pitchFamily="49" charset="0"/>
              </a:rPr>
              <a:t>=100;</a:t>
            </a:r>
          </a:p>
          <a:p>
            <a:pPr marL="0" marR="0">
              <a:spcBef>
                <a:spcPts val="0"/>
              </a:spcBef>
              <a:spcAft>
                <a:spcPts val="0"/>
              </a:spcAft>
            </a:pPr>
            <a:r>
              <a:rPr lang="en-IN" sz="1800" b="1" dirty="0">
                <a:solidFill>
                  <a:srgbClr val="7F0055"/>
                </a:solidFill>
                <a:effectLst/>
                <a:latin typeface="Menlo" panose="020B0609030804020204" pitchFamily="49" charset="0"/>
              </a:rPr>
              <a:t>for</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=0;</a:t>
            </a:r>
            <a:r>
              <a:rPr lang="en-IN" sz="1800" dirty="0">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&lt;</a:t>
            </a:r>
            <a:r>
              <a:rPr lang="en-IN" sz="1800" u="sng" dirty="0" err="1">
                <a:solidFill>
                  <a:srgbClr val="000000"/>
                </a:solidFill>
                <a:effectLst/>
                <a:latin typeface="Menlo" panose="020B0609030804020204" pitchFamily="49" charset="0"/>
              </a:rPr>
              <a:t>msg</a:t>
            </a:r>
            <a:r>
              <a:rPr lang="en-IN" sz="1800" dirty="0" err="1">
                <a:solidFill>
                  <a:srgbClr val="000000"/>
                </a:solidFill>
                <a:effectLst/>
                <a:latin typeface="Menlo" panose="020B0609030804020204" pitchFamily="49" charset="0"/>
              </a:rPr>
              <a:t>.length;</a:t>
            </a:r>
            <a:r>
              <a:rPr lang="en-IN" sz="1800" dirty="0" err="1">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msg</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null</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.drawString</a:t>
            </a:r>
            <a:r>
              <a:rPr lang="en-IN" sz="1800" dirty="0">
                <a:solidFill>
                  <a:srgbClr val="000000"/>
                </a:solidFill>
                <a:effectLst/>
                <a:latin typeface="Menlo" panose="020B0609030804020204" pitchFamily="49" charset="0"/>
              </a:rPr>
              <a:t>(</a:t>
            </a:r>
            <a:r>
              <a:rPr lang="en-IN" sz="1800" u="sng" dirty="0" err="1">
                <a:solidFill>
                  <a:srgbClr val="000000"/>
                </a:solidFill>
                <a:effectLst/>
                <a:latin typeface="Menlo" panose="020B0609030804020204" pitchFamily="49" charset="0"/>
              </a:rPr>
              <a:t>msg</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X</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Y</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6A3E3E"/>
                </a:solidFill>
                <a:effectLst/>
                <a:latin typeface="Menlo" panose="020B0609030804020204" pitchFamily="49" charset="0"/>
              </a:rPr>
              <a:t>Y</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Y</a:t>
            </a:r>
            <a:r>
              <a:rPr lang="en-IN" sz="1800" dirty="0">
                <a:solidFill>
                  <a:srgbClr val="000000"/>
                </a:solidFill>
                <a:effectLst/>
                <a:latin typeface="Menlo" panose="020B0609030804020204" pitchFamily="49" charset="0"/>
              </a:rPr>
              <a:t>+50; }</a:t>
            </a:r>
          </a:p>
          <a:p>
            <a:pPr marL="0" marR="0">
              <a:spcBef>
                <a:spcPts val="0"/>
              </a:spcBef>
              <a:spcAft>
                <a:spcPts val="0"/>
              </a:spcAft>
            </a:pP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Demo {</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a:t>
            </a:r>
          </a:p>
          <a:p>
            <a:endParaRPr lang="en-US" dirty="0"/>
          </a:p>
        </p:txBody>
      </p:sp>
      <p:sp>
        <p:nvSpPr>
          <p:cNvPr id="4" name="Footer Placeholder 3">
            <a:extLst>
              <a:ext uri="{FF2B5EF4-FFF2-40B4-BE49-F238E27FC236}">
                <a16:creationId xmlns:a16="http://schemas.microsoft.com/office/drawing/2014/main" id="{95CD2884-7524-5BD3-2F47-147959B605D5}"/>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7205913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DEE80-C4E4-6AAD-6C37-4DCE0F3503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0E00E-C521-8FC9-566D-3A58F1B32270}"/>
              </a:ext>
            </a:extLst>
          </p:cNvPr>
          <p:cNvSpPr>
            <a:spLocks noGrp="1"/>
          </p:cNvSpPr>
          <p:nvPr>
            <p:ph type="title"/>
          </p:nvPr>
        </p:nvSpPr>
        <p:spPr/>
        <p:txBody>
          <a:bodyPr/>
          <a:lstStyle/>
          <a:p>
            <a:r>
              <a:rPr lang="en-IN" sz="3600" dirty="0">
                <a:effectLst/>
                <a:latin typeface="Calibri" panose="020F0502020204030204" pitchFamily="34" charset="0"/>
              </a:rPr>
              <a:t>MENUITEMS </a:t>
            </a:r>
            <a:endParaRPr lang="en-US" sz="7200" dirty="0"/>
          </a:p>
        </p:txBody>
      </p:sp>
      <p:sp>
        <p:nvSpPr>
          <p:cNvPr id="3" name="Content Placeholder 2">
            <a:extLst>
              <a:ext uri="{FF2B5EF4-FFF2-40B4-BE49-F238E27FC236}">
                <a16:creationId xmlns:a16="http://schemas.microsoft.com/office/drawing/2014/main" id="{15F262E4-1C19-4E40-7106-0DA388815D0D}"/>
              </a:ext>
            </a:extLst>
          </p:cNvPr>
          <p:cNvSpPr>
            <a:spLocks noGrp="1"/>
          </p:cNvSpPr>
          <p:nvPr>
            <p:ph idx="1"/>
          </p:nvPr>
        </p:nvSpPr>
        <p:spPr/>
        <p:txBody>
          <a:bodyPr/>
          <a:lstStyle/>
          <a:p>
            <a:pPr marL="0" marR="0">
              <a:spcBef>
                <a:spcPts val="0"/>
              </a:spcBef>
              <a:spcAft>
                <a:spcPts val="0"/>
              </a:spcAft>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java.awt.event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Frame </a:t>
            </a:r>
            <a:r>
              <a:rPr lang="en-IN" sz="1800" b="1" dirty="0">
                <a:solidFill>
                  <a:srgbClr val="7F0055"/>
                </a:solidFill>
                <a:effectLst/>
                <a:latin typeface="Menlo" panose="020B0609030804020204" pitchFamily="49" charset="0"/>
              </a:rPr>
              <a:t>implements</a:t>
            </a:r>
            <a:r>
              <a:rPr lang="en-IN" sz="1800" dirty="0">
                <a:solidFill>
                  <a:srgbClr val="000000"/>
                </a:solidFill>
                <a:effectLst/>
                <a:latin typeface="Menlo" panose="020B0609030804020204" pitchFamily="49" charset="0"/>
              </a:rPr>
              <a:t> ActionListener {</a:t>
            </a:r>
          </a:p>
          <a:p>
            <a:pPr marL="0" marR="0">
              <a:spcBef>
                <a:spcPts val="0"/>
              </a:spcBef>
              <a:spcAft>
                <a:spcPts val="0"/>
              </a:spcAft>
            </a:pPr>
            <a:r>
              <a:rPr lang="en-IN" sz="1800" dirty="0">
                <a:solidFill>
                  <a:srgbClr val="000000"/>
                </a:solidFill>
                <a:effectLst/>
                <a:latin typeface="Menlo" panose="020B0609030804020204" pitchFamily="49" charset="0"/>
              </a:rPr>
              <a:t>String </a:t>
            </a:r>
            <a:r>
              <a:rPr lang="en-IN" sz="1800" dirty="0">
                <a:solidFill>
                  <a:srgbClr val="0000C0"/>
                </a:solidFill>
                <a:effectLst/>
                <a:latin typeface="Menlo" panose="020B0609030804020204" pitchFamily="49" charset="0"/>
              </a:rPr>
              <a:t>label</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000000"/>
                </a:solidFill>
                <a:effectLst/>
                <a:latin typeface="Menlo" panose="020B0609030804020204" pitchFamily="49" charset="0"/>
              </a:rPr>
              <a:t>MenuBar</a:t>
            </a: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mb</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Menu </a:t>
            </a:r>
            <a:r>
              <a:rPr lang="en-IN" sz="1800" dirty="0">
                <a:solidFill>
                  <a:srgbClr val="0000C0"/>
                </a:solidFill>
                <a:effectLst/>
                <a:latin typeface="Menlo" panose="020B0609030804020204" pitchFamily="49" charset="0"/>
              </a:rPr>
              <a:t>m1</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m2</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m3</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000000"/>
                </a:solidFill>
                <a:effectLst/>
                <a:latin typeface="Menlo" panose="020B0609030804020204" pitchFamily="49" charset="0"/>
              </a:rPr>
              <a:t>MenuItem</a:t>
            </a: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mi1</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mi2</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mi3</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(300,300); </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myFrame</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green</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C0"/>
                </a:solidFill>
                <a:effectLst/>
                <a:latin typeface="Menlo" panose="020B0609030804020204" pitchFamily="49" charset="0"/>
              </a:rPr>
              <a:t>mb</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MenuBar</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.setMenuBar</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mb</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C0"/>
                </a:solidFill>
                <a:effectLst/>
                <a:latin typeface="Menlo" panose="020B0609030804020204" pitchFamily="49" charset="0"/>
              </a:rPr>
              <a:t>m1</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Menu(</a:t>
            </a:r>
            <a:r>
              <a:rPr lang="en-IN" sz="1800" dirty="0">
                <a:solidFill>
                  <a:srgbClr val="2A00FF"/>
                </a:solidFill>
                <a:effectLst/>
                <a:latin typeface="Menlo" panose="020B0609030804020204" pitchFamily="49" charset="0"/>
              </a:rPr>
              <a:t>"new"</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C0"/>
                </a:solidFill>
                <a:effectLst/>
                <a:latin typeface="Menlo" panose="020B0609030804020204" pitchFamily="49" charset="0"/>
              </a:rPr>
              <a:t>m2</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Menu(</a:t>
            </a:r>
            <a:r>
              <a:rPr lang="en-IN" sz="1800" dirty="0">
                <a:solidFill>
                  <a:srgbClr val="2A00FF"/>
                </a:solidFill>
                <a:effectLst/>
                <a:latin typeface="Menlo" panose="020B0609030804020204" pitchFamily="49" charset="0"/>
              </a:rPr>
              <a:t>"option"</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C0"/>
                </a:solidFill>
                <a:effectLst/>
                <a:latin typeface="Menlo" panose="020B0609030804020204" pitchFamily="49" charset="0"/>
              </a:rPr>
              <a:t>m3</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Menu(</a:t>
            </a:r>
            <a:r>
              <a:rPr lang="en-IN" sz="1800" dirty="0">
                <a:solidFill>
                  <a:srgbClr val="2A00FF"/>
                </a:solidFill>
                <a:effectLst/>
                <a:latin typeface="Menlo" panose="020B0609030804020204" pitchFamily="49" charset="0"/>
              </a:rPr>
              <a:t>"edit"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err="1">
                <a:solidFill>
                  <a:srgbClr val="0000C0"/>
                </a:solidFill>
                <a:effectLst/>
                <a:latin typeface="Menlo" panose="020B0609030804020204" pitchFamily="49" charset="0"/>
              </a:rPr>
              <a:t>mb</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m1</a:t>
            </a:r>
            <a:r>
              <a:rPr lang="en-IN" sz="1800" dirty="0">
                <a:solidFill>
                  <a:srgbClr val="000000"/>
                </a:solidFill>
                <a:effectLst/>
                <a:latin typeface="Menlo" panose="020B0609030804020204" pitchFamily="49" charset="0"/>
              </a:rPr>
              <a:t>); </a:t>
            </a:r>
            <a:r>
              <a:rPr lang="en-IN" sz="1800" dirty="0" err="1">
                <a:solidFill>
                  <a:srgbClr val="0000C0"/>
                </a:solidFill>
                <a:effectLst/>
                <a:latin typeface="Menlo" panose="020B0609030804020204" pitchFamily="49" charset="0"/>
              </a:rPr>
              <a:t>mb</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m2</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0000C0"/>
                </a:solidFill>
                <a:effectLst/>
                <a:latin typeface="Menlo" panose="020B0609030804020204" pitchFamily="49" charset="0"/>
              </a:rPr>
              <a:t>mb</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m3</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C0"/>
                </a:solidFill>
                <a:effectLst/>
                <a:latin typeface="Menlo" panose="020B0609030804020204" pitchFamily="49" charset="0"/>
              </a:rPr>
              <a:t>mi1</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MenuItem</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"open"</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C0"/>
                </a:solidFill>
                <a:effectLst/>
                <a:latin typeface="Menlo" panose="020B0609030804020204" pitchFamily="49" charset="0"/>
              </a:rPr>
              <a:t>mi2</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MenuItem</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"save"</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C0"/>
                </a:solidFill>
                <a:effectLst/>
                <a:latin typeface="Menlo" panose="020B0609030804020204" pitchFamily="49" charset="0"/>
              </a:rPr>
              <a:t>mi3</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MenuItem</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saveas</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C0"/>
                </a:solidFill>
                <a:effectLst/>
                <a:latin typeface="Menlo" panose="020B0609030804020204" pitchFamily="49" charset="0"/>
              </a:rPr>
              <a:t>mi1</a:t>
            </a:r>
            <a:r>
              <a:rPr lang="en-IN" sz="1800" dirty="0">
                <a:solidFill>
                  <a:srgbClr val="000000"/>
                </a:solidFill>
                <a:effectLst/>
                <a:latin typeface="Menlo" panose="020B0609030804020204" pitchFamily="49" charset="0"/>
              </a:rPr>
              <a:t>.addActionListener(</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C0"/>
                </a:solidFill>
                <a:effectLst/>
                <a:latin typeface="Menlo" panose="020B0609030804020204" pitchFamily="49" charset="0"/>
              </a:rPr>
              <a:t>mi2</a:t>
            </a:r>
            <a:r>
              <a:rPr lang="en-IN" sz="1800" dirty="0">
                <a:solidFill>
                  <a:srgbClr val="000000"/>
                </a:solidFill>
                <a:effectLst/>
                <a:latin typeface="Menlo" panose="020B0609030804020204" pitchFamily="49" charset="0"/>
              </a:rPr>
              <a:t>.addActionListener(</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C0"/>
                </a:solidFill>
                <a:effectLst/>
                <a:latin typeface="Menlo" panose="020B0609030804020204" pitchFamily="49" charset="0"/>
              </a:rPr>
              <a:t>mi3</a:t>
            </a:r>
            <a:r>
              <a:rPr lang="en-IN" sz="1800" dirty="0">
                <a:solidFill>
                  <a:srgbClr val="000000"/>
                </a:solidFill>
                <a:effectLst/>
                <a:latin typeface="Menlo" panose="020B0609030804020204" pitchFamily="49" charset="0"/>
              </a:rPr>
              <a:t>.addActionListener(</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C0"/>
                </a:solidFill>
                <a:effectLst/>
                <a:latin typeface="Menlo" panose="020B0609030804020204" pitchFamily="49" charset="0"/>
              </a:rPr>
              <a:t>m1</a:t>
            </a:r>
            <a:r>
              <a:rPr lang="en-IN" sz="1800" dirty="0">
                <a:solidFill>
                  <a:srgbClr val="000000"/>
                </a:solidFill>
                <a:effectLst/>
                <a:latin typeface="Menlo" panose="020B0609030804020204" pitchFamily="49" charset="0"/>
              </a:rPr>
              <a:t>.add(</a:t>
            </a:r>
            <a:r>
              <a:rPr lang="en-IN" sz="1800" dirty="0">
                <a:solidFill>
                  <a:srgbClr val="0000C0"/>
                </a:solidFill>
                <a:effectLst/>
                <a:latin typeface="Menlo" panose="020B0609030804020204" pitchFamily="49" charset="0"/>
              </a:rPr>
              <a:t>mi1</a:t>
            </a: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m1</a:t>
            </a:r>
            <a:r>
              <a:rPr lang="en-IN" sz="1800" dirty="0">
                <a:solidFill>
                  <a:srgbClr val="000000"/>
                </a:solidFill>
                <a:effectLst/>
                <a:latin typeface="Menlo" panose="020B0609030804020204" pitchFamily="49" charset="0"/>
              </a:rPr>
              <a:t>.add(</a:t>
            </a:r>
            <a:r>
              <a:rPr lang="en-IN" sz="1800" dirty="0">
                <a:solidFill>
                  <a:srgbClr val="0000C0"/>
                </a:solidFill>
                <a:effectLst/>
                <a:latin typeface="Menlo" panose="020B0609030804020204" pitchFamily="49" charset="0"/>
              </a:rPr>
              <a:t>mi2</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repaint(); </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br>
              <a:rPr lang="en-IN" sz="1800" dirty="0">
                <a:solidFill>
                  <a:srgbClr val="000000"/>
                </a:solidFill>
                <a:effectLst/>
                <a:latin typeface="Menlo" panose="020B0609030804020204" pitchFamily="49" charset="0"/>
              </a:rPr>
            </a:b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mouseReleased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MouseEvent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e</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u="sng" dirty="0" err="1">
                <a:solidFill>
                  <a:srgbClr val="000000"/>
                </a:solidFill>
                <a:effectLst/>
                <a:latin typeface="Menlo" panose="020B0609030804020204" pitchFamily="49" charset="0"/>
              </a:rPr>
              <a:t>msg</a:t>
            </a:r>
            <a:r>
              <a:rPr lang="en-IN" sz="1800" dirty="0">
                <a:solidFill>
                  <a:srgbClr val="000000"/>
                </a:solidFill>
                <a:effectLst/>
                <a:latin typeface="Menlo" panose="020B0609030804020204" pitchFamily="49" charset="0"/>
              </a:rPr>
              <a:t>[2]=</a:t>
            </a:r>
            <a:r>
              <a:rPr lang="en-IN" sz="1800" dirty="0">
                <a:solidFill>
                  <a:srgbClr val="2A00FF"/>
                </a:solidFill>
                <a:effectLst/>
                <a:latin typeface="Menlo" panose="020B0609030804020204" pitchFamily="49" charset="0"/>
              </a:rPr>
              <a:t>"mouse released......("</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.getX</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.getY</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repaint(); }</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mouseEntered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MouseEvent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e</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u="sng" dirty="0" err="1">
                <a:solidFill>
                  <a:srgbClr val="000000"/>
                </a:solidFill>
                <a:effectLst/>
                <a:latin typeface="Menlo" panose="020B0609030804020204" pitchFamily="49" charset="0"/>
              </a:rPr>
              <a:t>msg</a:t>
            </a:r>
            <a:r>
              <a:rPr lang="en-IN" sz="1800" dirty="0">
                <a:solidFill>
                  <a:srgbClr val="000000"/>
                </a:solidFill>
                <a:effectLst/>
                <a:latin typeface="Menlo" panose="020B0609030804020204" pitchFamily="49" charset="0"/>
              </a:rPr>
              <a:t>[3]=</a:t>
            </a:r>
            <a:r>
              <a:rPr lang="en-IN" sz="1800" dirty="0">
                <a:solidFill>
                  <a:srgbClr val="2A00FF"/>
                </a:solidFill>
                <a:effectLst/>
                <a:latin typeface="Menlo" panose="020B0609030804020204" pitchFamily="49" charset="0"/>
              </a:rPr>
              <a:t>"mouse entered......("</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.getX</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.getY</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repaint(); }</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mouseExited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MouseEvent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e</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u="sng" dirty="0" err="1">
                <a:solidFill>
                  <a:srgbClr val="000000"/>
                </a:solidFill>
                <a:effectLst/>
                <a:latin typeface="Menlo" panose="020B0609030804020204" pitchFamily="49" charset="0"/>
              </a:rPr>
              <a:t>msg</a:t>
            </a:r>
            <a:r>
              <a:rPr lang="en-IN" sz="1800" dirty="0">
                <a:solidFill>
                  <a:srgbClr val="000000"/>
                </a:solidFill>
                <a:effectLst/>
                <a:latin typeface="Menlo" panose="020B0609030804020204" pitchFamily="49" charset="0"/>
              </a:rPr>
              <a:t>[4]=</a:t>
            </a:r>
            <a:r>
              <a:rPr lang="en-IN" sz="1800" dirty="0">
                <a:solidFill>
                  <a:srgbClr val="2A00FF"/>
                </a:solidFill>
                <a:effectLst/>
                <a:latin typeface="Menlo" panose="020B0609030804020204" pitchFamily="49" charset="0"/>
              </a:rPr>
              <a:t>"mouse exited......("</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.getX</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.getY</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repaint(); }</a:t>
            </a:r>
          </a:p>
          <a:p>
            <a:pPr marL="0" marR="0">
              <a:spcBef>
                <a:spcPts val="0"/>
              </a:spcBef>
              <a:spcAft>
                <a:spcPts val="0"/>
              </a:spcAft>
            </a:pPr>
            <a:br>
              <a:rPr lang="en-IN" sz="1800" dirty="0">
                <a:solidFill>
                  <a:srgbClr val="000000"/>
                </a:solidFill>
                <a:effectLst/>
                <a:latin typeface="Menlo" panose="020B0609030804020204" pitchFamily="49" charset="0"/>
              </a:rPr>
            </a:b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paint(Graphics </a:t>
            </a:r>
            <a:r>
              <a:rPr lang="en-IN" sz="1800" dirty="0">
                <a:solidFill>
                  <a:srgbClr val="6A3E3E"/>
                </a:solidFill>
                <a:effectLst/>
                <a:latin typeface="Menlo" panose="020B0609030804020204" pitchFamily="49" charset="0"/>
              </a:rPr>
              <a:t>g</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X</a:t>
            </a:r>
            <a:r>
              <a:rPr lang="en-IN" sz="1800" dirty="0">
                <a:solidFill>
                  <a:srgbClr val="000000"/>
                </a:solidFill>
                <a:effectLst/>
                <a:latin typeface="Menlo" panose="020B0609030804020204" pitchFamily="49" charset="0"/>
              </a:rPr>
              <a:t>=50;</a:t>
            </a:r>
          </a:p>
          <a:p>
            <a:pPr marL="0" marR="0">
              <a:spcBef>
                <a:spcPts val="0"/>
              </a:spcBef>
              <a:spcAft>
                <a:spcPts val="0"/>
              </a:spcAft>
            </a:pP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Y</a:t>
            </a:r>
            <a:r>
              <a:rPr lang="en-IN" sz="1800" dirty="0">
                <a:solidFill>
                  <a:srgbClr val="000000"/>
                </a:solidFill>
                <a:effectLst/>
                <a:latin typeface="Menlo" panose="020B0609030804020204" pitchFamily="49" charset="0"/>
              </a:rPr>
              <a:t>=100;</a:t>
            </a:r>
          </a:p>
          <a:p>
            <a:pPr marL="0" marR="0">
              <a:spcBef>
                <a:spcPts val="0"/>
              </a:spcBef>
              <a:spcAft>
                <a:spcPts val="0"/>
              </a:spcAft>
            </a:pPr>
            <a:r>
              <a:rPr lang="en-IN" sz="1800" b="1" dirty="0">
                <a:solidFill>
                  <a:srgbClr val="7F0055"/>
                </a:solidFill>
                <a:effectLst/>
                <a:latin typeface="Menlo" panose="020B0609030804020204" pitchFamily="49" charset="0"/>
              </a:rPr>
              <a:t>for</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=0;</a:t>
            </a:r>
            <a:r>
              <a:rPr lang="en-IN" sz="1800" dirty="0">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&lt;</a:t>
            </a:r>
            <a:r>
              <a:rPr lang="en-IN" sz="1800" u="sng" dirty="0" err="1">
                <a:solidFill>
                  <a:srgbClr val="000000"/>
                </a:solidFill>
                <a:effectLst/>
                <a:latin typeface="Menlo" panose="020B0609030804020204" pitchFamily="49" charset="0"/>
              </a:rPr>
              <a:t>msg</a:t>
            </a:r>
            <a:r>
              <a:rPr lang="en-IN" sz="1800" dirty="0" err="1">
                <a:solidFill>
                  <a:srgbClr val="000000"/>
                </a:solidFill>
                <a:effectLst/>
                <a:latin typeface="Menlo" panose="020B0609030804020204" pitchFamily="49" charset="0"/>
              </a:rPr>
              <a:t>.length;</a:t>
            </a:r>
            <a:r>
              <a:rPr lang="en-IN" sz="1800" dirty="0" err="1">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msg</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null</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.drawString</a:t>
            </a:r>
            <a:r>
              <a:rPr lang="en-IN" sz="1800" dirty="0">
                <a:solidFill>
                  <a:srgbClr val="000000"/>
                </a:solidFill>
                <a:effectLst/>
                <a:latin typeface="Menlo" panose="020B0609030804020204" pitchFamily="49" charset="0"/>
              </a:rPr>
              <a:t>(</a:t>
            </a:r>
            <a:r>
              <a:rPr lang="en-IN" sz="1800" u="sng" dirty="0" err="1">
                <a:solidFill>
                  <a:srgbClr val="000000"/>
                </a:solidFill>
                <a:effectLst/>
                <a:latin typeface="Menlo" panose="020B0609030804020204" pitchFamily="49" charset="0"/>
              </a:rPr>
              <a:t>msg</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X</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Y</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6A3E3E"/>
                </a:solidFill>
                <a:effectLst/>
                <a:latin typeface="Menlo" panose="020B0609030804020204" pitchFamily="49" charset="0"/>
              </a:rPr>
              <a:t>Y</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Y</a:t>
            </a:r>
            <a:r>
              <a:rPr lang="en-IN" sz="1800" dirty="0">
                <a:solidFill>
                  <a:srgbClr val="000000"/>
                </a:solidFill>
                <a:effectLst/>
                <a:latin typeface="Menlo" panose="020B0609030804020204" pitchFamily="49" charset="0"/>
              </a:rPr>
              <a:t>+50; }</a:t>
            </a:r>
          </a:p>
          <a:p>
            <a:pPr marL="0" marR="0">
              <a:spcBef>
                <a:spcPts val="0"/>
              </a:spcBef>
              <a:spcAft>
                <a:spcPts val="0"/>
              </a:spcAft>
            </a:pP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br>
              <a:rPr lang="en-IN" sz="1800" dirty="0">
                <a:solidFill>
                  <a:srgbClr val="000000"/>
                </a:solidFill>
                <a:effectLst/>
                <a:latin typeface="Menlo" panose="020B0609030804020204" pitchFamily="49" charset="0"/>
              </a:rPr>
            </a:b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Demo {</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a:t>
            </a:r>
          </a:p>
          <a:p>
            <a:endParaRPr lang="en-US" dirty="0"/>
          </a:p>
        </p:txBody>
      </p:sp>
      <p:sp>
        <p:nvSpPr>
          <p:cNvPr id="4" name="Footer Placeholder 3">
            <a:extLst>
              <a:ext uri="{FF2B5EF4-FFF2-40B4-BE49-F238E27FC236}">
                <a16:creationId xmlns:a16="http://schemas.microsoft.com/office/drawing/2014/main" id="{28AE32DA-90BA-6C9D-C594-409F1DC91FA8}"/>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6386491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6DA96-FEAA-765D-BDCA-31D340D99EE9}"/>
              </a:ext>
            </a:extLst>
          </p:cNvPr>
          <p:cNvSpPr>
            <a:spLocks noGrp="1"/>
          </p:cNvSpPr>
          <p:nvPr>
            <p:ph type="title"/>
          </p:nvPr>
        </p:nvSpPr>
        <p:spPr/>
        <p:txBody>
          <a:bodyPr/>
          <a:lstStyle/>
          <a:p>
            <a:r>
              <a:rPr lang="en-IN" sz="4400" dirty="0">
                <a:effectLst/>
                <a:latin typeface="Calibri,BoldItalic"/>
              </a:rPr>
              <a:t>Event handling</a:t>
            </a:r>
            <a:endParaRPr lang="en-US" dirty="0"/>
          </a:p>
        </p:txBody>
      </p:sp>
      <p:sp>
        <p:nvSpPr>
          <p:cNvPr id="3" name="Content Placeholder 2">
            <a:extLst>
              <a:ext uri="{FF2B5EF4-FFF2-40B4-BE49-F238E27FC236}">
                <a16:creationId xmlns:a16="http://schemas.microsoft.com/office/drawing/2014/main" id="{9A3EF4F5-C21C-1C98-89F1-70A6137854B7}"/>
              </a:ext>
            </a:extLst>
          </p:cNvPr>
          <p:cNvSpPr>
            <a:spLocks noGrp="1"/>
          </p:cNvSpPr>
          <p:nvPr>
            <p:ph idx="1"/>
          </p:nvPr>
        </p:nvSpPr>
        <p:spPr/>
        <p:txBody>
          <a:bodyPr/>
          <a:lstStyle/>
          <a:p>
            <a:r>
              <a:rPr lang="en-IN" sz="2400" dirty="0">
                <a:effectLst/>
                <a:latin typeface="Calibri,Italic"/>
              </a:rPr>
              <a:t>It is possible to write the event handling code in fallowing ways </a:t>
            </a:r>
            <a:endParaRPr lang="en-IN" sz="4000" dirty="0"/>
          </a:p>
          <a:p>
            <a:pPr>
              <a:buFont typeface="+mj-lt"/>
              <a:buAutoNum type="arabicPeriod"/>
            </a:pPr>
            <a:r>
              <a:rPr lang="en-IN" sz="2400" dirty="0">
                <a:effectLst/>
                <a:latin typeface="Calibri,Italic"/>
              </a:rPr>
              <a:t>In different class. </a:t>
            </a:r>
          </a:p>
          <a:p>
            <a:pPr>
              <a:buFont typeface="+mj-lt"/>
              <a:buAutoNum type="arabicPeriod"/>
            </a:pPr>
            <a:r>
              <a:rPr lang="en-IN" sz="2400" dirty="0">
                <a:effectLst/>
                <a:latin typeface="Calibri,Italic"/>
              </a:rPr>
              <a:t>Same class </a:t>
            </a:r>
          </a:p>
          <a:p>
            <a:pPr>
              <a:buFont typeface="+mj-lt"/>
              <a:buAutoNum type="arabicPeriod"/>
            </a:pPr>
            <a:r>
              <a:rPr lang="en-IN" sz="2400" dirty="0">
                <a:effectLst/>
                <a:latin typeface="Calibri,Italic"/>
              </a:rPr>
              <a:t>By using anonymous inner classes. </a:t>
            </a:r>
          </a:p>
          <a:p>
            <a:pPr>
              <a:buFont typeface="+mj-lt"/>
              <a:buAutoNum type="arabicPeriod"/>
            </a:pPr>
            <a:endParaRPr lang="en-US" sz="4000" dirty="0"/>
          </a:p>
          <a:p>
            <a:r>
              <a:rPr lang="en-IN" sz="2400" dirty="0">
                <a:effectLst/>
                <a:latin typeface="Calibri,BoldItalic"/>
              </a:rPr>
              <a:t>Steps to perform event handling:- </a:t>
            </a:r>
            <a:endParaRPr lang="en-IN" sz="4000" dirty="0"/>
          </a:p>
          <a:p>
            <a:pPr marL="0" indent="0">
              <a:buNone/>
            </a:pPr>
            <a:r>
              <a:rPr lang="en-IN" sz="2400" dirty="0">
                <a:effectLst/>
                <a:latin typeface="Calibri,Italic"/>
              </a:rPr>
              <a:t>1)  Prepare the required components. </a:t>
            </a:r>
            <a:endParaRPr lang="en-IN" sz="4000" dirty="0">
              <a:effectLst/>
            </a:endParaRPr>
          </a:p>
          <a:p>
            <a:pPr marL="0" indent="0">
              <a:buNone/>
            </a:pPr>
            <a:r>
              <a:rPr lang="en-IN" sz="2400" dirty="0">
                <a:effectLst/>
                <a:latin typeface="Calibri,Italic"/>
              </a:rPr>
              <a:t>2)  Implements the listener interface override the methods to write the even handling code. </a:t>
            </a:r>
            <a:endParaRPr lang="en-IN" sz="4000" dirty="0">
              <a:effectLst/>
            </a:endParaRPr>
          </a:p>
          <a:p>
            <a:pPr marL="0" indent="0">
              <a:buNone/>
            </a:pPr>
            <a:r>
              <a:rPr lang="en-IN" sz="2400" dirty="0">
                <a:effectLst/>
                <a:latin typeface="Calibri,Italic"/>
              </a:rPr>
              <a:t>3)  Add the listener to the component. </a:t>
            </a:r>
            <a:endParaRPr lang="en-IN" sz="4000" dirty="0">
              <a:effectLst/>
            </a:endParaRPr>
          </a:p>
          <a:p>
            <a:endParaRPr lang="en-US" dirty="0"/>
          </a:p>
        </p:txBody>
      </p:sp>
      <p:sp>
        <p:nvSpPr>
          <p:cNvPr id="4" name="Footer Placeholder 3">
            <a:extLst>
              <a:ext uri="{FF2B5EF4-FFF2-40B4-BE49-F238E27FC236}">
                <a16:creationId xmlns:a16="http://schemas.microsoft.com/office/drawing/2014/main" id="{0AE51940-EE24-504F-9670-29193E620CAF}"/>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3090345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8E73C-1882-C2CA-1435-0E75FD05C41B}"/>
              </a:ext>
            </a:extLst>
          </p:cNvPr>
          <p:cNvSpPr>
            <a:spLocks noGrp="1"/>
          </p:cNvSpPr>
          <p:nvPr>
            <p:ph type="title"/>
          </p:nvPr>
        </p:nvSpPr>
        <p:spPr/>
        <p:txBody>
          <a:bodyPr/>
          <a:lstStyle/>
          <a:p>
            <a:r>
              <a:rPr lang="en-IN" sz="4400" dirty="0">
                <a:effectLst/>
                <a:latin typeface="Calibri,BoldItalic"/>
              </a:rPr>
              <a:t>Applying </a:t>
            </a:r>
            <a:r>
              <a:rPr lang="en-IN" sz="4400" dirty="0" err="1">
                <a:effectLst/>
                <a:latin typeface="Calibri,BoldItalic"/>
              </a:rPr>
              <a:t>WindowListener</a:t>
            </a:r>
            <a:r>
              <a:rPr lang="en-IN" sz="4400" dirty="0">
                <a:effectLst/>
                <a:latin typeface="Calibri,BoldItalic"/>
              </a:rPr>
              <a:t> on the Frame </a:t>
            </a:r>
            <a:endParaRPr lang="en-US" dirty="0"/>
          </a:p>
        </p:txBody>
      </p:sp>
      <p:sp>
        <p:nvSpPr>
          <p:cNvPr id="3" name="Content Placeholder 2">
            <a:extLst>
              <a:ext uri="{FF2B5EF4-FFF2-40B4-BE49-F238E27FC236}">
                <a16:creationId xmlns:a16="http://schemas.microsoft.com/office/drawing/2014/main" id="{95B8D730-6805-C6FB-4B01-AB65F47561B3}"/>
              </a:ext>
            </a:extLst>
          </p:cNvPr>
          <p:cNvSpPr>
            <a:spLocks noGrp="1"/>
          </p:cNvSpPr>
          <p:nvPr>
            <p:ph idx="1"/>
          </p:nvPr>
        </p:nvSpPr>
        <p:spPr/>
        <p:txBody>
          <a:bodyPr/>
          <a:lstStyle/>
          <a:p>
            <a:r>
              <a:rPr lang="en-IN" sz="1800" dirty="0">
                <a:effectLst/>
                <a:latin typeface="Calibri,Italic"/>
              </a:rPr>
              <a:t>The Frame contains </a:t>
            </a:r>
            <a:r>
              <a:rPr lang="en-IN" sz="1800" dirty="0" err="1">
                <a:effectLst/>
                <a:latin typeface="Calibri,Italic"/>
              </a:rPr>
              <a:t>WindowLister</a:t>
            </a:r>
            <a:r>
              <a:rPr lang="en-IN" sz="1800" dirty="0">
                <a:effectLst/>
                <a:latin typeface="Calibri,Italic"/>
              </a:rPr>
              <a:t> it contains 7-methods listed below. </a:t>
            </a:r>
            <a:endParaRPr lang="en-IN" dirty="0"/>
          </a:p>
          <a:p>
            <a:r>
              <a:rPr lang="en-IN" sz="1800" b="1" dirty="0" err="1">
                <a:effectLst/>
                <a:latin typeface="Cambria,Italic"/>
              </a:rPr>
              <a:t>windowActivated</a:t>
            </a:r>
            <a:r>
              <a:rPr lang="en-IN" sz="1800" b="1" dirty="0">
                <a:effectLst/>
                <a:latin typeface="Cambria,Italic"/>
              </a:rPr>
              <a:t>(</a:t>
            </a:r>
            <a:r>
              <a:rPr lang="en-IN" sz="1800" b="1" dirty="0" err="1">
                <a:effectLst/>
                <a:latin typeface="Cambria,Italic"/>
              </a:rPr>
              <a:t>WindowEvent</a:t>
            </a:r>
            <a:r>
              <a:rPr lang="en-IN" sz="1800" b="1" dirty="0">
                <a:effectLst/>
                <a:latin typeface="Cambria,Italic"/>
              </a:rPr>
              <a:t> e)</a:t>
            </a:r>
            <a:br>
              <a:rPr lang="en-IN" sz="1800" dirty="0">
                <a:effectLst/>
                <a:latin typeface="Cambria,Italic"/>
              </a:rPr>
            </a:br>
            <a:r>
              <a:rPr lang="en-IN" sz="1800" dirty="0">
                <a:effectLst/>
                <a:latin typeface="Cambria,Italic"/>
              </a:rPr>
              <a:t>Invoked when the Window is set to be the active Window. </a:t>
            </a:r>
            <a:endParaRPr lang="en-IN" dirty="0"/>
          </a:p>
          <a:p>
            <a:r>
              <a:rPr lang="en-IN" sz="1800" b="1" dirty="0" err="1">
                <a:effectLst/>
                <a:latin typeface="Cambria,Italic"/>
              </a:rPr>
              <a:t>windowClosed</a:t>
            </a:r>
            <a:r>
              <a:rPr lang="en-IN" sz="1800" b="1" dirty="0">
                <a:effectLst/>
                <a:latin typeface="Cambria,Italic"/>
              </a:rPr>
              <a:t>(</a:t>
            </a:r>
            <a:r>
              <a:rPr lang="en-IN" sz="1800" b="1" dirty="0" err="1">
                <a:effectLst/>
                <a:latin typeface="Cambria,Italic"/>
              </a:rPr>
              <a:t>WindowEvent</a:t>
            </a:r>
            <a:r>
              <a:rPr lang="en-IN" sz="1800" b="1" dirty="0">
                <a:effectLst/>
                <a:latin typeface="Cambria,Italic"/>
              </a:rPr>
              <a:t> e)</a:t>
            </a:r>
            <a:br>
              <a:rPr lang="en-IN" sz="1800" dirty="0">
                <a:effectLst/>
                <a:latin typeface="Cambria,Italic"/>
              </a:rPr>
            </a:br>
            <a:r>
              <a:rPr lang="en-IN" sz="1800" dirty="0">
                <a:effectLst/>
                <a:latin typeface="Cambria,Italic"/>
              </a:rPr>
              <a:t>Invoked when a window has been closed as the result of calling dispose on the window. </a:t>
            </a:r>
            <a:endParaRPr lang="en-IN" dirty="0"/>
          </a:p>
          <a:p>
            <a:r>
              <a:rPr lang="en-IN" sz="1800" b="1" dirty="0" err="1">
                <a:effectLst/>
                <a:latin typeface="Cambria,Italic"/>
              </a:rPr>
              <a:t>windowClosing</a:t>
            </a:r>
            <a:r>
              <a:rPr lang="en-IN" sz="1800" b="1" dirty="0">
                <a:effectLst/>
                <a:latin typeface="Cambria,Italic"/>
              </a:rPr>
              <a:t>(</a:t>
            </a:r>
            <a:r>
              <a:rPr lang="en-IN" sz="1800" b="1" dirty="0" err="1">
                <a:effectLst/>
                <a:latin typeface="Cambria,Italic"/>
              </a:rPr>
              <a:t>WindowEvent</a:t>
            </a:r>
            <a:r>
              <a:rPr lang="en-IN" sz="1800" b="1" dirty="0">
                <a:effectLst/>
                <a:latin typeface="Cambria,Italic"/>
              </a:rPr>
              <a:t> e)</a:t>
            </a:r>
            <a:br>
              <a:rPr lang="en-IN" sz="1800" dirty="0">
                <a:effectLst/>
                <a:latin typeface="Cambria,Italic"/>
              </a:rPr>
            </a:br>
            <a:r>
              <a:rPr lang="en-IN" sz="1800" dirty="0">
                <a:effectLst/>
                <a:latin typeface="Cambria,Italic"/>
              </a:rPr>
              <a:t>Invoked when the user attempts to close the window from the window's system menu. </a:t>
            </a:r>
            <a:endParaRPr lang="en-IN" dirty="0"/>
          </a:p>
          <a:p>
            <a:r>
              <a:rPr lang="en-IN" sz="1800" b="1" dirty="0" err="1">
                <a:effectLst/>
                <a:latin typeface="Cambria,Italic"/>
              </a:rPr>
              <a:t>windowDeactivated</a:t>
            </a:r>
            <a:r>
              <a:rPr lang="en-IN" sz="1800" b="1" dirty="0">
                <a:effectLst/>
                <a:latin typeface="Cambria,Italic"/>
              </a:rPr>
              <a:t>(</a:t>
            </a:r>
            <a:r>
              <a:rPr lang="en-IN" sz="1800" b="1" dirty="0" err="1">
                <a:effectLst/>
                <a:latin typeface="Cambria,Italic"/>
              </a:rPr>
              <a:t>WindowEvent</a:t>
            </a:r>
            <a:r>
              <a:rPr lang="en-IN" sz="1800" b="1" dirty="0">
                <a:effectLst/>
                <a:latin typeface="Cambria,Italic"/>
              </a:rPr>
              <a:t> e)</a:t>
            </a:r>
            <a:br>
              <a:rPr lang="en-IN" sz="1800" dirty="0">
                <a:effectLst/>
                <a:latin typeface="Cambria,Italic"/>
              </a:rPr>
            </a:br>
            <a:r>
              <a:rPr lang="en-IN" sz="1800" dirty="0">
                <a:effectLst/>
                <a:latin typeface="Cambria,Italic"/>
              </a:rPr>
              <a:t>Invoked when a Window is no longer the active Window. </a:t>
            </a:r>
            <a:endParaRPr lang="en-IN" dirty="0"/>
          </a:p>
          <a:p>
            <a:r>
              <a:rPr lang="en-IN" sz="1800" b="1" dirty="0" err="1">
                <a:effectLst/>
                <a:latin typeface="Cambria,Italic"/>
              </a:rPr>
              <a:t>windowDeiconified</a:t>
            </a:r>
            <a:r>
              <a:rPr lang="en-IN" sz="1800" b="1" dirty="0">
                <a:effectLst/>
                <a:latin typeface="Cambria,Italic"/>
              </a:rPr>
              <a:t>(</a:t>
            </a:r>
            <a:r>
              <a:rPr lang="en-IN" sz="1800" b="1" dirty="0" err="1">
                <a:effectLst/>
                <a:latin typeface="Cambria,Italic"/>
              </a:rPr>
              <a:t>WindowEvent</a:t>
            </a:r>
            <a:r>
              <a:rPr lang="en-IN" sz="1800" b="1" dirty="0">
                <a:effectLst/>
                <a:latin typeface="Cambria,Italic"/>
              </a:rPr>
              <a:t> e)</a:t>
            </a:r>
            <a:br>
              <a:rPr lang="en-IN" sz="1800" dirty="0">
                <a:effectLst/>
                <a:latin typeface="Cambria,Italic"/>
              </a:rPr>
            </a:br>
            <a:r>
              <a:rPr lang="en-IN" sz="1800" dirty="0">
                <a:effectLst/>
                <a:latin typeface="Cambria,Italic"/>
              </a:rPr>
              <a:t>Invoked when a window is changed from a minimized to a normal state. </a:t>
            </a:r>
            <a:endParaRPr lang="en-IN" dirty="0"/>
          </a:p>
          <a:p>
            <a:r>
              <a:rPr lang="en-IN" sz="1800" b="1" dirty="0" err="1">
                <a:effectLst/>
                <a:latin typeface="Cambria,Italic"/>
              </a:rPr>
              <a:t>windowIconified</a:t>
            </a:r>
            <a:r>
              <a:rPr lang="en-IN" sz="1800" b="1" dirty="0">
                <a:effectLst/>
                <a:latin typeface="Cambria,Italic"/>
              </a:rPr>
              <a:t>(</a:t>
            </a:r>
            <a:r>
              <a:rPr lang="en-IN" sz="1800" b="1" dirty="0" err="1">
                <a:effectLst/>
                <a:latin typeface="Cambria,Italic"/>
              </a:rPr>
              <a:t>WindowEvent</a:t>
            </a:r>
            <a:r>
              <a:rPr lang="en-IN" sz="1800" b="1" dirty="0">
                <a:effectLst/>
                <a:latin typeface="Cambria,Italic"/>
              </a:rPr>
              <a:t> e)</a:t>
            </a:r>
            <a:br>
              <a:rPr lang="en-IN" sz="1800" dirty="0">
                <a:effectLst/>
                <a:latin typeface="Cambria,Italic"/>
              </a:rPr>
            </a:br>
            <a:r>
              <a:rPr lang="en-IN" sz="1800" dirty="0">
                <a:effectLst/>
                <a:latin typeface="Cambria,Italic"/>
              </a:rPr>
              <a:t>Invoked when a window is changed from a normal to a minimized state. </a:t>
            </a:r>
            <a:endParaRPr lang="en-IN" dirty="0"/>
          </a:p>
          <a:p>
            <a:r>
              <a:rPr lang="en-IN" sz="1800" b="1" dirty="0" err="1">
                <a:effectLst/>
                <a:latin typeface="Cambria,Italic"/>
              </a:rPr>
              <a:t>windowOpened</a:t>
            </a:r>
            <a:r>
              <a:rPr lang="en-IN" sz="1800" b="1" dirty="0">
                <a:effectLst/>
                <a:latin typeface="Cambria,Italic"/>
              </a:rPr>
              <a:t>(</a:t>
            </a:r>
            <a:r>
              <a:rPr lang="en-IN" sz="1800" b="1" dirty="0" err="1">
                <a:effectLst/>
                <a:latin typeface="Cambria,Italic"/>
              </a:rPr>
              <a:t>WindowEvent</a:t>
            </a:r>
            <a:r>
              <a:rPr lang="en-IN" sz="1800" b="1" dirty="0">
                <a:effectLst/>
                <a:latin typeface="Cambria,Italic"/>
              </a:rPr>
              <a:t> e)</a:t>
            </a:r>
            <a:br>
              <a:rPr lang="en-IN" sz="1800" dirty="0">
                <a:effectLst/>
                <a:latin typeface="Cambria,Italic"/>
              </a:rPr>
            </a:br>
            <a:r>
              <a:rPr lang="en-IN" sz="1800" dirty="0">
                <a:effectLst/>
                <a:latin typeface="Cambria,Italic"/>
              </a:rPr>
              <a:t>Invoked the first time a window is made visible. </a:t>
            </a:r>
            <a:endParaRPr lang="en-IN" dirty="0"/>
          </a:p>
          <a:p>
            <a:endParaRPr lang="en-US" dirty="0"/>
          </a:p>
        </p:txBody>
      </p:sp>
      <p:sp>
        <p:nvSpPr>
          <p:cNvPr id="4" name="Footer Placeholder 3">
            <a:extLst>
              <a:ext uri="{FF2B5EF4-FFF2-40B4-BE49-F238E27FC236}">
                <a16:creationId xmlns:a16="http://schemas.microsoft.com/office/drawing/2014/main" id="{1CF208C8-D3B3-9697-2284-6F906E4710B6}"/>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8630415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16A7D-36A8-24B0-B9A3-DA4528067C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04A45C-5097-F90A-6984-AB84194C983A}"/>
              </a:ext>
            </a:extLst>
          </p:cNvPr>
          <p:cNvSpPr>
            <a:spLocks noGrp="1"/>
          </p:cNvSpPr>
          <p:nvPr>
            <p:ph idx="1"/>
          </p:nvPr>
        </p:nvSpPr>
        <p:spPr/>
        <p:txBody>
          <a:bodyPr/>
          <a:lstStyle/>
          <a:p>
            <a:r>
              <a:rPr lang="en-IN" sz="2400" dirty="0">
                <a:effectLst/>
                <a:latin typeface="Calibri,BoldItalic"/>
              </a:rPr>
              <a:t>Note : if our class implements </a:t>
            </a:r>
            <a:r>
              <a:rPr lang="en-IN" sz="2400" dirty="0" err="1">
                <a:effectLst/>
                <a:latin typeface="Calibri,BoldItalic"/>
              </a:rPr>
              <a:t>WindowListener</a:t>
            </a:r>
            <a:r>
              <a:rPr lang="en-IN" sz="2400" dirty="0">
                <a:effectLst/>
                <a:latin typeface="Calibri,BoldItalic"/>
              </a:rPr>
              <a:t> interface we must override all the methods of </a:t>
            </a:r>
            <a:r>
              <a:rPr lang="en-IN" sz="2400" dirty="0" err="1">
                <a:effectLst/>
                <a:latin typeface="Calibri,BoldItalic"/>
              </a:rPr>
              <a:t>windowListener</a:t>
            </a:r>
            <a:r>
              <a:rPr lang="en-IN" sz="2400" dirty="0">
                <a:effectLst/>
                <a:latin typeface="Calibri,BoldItalic"/>
              </a:rPr>
              <a:t> interface . But if our class extends </a:t>
            </a:r>
            <a:r>
              <a:rPr lang="en-IN" sz="2400" dirty="0" err="1">
                <a:effectLst/>
                <a:latin typeface="Calibri,BoldItalic"/>
              </a:rPr>
              <a:t>windowAdaptor</a:t>
            </a:r>
            <a:r>
              <a:rPr lang="en-IN" sz="2400" dirty="0">
                <a:effectLst/>
                <a:latin typeface="Calibri,BoldItalic"/>
              </a:rPr>
              <a:t> class it is possible to override application required methods</a:t>
            </a:r>
            <a:r>
              <a:rPr lang="en-IN" sz="2400" dirty="0">
                <a:effectLst/>
                <a:latin typeface="Calibri,Italic"/>
              </a:rPr>
              <a:t>. </a:t>
            </a:r>
            <a:br>
              <a:rPr lang="en-IN" sz="1800" dirty="0">
                <a:effectLst/>
                <a:latin typeface="Calibri,Italic"/>
              </a:rPr>
            </a:br>
            <a:r>
              <a:rPr lang="en-IN" sz="1800" dirty="0">
                <a:effectLst/>
                <a:latin typeface="Calibri,Italic"/>
              </a:rPr>
              <a:t>class </a:t>
            </a:r>
            <a:r>
              <a:rPr lang="en-IN" sz="1800" dirty="0" err="1">
                <a:effectLst/>
                <a:latin typeface="Calibri,Italic"/>
              </a:rPr>
              <a:t>MyFrame</a:t>
            </a:r>
            <a:r>
              <a:rPr lang="en-IN" sz="1800" dirty="0">
                <a:effectLst/>
                <a:latin typeface="Calibri,Italic"/>
              </a:rPr>
              <a:t> extends Frame { </a:t>
            </a:r>
            <a:r>
              <a:rPr lang="en-IN" sz="1800" dirty="0" err="1">
                <a:effectLst/>
                <a:latin typeface="Calibri,Italic"/>
              </a:rPr>
              <a:t>MyFrame</a:t>
            </a:r>
            <a:r>
              <a:rPr lang="en-IN" sz="1800" dirty="0">
                <a:effectLst/>
                <a:latin typeface="Calibri,Italic"/>
              </a:rPr>
              <a:t>() </a:t>
            </a:r>
            <a:endParaRPr lang="en-IN" sz="2400" dirty="0"/>
          </a:p>
          <a:p>
            <a:r>
              <a:rPr lang="en-IN" sz="1800" dirty="0">
                <a:effectLst/>
                <a:latin typeface="Calibri,Italic"/>
              </a:rPr>
              <a:t>{ </a:t>
            </a:r>
            <a:r>
              <a:rPr lang="en-IN" sz="1800" dirty="0" err="1">
                <a:effectLst/>
                <a:latin typeface="Calibri,Italic"/>
              </a:rPr>
              <a:t>this.setVisible</a:t>
            </a:r>
            <a:r>
              <a:rPr lang="en-IN" sz="1800" dirty="0">
                <a:effectLst/>
                <a:latin typeface="Calibri,Italic"/>
              </a:rPr>
              <a:t>(true); </a:t>
            </a:r>
            <a:r>
              <a:rPr lang="en-IN" sz="1800" dirty="0" err="1">
                <a:effectLst/>
                <a:latin typeface="Calibri,Italic"/>
              </a:rPr>
              <a:t>this.setSize</a:t>
            </a:r>
            <a:r>
              <a:rPr lang="en-IN" sz="1800" dirty="0">
                <a:effectLst/>
                <a:latin typeface="Calibri,Italic"/>
              </a:rPr>
              <a:t>(500,500); </a:t>
            </a:r>
            <a:endParaRPr lang="en-IN" sz="2400" dirty="0"/>
          </a:p>
          <a:p>
            <a:r>
              <a:rPr lang="en-IN" sz="1800" dirty="0" err="1">
                <a:effectLst/>
                <a:latin typeface="Calibri,Italic"/>
              </a:rPr>
              <a:t>this.setBackground</a:t>
            </a:r>
            <a:r>
              <a:rPr lang="en-IN" sz="1800" dirty="0">
                <a:effectLst/>
                <a:latin typeface="Calibri,Italic"/>
              </a:rPr>
              <a:t>(</a:t>
            </a:r>
            <a:r>
              <a:rPr lang="en-IN" sz="1800" dirty="0" err="1">
                <a:effectLst/>
                <a:latin typeface="Calibri,Italic"/>
              </a:rPr>
              <a:t>Color.red</a:t>
            </a:r>
            <a:r>
              <a:rPr lang="en-IN" sz="1800" dirty="0">
                <a:effectLst/>
                <a:latin typeface="Calibri,Italic"/>
              </a:rPr>
              <a:t>); </a:t>
            </a:r>
            <a:r>
              <a:rPr lang="en-IN" sz="1800" dirty="0" err="1">
                <a:effectLst/>
                <a:latin typeface="Calibri,Italic"/>
              </a:rPr>
              <a:t>this.setTitle</a:t>
            </a:r>
            <a:r>
              <a:rPr lang="en-IN" sz="1800" dirty="0">
                <a:effectLst/>
                <a:latin typeface="Calibri,Italic"/>
              </a:rPr>
              <a:t>("</a:t>
            </a:r>
            <a:r>
              <a:rPr lang="en-IN" sz="1800" dirty="0" err="1">
                <a:effectLst/>
                <a:latin typeface="Calibri,Italic"/>
              </a:rPr>
              <a:t>MyFrame</a:t>
            </a:r>
            <a:r>
              <a:rPr lang="en-IN" sz="1800" dirty="0">
                <a:effectLst/>
                <a:latin typeface="Calibri,Italic"/>
              </a:rPr>
              <a:t>"); </a:t>
            </a:r>
            <a:r>
              <a:rPr lang="en-IN" sz="1800" dirty="0" err="1">
                <a:effectLst/>
                <a:latin typeface="Calibri,Italic"/>
              </a:rPr>
              <a:t>this.addWindowListener</a:t>
            </a:r>
            <a:r>
              <a:rPr lang="en-IN" sz="1800" dirty="0">
                <a:effectLst/>
                <a:latin typeface="Calibri,Italic"/>
              </a:rPr>
              <a:t>(new </a:t>
            </a:r>
            <a:r>
              <a:rPr lang="en-IN" sz="1800" dirty="0" err="1">
                <a:effectLst/>
                <a:latin typeface="Calibri,Italic"/>
              </a:rPr>
              <a:t>Listenerimpl</a:t>
            </a:r>
            <a:r>
              <a:rPr lang="en-IN" sz="1800" dirty="0">
                <a:effectLst/>
                <a:latin typeface="Calibri,Italic"/>
              </a:rPr>
              <a:t>()); </a:t>
            </a:r>
            <a:endParaRPr lang="en-IN" sz="2400" dirty="0"/>
          </a:p>
          <a:p>
            <a:r>
              <a:rPr lang="en-IN" sz="1800" dirty="0">
                <a:effectLst/>
                <a:latin typeface="Calibri,Italic"/>
              </a:rPr>
              <a:t>} }; </a:t>
            </a:r>
            <a:endParaRPr lang="en-IN" sz="2400" dirty="0"/>
          </a:p>
          <a:p>
            <a:r>
              <a:rPr lang="en-IN" sz="1800" dirty="0">
                <a:effectLst/>
                <a:latin typeface="Calibri,Italic"/>
              </a:rPr>
              <a:t>class </a:t>
            </a:r>
            <a:r>
              <a:rPr lang="en-IN" sz="1800" dirty="0" err="1">
                <a:effectLst/>
                <a:latin typeface="Calibri,Italic"/>
              </a:rPr>
              <a:t>Listenerimpl</a:t>
            </a:r>
            <a:r>
              <a:rPr lang="en-IN" sz="1800" dirty="0">
                <a:effectLst/>
                <a:latin typeface="Calibri,Italic"/>
              </a:rPr>
              <a:t> extends </a:t>
            </a:r>
            <a:r>
              <a:rPr lang="en-IN" sz="1800" dirty="0" err="1">
                <a:effectLst/>
                <a:latin typeface="Calibri,Italic"/>
              </a:rPr>
              <a:t>WindowAdapter</a:t>
            </a:r>
            <a:br>
              <a:rPr lang="en-IN" sz="1800" dirty="0">
                <a:effectLst/>
                <a:latin typeface="Calibri,Italic"/>
              </a:rPr>
            </a:br>
            <a:r>
              <a:rPr lang="en-IN" sz="1800" dirty="0">
                <a:effectLst/>
                <a:latin typeface="Calibri,Italic"/>
              </a:rPr>
              <a:t>{ public void </a:t>
            </a:r>
            <a:r>
              <a:rPr lang="en-IN" sz="1800" dirty="0" err="1">
                <a:effectLst/>
                <a:latin typeface="Calibri,Italic"/>
              </a:rPr>
              <a:t>windowClosing</a:t>
            </a:r>
            <a:r>
              <a:rPr lang="en-IN" sz="1800" dirty="0">
                <a:effectLst/>
                <a:latin typeface="Calibri,Italic"/>
              </a:rPr>
              <a:t>(</a:t>
            </a:r>
            <a:r>
              <a:rPr lang="en-IN" sz="1800" dirty="0" err="1">
                <a:effectLst/>
                <a:latin typeface="Calibri,Italic"/>
              </a:rPr>
              <a:t>WindowEvent</a:t>
            </a:r>
            <a:r>
              <a:rPr lang="en-IN" sz="1800" dirty="0">
                <a:effectLst/>
                <a:latin typeface="Calibri,Italic"/>
              </a:rPr>
              <a:t> we) </a:t>
            </a:r>
            <a:endParaRPr lang="en-IN" sz="2400" dirty="0"/>
          </a:p>
          <a:p>
            <a:r>
              <a:rPr lang="en-IN" sz="1800" dirty="0">
                <a:effectLst/>
                <a:latin typeface="Calibri,Italic"/>
              </a:rPr>
              <a:t>{ </a:t>
            </a:r>
            <a:r>
              <a:rPr lang="en-IN" sz="1800" dirty="0" err="1">
                <a:effectLst/>
                <a:latin typeface="Calibri,Italic"/>
              </a:rPr>
              <a:t>System.exit</a:t>
            </a:r>
            <a:r>
              <a:rPr lang="en-IN" sz="1800" dirty="0">
                <a:effectLst/>
                <a:latin typeface="Calibri,Italic"/>
              </a:rPr>
              <a:t>(0); </a:t>
            </a:r>
            <a:endParaRPr lang="en-IN" sz="2400" dirty="0"/>
          </a:p>
          <a:p>
            <a:r>
              <a:rPr lang="en-IN" sz="1800" dirty="0">
                <a:effectLst/>
                <a:latin typeface="Calibri,Italic"/>
              </a:rPr>
              <a:t>} }; </a:t>
            </a:r>
            <a:endParaRPr lang="en-IN" sz="2400" dirty="0"/>
          </a:p>
          <a:p>
            <a:r>
              <a:rPr lang="en-IN" sz="1800" dirty="0">
                <a:effectLst/>
                <a:latin typeface="Calibri,Italic"/>
              </a:rPr>
              <a:t>class Demo</a:t>
            </a:r>
            <a:br>
              <a:rPr lang="en-IN" sz="1800" dirty="0">
                <a:effectLst/>
                <a:latin typeface="Calibri,Italic"/>
              </a:rPr>
            </a:br>
            <a:r>
              <a:rPr lang="en-IN" sz="1800" dirty="0">
                <a:effectLst/>
                <a:latin typeface="Calibri,Italic"/>
              </a:rPr>
              <a:t>{ public static void main(String[] </a:t>
            </a:r>
            <a:r>
              <a:rPr lang="en-IN" sz="1800" dirty="0" err="1">
                <a:effectLst/>
                <a:latin typeface="Calibri,Italic"/>
              </a:rPr>
              <a:t>args</a:t>
            </a:r>
            <a:r>
              <a:rPr lang="en-IN" sz="1800" dirty="0">
                <a:effectLst/>
                <a:latin typeface="Calibri,Italic"/>
              </a:rPr>
              <a:t>) </a:t>
            </a:r>
            <a:endParaRPr lang="en-IN" sz="2400" dirty="0"/>
          </a:p>
          <a:p>
            <a:r>
              <a:rPr lang="en-IN" sz="1800" dirty="0">
                <a:effectLst/>
                <a:latin typeface="Calibri,Italic"/>
              </a:rPr>
              <a:t>{ </a:t>
            </a:r>
            <a:r>
              <a:rPr lang="en-IN" sz="1800" dirty="0" err="1">
                <a:effectLst/>
                <a:latin typeface="Calibri,Italic"/>
              </a:rPr>
              <a:t>MyFrame</a:t>
            </a:r>
            <a:r>
              <a:rPr lang="en-IN" sz="1800" dirty="0">
                <a:effectLst/>
                <a:latin typeface="Calibri,Italic"/>
              </a:rPr>
              <a:t> f=new </a:t>
            </a:r>
            <a:r>
              <a:rPr lang="en-IN" sz="1800" dirty="0" err="1">
                <a:effectLst/>
                <a:latin typeface="Calibri,Italic"/>
              </a:rPr>
              <a:t>MyFrame</a:t>
            </a:r>
            <a:r>
              <a:rPr lang="en-IN" sz="1800" dirty="0">
                <a:effectLst/>
                <a:latin typeface="Calibri,Italic"/>
              </a:rPr>
              <a:t>(); </a:t>
            </a:r>
            <a:endParaRPr lang="en-IN" sz="2400" dirty="0"/>
          </a:p>
          <a:p>
            <a:r>
              <a:rPr lang="en-IN" sz="1800" dirty="0">
                <a:effectLst/>
                <a:latin typeface="Calibri,Italic"/>
              </a:rPr>
              <a:t>} }; </a:t>
            </a:r>
            <a:endParaRPr lang="en-IN" sz="2400" dirty="0"/>
          </a:p>
          <a:p>
            <a:endParaRPr lang="en-US" sz="4000" dirty="0"/>
          </a:p>
        </p:txBody>
      </p:sp>
      <p:sp>
        <p:nvSpPr>
          <p:cNvPr id="4" name="Footer Placeholder 3">
            <a:extLst>
              <a:ext uri="{FF2B5EF4-FFF2-40B4-BE49-F238E27FC236}">
                <a16:creationId xmlns:a16="http://schemas.microsoft.com/office/drawing/2014/main" id="{D016DD5B-7CE6-1490-70AE-50C1C4B207D5}"/>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1419253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6E5E1-3A9C-FFA0-9E9D-BFE71837A7B6}"/>
              </a:ext>
            </a:extLst>
          </p:cNvPr>
          <p:cNvSpPr>
            <a:spLocks noGrp="1"/>
          </p:cNvSpPr>
          <p:nvPr>
            <p:ph type="title"/>
          </p:nvPr>
        </p:nvSpPr>
        <p:spPr/>
        <p:txBody>
          <a:bodyPr/>
          <a:lstStyle/>
          <a:p>
            <a:r>
              <a:rPr lang="en-IN" sz="4400" dirty="0">
                <a:effectLst/>
                <a:latin typeface="Calibri,BoldItalic"/>
              </a:rPr>
              <a:t>event handling in anonymous inner class</a:t>
            </a:r>
            <a:endParaRPr lang="en-US" dirty="0"/>
          </a:p>
        </p:txBody>
      </p:sp>
      <p:sp>
        <p:nvSpPr>
          <p:cNvPr id="3" name="Content Placeholder 2">
            <a:extLst>
              <a:ext uri="{FF2B5EF4-FFF2-40B4-BE49-F238E27FC236}">
                <a16:creationId xmlns:a16="http://schemas.microsoft.com/office/drawing/2014/main" id="{5929CEC9-0FA9-F0D1-C6D1-C6CAFB7EA952}"/>
              </a:ext>
            </a:extLst>
          </p:cNvPr>
          <p:cNvSpPr>
            <a:spLocks noGrp="1"/>
          </p:cNvSpPr>
          <p:nvPr>
            <p:ph idx="1"/>
          </p:nvPr>
        </p:nvSpPr>
        <p:spPr/>
        <p:txBody>
          <a:bodyPr/>
          <a:lstStyle/>
          <a:p>
            <a:r>
              <a:rPr lang="en-IN" sz="1800" dirty="0">
                <a:effectLst/>
                <a:latin typeface="Calibri,Italic"/>
              </a:rPr>
              <a:t>import </a:t>
            </a:r>
            <a:r>
              <a:rPr lang="en-IN" sz="1800" dirty="0" err="1">
                <a:effectLst/>
                <a:latin typeface="Calibri,Italic"/>
              </a:rPr>
              <a:t>java.awt</a:t>
            </a:r>
            <a:r>
              <a:rPr lang="en-IN" sz="1800" dirty="0">
                <a:effectLst/>
                <a:latin typeface="Calibri,Italic"/>
              </a:rPr>
              <a:t>.*;</a:t>
            </a:r>
            <a:br>
              <a:rPr lang="en-IN" sz="1800" dirty="0">
                <a:effectLst/>
                <a:latin typeface="Calibri,Italic"/>
              </a:rPr>
            </a:br>
            <a:r>
              <a:rPr lang="en-IN" sz="1800" dirty="0">
                <a:effectLst/>
                <a:latin typeface="Calibri,Italic"/>
              </a:rPr>
              <a:t>import </a:t>
            </a:r>
            <a:r>
              <a:rPr lang="en-IN" sz="1800" dirty="0" err="1">
                <a:effectLst/>
                <a:latin typeface="Calibri,Italic"/>
              </a:rPr>
              <a:t>java.awt.event</a:t>
            </a:r>
            <a:r>
              <a:rPr lang="en-IN" sz="1800" dirty="0">
                <a:effectLst/>
                <a:latin typeface="Calibri,Italic"/>
              </a:rPr>
              <a:t>.*;</a:t>
            </a:r>
            <a:br>
              <a:rPr lang="en-IN" sz="1800" dirty="0">
                <a:effectLst/>
                <a:latin typeface="Calibri,Italic"/>
              </a:rPr>
            </a:br>
            <a:r>
              <a:rPr lang="en-IN" sz="1800" dirty="0">
                <a:effectLst/>
                <a:latin typeface="Calibri,Italic"/>
              </a:rPr>
              <a:t>class </a:t>
            </a:r>
            <a:r>
              <a:rPr lang="en-IN" sz="1800" dirty="0" err="1">
                <a:effectLst/>
                <a:latin typeface="Calibri,Italic"/>
              </a:rPr>
              <a:t>MyFrame</a:t>
            </a:r>
            <a:r>
              <a:rPr lang="en-IN" sz="1800" dirty="0">
                <a:effectLst/>
                <a:latin typeface="Calibri,Italic"/>
              </a:rPr>
              <a:t> extends Frame { </a:t>
            </a:r>
            <a:r>
              <a:rPr lang="en-IN" sz="1800" dirty="0" err="1">
                <a:effectLst/>
                <a:latin typeface="Calibri,Italic"/>
              </a:rPr>
              <a:t>MyFrame</a:t>
            </a:r>
            <a:r>
              <a:rPr lang="en-IN" sz="1800" dirty="0">
                <a:effectLst/>
                <a:latin typeface="Calibri,Italic"/>
              </a:rPr>
              <a:t>() </a:t>
            </a:r>
            <a:endParaRPr lang="en-IN" dirty="0"/>
          </a:p>
          <a:p>
            <a:r>
              <a:rPr lang="en-IN" sz="1800" dirty="0">
                <a:effectLst/>
                <a:latin typeface="Calibri,Italic"/>
              </a:rPr>
              <a:t>{ </a:t>
            </a:r>
            <a:r>
              <a:rPr lang="en-IN" sz="1800" dirty="0" err="1">
                <a:effectLst/>
                <a:latin typeface="Calibri,Italic"/>
              </a:rPr>
              <a:t>this.setVisible</a:t>
            </a:r>
            <a:r>
              <a:rPr lang="en-IN" sz="1800" dirty="0">
                <a:effectLst/>
                <a:latin typeface="Calibri,Italic"/>
              </a:rPr>
              <a:t>(true); </a:t>
            </a:r>
          </a:p>
          <a:p>
            <a:r>
              <a:rPr lang="en-IN" sz="1800" dirty="0" err="1">
                <a:effectLst/>
                <a:latin typeface="Calibri,Italic"/>
              </a:rPr>
              <a:t>this.setSize</a:t>
            </a:r>
            <a:r>
              <a:rPr lang="en-IN" sz="1800" dirty="0">
                <a:effectLst/>
                <a:latin typeface="Calibri,Italic"/>
              </a:rPr>
              <a:t>(500,500); </a:t>
            </a:r>
            <a:endParaRPr lang="en-IN" dirty="0"/>
          </a:p>
          <a:p>
            <a:r>
              <a:rPr lang="en-IN" sz="1800" dirty="0">
                <a:effectLst/>
                <a:latin typeface="Calibri,Italic"/>
              </a:rPr>
              <a:t>} } </a:t>
            </a:r>
            <a:endParaRPr lang="en-IN" dirty="0"/>
          </a:p>
          <a:p>
            <a:r>
              <a:rPr lang="en-IN" sz="1800" dirty="0" err="1">
                <a:effectLst/>
                <a:latin typeface="Calibri,Italic"/>
              </a:rPr>
              <a:t>this.setBackground</a:t>
            </a:r>
            <a:r>
              <a:rPr lang="en-IN" sz="1800" dirty="0">
                <a:effectLst/>
                <a:latin typeface="Calibri,Italic"/>
              </a:rPr>
              <a:t>(</a:t>
            </a:r>
            <a:r>
              <a:rPr lang="en-IN" sz="1800" dirty="0" err="1">
                <a:effectLst/>
                <a:latin typeface="Calibri,Italic"/>
              </a:rPr>
              <a:t>Color.red</a:t>
            </a:r>
            <a:r>
              <a:rPr lang="en-IN" sz="1800" dirty="0">
                <a:effectLst/>
                <a:latin typeface="Calibri,Italic"/>
              </a:rPr>
              <a:t>); </a:t>
            </a:r>
          </a:p>
          <a:p>
            <a:r>
              <a:rPr lang="en-IN" sz="1800" dirty="0" err="1">
                <a:effectLst/>
                <a:latin typeface="Calibri,Italic"/>
              </a:rPr>
              <a:t>this.setTitle</a:t>
            </a:r>
            <a:r>
              <a:rPr lang="en-IN" sz="1800" dirty="0">
                <a:effectLst/>
                <a:latin typeface="Calibri,Italic"/>
              </a:rPr>
              <a:t>("</a:t>
            </a:r>
            <a:r>
              <a:rPr lang="en-IN" sz="1800" dirty="0" err="1">
                <a:effectLst/>
                <a:latin typeface="Calibri,Italic"/>
              </a:rPr>
              <a:t>Myframe</a:t>
            </a:r>
            <a:r>
              <a:rPr lang="en-IN" sz="1800" dirty="0">
                <a:effectLst/>
                <a:latin typeface="Calibri,Italic"/>
              </a:rPr>
              <a:t>"); </a:t>
            </a:r>
          </a:p>
          <a:p>
            <a:r>
              <a:rPr lang="en-IN" sz="1800" dirty="0" err="1">
                <a:effectLst/>
                <a:latin typeface="Calibri,Italic"/>
              </a:rPr>
              <a:t>this.addWindowListener</a:t>
            </a:r>
            <a:r>
              <a:rPr lang="en-IN" sz="1800" dirty="0">
                <a:effectLst/>
                <a:latin typeface="Calibri,Italic"/>
              </a:rPr>
              <a:t>(</a:t>
            </a:r>
            <a:r>
              <a:rPr lang="en-IN" sz="1800" dirty="0">
                <a:effectLst/>
                <a:latin typeface="Calibri,BoldItalic"/>
              </a:rPr>
              <a:t>new </a:t>
            </a:r>
            <a:r>
              <a:rPr lang="en-IN" sz="1800" dirty="0" err="1">
                <a:effectLst/>
                <a:latin typeface="Calibri,BoldItalic"/>
              </a:rPr>
              <a:t>WindowAdapter</a:t>
            </a:r>
            <a:r>
              <a:rPr lang="en-IN" sz="1800" dirty="0">
                <a:effectLst/>
                <a:latin typeface="Calibri,BoldItalic"/>
              </a:rPr>
              <a:t>()</a:t>
            </a:r>
            <a:br>
              <a:rPr lang="en-IN" sz="1800" dirty="0">
                <a:effectLst/>
                <a:latin typeface="Calibri,BoldItalic"/>
              </a:rPr>
            </a:br>
            <a:r>
              <a:rPr lang="en-IN" sz="1800" dirty="0">
                <a:solidFill>
                  <a:srgbClr val="FF0000"/>
                </a:solidFill>
                <a:effectLst/>
                <a:latin typeface="Calibri,BoldItalic"/>
              </a:rPr>
              <a:t>{ public void </a:t>
            </a:r>
            <a:r>
              <a:rPr lang="en-IN" sz="1800" dirty="0" err="1">
                <a:solidFill>
                  <a:srgbClr val="FF0000"/>
                </a:solidFill>
                <a:effectLst/>
                <a:latin typeface="Calibri,BoldItalic"/>
              </a:rPr>
              <a:t>windowClosing</a:t>
            </a:r>
            <a:r>
              <a:rPr lang="en-IN" sz="1800" dirty="0">
                <a:solidFill>
                  <a:srgbClr val="FF0000"/>
                </a:solidFill>
                <a:effectLst/>
                <a:latin typeface="Calibri,BoldItalic"/>
              </a:rPr>
              <a:t>(</a:t>
            </a:r>
            <a:r>
              <a:rPr lang="en-IN" sz="1800" dirty="0" err="1">
                <a:solidFill>
                  <a:srgbClr val="FF0000"/>
                </a:solidFill>
                <a:effectLst/>
                <a:latin typeface="Calibri,BoldItalic"/>
              </a:rPr>
              <a:t>WindowEvent</a:t>
            </a:r>
            <a:r>
              <a:rPr lang="en-IN" sz="1800" dirty="0">
                <a:solidFill>
                  <a:srgbClr val="FF0000"/>
                </a:solidFill>
                <a:effectLst/>
                <a:latin typeface="Calibri,BoldItalic"/>
              </a:rPr>
              <a:t> we) </a:t>
            </a:r>
            <a:endParaRPr lang="en-IN" dirty="0">
              <a:solidFill>
                <a:srgbClr val="FF0000"/>
              </a:solidFill>
            </a:endParaRPr>
          </a:p>
          <a:p>
            <a:r>
              <a:rPr lang="en-IN" sz="1800" dirty="0">
                <a:solidFill>
                  <a:srgbClr val="FF0000"/>
                </a:solidFill>
                <a:effectLst/>
                <a:latin typeface="Calibri,BoldItalic"/>
              </a:rPr>
              <a:t>{ </a:t>
            </a:r>
            <a:r>
              <a:rPr lang="en-IN" sz="1800" dirty="0" err="1">
                <a:solidFill>
                  <a:srgbClr val="FF0000"/>
                </a:solidFill>
                <a:effectLst/>
                <a:latin typeface="Calibri,BoldItalic"/>
              </a:rPr>
              <a:t>System.exit</a:t>
            </a:r>
            <a:r>
              <a:rPr lang="en-IN" sz="1800" dirty="0">
                <a:solidFill>
                  <a:srgbClr val="FF0000"/>
                </a:solidFill>
                <a:effectLst/>
                <a:latin typeface="Calibri,BoldItalic"/>
              </a:rPr>
              <a:t>(0); </a:t>
            </a:r>
            <a:endParaRPr lang="en-IN" dirty="0">
              <a:solidFill>
                <a:srgbClr val="FF0000"/>
              </a:solidFill>
            </a:endParaRPr>
          </a:p>
          <a:p>
            <a:r>
              <a:rPr lang="en-IN" sz="1800" dirty="0">
                <a:solidFill>
                  <a:srgbClr val="FF0000"/>
                </a:solidFill>
                <a:effectLst/>
                <a:latin typeface="Calibri,BoldItalic"/>
              </a:rPr>
              <a:t>} }</a:t>
            </a:r>
            <a:r>
              <a:rPr lang="en-IN" sz="1800" dirty="0">
                <a:effectLst/>
                <a:latin typeface="Calibri,Italic"/>
              </a:rPr>
              <a:t>); </a:t>
            </a:r>
            <a:endParaRPr lang="en-IN" dirty="0"/>
          </a:p>
          <a:p>
            <a:r>
              <a:rPr lang="en-IN" sz="1800" dirty="0">
                <a:effectLst/>
                <a:latin typeface="Calibri,Italic"/>
              </a:rPr>
              <a:t>class Demo</a:t>
            </a:r>
            <a:br>
              <a:rPr lang="en-IN" sz="1800" dirty="0">
                <a:effectLst/>
                <a:latin typeface="Calibri,Italic"/>
              </a:rPr>
            </a:br>
            <a:r>
              <a:rPr lang="en-IN" sz="1800" dirty="0">
                <a:effectLst/>
                <a:latin typeface="Calibri,Italic"/>
              </a:rPr>
              <a:t>{ public static void main(String[] </a:t>
            </a:r>
            <a:r>
              <a:rPr lang="en-IN" sz="1800" dirty="0" err="1">
                <a:effectLst/>
                <a:latin typeface="Calibri,Italic"/>
              </a:rPr>
              <a:t>args</a:t>
            </a:r>
            <a:r>
              <a:rPr lang="en-IN" sz="1800" dirty="0">
                <a:effectLst/>
                <a:latin typeface="Calibri,Italic"/>
              </a:rPr>
              <a:t>) </a:t>
            </a:r>
            <a:endParaRPr lang="en-IN" dirty="0"/>
          </a:p>
          <a:p>
            <a:r>
              <a:rPr lang="en-IN" sz="1800" dirty="0">
                <a:effectLst/>
                <a:latin typeface="Calibri,Italic"/>
              </a:rPr>
              <a:t>{ </a:t>
            </a:r>
            <a:r>
              <a:rPr lang="en-IN" sz="1800" dirty="0" err="1">
                <a:effectLst/>
                <a:latin typeface="Calibri,Italic"/>
              </a:rPr>
              <a:t>MyFrame</a:t>
            </a:r>
            <a:r>
              <a:rPr lang="en-IN" sz="1800" dirty="0">
                <a:effectLst/>
                <a:latin typeface="Calibri,Italic"/>
              </a:rPr>
              <a:t> f=new </a:t>
            </a:r>
            <a:r>
              <a:rPr lang="en-IN" sz="1800" dirty="0" err="1">
                <a:effectLst/>
                <a:latin typeface="Calibri,Italic"/>
              </a:rPr>
              <a:t>MyFrame</a:t>
            </a:r>
            <a:r>
              <a:rPr lang="en-IN" sz="1800" dirty="0">
                <a:effectLst/>
                <a:latin typeface="Calibri,Italic"/>
              </a:rPr>
              <a:t>(); </a:t>
            </a:r>
            <a:endParaRPr lang="en-IN" dirty="0"/>
          </a:p>
          <a:p>
            <a:r>
              <a:rPr lang="en-IN" sz="1800" dirty="0">
                <a:effectLst/>
                <a:latin typeface="Calibri,Italic"/>
              </a:rPr>
              <a:t>} }; </a:t>
            </a:r>
            <a:endParaRPr lang="en-IN" dirty="0"/>
          </a:p>
          <a:p>
            <a:endParaRPr lang="en-US" dirty="0"/>
          </a:p>
        </p:txBody>
      </p:sp>
      <p:sp>
        <p:nvSpPr>
          <p:cNvPr id="4" name="Footer Placeholder 3">
            <a:extLst>
              <a:ext uri="{FF2B5EF4-FFF2-40B4-BE49-F238E27FC236}">
                <a16:creationId xmlns:a16="http://schemas.microsoft.com/office/drawing/2014/main" id="{BB9C163F-891D-A641-BCAE-612A67AD21CF}"/>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9169073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DCE80-9441-6E61-BC5A-3F27223ABB66}"/>
              </a:ext>
            </a:extLst>
          </p:cNvPr>
          <p:cNvSpPr>
            <a:spLocks noGrp="1"/>
          </p:cNvSpPr>
          <p:nvPr>
            <p:ph type="title"/>
          </p:nvPr>
        </p:nvSpPr>
        <p:spPr/>
        <p:txBody>
          <a:bodyPr/>
          <a:lstStyle/>
          <a:p>
            <a:r>
              <a:rPr lang="en-IN" sz="4400" dirty="0">
                <a:effectLst/>
                <a:latin typeface="Calibri,BoldItalic"/>
              </a:rPr>
              <a:t>ACTIONLISTENER</a:t>
            </a:r>
            <a:endParaRPr lang="en-US" dirty="0"/>
          </a:p>
        </p:txBody>
      </p:sp>
      <p:sp>
        <p:nvSpPr>
          <p:cNvPr id="3" name="Content Placeholder 2">
            <a:extLst>
              <a:ext uri="{FF2B5EF4-FFF2-40B4-BE49-F238E27FC236}">
                <a16:creationId xmlns:a16="http://schemas.microsoft.com/office/drawing/2014/main" id="{AD668165-C2A0-1C7D-3844-900A8A62D012}"/>
              </a:ext>
            </a:extLst>
          </p:cNvPr>
          <p:cNvSpPr>
            <a:spLocks noGrp="1"/>
          </p:cNvSpPr>
          <p:nvPr>
            <p:ph idx="1"/>
          </p:nvPr>
        </p:nvSpPr>
        <p:spPr/>
        <p:txBody>
          <a:bodyPr/>
          <a:lstStyle/>
          <a:p>
            <a:r>
              <a:rPr lang="en-IN" sz="2400" dirty="0">
                <a:effectLst/>
                <a:latin typeface="Calibri,Italic"/>
              </a:rPr>
              <a:t>The below example we are preforming addition and multiplications when we click add &amp; </a:t>
            </a:r>
            <a:r>
              <a:rPr lang="en-IN" sz="2400" dirty="0" err="1">
                <a:effectLst/>
                <a:latin typeface="Calibri,Italic"/>
              </a:rPr>
              <a:t>mul</a:t>
            </a:r>
            <a:r>
              <a:rPr lang="en-IN" sz="2400" dirty="0">
                <a:effectLst/>
                <a:latin typeface="Calibri,Italic"/>
              </a:rPr>
              <a:t> buttons. So whenever we clicking button the button is able to listen the even to do this add the Listener to button.</a:t>
            </a:r>
            <a:br>
              <a:rPr lang="en-IN" sz="2400" dirty="0">
                <a:effectLst/>
                <a:latin typeface="Calibri,Italic"/>
              </a:rPr>
            </a:br>
            <a:r>
              <a:rPr lang="en-IN" sz="2400" dirty="0">
                <a:effectLst/>
                <a:latin typeface="Calibri,Italic"/>
              </a:rPr>
              <a:t>The appropriate listener for button is </a:t>
            </a:r>
            <a:r>
              <a:rPr lang="en-IN" sz="2400" dirty="0">
                <a:effectLst/>
                <a:latin typeface="Calibri,BoldItalic"/>
              </a:rPr>
              <a:t>ActionListener. </a:t>
            </a:r>
            <a:endParaRPr lang="en-IN" sz="4000" dirty="0"/>
          </a:p>
          <a:p>
            <a:endParaRPr lang="en-US" sz="4000" dirty="0"/>
          </a:p>
        </p:txBody>
      </p:sp>
      <p:sp>
        <p:nvSpPr>
          <p:cNvPr id="4" name="Footer Placeholder 3">
            <a:extLst>
              <a:ext uri="{FF2B5EF4-FFF2-40B4-BE49-F238E27FC236}">
                <a16:creationId xmlns:a16="http://schemas.microsoft.com/office/drawing/2014/main" id="{DBACD118-1F19-76CB-F788-5A7F355972A2}"/>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4492008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CB688-1236-BF92-5531-2DC32865F6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99FF20B-D17B-5E4A-A93A-03AE39D6A1C9}"/>
              </a:ext>
            </a:extLst>
          </p:cNvPr>
          <p:cNvSpPr>
            <a:spLocks noGrp="1"/>
          </p:cNvSpPr>
          <p:nvPr>
            <p:ph idx="1"/>
          </p:nvPr>
        </p:nvSpPr>
        <p:spPr/>
        <p:txBody>
          <a:bodyPr/>
          <a:lstStyle/>
          <a:p>
            <a:r>
              <a:rPr lang="en-IN" sz="1800" dirty="0">
                <a:effectLst/>
                <a:latin typeface="Calibri,Italic"/>
              </a:rPr>
              <a:t>public void </a:t>
            </a:r>
            <a:r>
              <a:rPr lang="en-IN" sz="1800" dirty="0" err="1">
                <a:effectLst/>
                <a:latin typeface="Calibri,Italic"/>
              </a:rPr>
              <a:t>actionPerformed</a:t>
            </a:r>
            <a:r>
              <a:rPr lang="en-IN" sz="1800" dirty="0">
                <a:effectLst/>
                <a:latin typeface="Calibri,Italic"/>
              </a:rPr>
              <a:t>(</a:t>
            </a:r>
            <a:r>
              <a:rPr lang="en-IN" sz="1800" dirty="0" err="1">
                <a:effectLst/>
                <a:latin typeface="Calibri,Italic"/>
              </a:rPr>
              <a:t>ActionEvent</a:t>
            </a:r>
            <a:r>
              <a:rPr lang="en-IN" sz="1800" dirty="0">
                <a:effectLst/>
                <a:latin typeface="Calibri,Italic"/>
              </a:rPr>
              <a:t> e) { </a:t>
            </a:r>
          </a:p>
          <a:p>
            <a:r>
              <a:rPr lang="en-IN" sz="1800" dirty="0">
                <a:effectLst/>
                <a:latin typeface="Calibri,Italic"/>
              </a:rPr>
              <a:t>try{ </a:t>
            </a:r>
            <a:endParaRPr lang="en-IN" dirty="0"/>
          </a:p>
          <a:p>
            <a:r>
              <a:rPr lang="en-IN" sz="1800" dirty="0">
                <a:effectLst/>
                <a:latin typeface="Calibri,Italic"/>
              </a:rPr>
              <a:t>int </a:t>
            </a:r>
            <a:r>
              <a:rPr lang="en-IN" sz="1800" dirty="0" err="1">
                <a:effectLst/>
                <a:latin typeface="Calibri,Italic"/>
              </a:rPr>
              <a:t>fval</a:t>
            </a:r>
            <a:r>
              <a:rPr lang="en-IN" sz="1800" dirty="0">
                <a:effectLst/>
                <a:latin typeface="Calibri,Italic"/>
              </a:rPr>
              <a:t>=</a:t>
            </a:r>
            <a:r>
              <a:rPr lang="en-IN" sz="1800" dirty="0" err="1">
                <a:effectLst/>
                <a:latin typeface="Calibri,Italic"/>
              </a:rPr>
              <a:t>Integer.parseInt</a:t>
            </a:r>
            <a:r>
              <a:rPr lang="en-IN" sz="1800" dirty="0">
                <a:effectLst/>
                <a:latin typeface="Calibri,Italic"/>
              </a:rPr>
              <a:t>(tx1.getText()); </a:t>
            </a:r>
          </a:p>
          <a:p>
            <a:r>
              <a:rPr lang="en-IN" sz="1800" dirty="0">
                <a:effectLst/>
                <a:latin typeface="Calibri,Italic"/>
              </a:rPr>
              <a:t>int </a:t>
            </a:r>
            <a:r>
              <a:rPr lang="en-IN" sz="1800" dirty="0" err="1">
                <a:effectLst/>
                <a:latin typeface="Calibri,Italic"/>
              </a:rPr>
              <a:t>sval</a:t>
            </a:r>
            <a:r>
              <a:rPr lang="en-IN" sz="1800" dirty="0">
                <a:effectLst/>
                <a:latin typeface="Calibri,Italic"/>
              </a:rPr>
              <a:t>=</a:t>
            </a:r>
            <a:r>
              <a:rPr lang="en-IN" sz="1800" dirty="0" err="1">
                <a:effectLst/>
                <a:latin typeface="Calibri,Italic"/>
              </a:rPr>
              <a:t>Integer.parseInt</a:t>
            </a:r>
            <a:r>
              <a:rPr lang="en-IN" sz="1800" dirty="0">
                <a:effectLst/>
                <a:latin typeface="Calibri,Italic"/>
              </a:rPr>
              <a:t>(tx2.getText()); </a:t>
            </a:r>
          </a:p>
          <a:p>
            <a:r>
              <a:rPr lang="en-IN" sz="1800" dirty="0">
                <a:effectLst/>
                <a:latin typeface="Calibri,Italic"/>
              </a:rPr>
              <a:t>String label=</a:t>
            </a:r>
            <a:r>
              <a:rPr lang="en-IN" sz="1800" dirty="0" err="1">
                <a:effectLst/>
                <a:latin typeface="Calibri,Italic"/>
              </a:rPr>
              <a:t>e.getActionCommand</a:t>
            </a:r>
            <a:r>
              <a:rPr lang="en-IN" sz="1800" dirty="0">
                <a:effectLst/>
                <a:latin typeface="Calibri,Italic"/>
              </a:rPr>
              <a:t>();</a:t>
            </a:r>
            <a:br>
              <a:rPr lang="en-IN" sz="1800" dirty="0">
                <a:effectLst/>
                <a:latin typeface="Calibri,Italic"/>
              </a:rPr>
            </a:br>
            <a:r>
              <a:rPr lang="en-IN" sz="1800" dirty="0">
                <a:effectLst/>
                <a:latin typeface="Calibri,Italic"/>
              </a:rPr>
              <a:t>if (</a:t>
            </a:r>
            <a:r>
              <a:rPr lang="en-IN" sz="1800" dirty="0" err="1">
                <a:effectLst/>
                <a:latin typeface="Calibri,Italic"/>
              </a:rPr>
              <a:t>label.equals</a:t>
            </a:r>
            <a:r>
              <a:rPr lang="en-IN" sz="1800" dirty="0">
                <a:effectLst/>
                <a:latin typeface="Calibri,Italic"/>
              </a:rPr>
              <a:t>("add")) </a:t>
            </a:r>
            <a:endParaRPr lang="en-IN" dirty="0"/>
          </a:p>
          <a:p>
            <a:r>
              <a:rPr lang="en-IN" sz="1800" dirty="0">
                <a:effectLst/>
                <a:latin typeface="Calibri,Italic"/>
              </a:rPr>
              <a:t>{ result=</a:t>
            </a:r>
            <a:r>
              <a:rPr lang="en-IN" sz="1800" dirty="0" err="1">
                <a:effectLst/>
                <a:latin typeface="Calibri,Italic"/>
              </a:rPr>
              <a:t>fval+sval</a:t>
            </a:r>
            <a:r>
              <a:rPr lang="en-IN" sz="1800" dirty="0">
                <a:effectLst/>
                <a:latin typeface="Calibri,Italic"/>
              </a:rPr>
              <a:t>; }</a:t>
            </a:r>
            <a:br>
              <a:rPr lang="en-IN" sz="1800" dirty="0">
                <a:effectLst/>
                <a:latin typeface="Calibri,Italic"/>
              </a:rPr>
            </a:br>
            <a:r>
              <a:rPr lang="en-IN" sz="1800" dirty="0">
                <a:effectLst/>
                <a:latin typeface="Calibri,Italic"/>
              </a:rPr>
              <a:t>if (</a:t>
            </a:r>
            <a:r>
              <a:rPr lang="en-IN" sz="1800" dirty="0" err="1">
                <a:effectLst/>
                <a:latin typeface="Calibri,Italic"/>
              </a:rPr>
              <a:t>label.equals</a:t>
            </a:r>
            <a:r>
              <a:rPr lang="en-IN" sz="1800" dirty="0">
                <a:effectLst/>
                <a:latin typeface="Calibri,Italic"/>
              </a:rPr>
              <a:t>("</a:t>
            </a:r>
            <a:r>
              <a:rPr lang="en-IN" sz="1800" dirty="0" err="1">
                <a:effectLst/>
                <a:latin typeface="Calibri,Italic"/>
              </a:rPr>
              <a:t>mul</a:t>
            </a:r>
            <a:r>
              <a:rPr lang="en-IN" sz="1800" dirty="0">
                <a:effectLst/>
                <a:latin typeface="Calibri,Italic"/>
              </a:rPr>
              <a:t>"))</a:t>
            </a:r>
            <a:br>
              <a:rPr lang="en-IN" sz="1800" dirty="0">
                <a:effectLst/>
                <a:latin typeface="Calibri,Italic"/>
              </a:rPr>
            </a:br>
            <a:r>
              <a:rPr lang="en-IN" sz="1800" dirty="0">
                <a:effectLst/>
                <a:latin typeface="Calibri,Italic"/>
              </a:rPr>
              <a:t>{ result=</a:t>
            </a:r>
            <a:r>
              <a:rPr lang="en-IN" sz="1800" dirty="0" err="1">
                <a:effectLst/>
                <a:latin typeface="Calibri,Italic"/>
              </a:rPr>
              <a:t>fval</a:t>
            </a:r>
            <a:r>
              <a:rPr lang="en-IN" sz="1800" dirty="0">
                <a:effectLst/>
                <a:latin typeface="Calibri,Italic"/>
              </a:rPr>
              <a:t>*</a:t>
            </a:r>
            <a:r>
              <a:rPr lang="en-IN" sz="1800" dirty="0" err="1">
                <a:effectLst/>
                <a:latin typeface="Calibri,Italic"/>
              </a:rPr>
              <a:t>sval</a:t>
            </a:r>
            <a:r>
              <a:rPr lang="en-IN" sz="1800" dirty="0">
                <a:effectLst/>
                <a:latin typeface="Calibri,Italic"/>
              </a:rPr>
              <a:t>; } </a:t>
            </a:r>
            <a:endParaRPr lang="en-IN" dirty="0"/>
          </a:p>
          <a:p>
            <a:r>
              <a:rPr lang="en-IN" sz="1800" dirty="0">
                <a:effectLst/>
                <a:latin typeface="Calibri,Italic"/>
              </a:rPr>
              <a:t>tx3.setText(""+result);</a:t>
            </a:r>
            <a:br>
              <a:rPr lang="en-IN" sz="1800" dirty="0">
                <a:effectLst/>
                <a:latin typeface="Calibri,Italic"/>
              </a:rPr>
            </a:br>
            <a:r>
              <a:rPr lang="en-IN" sz="1800" dirty="0">
                <a:effectLst/>
                <a:latin typeface="Calibri,Italic"/>
              </a:rPr>
              <a:t>}</a:t>
            </a:r>
            <a:br>
              <a:rPr lang="en-IN" sz="1800" dirty="0">
                <a:effectLst/>
                <a:latin typeface="Calibri,Italic"/>
              </a:rPr>
            </a:br>
            <a:r>
              <a:rPr lang="en-IN" sz="1800" dirty="0">
                <a:effectLst/>
                <a:latin typeface="Calibri,Italic"/>
              </a:rPr>
              <a:t>catch(Exception </a:t>
            </a:r>
            <a:r>
              <a:rPr lang="en-IN" sz="1800" dirty="0" err="1">
                <a:effectLst/>
                <a:latin typeface="Calibri,Italic"/>
              </a:rPr>
              <a:t>ee</a:t>
            </a:r>
            <a:r>
              <a:rPr lang="en-IN" sz="1800" dirty="0">
                <a:effectLst/>
                <a:latin typeface="Calibri,Italic"/>
              </a:rPr>
              <a:t>)</a:t>
            </a:r>
            <a:br>
              <a:rPr lang="en-IN" sz="1800" dirty="0">
                <a:effectLst/>
                <a:latin typeface="Calibri,Italic"/>
              </a:rPr>
            </a:br>
            <a:r>
              <a:rPr lang="en-IN" sz="1800" dirty="0">
                <a:effectLst/>
                <a:latin typeface="Calibri,Italic"/>
              </a:rPr>
              <a:t>{ </a:t>
            </a:r>
            <a:r>
              <a:rPr lang="en-IN" sz="1800" dirty="0" err="1">
                <a:effectLst/>
                <a:latin typeface="Calibri,Italic"/>
              </a:rPr>
              <a:t>ee.printStackTrace</a:t>
            </a:r>
            <a:r>
              <a:rPr lang="en-IN" sz="1800" dirty="0">
                <a:effectLst/>
                <a:latin typeface="Calibri,Italic"/>
              </a:rPr>
              <a:t>(); } </a:t>
            </a:r>
            <a:endParaRPr lang="en-IN" dirty="0"/>
          </a:p>
          <a:p>
            <a:endParaRPr lang="en-US" dirty="0"/>
          </a:p>
        </p:txBody>
      </p:sp>
      <p:sp>
        <p:nvSpPr>
          <p:cNvPr id="4" name="Footer Placeholder 3">
            <a:extLst>
              <a:ext uri="{FF2B5EF4-FFF2-40B4-BE49-F238E27FC236}">
                <a16:creationId xmlns:a16="http://schemas.microsoft.com/office/drawing/2014/main" id="{7959F87A-82C0-6494-621B-A963AED7EC62}"/>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42045485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6FFFA-83A0-EDD3-0F5A-343375166FBB}"/>
              </a:ext>
            </a:extLst>
          </p:cNvPr>
          <p:cNvSpPr>
            <a:spLocks noGrp="1"/>
          </p:cNvSpPr>
          <p:nvPr>
            <p:ph type="title"/>
          </p:nvPr>
        </p:nvSpPr>
        <p:spPr/>
        <p:txBody>
          <a:bodyPr/>
          <a:lstStyle/>
          <a:p>
            <a:r>
              <a:rPr lang="en-US" dirty="0"/>
              <a:t>Login Form</a:t>
            </a:r>
          </a:p>
        </p:txBody>
      </p:sp>
      <p:sp>
        <p:nvSpPr>
          <p:cNvPr id="3" name="Content Placeholder 2">
            <a:extLst>
              <a:ext uri="{FF2B5EF4-FFF2-40B4-BE49-F238E27FC236}">
                <a16:creationId xmlns:a16="http://schemas.microsoft.com/office/drawing/2014/main" id="{D7E28C51-18DA-7E1F-2877-2075F27C9C3C}"/>
              </a:ext>
            </a:extLst>
          </p:cNvPr>
          <p:cNvSpPr>
            <a:spLocks noGrp="1"/>
          </p:cNvSpPr>
          <p:nvPr>
            <p:ph idx="1"/>
          </p:nvPr>
        </p:nvSpPr>
        <p:spPr/>
        <p:txBody>
          <a:bodyPr/>
          <a:lstStyle/>
          <a:p>
            <a:pPr marL="0" marR="0">
              <a:spcBef>
                <a:spcPts val="0"/>
              </a:spcBef>
              <a:spcAft>
                <a:spcPts val="0"/>
              </a:spcAft>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Frame </a:t>
            </a:r>
            <a:r>
              <a:rPr lang="en-IN" sz="1800" b="1" dirty="0">
                <a:solidFill>
                  <a:srgbClr val="7F0055"/>
                </a:solidFill>
                <a:effectLst/>
                <a:latin typeface="Menlo" panose="020B0609030804020204" pitchFamily="49" charset="0"/>
              </a:rPr>
              <a:t>implements</a:t>
            </a:r>
            <a:r>
              <a:rPr lang="en-IN" sz="1800" dirty="0">
                <a:solidFill>
                  <a:srgbClr val="000000"/>
                </a:solidFill>
                <a:effectLst/>
                <a:latin typeface="Menlo" panose="020B0609030804020204" pitchFamily="49" charset="0"/>
              </a:rPr>
              <a:t> ActionListener { </a:t>
            </a:r>
          </a:p>
          <a:p>
            <a:pPr marL="0" marR="0">
              <a:spcBef>
                <a:spcPts val="0"/>
              </a:spcBef>
              <a:spcAft>
                <a:spcPts val="0"/>
              </a:spcAft>
            </a:pPr>
            <a:r>
              <a:rPr lang="en-IN" sz="1800" dirty="0">
                <a:solidFill>
                  <a:srgbClr val="000000"/>
                </a:solidFill>
                <a:effectLst/>
                <a:latin typeface="Menlo" panose="020B0609030804020204" pitchFamily="49" charset="0"/>
              </a:rPr>
              <a:t>Label l1,l2;</a:t>
            </a:r>
          </a:p>
          <a:p>
            <a:pPr marL="0" marR="0">
              <a:spcBef>
                <a:spcPts val="0"/>
              </a:spcBef>
              <a:spcAft>
                <a:spcPts val="0"/>
              </a:spcAft>
            </a:pPr>
            <a:r>
              <a:rPr lang="en-IN" sz="1800" dirty="0" err="1">
                <a:solidFill>
                  <a:srgbClr val="000000"/>
                </a:solidFill>
                <a:effectLst/>
                <a:latin typeface="Menlo" panose="020B0609030804020204" pitchFamily="49" charset="0"/>
              </a:rPr>
              <a:t>TextField</a:t>
            </a:r>
            <a:r>
              <a:rPr lang="en-IN" sz="1800" dirty="0">
                <a:solidFill>
                  <a:srgbClr val="000000"/>
                </a:solidFill>
                <a:effectLst/>
                <a:latin typeface="Menlo" panose="020B0609030804020204" pitchFamily="49" charset="0"/>
              </a:rPr>
              <a:t> tx1,tx2; Button b;</a:t>
            </a:r>
          </a:p>
          <a:p>
            <a:pPr marL="0" marR="0">
              <a:spcBef>
                <a:spcPts val="0"/>
              </a:spcBef>
              <a:spcAft>
                <a:spcPts val="0"/>
              </a:spcAft>
            </a:pPr>
            <a:r>
              <a:rPr lang="en-IN" sz="1800" dirty="0">
                <a:solidFill>
                  <a:srgbClr val="000000"/>
                </a:solidFill>
                <a:effectLst/>
                <a:latin typeface="Menlo" panose="020B0609030804020204" pitchFamily="49" charset="0"/>
              </a:rPr>
              <a:t>String status=</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(400,400); </a:t>
            </a:r>
          </a:p>
          <a:p>
            <a:pPr marL="0" marR="0">
              <a:spcBef>
                <a:spcPts val="0"/>
              </a:spcBef>
              <a:spcAft>
                <a:spcPts val="0"/>
              </a:spcAft>
            </a:pP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"girls"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Color.red</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l1=</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Label(</a:t>
            </a:r>
            <a:r>
              <a:rPr lang="en-IN" sz="1800" dirty="0">
                <a:solidFill>
                  <a:srgbClr val="2A00FF"/>
                </a:solidFill>
                <a:effectLst/>
                <a:latin typeface="Menlo" panose="020B0609030804020204" pitchFamily="49" charset="0"/>
              </a:rPr>
              <a:t>"user name:"</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l2=</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Label(</a:t>
            </a:r>
            <a:r>
              <a:rPr lang="en-IN" sz="1800" dirty="0">
                <a:solidFill>
                  <a:srgbClr val="2A00FF"/>
                </a:solidFill>
                <a:effectLst/>
                <a:latin typeface="Menlo" panose="020B0609030804020204" pitchFamily="49" charset="0"/>
              </a:rPr>
              <a:t>"password:"</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tx1=</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TextField</a:t>
            </a:r>
            <a:r>
              <a:rPr lang="en-IN" sz="1800" dirty="0">
                <a:solidFill>
                  <a:srgbClr val="000000"/>
                </a:solidFill>
                <a:effectLst/>
                <a:latin typeface="Menlo" panose="020B0609030804020204" pitchFamily="49" charset="0"/>
              </a:rPr>
              <a:t>(25); </a:t>
            </a:r>
          </a:p>
          <a:p>
            <a:pPr marL="0" marR="0">
              <a:spcBef>
                <a:spcPts val="0"/>
              </a:spcBef>
              <a:spcAft>
                <a:spcPts val="0"/>
              </a:spcAft>
            </a:pPr>
            <a:r>
              <a:rPr lang="en-IN" sz="1800" dirty="0">
                <a:solidFill>
                  <a:srgbClr val="000000"/>
                </a:solidFill>
                <a:effectLst/>
                <a:latin typeface="Menlo" panose="020B0609030804020204" pitchFamily="49" charset="0"/>
              </a:rPr>
              <a:t>tx2=</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TextField</a:t>
            </a:r>
            <a:r>
              <a:rPr lang="en-IN" sz="1800" dirty="0">
                <a:solidFill>
                  <a:srgbClr val="000000"/>
                </a:solidFill>
                <a:effectLst/>
                <a:latin typeface="Menlo" panose="020B0609030804020204" pitchFamily="49" charset="0"/>
              </a:rPr>
              <a:t>(25);</a:t>
            </a:r>
          </a:p>
          <a:p>
            <a:pPr marL="0" marR="0">
              <a:spcBef>
                <a:spcPts val="0"/>
              </a:spcBef>
              <a:spcAft>
                <a:spcPts val="0"/>
              </a:spcAft>
            </a:pPr>
            <a:r>
              <a:rPr lang="en-IN" sz="1800" dirty="0">
                <a:solidFill>
                  <a:srgbClr val="000000"/>
                </a:solidFill>
                <a:effectLst/>
                <a:latin typeface="Menlo" panose="020B0609030804020204" pitchFamily="49" charset="0"/>
              </a:rPr>
              <a:t>b=</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Button(</a:t>
            </a:r>
            <a:r>
              <a:rPr lang="en-IN" sz="1800" dirty="0">
                <a:solidFill>
                  <a:srgbClr val="2A00FF"/>
                </a:solidFill>
                <a:effectLst/>
                <a:latin typeface="Menlo" panose="020B0609030804020204" pitchFamily="49" charset="0"/>
              </a:rPr>
              <a:t>"login"</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000000"/>
                </a:solidFill>
                <a:effectLst/>
                <a:latin typeface="Menlo" panose="020B0609030804020204" pitchFamily="49" charset="0"/>
              </a:rPr>
              <a:t>b.addActionListener</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tx2.setEchoChar(</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.setLayout</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FlowLayout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(l1); </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(tx1); </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(l2); </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(tx2); </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(b);</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actionPerformed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ActionEvent</a:t>
            </a:r>
            <a:r>
              <a:rPr lang="en-IN" sz="1800" dirty="0">
                <a:solidFill>
                  <a:srgbClr val="000000"/>
                </a:solidFill>
                <a:effectLst/>
                <a:latin typeface="Menlo" panose="020B0609030804020204" pitchFamily="49" charset="0"/>
              </a:rPr>
              <a:t> ae) { </a:t>
            </a:r>
          </a:p>
          <a:p>
            <a:pPr marL="0" marR="0">
              <a:spcBef>
                <a:spcPts val="0"/>
              </a:spcBef>
              <a:spcAft>
                <a:spcPts val="0"/>
              </a:spcAft>
            </a:pPr>
            <a:r>
              <a:rPr lang="en-IN" sz="1800" dirty="0">
                <a:solidFill>
                  <a:srgbClr val="000000"/>
                </a:solidFill>
                <a:effectLst/>
                <a:latin typeface="Menlo" panose="020B0609030804020204" pitchFamily="49" charset="0"/>
              </a:rPr>
              <a:t>String </a:t>
            </a:r>
            <a:r>
              <a:rPr lang="en-IN" sz="1800" dirty="0" err="1">
                <a:solidFill>
                  <a:srgbClr val="000000"/>
                </a:solidFill>
                <a:effectLst/>
                <a:latin typeface="Menlo" panose="020B0609030804020204" pitchFamily="49" charset="0"/>
              </a:rPr>
              <a:t>uname</a:t>
            </a:r>
            <a:r>
              <a:rPr lang="en-IN" sz="1800" dirty="0">
                <a:solidFill>
                  <a:srgbClr val="000000"/>
                </a:solidFill>
                <a:effectLst/>
                <a:latin typeface="Menlo" panose="020B0609030804020204" pitchFamily="49" charset="0"/>
              </a:rPr>
              <a:t>=tx1.getText();</a:t>
            </a:r>
          </a:p>
          <a:p>
            <a:pPr marL="0" marR="0">
              <a:spcBef>
                <a:spcPts val="0"/>
              </a:spcBef>
              <a:spcAft>
                <a:spcPts val="0"/>
              </a:spcAft>
            </a:pPr>
            <a:r>
              <a:rPr lang="en-IN" sz="1800" dirty="0">
                <a:solidFill>
                  <a:srgbClr val="000000"/>
                </a:solidFill>
                <a:effectLst/>
                <a:latin typeface="Menlo" panose="020B0609030804020204" pitchFamily="49" charset="0"/>
              </a:rPr>
              <a:t>String </a:t>
            </a:r>
            <a:r>
              <a:rPr lang="en-IN" sz="1800" dirty="0" err="1">
                <a:solidFill>
                  <a:srgbClr val="000000"/>
                </a:solidFill>
                <a:effectLst/>
                <a:latin typeface="Menlo" panose="020B0609030804020204" pitchFamily="49" charset="0"/>
              </a:rPr>
              <a:t>upwd</a:t>
            </a:r>
            <a:r>
              <a:rPr lang="en-IN" sz="1800" dirty="0">
                <a:solidFill>
                  <a:srgbClr val="000000"/>
                </a:solidFill>
                <a:effectLst/>
                <a:latin typeface="Menlo" panose="020B0609030804020204" pitchFamily="49" charset="0"/>
              </a:rPr>
              <a:t>=tx2.getText();</a:t>
            </a:r>
          </a:p>
          <a:p>
            <a:pPr marL="0" marR="0">
              <a:spcBef>
                <a:spcPts val="0"/>
              </a:spcBef>
              <a:spcAft>
                <a:spcPts val="0"/>
              </a:spcAft>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uname.equals</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Sravya</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)&amp;&amp;</a:t>
            </a:r>
            <a:r>
              <a:rPr lang="en-IN" sz="1800" dirty="0" err="1">
                <a:solidFill>
                  <a:srgbClr val="000000"/>
                </a:solidFill>
                <a:effectLst/>
                <a:latin typeface="Menlo" panose="020B0609030804020204" pitchFamily="49" charset="0"/>
              </a:rPr>
              <a:t>upwd.equals</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dss</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status=</a:t>
            </a:r>
            <a:r>
              <a:rPr lang="en-IN" sz="1800" dirty="0">
                <a:solidFill>
                  <a:srgbClr val="2A00FF"/>
                </a:solidFill>
                <a:effectLst/>
                <a:latin typeface="Menlo" panose="020B0609030804020204" pitchFamily="49" charset="0"/>
              </a:rPr>
              <a:t>"login success"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else</a:t>
            </a:r>
            <a:r>
              <a:rPr lang="en-IN" sz="1800" dirty="0">
                <a:solidFill>
                  <a:srgbClr val="000000"/>
                </a:solidFill>
                <a:effectLst/>
                <a:latin typeface="Menlo" panose="020B0609030804020204" pitchFamily="49" charset="0"/>
              </a:rPr>
              <a:t> { </a:t>
            </a:r>
          </a:p>
          <a:p>
            <a:pPr marL="0" marR="0">
              <a:spcBef>
                <a:spcPts val="0"/>
              </a:spcBef>
              <a:spcAft>
                <a:spcPts val="0"/>
              </a:spcAft>
            </a:pPr>
            <a:r>
              <a:rPr lang="en-IN" sz="1800" dirty="0">
                <a:solidFill>
                  <a:srgbClr val="000000"/>
                </a:solidFill>
                <a:effectLst/>
                <a:latin typeface="Menlo" panose="020B0609030804020204" pitchFamily="49" charset="0"/>
              </a:rPr>
              <a:t>status=</a:t>
            </a:r>
            <a:r>
              <a:rPr lang="en-IN" sz="1800" dirty="0">
                <a:solidFill>
                  <a:srgbClr val="2A00FF"/>
                </a:solidFill>
                <a:effectLst/>
                <a:latin typeface="Menlo" panose="020B0609030804020204" pitchFamily="49" charset="0"/>
              </a:rPr>
              <a:t>"login failure"</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repaint();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paint(Graphics g)</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Font f=</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Font(</a:t>
            </a:r>
            <a:r>
              <a:rPr lang="en-IN" sz="1800" dirty="0">
                <a:solidFill>
                  <a:srgbClr val="2A00FF"/>
                </a:solidFill>
                <a:effectLst/>
                <a:latin typeface="Menlo" panose="020B0609030804020204" pitchFamily="49" charset="0"/>
              </a:rPr>
              <a:t>"arial"</a:t>
            </a:r>
            <a:r>
              <a:rPr lang="en-IN" sz="1800" dirty="0">
                <a:solidFill>
                  <a:srgbClr val="000000"/>
                </a:solidFill>
                <a:effectLst/>
                <a:latin typeface="Menlo" panose="020B0609030804020204" pitchFamily="49" charset="0"/>
              </a:rPr>
              <a:t>,Font.BOLD,30); </a:t>
            </a:r>
          </a:p>
          <a:p>
            <a:pPr marL="0" marR="0">
              <a:spcBef>
                <a:spcPts val="0"/>
              </a:spcBef>
              <a:spcAft>
                <a:spcPts val="0"/>
              </a:spcAft>
            </a:pPr>
            <a:r>
              <a:rPr lang="en-IN" sz="1800" dirty="0" err="1">
                <a:solidFill>
                  <a:srgbClr val="000000"/>
                </a:solidFill>
                <a:effectLst/>
                <a:latin typeface="Menlo" panose="020B0609030804020204" pitchFamily="49" charset="0"/>
              </a:rPr>
              <a:t>g.setFont</a:t>
            </a:r>
            <a:r>
              <a:rPr lang="en-IN" sz="1800" dirty="0">
                <a:solidFill>
                  <a:srgbClr val="000000"/>
                </a:solidFill>
                <a:effectLst/>
                <a:latin typeface="Menlo" panose="020B0609030804020204" pitchFamily="49" charset="0"/>
              </a:rPr>
              <a:t>(f); </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.setForeground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Color.green</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000000"/>
                </a:solidFill>
                <a:effectLst/>
                <a:latin typeface="Menlo" panose="020B0609030804020204" pitchFamily="49" charset="0"/>
              </a:rPr>
              <a:t>g.drawString</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"Status:----"</a:t>
            </a:r>
            <a:r>
              <a:rPr lang="en-IN" sz="1800" dirty="0">
                <a:solidFill>
                  <a:srgbClr val="000000"/>
                </a:solidFill>
                <a:effectLst/>
                <a:latin typeface="Menlo" panose="020B0609030804020204" pitchFamily="49" charset="0"/>
              </a:rPr>
              <a:t>+status,50,300); </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Demo</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u="sng"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p>
          <a:p>
            <a:endParaRPr lang="en-US" dirty="0"/>
          </a:p>
        </p:txBody>
      </p:sp>
      <p:sp>
        <p:nvSpPr>
          <p:cNvPr id="4" name="Footer Placeholder 3">
            <a:extLst>
              <a:ext uri="{FF2B5EF4-FFF2-40B4-BE49-F238E27FC236}">
                <a16:creationId xmlns:a16="http://schemas.microsoft.com/office/drawing/2014/main" id="{93210944-BA76-8E73-8248-FB1318CF3EA7}"/>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8321023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B5346-4260-B6FC-A2B3-D2C2980B3F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FAAA89-023F-037C-9AB1-73D251B4138E}"/>
              </a:ext>
            </a:extLst>
          </p:cNvPr>
          <p:cNvSpPr>
            <a:spLocks noGrp="1"/>
          </p:cNvSpPr>
          <p:nvPr>
            <p:ph type="title"/>
          </p:nvPr>
        </p:nvSpPr>
        <p:spPr/>
        <p:txBody>
          <a:bodyPr/>
          <a:lstStyle/>
          <a:p>
            <a:r>
              <a:rPr lang="en-US" dirty="0"/>
              <a:t>Login Form</a:t>
            </a:r>
          </a:p>
        </p:txBody>
      </p:sp>
      <p:sp>
        <p:nvSpPr>
          <p:cNvPr id="3" name="Content Placeholder 2">
            <a:extLst>
              <a:ext uri="{FF2B5EF4-FFF2-40B4-BE49-F238E27FC236}">
                <a16:creationId xmlns:a16="http://schemas.microsoft.com/office/drawing/2014/main" id="{A177DF05-3A94-C5A4-E2AE-ABD355A099CF}"/>
              </a:ext>
            </a:extLst>
          </p:cNvPr>
          <p:cNvSpPr>
            <a:spLocks noGrp="1"/>
          </p:cNvSpPr>
          <p:nvPr>
            <p:ph idx="1"/>
          </p:nvPr>
        </p:nvSpPr>
        <p:spPr/>
        <p:txBody>
          <a:bodyPr/>
          <a:lstStyle/>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(tx2); </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(b);</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actionPerformed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ActionEvent</a:t>
            </a:r>
            <a:r>
              <a:rPr lang="en-IN" sz="1800" dirty="0">
                <a:solidFill>
                  <a:srgbClr val="000000"/>
                </a:solidFill>
                <a:effectLst/>
                <a:latin typeface="Menlo" panose="020B0609030804020204" pitchFamily="49" charset="0"/>
              </a:rPr>
              <a:t> ae) { </a:t>
            </a:r>
          </a:p>
          <a:p>
            <a:pPr marL="0" marR="0">
              <a:spcBef>
                <a:spcPts val="0"/>
              </a:spcBef>
              <a:spcAft>
                <a:spcPts val="0"/>
              </a:spcAft>
            </a:pPr>
            <a:r>
              <a:rPr lang="en-IN" sz="1800" dirty="0">
                <a:solidFill>
                  <a:srgbClr val="000000"/>
                </a:solidFill>
                <a:effectLst/>
                <a:latin typeface="Menlo" panose="020B0609030804020204" pitchFamily="49" charset="0"/>
              </a:rPr>
              <a:t>String </a:t>
            </a:r>
            <a:r>
              <a:rPr lang="en-IN" sz="1800" dirty="0" err="1">
                <a:solidFill>
                  <a:srgbClr val="000000"/>
                </a:solidFill>
                <a:effectLst/>
                <a:latin typeface="Menlo" panose="020B0609030804020204" pitchFamily="49" charset="0"/>
              </a:rPr>
              <a:t>uname</a:t>
            </a:r>
            <a:r>
              <a:rPr lang="en-IN" sz="1800" dirty="0">
                <a:solidFill>
                  <a:srgbClr val="000000"/>
                </a:solidFill>
                <a:effectLst/>
                <a:latin typeface="Menlo" panose="020B0609030804020204" pitchFamily="49" charset="0"/>
              </a:rPr>
              <a:t>=tx1.getText();</a:t>
            </a:r>
          </a:p>
          <a:p>
            <a:pPr marL="0" marR="0">
              <a:spcBef>
                <a:spcPts val="0"/>
              </a:spcBef>
              <a:spcAft>
                <a:spcPts val="0"/>
              </a:spcAft>
            </a:pPr>
            <a:r>
              <a:rPr lang="en-IN" sz="1800" dirty="0">
                <a:solidFill>
                  <a:srgbClr val="000000"/>
                </a:solidFill>
                <a:effectLst/>
                <a:latin typeface="Menlo" panose="020B0609030804020204" pitchFamily="49" charset="0"/>
              </a:rPr>
              <a:t>String </a:t>
            </a:r>
            <a:r>
              <a:rPr lang="en-IN" sz="1800" dirty="0" err="1">
                <a:solidFill>
                  <a:srgbClr val="000000"/>
                </a:solidFill>
                <a:effectLst/>
                <a:latin typeface="Menlo" panose="020B0609030804020204" pitchFamily="49" charset="0"/>
              </a:rPr>
              <a:t>upwd</a:t>
            </a:r>
            <a:r>
              <a:rPr lang="en-IN" sz="1800" dirty="0">
                <a:solidFill>
                  <a:srgbClr val="000000"/>
                </a:solidFill>
                <a:effectLst/>
                <a:latin typeface="Menlo" panose="020B0609030804020204" pitchFamily="49" charset="0"/>
              </a:rPr>
              <a:t>=tx2.getText();</a:t>
            </a:r>
          </a:p>
          <a:p>
            <a:pPr marL="0" marR="0">
              <a:spcBef>
                <a:spcPts val="0"/>
              </a:spcBef>
              <a:spcAft>
                <a:spcPts val="0"/>
              </a:spcAft>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uname.equals</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Sravya</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)&amp;&amp;</a:t>
            </a:r>
            <a:r>
              <a:rPr lang="en-IN" sz="1800" dirty="0" err="1">
                <a:solidFill>
                  <a:srgbClr val="000000"/>
                </a:solidFill>
                <a:effectLst/>
                <a:latin typeface="Menlo" panose="020B0609030804020204" pitchFamily="49" charset="0"/>
              </a:rPr>
              <a:t>upwd.equals</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dss</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status=</a:t>
            </a:r>
            <a:r>
              <a:rPr lang="en-IN" sz="1800" dirty="0">
                <a:solidFill>
                  <a:srgbClr val="2A00FF"/>
                </a:solidFill>
                <a:effectLst/>
                <a:latin typeface="Menlo" panose="020B0609030804020204" pitchFamily="49" charset="0"/>
              </a:rPr>
              <a:t>"login success"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else</a:t>
            </a:r>
            <a:r>
              <a:rPr lang="en-IN" sz="1800" dirty="0">
                <a:solidFill>
                  <a:srgbClr val="000000"/>
                </a:solidFill>
                <a:effectLst/>
                <a:latin typeface="Menlo" panose="020B0609030804020204" pitchFamily="49" charset="0"/>
              </a:rPr>
              <a:t> { </a:t>
            </a:r>
          </a:p>
          <a:p>
            <a:pPr marL="0" marR="0">
              <a:spcBef>
                <a:spcPts val="0"/>
              </a:spcBef>
              <a:spcAft>
                <a:spcPts val="0"/>
              </a:spcAft>
            </a:pPr>
            <a:r>
              <a:rPr lang="en-IN" sz="1800" dirty="0">
                <a:solidFill>
                  <a:srgbClr val="000000"/>
                </a:solidFill>
                <a:effectLst/>
                <a:latin typeface="Menlo" panose="020B0609030804020204" pitchFamily="49" charset="0"/>
              </a:rPr>
              <a:t>status=</a:t>
            </a:r>
            <a:r>
              <a:rPr lang="en-IN" sz="1800" dirty="0">
                <a:solidFill>
                  <a:srgbClr val="2A00FF"/>
                </a:solidFill>
                <a:effectLst/>
                <a:latin typeface="Menlo" panose="020B0609030804020204" pitchFamily="49" charset="0"/>
              </a:rPr>
              <a:t>"login failure"</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repaint();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paint(Graphics g)</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Font f=</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Font(</a:t>
            </a:r>
            <a:r>
              <a:rPr lang="en-IN" sz="1800" dirty="0">
                <a:solidFill>
                  <a:srgbClr val="2A00FF"/>
                </a:solidFill>
                <a:effectLst/>
                <a:latin typeface="Menlo" panose="020B0609030804020204" pitchFamily="49" charset="0"/>
              </a:rPr>
              <a:t>"arial"</a:t>
            </a:r>
            <a:r>
              <a:rPr lang="en-IN" sz="1800" dirty="0">
                <a:solidFill>
                  <a:srgbClr val="000000"/>
                </a:solidFill>
                <a:effectLst/>
                <a:latin typeface="Menlo" panose="020B0609030804020204" pitchFamily="49" charset="0"/>
              </a:rPr>
              <a:t>,Font.BOLD,30); </a:t>
            </a:r>
          </a:p>
          <a:p>
            <a:pPr marL="0" marR="0">
              <a:spcBef>
                <a:spcPts val="0"/>
              </a:spcBef>
              <a:spcAft>
                <a:spcPts val="0"/>
              </a:spcAft>
            </a:pPr>
            <a:r>
              <a:rPr lang="en-IN" sz="1800" dirty="0" err="1">
                <a:solidFill>
                  <a:srgbClr val="000000"/>
                </a:solidFill>
                <a:effectLst/>
                <a:latin typeface="Menlo" panose="020B0609030804020204" pitchFamily="49" charset="0"/>
              </a:rPr>
              <a:t>g.setFont</a:t>
            </a:r>
            <a:r>
              <a:rPr lang="en-IN" sz="1800" dirty="0">
                <a:solidFill>
                  <a:srgbClr val="000000"/>
                </a:solidFill>
                <a:effectLst/>
                <a:latin typeface="Menlo" panose="020B0609030804020204" pitchFamily="49" charset="0"/>
              </a:rPr>
              <a:t>(f); </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.setForeground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Color.green</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000000"/>
                </a:solidFill>
                <a:effectLst/>
                <a:latin typeface="Menlo" panose="020B0609030804020204" pitchFamily="49" charset="0"/>
              </a:rPr>
              <a:t>g.drawString</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"Status:----"</a:t>
            </a:r>
            <a:r>
              <a:rPr lang="en-IN" sz="1800" dirty="0">
                <a:solidFill>
                  <a:srgbClr val="000000"/>
                </a:solidFill>
                <a:effectLst/>
                <a:latin typeface="Menlo" panose="020B0609030804020204" pitchFamily="49" charset="0"/>
              </a:rPr>
              <a:t>+status,50,300); </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Demo</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u="sng"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p>
          <a:p>
            <a:endParaRPr lang="en-US" dirty="0"/>
          </a:p>
        </p:txBody>
      </p:sp>
      <p:sp>
        <p:nvSpPr>
          <p:cNvPr id="4" name="Footer Placeholder 3">
            <a:extLst>
              <a:ext uri="{FF2B5EF4-FFF2-40B4-BE49-F238E27FC236}">
                <a16:creationId xmlns:a16="http://schemas.microsoft.com/office/drawing/2014/main" id="{6C8D4DFC-4926-96CD-1B15-BB95968EEE04}"/>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2035096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0ABEC-3666-245E-A732-E0595C9F8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970D3-9E2C-CF76-75ED-C4A61A862580}"/>
              </a:ext>
            </a:extLst>
          </p:cNvPr>
          <p:cNvSpPr>
            <a:spLocks noGrp="1"/>
          </p:cNvSpPr>
          <p:nvPr>
            <p:ph type="title"/>
          </p:nvPr>
        </p:nvSpPr>
        <p:spPr/>
        <p:txBody>
          <a:bodyPr/>
          <a:lstStyle/>
          <a:p>
            <a:r>
              <a:rPr lang="en-US" dirty="0"/>
              <a:t>Login Form</a:t>
            </a:r>
          </a:p>
        </p:txBody>
      </p:sp>
      <p:sp>
        <p:nvSpPr>
          <p:cNvPr id="3" name="Content Placeholder 2">
            <a:extLst>
              <a:ext uri="{FF2B5EF4-FFF2-40B4-BE49-F238E27FC236}">
                <a16:creationId xmlns:a16="http://schemas.microsoft.com/office/drawing/2014/main" id="{EA938E56-1D21-8665-3101-5BCA4EDF642E}"/>
              </a:ext>
            </a:extLst>
          </p:cNvPr>
          <p:cNvSpPr>
            <a:spLocks noGrp="1"/>
          </p:cNvSpPr>
          <p:nvPr>
            <p:ph idx="1"/>
          </p:nvPr>
        </p:nvSpPr>
        <p:spPr/>
        <p:txBody>
          <a:bodyPr/>
          <a:lstStyle/>
          <a:p>
            <a:pPr marL="0" marR="0">
              <a:spcBef>
                <a:spcPts val="0"/>
              </a:spcBef>
              <a:spcAft>
                <a:spcPts val="0"/>
              </a:spcAft>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Demo</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u="sng"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p>
          <a:p>
            <a:endParaRPr lang="en-US" dirty="0"/>
          </a:p>
        </p:txBody>
      </p:sp>
      <p:sp>
        <p:nvSpPr>
          <p:cNvPr id="4" name="Footer Placeholder 3">
            <a:extLst>
              <a:ext uri="{FF2B5EF4-FFF2-40B4-BE49-F238E27FC236}">
                <a16:creationId xmlns:a16="http://schemas.microsoft.com/office/drawing/2014/main" id="{209A47A9-0E84-5844-3B70-BC232FE3B69B}"/>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45265066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CC451-4FA9-ABF0-E7A1-AC0D33DC6B5A}"/>
              </a:ext>
            </a:extLst>
          </p:cNvPr>
          <p:cNvSpPr>
            <a:spLocks noGrp="1"/>
          </p:cNvSpPr>
          <p:nvPr>
            <p:ph type="title"/>
          </p:nvPr>
        </p:nvSpPr>
        <p:spPr/>
        <p:txBody>
          <a:bodyPr/>
          <a:lstStyle/>
          <a:p>
            <a:r>
              <a:rPr lang="en-US" dirty="0" err="1"/>
              <a:t>MenuItem</a:t>
            </a:r>
            <a:endParaRPr lang="en-US" dirty="0"/>
          </a:p>
        </p:txBody>
      </p:sp>
      <p:sp>
        <p:nvSpPr>
          <p:cNvPr id="3" name="Content Placeholder 2">
            <a:extLst>
              <a:ext uri="{FF2B5EF4-FFF2-40B4-BE49-F238E27FC236}">
                <a16:creationId xmlns:a16="http://schemas.microsoft.com/office/drawing/2014/main" id="{12C282AA-8D65-3B15-C28E-8C9BBE0F8E80}"/>
              </a:ext>
            </a:extLst>
          </p:cNvPr>
          <p:cNvSpPr>
            <a:spLocks noGrp="1"/>
          </p:cNvSpPr>
          <p:nvPr>
            <p:ph idx="1"/>
          </p:nvPr>
        </p:nvSpPr>
        <p:spPr/>
        <p:txBody>
          <a:bodyPr/>
          <a:lstStyle/>
          <a:p>
            <a:pPr marL="0" marR="0">
              <a:spcBef>
                <a:spcPts val="0"/>
              </a:spcBef>
              <a:spcAft>
                <a:spcPts val="0"/>
              </a:spcAft>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Frame </a:t>
            </a:r>
            <a:r>
              <a:rPr lang="en-IN" sz="1800" b="1" dirty="0">
                <a:solidFill>
                  <a:srgbClr val="7F0055"/>
                </a:solidFill>
                <a:effectLst/>
                <a:latin typeface="Menlo" panose="020B0609030804020204" pitchFamily="49" charset="0"/>
              </a:rPr>
              <a:t>implements</a:t>
            </a:r>
            <a:r>
              <a:rPr lang="en-IN" sz="1800" dirty="0">
                <a:solidFill>
                  <a:srgbClr val="000000"/>
                </a:solidFill>
                <a:effectLst/>
                <a:latin typeface="Menlo" panose="020B0609030804020204" pitchFamily="49" charset="0"/>
              </a:rPr>
              <a:t> ActionListener {</a:t>
            </a:r>
          </a:p>
          <a:p>
            <a:pPr marL="0" marR="0">
              <a:spcBef>
                <a:spcPts val="0"/>
              </a:spcBef>
              <a:spcAft>
                <a:spcPts val="0"/>
              </a:spcAft>
            </a:pPr>
            <a:r>
              <a:rPr lang="en-IN" sz="1800" dirty="0">
                <a:solidFill>
                  <a:srgbClr val="000000"/>
                </a:solidFill>
                <a:effectLst/>
                <a:latin typeface="Menlo" panose="020B0609030804020204" pitchFamily="49" charset="0"/>
              </a:rPr>
              <a:t>String label=</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000000"/>
                </a:solidFill>
                <a:effectLst/>
                <a:latin typeface="Menlo" panose="020B0609030804020204" pitchFamily="49" charset="0"/>
              </a:rPr>
              <a:t>MenuBar</a:t>
            </a:r>
            <a:r>
              <a:rPr lang="en-IN" sz="1800" dirty="0">
                <a:solidFill>
                  <a:srgbClr val="000000"/>
                </a:solidFill>
                <a:effectLst/>
                <a:latin typeface="Menlo" panose="020B0609030804020204" pitchFamily="49" charset="0"/>
              </a:rPr>
              <a:t> mb;</a:t>
            </a:r>
          </a:p>
          <a:p>
            <a:pPr marL="0" marR="0">
              <a:spcBef>
                <a:spcPts val="0"/>
              </a:spcBef>
              <a:spcAft>
                <a:spcPts val="0"/>
              </a:spcAft>
            </a:pPr>
            <a:r>
              <a:rPr lang="en-IN" sz="1800" dirty="0">
                <a:solidFill>
                  <a:srgbClr val="000000"/>
                </a:solidFill>
                <a:effectLst/>
                <a:latin typeface="Menlo" panose="020B0609030804020204" pitchFamily="49" charset="0"/>
              </a:rPr>
              <a:t>Menu m1,m2,m3; </a:t>
            </a:r>
          </a:p>
          <a:p>
            <a:pPr marL="0" marR="0">
              <a:spcBef>
                <a:spcPts val="0"/>
              </a:spcBef>
              <a:spcAft>
                <a:spcPts val="0"/>
              </a:spcAft>
            </a:pPr>
            <a:r>
              <a:rPr lang="en-IN" sz="1800" dirty="0" err="1">
                <a:solidFill>
                  <a:srgbClr val="000000"/>
                </a:solidFill>
                <a:effectLst/>
                <a:latin typeface="Menlo" panose="020B0609030804020204" pitchFamily="49" charset="0"/>
              </a:rPr>
              <a:t>MenuItem</a:t>
            </a:r>
            <a:r>
              <a:rPr lang="en-IN" sz="1800" dirty="0">
                <a:solidFill>
                  <a:srgbClr val="000000"/>
                </a:solidFill>
                <a:effectLst/>
                <a:latin typeface="Menlo" panose="020B0609030804020204" pitchFamily="49" charset="0"/>
              </a:rPr>
              <a:t> mi1,mi2,mi3; </a:t>
            </a:r>
          </a:p>
          <a:p>
            <a:pPr marL="0" marR="0">
              <a:spcBef>
                <a:spcPts val="0"/>
              </a:spcBef>
              <a:spcAft>
                <a:spcPts val="0"/>
              </a:spcAft>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(300,300); </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myFrame</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Color.green</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mb=</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MenuBar</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.setMenuBar</a:t>
            </a:r>
            <a:r>
              <a:rPr lang="en-IN" sz="1800" dirty="0">
                <a:solidFill>
                  <a:srgbClr val="000000"/>
                </a:solidFill>
                <a:effectLst/>
                <a:latin typeface="Menlo" panose="020B0609030804020204" pitchFamily="49" charset="0"/>
              </a:rPr>
              <a:t>(mb);</a:t>
            </a:r>
          </a:p>
          <a:p>
            <a:pPr marL="0" marR="0">
              <a:spcBef>
                <a:spcPts val="0"/>
              </a:spcBef>
              <a:spcAft>
                <a:spcPts val="0"/>
              </a:spcAft>
            </a:pPr>
            <a:r>
              <a:rPr lang="en-IN" sz="1800" dirty="0">
                <a:solidFill>
                  <a:srgbClr val="000000"/>
                </a:solidFill>
                <a:effectLst/>
                <a:latin typeface="Menlo" panose="020B0609030804020204" pitchFamily="49" charset="0"/>
              </a:rPr>
              <a:t>m1=</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Menu(</a:t>
            </a:r>
            <a:r>
              <a:rPr lang="en-IN" sz="1800" dirty="0">
                <a:solidFill>
                  <a:srgbClr val="2A00FF"/>
                </a:solidFill>
                <a:effectLst/>
                <a:latin typeface="Menlo" panose="020B0609030804020204" pitchFamily="49" charset="0"/>
              </a:rPr>
              <a:t>"new"</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m2=</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Menu(</a:t>
            </a:r>
            <a:r>
              <a:rPr lang="en-IN" sz="1800" dirty="0">
                <a:solidFill>
                  <a:srgbClr val="2A00FF"/>
                </a:solidFill>
                <a:effectLst/>
                <a:latin typeface="Menlo" panose="020B0609030804020204" pitchFamily="49" charset="0"/>
              </a:rPr>
              <a:t>"option"</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m3=</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Menu(</a:t>
            </a:r>
            <a:r>
              <a:rPr lang="en-IN" sz="1800" dirty="0">
                <a:solidFill>
                  <a:srgbClr val="2A00FF"/>
                </a:solidFill>
                <a:effectLst/>
                <a:latin typeface="Menlo" panose="020B0609030804020204" pitchFamily="49" charset="0"/>
              </a:rPr>
              <a:t>"edit"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err="1">
                <a:solidFill>
                  <a:srgbClr val="000000"/>
                </a:solidFill>
                <a:effectLst/>
                <a:latin typeface="Menlo" panose="020B0609030804020204" pitchFamily="49" charset="0"/>
              </a:rPr>
              <a:t>mb.add</a:t>
            </a:r>
            <a:r>
              <a:rPr lang="en-IN" sz="1800" dirty="0">
                <a:solidFill>
                  <a:srgbClr val="000000"/>
                </a:solidFill>
                <a:effectLst/>
                <a:latin typeface="Menlo" panose="020B0609030804020204" pitchFamily="49" charset="0"/>
              </a:rPr>
              <a:t>(m1); </a:t>
            </a:r>
          </a:p>
          <a:p>
            <a:pPr marL="0" marR="0">
              <a:spcBef>
                <a:spcPts val="0"/>
              </a:spcBef>
              <a:spcAft>
                <a:spcPts val="0"/>
              </a:spcAft>
            </a:pPr>
            <a:r>
              <a:rPr lang="en-IN" sz="1800" dirty="0" err="1">
                <a:solidFill>
                  <a:srgbClr val="000000"/>
                </a:solidFill>
                <a:effectLst/>
                <a:latin typeface="Menlo" panose="020B0609030804020204" pitchFamily="49" charset="0"/>
              </a:rPr>
              <a:t>mb.add</a:t>
            </a:r>
            <a:r>
              <a:rPr lang="en-IN" sz="1800" dirty="0">
                <a:solidFill>
                  <a:srgbClr val="000000"/>
                </a:solidFill>
                <a:effectLst/>
                <a:latin typeface="Menlo" panose="020B0609030804020204" pitchFamily="49" charset="0"/>
              </a:rPr>
              <a:t>(m2); </a:t>
            </a:r>
          </a:p>
          <a:p>
            <a:pPr marL="0" marR="0">
              <a:spcBef>
                <a:spcPts val="0"/>
              </a:spcBef>
              <a:spcAft>
                <a:spcPts val="0"/>
              </a:spcAft>
            </a:pPr>
            <a:r>
              <a:rPr lang="en-IN" sz="1800" dirty="0" err="1">
                <a:solidFill>
                  <a:srgbClr val="000000"/>
                </a:solidFill>
                <a:effectLst/>
                <a:latin typeface="Menlo" panose="020B0609030804020204" pitchFamily="49" charset="0"/>
              </a:rPr>
              <a:t>mb.add</a:t>
            </a:r>
            <a:r>
              <a:rPr lang="en-IN" sz="1800" dirty="0">
                <a:solidFill>
                  <a:srgbClr val="000000"/>
                </a:solidFill>
                <a:effectLst/>
                <a:latin typeface="Menlo" panose="020B0609030804020204" pitchFamily="49" charset="0"/>
              </a:rPr>
              <a:t>(m3);</a:t>
            </a:r>
          </a:p>
          <a:p>
            <a:pPr marL="0" marR="0">
              <a:spcBef>
                <a:spcPts val="0"/>
              </a:spcBef>
              <a:spcAft>
                <a:spcPts val="0"/>
              </a:spcAft>
            </a:pPr>
            <a:r>
              <a:rPr lang="en-IN" sz="1800" dirty="0">
                <a:solidFill>
                  <a:srgbClr val="000000"/>
                </a:solidFill>
                <a:effectLst/>
                <a:latin typeface="Menlo" panose="020B0609030804020204" pitchFamily="49" charset="0"/>
              </a:rPr>
              <a:t>mi1=</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MenuItem</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"open"</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mi2=</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MenuItem</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"save"</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mi3=</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MenuItem</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saveas</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mi1.addActionListener(</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mi2.addActionListener(</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mi3.addActionListener(</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m1.add(mi1); </a:t>
            </a:r>
          </a:p>
          <a:p>
            <a:pPr marL="0" marR="0">
              <a:spcBef>
                <a:spcPts val="0"/>
              </a:spcBef>
              <a:spcAft>
                <a:spcPts val="0"/>
              </a:spcAft>
            </a:pPr>
            <a:r>
              <a:rPr lang="en-IN" sz="1800" dirty="0">
                <a:solidFill>
                  <a:srgbClr val="000000"/>
                </a:solidFill>
                <a:effectLst/>
                <a:latin typeface="Menlo" panose="020B0609030804020204" pitchFamily="49" charset="0"/>
              </a:rPr>
              <a:t>m1.add(mi2); </a:t>
            </a:r>
          </a:p>
          <a:p>
            <a:pPr marL="0" marR="0">
              <a:spcBef>
                <a:spcPts val="0"/>
              </a:spcBef>
              <a:spcAft>
                <a:spcPts val="0"/>
              </a:spcAft>
            </a:pPr>
            <a:r>
              <a:rPr lang="en-IN" sz="1800" dirty="0">
                <a:solidFill>
                  <a:srgbClr val="000000"/>
                </a:solidFill>
                <a:effectLst/>
                <a:latin typeface="Menlo" panose="020B0609030804020204" pitchFamily="49" charset="0"/>
              </a:rPr>
              <a:t>m1.add(mi3);</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actionPerformed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ActionEvent</a:t>
            </a:r>
            <a:r>
              <a:rPr lang="en-IN" sz="1800" dirty="0">
                <a:solidFill>
                  <a:srgbClr val="000000"/>
                </a:solidFill>
                <a:effectLst/>
                <a:latin typeface="Menlo" panose="020B0609030804020204" pitchFamily="49" charset="0"/>
              </a:rPr>
              <a:t> ae) { </a:t>
            </a:r>
          </a:p>
          <a:p>
            <a:pPr marL="0" marR="0">
              <a:spcBef>
                <a:spcPts val="0"/>
              </a:spcBef>
              <a:spcAft>
                <a:spcPts val="0"/>
              </a:spcAft>
            </a:pPr>
            <a:r>
              <a:rPr lang="en-IN" sz="1800" dirty="0">
                <a:solidFill>
                  <a:srgbClr val="000000"/>
                </a:solidFill>
                <a:effectLst/>
                <a:latin typeface="Menlo" panose="020B0609030804020204" pitchFamily="49" charset="0"/>
              </a:rPr>
              <a:t>label=</a:t>
            </a:r>
            <a:r>
              <a:rPr lang="en-IN" sz="1800" dirty="0" err="1">
                <a:solidFill>
                  <a:srgbClr val="000000"/>
                </a:solidFill>
                <a:effectLst/>
                <a:latin typeface="Menlo" panose="020B0609030804020204" pitchFamily="49" charset="0"/>
              </a:rPr>
              <a:t>ae.getActionCommand</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repaint(); </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paint(Graphics g) {</a:t>
            </a:r>
          </a:p>
          <a:p>
            <a:pPr marL="0" marR="0">
              <a:spcBef>
                <a:spcPts val="0"/>
              </a:spcBef>
              <a:spcAft>
                <a:spcPts val="0"/>
              </a:spcAft>
            </a:pPr>
            <a:r>
              <a:rPr lang="en-IN" sz="1800" dirty="0">
                <a:solidFill>
                  <a:srgbClr val="000000"/>
                </a:solidFill>
                <a:effectLst/>
                <a:latin typeface="Menlo" panose="020B0609030804020204" pitchFamily="49" charset="0"/>
              </a:rPr>
              <a:t>Font f=</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Font(</a:t>
            </a:r>
            <a:r>
              <a:rPr lang="en-IN" sz="1800" dirty="0">
                <a:solidFill>
                  <a:srgbClr val="2A00FF"/>
                </a:solidFill>
                <a:effectLst/>
                <a:latin typeface="Menlo" panose="020B0609030804020204" pitchFamily="49" charset="0"/>
              </a:rPr>
              <a:t>"arial"</a:t>
            </a:r>
            <a:r>
              <a:rPr lang="en-IN" sz="1800" dirty="0">
                <a:solidFill>
                  <a:srgbClr val="000000"/>
                </a:solidFill>
                <a:effectLst/>
                <a:latin typeface="Menlo" panose="020B0609030804020204" pitchFamily="49" charset="0"/>
              </a:rPr>
              <a:t>,Font.BOLD,25); </a:t>
            </a:r>
          </a:p>
          <a:p>
            <a:pPr marL="0" marR="0">
              <a:spcBef>
                <a:spcPts val="0"/>
              </a:spcBef>
              <a:spcAft>
                <a:spcPts val="0"/>
              </a:spcAft>
            </a:pPr>
            <a:r>
              <a:rPr lang="en-IN" sz="1800" dirty="0" err="1">
                <a:solidFill>
                  <a:srgbClr val="000000"/>
                </a:solidFill>
                <a:effectLst/>
                <a:latin typeface="Menlo" panose="020B0609030804020204" pitchFamily="49" charset="0"/>
              </a:rPr>
              <a:t>g.setFont</a:t>
            </a:r>
            <a:r>
              <a:rPr lang="en-IN" sz="1800" dirty="0">
                <a:solidFill>
                  <a:srgbClr val="000000"/>
                </a:solidFill>
                <a:effectLst/>
                <a:latin typeface="Menlo" panose="020B0609030804020204" pitchFamily="49" charset="0"/>
              </a:rPr>
              <a:t>(f);</a:t>
            </a:r>
          </a:p>
          <a:p>
            <a:pPr marL="0" marR="0">
              <a:spcBef>
                <a:spcPts val="0"/>
              </a:spcBef>
              <a:spcAft>
                <a:spcPts val="0"/>
              </a:spcAft>
            </a:pPr>
            <a:r>
              <a:rPr lang="en-IN" sz="1800" dirty="0" err="1">
                <a:solidFill>
                  <a:srgbClr val="000000"/>
                </a:solidFill>
                <a:effectLst/>
                <a:latin typeface="Menlo" panose="020B0609030804020204" pitchFamily="49" charset="0"/>
              </a:rPr>
              <a:t>g.drawString</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"Selected item....."</a:t>
            </a:r>
            <a:r>
              <a:rPr lang="en-IN" sz="1800" dirty="0">
                <a:solidFill>
                  <a:srgbClr val="000000"/>
                </a:solidFill>
                <a:effectLst/>
                <a:latin typeface="Menlo" panose="020B0609030804020204" pitchFamily="49" charset="0"/>
              </a:rPr>
              <a:t>+label,50,200);</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Demo{</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endParaRPr lang="en-US" dirty="0"/>
          </a:p>
        </p:txBody>
      </p:sp>
      <p:sp>
        <p:nvSpPr>
          <p:cNvPr id="4" name="Footer Placeholder 3">
            <a:extLst>
              <a:ext uri="{FF2B5EF4-FFF2-40B4-BE49-F238E27FC236}">
                <a16:creationId xmlns:a16="http://schemas.microsoft.com/office/drawing/2014/main" id="{D9132E5B-D32D-5C8B-719A-D3D698D406D4}"/>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5111357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768D4-F38F-33BF-3125-EEA094CAF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DD9D44-16AF-5047-5932-05CB302C8AE1}"/>
              </a:ext>
            </a:extLst>
          </p:cNvPr>
          <p:cNvSpPr>
            <a:spLocks noGrp="1"/>
          </p:cNvSpPr>
          <p:nvPr>
            <p:ph type="title"/>
          </p:nvPr>
        </p:nvSpPr>
        <p:spPr/>
        <p:txBody>
          <a:bodyPr/>
          <a:lstStyle/>
          <a:p>
            <a:r>
              <a:rPr lang="en-US" dirty="0" err="1"/>
              <a:t>MenuItem</a:t>
            </a:r>
            <a:endParaRPr lang="en-US" dirty="0"/>
          </a:p>
        </p:txBody>
      </p:sp>
      <p:sp>
        <p:nvSpPr>
          <p:cNvPr id="3" name="Content Placeholder 2">
            <a:extLst>
              <a:ext uri="{FF2B5EF4-FFF2-40B4-BE49-F238E27FC236}">
                <a16:creationId xmlns:a16="http://schemas.microsoft.com/office/drawing/2014/main" id="{AD6BD71F-9C6D-5B50-9AD5-1515B026B53B}"/>
              </a:ext>
            </a:extLst>
          </p:cNvPr>
          <p:cNvSpPr>
            <a:spLocks noGrp="1"/>
          </p:cNvSpPr>
          <p:nvPr>
            <p:ph idx="1"/>
          </p:nvPr>
        </p:nvSpPr>
        <p:spPr/>
        <p:txBody>
          <a:bodyPr/>
          <a:lstStyle/>
          <a:p>
            <a:pPr marL="0" marR="0">
              <a:spcBef>
                <a:spcPts val="0"/>
              </a:spcBef>
              <a:spcAft>
                <a:spcPts val="0"/>
              </a:spcAft>
            </a:pPr>
            <a:r>
              <a:rPr lang="en-IN" sz="1600" dirty="0">
                <a:solidFill>
                  <a:srgbClr val="000000"/>
                </a:solidFill>
                <a:effectLst/>
                <a:latin typeface="Menlo" panose="020B0609030804020204" pitchFamily="49" charset="0"/>
              </a:rPr>
              <a:t>mi3=</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MenuItem</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a:t>
            </a:r>
            <a:r>
              <a:rPr lang="en-IN" sz="1600" dirty="0" err="1">
                <a:solidFill>
                  <a:srgbClr val="2A00FF"/>
                </a:solidFill>
                <a:effectLst/>
                <a:latin typeface="Menlo" panose="020B0609030804020204" pitchFamily="49" charset="0"/>
              </a:rPr>
              <a:t>saveas</a:t>
            </a:r>
            <a:r>
              <a:rPr lang="en-IN" sz="1600" dirty="0">
                <a:solidFill>
                  <a:srgbClr val="2A00FF"/>
                </a:solidFill>
                <a:effectLst/>
                <a:latin typeface="Menlo" panose="020B0609030804020204" pitchFamily="49" charset="0"/>
              </a:rPr>
              <a:t>"</a:t>
            </a:r>
            <a:r>
              <a:rPr lang="en-IN" sz="1600" dirty="0">
                <a:solidFill>
                  <a:srgbClr val="000000"/>
                </a:solidFill>
                <a:effectLst/>
                <a:latin typeface="Menlo" panose="020B0609030804020204" pitchFamily="49" charset="0"/>
              </a:rPr>
              <a:t>);</a:t>
            </a:r>
          </a:p>
          <a:p>
            <a:pPr marL="0" marR="0">
              <a:spcBef>
                <a:spcPts val="0"/>
              </a:spcBef>
              <a:spcAft>
                <a:spcPts val="0"/>
              </a:spcAft>
            </a:pPr>
            <a:r>
              <a:rPr lang="en-IN" sz="1600" dirty="0">
                <a:solidFill>
                  <a:srgbClr val="000000"/>
                </a:solidFill>
                <a:effectLst/>
                <a:latin typeface="Menlo" panose="020B0609030804020204" pitchFamily="49" charset="0"/>
              </a:rPr>
              <a:t>mi1.addActionListener(</a:t>
            </a:r>
            <a:r>
              <a:rPr lang="en-IN" sz="1600" b="1" dirty="0">
                <a:solidFill>
                  <a:srgbClr val="7F0055"/>
                </a:solidFill>
                <a:effectLst/>
                <a:latin typeface="Menlo" panose="020B0609030804020204" pitchFamily="49" charset="0"/>
              </a:rPr>
              <a:t>this</a:t>
            </a:r>
            <a:r>
              <a:rPr lang="en-IN" sz="1600" dirty="0">
                <a:solidFill>
                  <a:srgbClr val="000000"/>
                </a:solidFill>
                <a:effectLst/>
                <a:latin typeface="Menlo" panose="020B0609030804020204" pitchFamily="49" charset="0"/>
              </a:rPr>
              <a:t>); </a:t>
            </a:r>
          </a:p>
          <a:p>
            <a:pPr marL="0" marR="0">
              <a:spcBef>
                <a:spcPts val="0"/>
              </a:spcBef>
              <a:spcAft>
                <a:spcPts val="0"/>
              </a:spcAft>
            </a:pPr>
            <a:r>
              <a:rPr lang="en-IN" sz="1600" dirty="0">
                <a:solidFill>
                  <a:srgbClr val="000000"/>
                </a:solidFill>
                <a:effectLst/>
                <a:latin typeface="Menlo" panose="020B0609030804020204" pitchFamily="49" charset="0"/>
              </a:rPr>
              <a:t>mi2.addActionListener(</a:t>
            </a:r>
            <a:r>
              <a:rPr lang="en-IN" sz="1600" b="1" dirty="0">
                <a:solidFill>
                  <a:srgbClr val="7F0055"/>
                </a:solidFill>
                <a:effectLst/>
                <a:latin typeface="Menlo" panose="020B0609030804020204" pitchFamily="49" charset="0"/>
              </a:rPr>
              <a:t>this</a:t>
            </a:r>
            <a:r>
              <a:rPr lang="en-IN" sz="1600" dirty="0">
                <a:solidFill>
                  <a:srgbClr val="000000"/>
                </a:solidFill>
                <a:effectLst/>
                <a:latin typeface="Menlo" panose="020B0609030804020204" pitchFamily="49" charset="0"/>
              </a:rPr>
              <a:t>); </a:t>
            </a:r>
          </a:p>
          <a:p>
            <a:pPr marL="0" marR="0">
              <a:spcBef>
                <a:spcPts val="0"/>
              </a:spcBef>
              <a:spcAft>
                <a:spcPts val="0"/>
              </a:spcAft>
            </a:pPr>
            <a:r>
              <a:rPr lang="en-IN" sz="1600" dirty="0">
                <a:solidFill>
                  <a:srgbClr val="000000"/>
                </a:solidFill>
                <a:effectLst/>
                <a:latin typeface="Menlo" panose="020B0609030804020204" pitchFamily="49" charset="0"/>
              </a:rPr>
              <a:t>mi3.addActionListener(</a:t>
            </a:r>
            <a:r>
              <a:rPr lang="en-IN" sz="1600" b="1" dirty="0">
                <a:solidFill>
                  <a:srgbClr val="7F0055"/>
                </a:solidFill>
                <a:effectLst/>
                <a:latin typeface="Menlo" panose="020B0609030804020204" pitchFamily="49" charset="0"/>
              </a:rPr>
              <a:t>this</a:t>
            </a:r>
            <a:r>
              <a:rPr lang="en-IN" sz="1600" dirty="0">
                <a:solidFill>
                  <a:srgbClr val="000000"/>
                </a:solidFill>
                <a:effectLst/>
                <a:latin typeface="Menlo" panose="020B0609030804020204" pitchFamily="49" charset="0"/>
              </a:rPr>
              <a:t>);</a:t>
            </a:r>
          </a:p>
          <a:p>
            <a:pPr marL="0" marR="0">
              <a:spcBef>
                <a:spcPts val="0"/>
              </a:spcBef>
              <a:spcAft>
                <a:spcPts val="0"/>
              </a:spcAft>
            </a:pPr>
            <a:r>
              <a:rPr lang="en-IN" sz="1600" dirty="0">
                <a:solidFill>
                  <a:srgbClr val="000000"/>
                </a:solidFill>
                <a:effectLst/>
                <a:latin typeface="Menlo" panose="020B0609030804020204" pitchFamily="49" charset="0"/>
              </a:rPr>
              <a:t>m1.add(mi1); </a:t>
            </a:r>
          </a:p>
          <a:p>
            <a:pPr marL="0" marR="0">
              <a:spcBef>
                <a:spcPts val="0"/>
              </a:spcBef>
              <a:spcAft>
                <a:spcPts val="0"/>
              </a:spcAft>
            </a:pPr>
            <a:r>
              <a:rPr lang="en-IN" sz="1600" dirty="0">
                <a:solidFill>
                  <a:srgbClr val="000000"/>
                </a:solidFill>
                <a:effectLst/>
                <a:latin typeface="Menlo" panose="020B0609030804020204" pitchFamily="49" charset="0"/>
              </a:rPr>
              <a:t>m1.add(mi2); </a:t>
            </a:r>
          </a:p>
          <a:p>
            <a:pPr marL="0" marR="0">
              <a:spcBef>
                <a:spcPts val="0"/>
              </a:spcBef>
              <a:spcAft>
                <a:spcPts val="0"/>
              </a:spcAft>
            </a:pPr>
            <a:r>
              <a:rPr lang="en-IN" sz="1600" dirty="0">
                <a:solidFill>
                  <a:srgbClr val="000000"/>
                </a:solidFill>
                <a:effectLst/>
                <a:latin typeface="Menlo" panose="020B0609030804020204" pitchFamily="49" charset="0"/>
              </a:rPr>
              <a:t>m1.add(mi3);</a:t>
            </a:r>
          </a:p>
          <a:p>
            <a:pPr marL="0" marR="0">
              <a:spcBef>
                <a:spcPts val="0"/>
              </a:spcBef>
              <a:spcAft>
                <a:spcPts val="0"/>
              </a:spcAft>
            </a:pPr>
            <a:r>
              <a:rPr lang="en-IN" sz="1600" dirty="0">
                <a:solidFill>
                  <a:srgbClr val="000000"/>
                </a:solidFill>
                <a:effectLst/>
                <a:latin typeface="Menlo" panose="020B0609030804020204" pitchFamily="49" charset="0"/>
              </a:rPr>
              <a:t>}</a:t>
            </a:r>
          </a:p>
          <a:p>
            <a:pPr marL="0" marR="0">
              <a:spcBef>
                <a:spcPts val="0"/>
              </a:spcBef>
              <a:spcAft>
                <a:spcPts val="0"/>
              </a:spcAft>
            </a:pPr>
            <a:r>
              <a:rPr lang="en-IN" sz="1600" b="1" dirty="0">
                <a:solidFill>
                  <a:srgbClr val="7F0055"/>
                </a:solidFill>
                <a:effectLst/>
                <a:latin typeface="Menlo" panose="020B0609030804020204" pitchFamily="49" charset="0"/>
              </a:rPr>
              <a:t>public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actionPerformed</a:t>
            </a:r>
            <a:r>
              <a:rPr lang="en-IN" sz="1600" dirty="0">
                <a:solidFill>
                  <a:srgbClr val="000000"/>
                </a:solidFill>
                <a:effectLst/>
                <a:latin typeface="Menlo" panose="020B0609030804020204" pitchFamily="49" charset="0"/>
              </a:rPr>
              <a:t>(</a:t>
            </a:r>
            <a:r>
              <a:rPr lang="en-IN" sz="1600" dirty="0" err="1">
                <a:solidFill>
                  <a:srgbClr val="000000"/>
                </a:solidFill>
                <a:effectLst/>
                <a:latin typeface="Menlo" panose="020B0609030804020204" pitchFamily="49" charset="0"/>
              </a:rPr>
              <a:t>ActionEvent</a:t>
            </a:r>
            <a:r>
              <a:rPr lang="en-IN" sz="1600" dirty="0">
                <a:solidFill>
                  <a:srgbClr val="000000"/>
                </a:solidFill>
                <a:effectLst/>
                <a:latin typeface="Menlo" panose="020B0609030804020204" pitchFamily="49" charset="0"/>
              </a:rPr>
              <a:t> ae) { </a:t>
            </a:r>
          </a:p>
          <a:p>
            <a:pPr marL="0" marR="0">
              <a:spcBef>
                <a:spcPts val="0"/>
              </a:spcBef>
              <a:spcAft>
                <a:spcPts val="0"/>
              </a:spcAft>
            </a:pPr>
            <a:r>
              <a:rPr lang="en-IN" sz="1600" dirty="0">
                <a:solidFill>
                  <a:srgbClr val="000000"/>
                </a:solidFill>
                <a:effectLst/>
                <a:latin typeface="Menlo" panose="020B0609030804020204" pitchFamily="49" charset="0"/>
              </a:rPr>
              <a:t>label=</a:t>
            </a:r>
            <a:r>
              <a:rPr lang="en-IN" sz="1600" dirty="0" err="1">
                <a:solidFill>
                  <a:srgbClr val="000000"/>
                </a:solidFill>
                <a:effectLst/>
                <a:latin typeface="Menlo" panose="020B0609030804020204" pitchFamily="49" charset="0"/>
              </a:rPr>
              <a:t>ae.getActionCommand</a:t>
            </a:r>
            <a:r>
              <a:rPr lang="en-IN" sz="1600" dirty="0">
                <a:solidFill>
                  <a:srgbClr val="000000"/>
                </a:solidFill>
                <a:effectLst/>
                <a:latin typeface="Menlo" panose="020B0609030804020204" pitchFamily="49" charset="0"/>
              </a:rPr>
              <a:t>();</a:t>
            </a:r>
          </a:p>
          <a:p>
            <a:pPr marL="0" marR="0">
              <a:spcBef>
                <a:spcPts val="0"/>
              </a:spcBef>
              <a:spcAft>
                <a:spcPts val="0"/>
              </a:spcAft>
            </a:pPr>
            <a:r>
              <a:rPr lang="en-IN" sz="1600" dirty="0">
                <a:solidFill>
                  <a:srgbClr val="000000"/>
                </a:solidFill>
                <a:effectLst/>
                <a:latin typeface="Menlo" panose="020B0609030804020204" pitchFamily="49" charset="0"/>
              </a:rPr>
              <a:t>repaint(); </a:t>
            </a:r>
          </a:p>
          <a:p>
            <a:pPr marL="0" marR="0">
              <a:spcBef>
                <a:spcPts val="0"/>
              </a:spcBef>
              <a:spcAft>
                <a:spcPts val="0"/>
              </a:spcAft>
            </a:pPr>
            <a:r>
              <a:rPr lang="en-IN" sz="1600" dirty="0">
                <a:solidFill>
                  <a:srgbClr val="000000"/>
                </a:solidFill>
                <a:effectLst/>
                <a:latin typeface="Menlo" panose="020B0609030804020204" pitchFamily="49" charset="0"/>
              </a:rPr>
              <a:t>}</a:t>
            </a:r>
          </a:p>
          <a:p>
            <a:pPr marL="0" marR="0">
              <a:spcBef>
                <a:spcPts val="0"/>
              </a:spcBef>
              <a:spcAft>
                <a:spcPts val="0"/>
              </a:spcAft>
            </a:pPr>
            <a:r>
              <a:rPr lang="en-IN" sz="1600" b="1" dirty="0">
                <a:solidFill>
                  <a:srgbClr val="7F0055"/>
                </a:solidFill>
                <a:effectLst/>
                <a:latin typeface="Menlo" panose="020B0609030804020204" pitchFamily="49" charset="0"/>
              </a:rPr>
              <a:t>public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paint(Graphics g) {</a:t>
            </a:r>
          </a:p>
          <a:p>
            <a:pPr marL="0" marR="0">
              <a:spcBef>
                <a:spcPts val="0"/>
              </a:spcBef>
              <a:spcAft>
                <a:spcPts val="0"/>
              </a:spcAft>
            </a:pPr>
            <a:r>
              <a:rPr lang="en-IN" sz="1600" dirty="0">
                <a:solidFill>
                  <a:srgbClr val="000000"/>
                </a:solidFill>
                <a:effectLst/>
                <a:latin typeface="Menlo" panose="020B0609030804020204" pitchFamily="49" charset="0"/>
              </a:rPr>
              <a:t>Font f=</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Font(</a:t>
            </a:r>
            <a:r>
              <a:rPr lang="en-IN" sz="1600" dirty="0">
                <a:solidFill>
                  <a:srgbClr val="2A00FF"/>
                </a:solidFill>
                <a:effectLst/>
                <a:latin typeface="Menlo" panose="020B0609030804020204" pitchFamily="49" charset="0"/>
              </a:rPr>
              <a:t>"arial"</a:t>
            </a:r>
            <a:r>
              <a:rPr lang="en-IN" sz="1600" dirty="0">
                <a:solidFill>
                  <a:srgbClr val="000000"/>
                </a:solidFill>
                <a:effectLst/>
                <a:latin typeface="Menlo" panose="020B0609030804020204" pitchFamily="49" charset="0"/>
              </a:rPr>
              <a:t>,Font.BOLD,25); </a:t>
            </a:r>
          </a:p>
          <a:p>
            <a:pPr marL="0" marR="0">
              <a:spcBef>
                <a:spcPts val="0"/>
              </a:spcBef>
              <a:spcAft>
                <a:spcPts val="0"/>
              </a:spcAft>
            </a:pPr>
            <a:r>
              <a:rPr lang="en-IN" sz="1600" dirty="0" err="1">
                <a:solidFill>
                  <a:srgbClr val="000000"/>
                </a:solidFill>
                <a:effectLst/>
                <a:latin typeface="Menlo" panose="020B0609030804020204" pitchFamily="49" charset="0"/>
              </a:rPr>
              <a:t>g.setFont</a:t>
            </a:r>
            <a:r>
              <a:rPr lang="en-IN" sz="1600" dirty="0">
                <a:solidFill>
                  <a:srgbClr val="000000"/>
                </a:solidFill>
                <a:effectLst/>
                <a:latin typeface="Menlo" panose="020B0609030804020204" pitchFamily="49" charset="0"/>
              </a:rPr>
              <a:t>(f);</a:t>
            </a:r>
          </a:p>
          <a:p>
            <a:pPr marL="0" marR="0">
              <a:spcBef>
                <a:spcPts val="0"/>
              </a:spcBef>
              <a:spcAft>
                <a:spcPts val="0"/>
              </a:spcAft>
            </a:pPr>
            <a:r>
              <a:rPr lang="en-IN" sz="1600" dirty="0" err="1">
                <a:solidFill>
                  <a:srgbClr val="000000"/>
                </a:solidFill>
                <a:effectLst/>
                <a:latin typeface="Menlo" panose="020B0609030804020204" pitchFamily="49" charset="0"/>
              </a:rPr>
              <a:t>g.drawString</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"Selected item....."</a:t>
            </a:r>
            <a:r>
              <a:rPr lang="en-IN" sz="1600" dirty="0">
                <a:solidFill>
                  <a:srgbClr val="000000"/>
                </a:solidFill>
                <a:effectLst/>
                <a:latin typeface="Menlo" panose="020B0609030804020204" pitchFamily="49" charset="0"/>
              </a:rPr>
              <a:t>+label,50,200);</a:t>
            </a:r>
          </a:p>
          <a:p>
            <a:pPr marL="0" marR="0">
              <a:spcBef>
                <a:spcPts val="0"/>
              </a:spcBef>
              <a:spcAft>
                <a:spcPts val="0"/>
              </a:spcAft>
            </a:pPr>
            <a:r>
              <a:rPr lang="en-IN" sz="1600" dirty="0">
                <a:solidFill>
                  <a:srgbClr val="000000"/>
                </a:solidFill>
                <a:effectLst/>
                <a:latin typeface="Menlo" panose="020B0609030804020204" pitchFamily="49" charset="0"/>
              </a:rPr>
              <a:t>}</a:t>
            </a:r>
          </a:p>
          <a:p>
            <a:pPr marL="0" marR="0">
              <a:spcBef>
                <a:spcPts val="0"/>
              </a:spcBef>
              <a:spcAft>
                <a:spcPts val="0"/>
              </a:spcAft>
            </a:pPr>
            <a:r>
              <a:rPr lang="en-IN" sz="1600" dirty="0">
                <a:solidFill>
                  <a:srgbClr val="000000"/>
                </a:solidFill>
                <a:effectLst/>
                <a:latin typeface="Menlo" panose="020B0609030804020204" pitchFamily="49" charset="0"/>
              </a:rPr>
              <a:t>}</a:t>
            </a:r>
          </a:p>
          <a:p>
            <a:pPr marL="0" marR="0">
              <a:spcBef>
                <a:spcPts val="0"/>
              </a:spcBef>
              <a:spcAft>
                <a:spcPts val="0"/>
              </a:spcAft>
            </a:pP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Demo{</a:t>
            </a:r>
          </a:p>
          <a:p>
            <a:pPr marL="0" marR="0">
              <a:spcBef>
                <a:spcPts val="0"/>
              </a:spcBef>
              <a:spcAft>
                <a:spcPts val="0"/>
              </a:spcAft>
            </a:pPr>
            <a:r>
              <a:rPr lang="en-IN" sz="1600" b="1" dirty="0">
                <a:solidFill>
                  <a:srgbClr val="7F0055"/>
                </a:solidFill>
                <a:effectLst/>
                <a:latin typeface="Menlo" panose="020B0609030804020204" pitchFamily="49" charset="0"/>
              </a:rPr>
              <a:t>public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static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main(String[] </a:t>
            </a:r>
            <a:r>
              <a:rPr lang="en-IN" sz="1600" dirty="0" err="1">
                <a:solidFill>
                  <a:srgbClr val="6A3E3E"/>
                </a:solidFill>
                <a:effectLst/>
                <a:latin typeface="Menlo" panose="020B0609030804020204" pitchFamily="49" charset="0"/>
              </a:rPr>
              <a:t>args</a:t>
            </a:r>
            <a:r>
              <a:rPr lang="en-IN" sz="1600" dirty="0">
                <a:solidFill>
                  <a:srgbClr val="000000"/>
                </a:solidFill>
                <a:effectLst/>
                <a:latin typeface="Menlo" panose="020B0609030804020204" pitchFamily="49" charset="0"/>
              </a:rPr>
              <a:t>) {</a:t>
            </a:r>
          </a:p>
          <a:p>
            <a:pPr marL="0" marR="0">
              <a:spcBef>
                <a:spcPts val="0"/>
              </a:spcBef>
              <a:spcAft>
                <a:spcPts val="0"/>
              </a:spcAft>
            </a:pPr>
            <a:r>
              <a:rPr lang="en-IN" sz="1600" dirty="0" err="1">
                <a:solidFill>
                  <a:srgbClr val="000000"/>
                </a:solidFill>
                <a:effectLst/>
                <a:latin typeface="Menlo" panose="020B0609030804020204" pitchFamily="49" charset="0"/>
              </a:rPr>
              <a:t>MyFrame</a:t>
            </a:r>
            <a:r>
              <a:rPr lang="en-IN" sz="1600" dirty="0">
                <a:solidFill>
                  <a:srgbClr val="000000"/>
                </a:solidFill>
                <a:effectLst/>
                <a:latin typeface="Menlo" panose="020B0609030804020204" pitchFamily="49" charset="0"/>
              </a:rPr>
              <a:t> </a:t>
            </a:r>
            <a:r>
              <a:rPr lang="en-IN" sz="1600" dirty="0">
                <a:solidFill>
                  <a:srgbClr val="6A3E3E"/>
                </a:solidFill>
                <a:effectLst/>
                <a:latin typeface="Menlo" panose="020B0609030804020204" pitchFamily="49" charset="0"/>
              </a:rPr>
              <a:t>f</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MyFrame</a:t>
            </a:r>
            <a:r>
              <a:rPr lang="en-IN" sz="1600" dirty="0">
                <a:solidFill>
                  <a:srgbClr val="000000"/>
                </a:solidFill>
                <a:effectLst/>
                <a:latin typeface="Menlo" panose="020B0609030804020204" pitchFamily="49" charset="0"/>
              </a:rPr>
              <a:t>();</a:t>
            </a:r>
          </a:p>
          <a:p>
            <a:pPr marL="0" marR="0">
              <a:spcBef>
                <a:spcPts val="0"/>
              </a:spcBef>
              <a:spcAft>
                <a:spcPts val="0"/>
              </a:spcAft>
            </a:pPr>
            <a:r>
              <a:rPr lang="en-IN" sz="1600" dirty="0">
                <a:solidFill>
                  <a:srgbClr val="000000"/>
                </a:solidFill>
                <a:effectLst/>
                <a:latin typeface="Menlo" panose="020B0609030804020204" pitchFamily="49" charset="0"/>
              </a:rPr>
              <a:t>}</a:t>
            </a:r>
          </a:p>
          <a:p>
            <a:pPr marL="0" marR="0">
              <a:spcBef>
                <a:spcPts val="0"/>
              </a:spcBef>
              <a:spcAft>
                <a:spcPts val="0"/>
              </a:spcAft>
            </a:pPr>
            <a:r>
              <a:rPr lang="en-IN" sz="1600" dirty="0">
                <a:solidFill>
                  <a:srgbClr val="000000"/>
                </a:solidFill>
                <a:effectLst/>
                <a:latin typeface="Menlo" panose="020B0609030804020204" pitchFamily="49" charset="0"/>
              </a:rPr>
              <a:t>}</a:t>
            </a:r>
          </a:p>
          <a:p>
            <a:endParaRPr lang="en-US" sz="2800" dirty="0"/>
          </a:p>
        </p:txBody>
      </p:sp>
      <p:sp>
        <p:nvSpPr>
          <p:cNvPr id="4" name="Footer Placeholder 3">
            <a:extLst>
              <a:ext uri="{FF2B5EF4-FFF2-40B4-BE49-F238E27FC236}">
                <a16:creationId xmlns:a16="http://schemas.microsoft.com/office/drawing/2014/main" id="{DC230ED2-81F8-B0DB-0EC5-C9337AABF5CA}"/>
              </a:ext>
            </a:extLst>
          </p:cNvPr>
          <p:cNvSpPr>
            <a:spLocks noGrp="1"/>
          </p:cNvSpPr>
          <p:nvPr>
            <p:ph type="ftr" sz="quarter" idx="11"/>
          </p:nvPr>
        </p:nvSpPr>
        <p:spPr/>
        <p:txBody>
          <a:bodyPr/>
          <a:lstStyle/>
          <a:p>
            <a:pPr>
              <a:defRPr/>
            </a:pPr>
            <a:r>
              <a:rPr lang="en-US" dirty="0"/>
              <a:t>Dr. Naveen Kumar, Associate Professor, AIIT, AUP</a:t>
            </a:r>
          </a:p>
        </p:txBody>
      </p:sp>
    </p:spTree>
    <p:extLst>
      <p:ext uri="{BB962C8B-B14F-4D97-AF65-F5344CB8AC3E}">
        <p14:creationId xmlns:p14="http://schemas.microsoft.com/office/powerpoint/2010/main" val="318903389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EA778-20F4-402C-9A73-56F186834CEC}"/>
              </a:ext>
            </a:extLst>
          </p:cNvPr>
          <p:cNvSpPr>
            <a:spLocks noGrp="1"/>
          </p:cNvSpPr>
          <p:nvPr>
            <p:ph type="title"/>
          </p:nvPr>
        </p:nvSpPr>
        <p:spPr/>
        <p:txBody>
          <a:bodyPr/>
          <a:lstStyle/>
          <a:p>
            <a:r>
              <a:rPr lang="en-US" dirty="0" err="1"/>
              <a:t>MouseListener</a:t>
            </a:r>
            <a:endParaRPr lang="en-US" dirty="0"/>
          </a:p>
        </p:txBody>
      </p:sp>
      <p:sp>
        <p:nvSpPr>
          <p:cNvPr id="3" name="Content Placeholder 2">
            <a:extLst>
              <a:ext uri="{FF2B5EF4-FFF2-40B4-BE49-F238E27FC236}">
                <a16:creationId xmlns:a16="http://schemas.microsoft.com/office/drawing/2014/main" id="{C90913D5-45BA-0EC2-59C2-9913953C9129}"/>
              </a:ext>
            </a:extLst>
          </p:cNvPr>
          <p:cNvSpPr>
            <a:spLocks noGrp="1"/>
          </p:cNvSpPr>
          <p:nvPr>
            <p:ph idx="1"/>
          </p:nvPr>
        </p:nvSpPr>
        <p:spPr/>
        <p:txBody>
          <a:bodyPr/>
          <a:lstStyle/>
          <a:p>
            <a:pPr marL="0" marR="0">
              <a:spcBef>
                <a:spcPts val="0"/>
              </a:spcBef>
              <a:spcAft>
                <a:spcPts val="0"/>
              </a:spcAft>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Frame </a:t>
            </a:r>
            <a:r>
              <a:rPr lang="en-IN" sz="1800" b="1" dirty="0">
                <a:solidFill>
                  <a:srgbClr val="7F0055"/>
                </a:solidFill>
                <a:effectLst/>
                <a:latin typeface="Menlo" panose="020B0609030804020204" pitchFamily="49" charset="0"/>
              </a:rPr>
              <a:t>implements</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MouseListener</a:t>
            </a:r>
            <a:r>
              <a:rPr lang="en-IN" sz="1800" dirty="0">
                <a:solidFill>
                  <a:srgbClr val="000000"/>
                </a:solidFill>
                <a:effectLst/>
                <a:latin typeface="Menlo" panose="020B0609030804020204" pitchFamily="49" charset="0"/>
              </a:rPr>
              <a:t> { </a:t>
            </a:r>
          </a:p>
          <a:p>
            <a:pPr marL="0" marR="0">
              <a:spcBef>
                <a:spcPts val="0"/>
              </a:spcBef>
              <a:spcAft>
                <a:spcPts val="0"/>
              </a:spcAft>
            </a:pPr>
            <a:r>
              <a:rPr lang="en-IN" sz="1800" dirty="0">
                <a:solidFill>
                  <a:srgbClr val="000000"/>
                </a:solidFill>
                <a:effectLst/>
                <a:latin typeface="Menlo" panose="020B0609030804020204" pitchFamily="49" charset="0"/>
              </a:rPr>
              <a:t>String[] </a:t>
            </a:r>
            <a:r>
              <a:rPr lang="en-IN" sz="1800" dirty="0" err="1">
                <a:solidFill>
                  <a:srgbClr val="0000C0"/>
                </a:solidFill>
                <a:effectLst/>
                <a:latin typeface="Menlo" panose="020B0609030804020204" pitchFamily="49" charset="0"/>
              </a:rPr>
              <a:t>msg</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String[5];</a:t>
            </a:r>
          </a:p>
          <a:p>
            <a:pPr marL="0" marR="0">
              <a:spcBef>
                <a:spcPts val="0"/>
              </a:spcBef>
              <a:spcAft>
                <a:spcPts val="0"/>
              </a:spcAft>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(500,500);</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.addMouseListener</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mouseClicked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MouseEvent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err="1">
                <a:solidFill>
                  <a:srgbClr val="0000C0"/>
                </a:solidFill>
                <a:effectLst/>
                <a:latin typeface="Menlo" panose="020B0609030804020204" pitchFamily="49" charset="0"/>
              </a:rPr>
              <a:t>msg</a:t>
            </a:r>
            <a:r>
              <a:rPr lang="en-IN" sz="1800" dirty="0">
                <a:solidFill>
                  <a:srgbClr val="000000"/>
                </a:solidFill>
                <a:effectLst/>
                <a:latin typeface="Menlo" panose="020B0609030804020204" pitchFamily="49" charset="0"/>
              </a:rPr>
              <a:t>[0]=</a:t>
            </a:r>
            <a:r>
              <a:rPr lang="en-IN" sz="1800" dirty="0">
                <a:solidFill>
                  <a:srgbClr val="2A00FF"/>
                </a:solidFill>
                <a:effectLst/>
                <a:latin typeface="Menlo" panose="020B0609030804020204" pitchFamily="49" charset="0"/>
              </a:rPr>
              <a:t>"mouse clicked......("</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.getX</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.getY</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repaint(); }</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mousePressed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MouseEvent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err="1">
                <a:solidFill>
                  <a:srgbClr val="0000C0"/>
                </a:solidFill>
                <a:effectLst/>
                <a:latin typeface="Menlo" panose="020B0609030804020204" pitchFamily="49" charset="0"/>
              </a:rPr>
              <a:t>msg</a:t>
            </a:r>
            <a:r>
              <a:rPr lang="en-IN" sz="1800" dirty="0">
                <a:solidFill>
                  <a:srgbClr val="000000"/>
                </a:solidFill>
                <a:effectLst/>
                <a:latin typeface="Menlo" panose="020B0609030804020204" pitchFamily="49" charset="0"/>
              </a:rPr>
              <a:t>[1]=</a:t>
            </a:r>
            <a:r>
              <a:rPr lang="en-IN" sz="1800" dirty="0">
                <a:solidFill>
                  <a:srgbClr val="2A00FF"/>
                </a:solidFill>
                <a:effectLst/>
                <a:latin typeface="Menlo" panose="020B0609030804020204" pitchFamily="49" charset="0"/>
              </a:rPr>
              <a:t>"mouse pressed......("</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.getX</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.getY</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repaint(); }</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mouseReleased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MouseEvent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err="1">
                <a:solidFill>
                  <a:srgbClr val="0000C0"/>
                </a:solidFill>
                <a:effectLst/>
                <a:latin typeface="Menlo" panose="020B0609030804020204" pitchFamily="49" charset="0"/>
              </a:rPr>
              <a:t>msg</a:t>
            </a:r>
            <a:r>
              <a:rPr lang="en-IN" sz="1800" dirty="0">
                <a:solidFill>
                  <a:srgbClr val="000000"/>
                </a:solidFill>
                <a:effectLst/>
                <a:latin typeface="Menlo" panose="020B0609030804020204" pitchFamily="49" charset="0"/>
              </a:rPr>
              <a:t>[2]=</a:t>
            </a:r>
            <a:r>
              <a:rPr lang="en-IN" sz="1800" dirty="0">
                <a:solidFill>
                  <a:srgbClr val="2A00FF"/>
                </a:solidFill>
                <a:effectLst/>
                <a:latin typeface="Menlo" panose="020B0609030804020204" pitchFamily="49" charset="0"/>
              </a:rPr>
              <a:t>"mouse released......("</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.getX</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.getY</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repaint(); }</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mouseEntered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MouseEvent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err="1">
                <a:solidFill>
                  <a:srgbClr val="0000C0"/>
                </a:solidFill>
                <a:effectLst/>
                <a:latin typeface="Menlo" panose="020B0609030804020204" pitchFamily="49" charset="0"/>
              </a:rPr>
              <a:t>msg</a:t>
            </a:r>
            <a:r>
              <a:rPr lang="en-IN" sz="1800" dirty="0">
                <a:solidFill>
                  <a:srgbClr val="000000"/>
                </a:solidFill>
                <a:effectLst/>
                <a:latin typeface="Menlo" panose="020B0609030804020204" pitchFamily="49" charset="0"/>
              </a:rPr>
              <a:t>[3]=</a:t>
            </a:r>
            <a:r>
              <a:rPr lang="en-IN" sz="1800" dirty="0">
                <a:solidFill>
                  <a:srgbClr val="2A00FF"/>
                </a:solidFill>
                <a:effectLst/>
                <a:latin typeface="Menlo" panose="020B0609030804020204" pitchFamily="49" charset="0"/>
              </a:rPr>
              <a:t>"mouse entered......("</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.getX</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.getY</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repaint(); }</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mouseExited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MouseEvent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err="1">
                <a:solidFill>
                  <a:srgbClr val="0000C0"/>
                </a:solidFill>
                <a:effectLst/>
                <a:latin typeface="Menlo" panose="020B0609030804020204" pitchFamily="49" charset="0"/>
              </a:rPr>
              <a:t>msg</a:t>
            </a:r>
            <a:r>
              <a:rPr lang="en-IN" sz="1800" dirty="0">
                <a:solidFill>
                  <a:srgbClr val="000000"/>
                </a:solidFill>
                <a:effectLst/>
                <a:latin typeface="Menlo" panose="020B0609030804020204" pitchFamily="49" charset="0"/>
              </a:rPr>
              <a:t>[4]=</a:t>
            </a:r>
            <a:r>
              <a:rPr lang="en-IN" sz="1800" dirty="0">
                <a:solidFill>
                  <a:srgbClr val="2A00FF"/>
                </a:solidFill>
                <a:effectLst/>
                <a:latin typeface="Menlo" panose="020B0609030804020204" pitchFamily="49" charset="0"/>
              </a:rPr>
              <a:t>"mouse exited......("</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.getX</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.getY</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repaint(); }</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paint(Graphics </a:t>
            </a:r>
            <a:r>
              <a:rPr lang="en-IN" sz="1800" dirty="0">
                <a:solidFill>
                  <a:srgbClr val="6A3E3E"/>
                </a:solidFill>
                <a:effectLst/>
                <a:latin typeface="Menlo" panose="020B0609030804020204" pitchFamily="49" charset="0"/>
              </a:rPr>
              <a:t>g</a:t>
            </a:r>
            <a:r>
              <a:rPr lang="en-IN" sz="1800" dirty="0">
                <a:solidFill>
                  <a:srgbClr val="000000"/>
                </a:solidFill>
                <a:effectLst/>
                <a:latin typeface="Menlo" panose="020B0609030804020204" pitchFamily="49" charset="0"/>
              </a:rPr>
              <a:t>) { </a:t>
            </a: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X</a:t>
            </a:r>
            <a:r>
              <a:rPr lang="en-IN" sz="1800" dirty="0">
                <a:solidFill>
                  <a:srgbClr val="000000"/>
                </a:solidFill>
                <a:effectLst/>
                <a:latin typeface="Menlo" panose="020B0609030804020204" pitchFamily="49" charset="0"/>
              </a:rPr>
              <a:t>=50;</a:t>
            </a:r>
          </a:p>
          <a:p>
            <a:pPr marL="0" marR="0">
              <a:spcBef>
                <a:spcPts val="0"/>
              </a:spcBef>
              <a:spcAft>
                <a:spcPts val="0"/>
              </a:spcAft>
            </a:pP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Y</a:t>
            </a:r>
            <a:r>
              <a:rPr lang="en-IN" sz="1800" dirty="0">
                <a:solidFill>
                  <a:srgbClr val="000000"/>
                </a:solidFill>
                <a:effectLst/>
                <a:latin typeface="Menlo" panose="020B0609030804020204" pitchFamily="49" charset="0"/>
              </a:rPr>
              <a:t>=100;</a:t>
            </a:r>
          </a:p>
          <a:p>
            <a:pPr marL="0" marR="0">
              <a:spcBef>
                <a:spcPts val="0"/>
              </a:spcBef>
              <a:spcAft>
                <a:spcPts val="0"/>
              </a:spcAft>
            </a:pPr>
            <a:r>
              <a:rPr lang="en-IN" sz="1800" b="1" dirty="0">
                <a:solidFill>
                  <a:srgbClr val="7F0055"/>
                </a:solidFill>
                <a:effectLst/>
                <a:latin typeface="Menlo" panose="020B0609030804020204" pitchFamily="49" charset="0"/>
              </a:rPr>
              <a:t>for</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=0;</a:t>
            </a:r>
            <a:r>
              <a:rPr lang="en-IN" sz="1800" dirty="0">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&lt;</a:t>
            </a:r>
            <a:r>
              <a:rPr lang="en-IN" sz="1800" dirty="0" err="1">
                <a:solidFill>
                  <a:srgbClr val="0000C0"/>
                </a:solidFill>
                <a:effectLst/>
                <a:latin typeface="Menlo" panose="020B0609030804020204" pitchFamily="49" charset="0"/>
              </a:rPr>
              <a:t>msg</a:t>
            </a:r>
            <a:r>
              <a:rPr lang="en-IN" sz="1800" dirty="0" err="1">
                <a:solidFill>
                  <a:srgbClr val="000000"/>
                </a:solidFill>
                <a:effectLst/>
                <a:latin typeface="Menlo" panose="020B0609030804020204" pitchFamily="49" charset="0"/>
              </a:rPr>
              <a:t>.</a:t>
            </a:r>
            <a:r>
              <a:rPr lang="en-IN" sz="1800" dirty="0" err="1">
                <a:solidFill>
                  <a:srgbClr val="0000C0"/>
                </a:solidFill>
                <a:effectLst/>
                <a:latin typeface="Menlo" panose="020B0609030804020204" pitchFamily="49" charset="0"/>
              </a:rPr>
              <a:t>length</a:t>
            </a:r>
            <a:r>
              <a:rPr lang="en-IN" sz="1800" dirty="0" err="1">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 { </a:t>
            </a:r>
          </a:p>
          <a:p>
            <a:pPr marL="0" marR="0">
              <a:spcBef>
                <a:spcPts val="0"/>
              </a:spcBef>
              <a:spcAft>
                <a:spcPts val="0"/>
              </a:spcAft>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 (</a:t>
            </a:r>
            <a:r>
              <a:rPr lang="en-IN" sz="1800" dirty="0" err="1">
                <a:solidFill>
                  <a:srgbClr val="0000C0"/>
                </a:solidFill>
                <a:effectLst/>
                <a:latin typeface="Menlo" panose="020B0609030804020204" pitchFamily="49" charset="0"/>
              </a:rPr>
              <a:t>msg</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null</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.drawString</a:t>
            </a:r>
            <a:r>
              <a:rPr lang="en-IN" sz="1800" dirty="0">
                <a:solidFill>
                  <a:srgbClr val="000000"/>
                </a:solidFill>
                <a:effectLst/>
                <a:latin typeface="Menlo" panose="020B0609030804020204" pitchFamily="49" charset="0"/>
              </a:rPr>
              <a:t>(</a:t>
            </a:r>
            <a:r>
              <a:rPr lang="en-IN" sz="1800" dirty="0" err="1">
                <a:solidFill>
                  <a:srgbClr val="0000C0"/>
                </a:solidFill>
                <a:effectLst/>
                <a:latin typeface="Menlo" panose="020B0609030804020204" pitchFamily="49" charset="0"/>
              </a:rPr>
              <a:t>msg</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X</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Y</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Y</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Y</a:t>
            </a:r>
            <a:r>
              <a:rPr lang="en-IN" sz="1800" dirty="0">
                <a:solidFill>
                  <a:srgbClr val="000000"/>
                </a:solidFill>
                <a:effectLst/>
                <a:latin typeface="Menlo" panose="020B0609030804020204" pitchFamily="49" charset="0"/>
              </a:rPr>
              <a:t>+50;</a:t>
            </a:r>
          </a:p>
          <a:p>
            <a:pPr marL="0" marR="0">
              <a:spcBef>
                <a:spcPts val="0"/>
              </a:spcBef>
              <a:spcAft>
                <a:spcPts val="0"/>
              </a:spcAft>
            </a:pP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br>
              <a:rPr lang="en-IN" sz="1800" dirty="0">
                <a:solidFill>
                  <a:srgbClr val="000000"/>
                </a:solidFill>
                <a:effectLst/>
                <a:latin typeface="Menlo" panose="020B0609030804020204" pitchFamily="49" charset="0"/>
              </a:rPr>
            </a:b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Demo</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u="sng"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p>
          <a:p>
            <a:endParaRPr lang="en-US" dirty="0"/>
          </a:p>
        </p:txBody>
      </p:sp>
      <p:sp>
        <p:nvSpPr>
          <p:cNvPr id="4" name="Footer Placeholder 3">
            <a:extLst>
              <a:ext uri="{FF2B5EF4-FFF2-40B4-BE49-F238E27FC236}">
                <a16:creationId xmlns:a16="http://schemas.microsoft.com/office/drawing/2014/main" id="{9BD97F37-F3A3-E3DA-9034-E9451E4FF387}"/>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5009463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996C2-1144-53AD-B167-958D00BD35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1FBB86-70EA-EBEF-4033-451307A36461}"/>
              </a:ext>
            </a:extLst>
          </p:cNvPr>
          <p:cNvSpPr>
            <a:spLocks noGrp="1"/>
          </p:cNvSpPr>
          <p:nvPr>
            <p:ph type="title"/>
          </p:nvPr>
        </p:nvSpPr>
        <p:spPr/>
        <p:txBody>
          <a:bodyPr/>
          <a:lstStyle/>
          <a:p>
            <a:r>
              <a:rPr lang="en-US" dirty="0" err="1"/>
              <a:t>MouseListener</a:t>
            </a:r>
            <a:endParaRPr lang="en-US" dirty="0"/>
          </a:p>
        </p:txBody>
      </p:sp>
      <p:sp>
        <p:nvSpPr>
          <p:cNvPr id="3" name="Content Placeholder 2">
            <a:extLst>
              <a:ext uri="{FF2B5EF4-FFF2-40B4-BE49-F238E27FC236}">
                <a16:creationId xmlns:a16="http://schemas.microsoft.com/office/drawing/2014/main" id="{4EED3314-8C9A-C157-8397-667CEE57623C}"/>
              </a:ext>
            </a:extLst>
          </p:cNvPr>
          <p:cNvSpPr>
            <a:spLocks noGrp="1"/>
          </p:cNvSpPr>
          <p:nvPr>
            <p:ph idx="1"/>
          </p:nvPr>
        </p:nvSpPr>
        <p:spPr/>
        <p:txBody>
          <a:bodyPr/>
          <a:lstStyle/>
          <a:p>
            <a:pPr marL="0" marR="0">
              <a:spcBef>
                <a:spcPts val="0"/>
              </a:spcBef>
              <a:spcAft>
                <a:spcPts val="0"/>
              </a:spcAft>
            </a:pP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err="1">
                <a:solidFill>
                  <a:srgbClr val="0000C0"/>
                </a:solidFill>
                <a:effectLst/>
                <a:latin typeface="Menlo" panose="020B0609030804020204" pitchFamily="49" charset="0"/>
              </a:rPr>
              <a:t>msg</a:t>
            </a:r>
            <a:r>
              <a:rPr lang="en-IN" sz="1800" dirty="0">
                <a:solidFill>
                  <a:srgbClr val="000000"/>
                </a:solidFill>
                <a:effectLst/>
                <a:latin typeface="Menlo" panose="020B0609030804020204" pitchFamily="49" charset="0"/>
              </a:rPr>
              <a:t>[3]=</a:t>
            </a:r>
            <a:r>
              <a:rPr lang="en-IN" sz="1800" dirty="0">
                <a:solidFill>
                  <a:srgbClr val="2A00FF"/>
                </a:solidFill>
                <a:effectLst/>
                <a:latin typeface="Menlo" panose="020B0609030804020204" pitchFamily="49" charset="0"/>
              </a:rPr>
              <a:t>"mouse entered......("</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.getX</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.getY</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repaint(); }</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mouseExited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MouseEvent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err="1">
                <a:solidFill>
                  <a:srgbClr val="0000C0"/>
                </a:solidFill>
                <a:effectLst/>
                <a:latin typeface="Menlo" panose="020B0609030804020204" pitchFamily="49" charset="0"/>
              </a:rPr>
              <a:t>msg</a:t>
            </a:r>
            <a:r>
              <a:rPr lang="en-IN" sz="1800" dirty="0">
                <a:solidFill>
                  <a:srgbClr val="000000"/>
                </a:solidFill>
                <a:effectLst/>
                <a:latin typeface="Menlo" panose="020B0609030804020204" pitchFamily="49" charset="0"/>
              </a:rPr>
              <a:t>[4]=</a:t>
            </a:r>
            <a:r>
              <a:rPr lang="en-IN" sz="1800" dirty="0">
                <a:solidFill>
                  <a:srgbClr val="2A00FF"/>
                </a:solidFill>
                <a:effectLst/>
                <a:latin typeface="Menlo" panose="020B0609030804020204" pitchFamily="49" charset="0"/>
              </a:rPr>
              <a:t>"mouse exited......("</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.getX</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e</a:t>
            </a:r>
            <a:r>
              <a:rPr lang="en-IN" sz="1800" dirty="0" err="1">
                <a:solidFill>
                  <a:srgbClr val="000000"/>
                </a:solidFill>
                <a:effectLst/>
                <a:latin typeface="Menlo" panose="020B0609030804020204" pitchFamily="49" charset="0"/>
              </a:rPr>
              <a:t>.getY</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repaint(); }</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paint(Graphics </a:t>
            </a:r>
            <a:r>
              <a:rPr lang="en-IN" sz="1800" dirty="0">
                <a:solidFill>
                  <a:srgbClr val="6A3E3E"/>
                </a:solidFill>
                <a:effectLst/>
                <a:latin typeface="Menlo" panose="020B0609030804020204" pitchFamily="49" charset="0"/>
              </a:rPr>
              <a:t>g</a:t>
            </a:r>
            <a:r>
              <a:rPr lang="en-IN" sz="1800" dirty="0">
                <a:solidFill>
                  <a:srgbClr val="000000"/>
                </a:solidFill>
                <a:effectLst/>
                <a:latin typeface="Menlo" panose="020B0609030804020204" pitchFamily="49" charset="0"/>
              </a:rPr>
              <a:t>) { </a:t>
            </a: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X</a:t>
            </a:r>
            <a:r>
              <a:rPr lang="en-IN" sz="1800" dirty="0">
                <a:solidFill>
                  <a:srgbClr val="000000"/>
                </a:solidFill>
                <a:effectLst/>
                <a:latin typeface="Menlo" panose="020B0609030804020204" pitchFamily="49" charset="0"/>
              </a:rPr>
              <a:t>=50;</a:t>
            </a:r>
          </a:p>
          <a:p>
            <a:pPr marL="0" marR="0">
              <a:spcBef>
                <a:spcPts val="0"/>
              </a:spcBef>
              <a:spcAft>
                <a:spcPts val="0"/>
              </a:spcAft>
            </a:pP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Y</a:t>
            </a:r>
            <a:r>
              <a:rPr lang="en-IN" sz="1800" dirty="0">
                <a:solidFill>
                  <a:srgbClr val="000000"/>
                </a:solidFill>
                <a:effectLst/>
                <a:latin typeface="Menlo" panose="020B0609030804020204" pitchFamily="49" charset="0"/>
              </a:rPr>
              <a:t>=100;</a:t>
            </a:r>
          </a:p>
          <a:p>
            <a:pPr marL="0" marR="0">
              <a:spcBef>
                <a:spcPts val="0"/>
              </a:spcBef>
              <a:spcAft>
                <a:spcPts val="0"/>
              </a:spcAft>
            </a:pPr>
            <a:r>
              <a:rPr lang="en-IN" sz="1800" b="1" dirty="0">
                <a:solidFill>
                  <a:srgbClr val="7F0055"/>
                </a:solidFill>
                <a:effectLst/>
                <a:latin typeface="Menlo" panose="020B0609030804020204" pitchFamily="49" charset="0"/>
              </a:rPr>
              <a:t>for</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=0;</a:t>
            </a:r>
            <a:r>
              <a:rPr lang="en-IN" sz="1800" dirty="0">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&lt;</a:t>
            </a:r>
            <a:r>
              <a:rPr lang="en-IN" sz="1800" dirty="0" err="1">
                <a:solidFill>
                  <a:srgbClr val="0000C0"/>
                </a:solidFill>
                <a:effectLst/>
                <a:latin typeface="Menlo" panose="020B0609030804020204" pitchFamily="49" charset="0"/>
              </a:rPr>
              <a:t>msg</a:t>
            </a:r>
            <a:r>
              <a:rPr lang="en-IN" sz="1800" dirty="0" err="1">
                <a:solidFill>
                  <a:srgbClr val="000000"/>
                </a:solidFill>
                <a:effectLst/>
                <a:latin typeface="Menlo" panose="020B0609030804020204" pitchFamily="49" charset="0"/>
              </a:rPr>
              <a:t>.</a:t>
            </a:r>
            <a:r>
              <a:rPr lang="en-IN" sz="1800" dirty="0" err="1">
                <a:solidFill>
                  <a:srgbClr val="0000C0"/>
                </a:solidFill>
                <a:effectLst/>
                <a:latin typeface="Menlo" panose="020B0609030804020204" pitchFamily="49" charset="0"/>
              </a:rPr>
              <a:t>length</a:t>
            </a:r>
            <a:r>
              <a:rPr lang="en-IN" sz="1800" dirty="0" err="1">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 { </a:t>
            </a:r>
          </a:p>
          <a:p>
            <a:pPr marL="0" marR="0">
              <a:spcBef>
                <a:spcPts val="0"/>
              </a:spcBef>
              <a:spcAft>
                <a:spcPts val="0"/>
              </a:spcAft>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 (</a:t>
            </a:r>
            <a:r>
              <a:rPr lang="en-IN" sz="1800" dirty="0" err="1">
                <a:solidFill>
                  <a:srgbClr val="0000C0"/>
                </a:solidFill>
                <a:effectLst/>
                <a:latin typeface="Menlo" panose="020B0609030804020204" pitchFamily="49" charset="0"/>
              </a:rPr>
              <a:t>msg</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null</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.drawString</a:t>
            </a:r>
            <a:r>
              <a:rPr lang="en-IN" sz="1800" dirty="0">
                <a:solidFill>
                  <a:srgbClr val="000000"/>
                </a:solidFill>
                <a:effectLst/>
                <a:latin typeface="Menlo" panose="020B0609030804020204" pitchFamily="49" charset="0"/>
              </a:rPr>
              <a:t>(</a:t>
            </a:r>
            <a:r>
              <a:rPr lang="en-IN" sz="1800" dirty="0" err="1">
                <a:solidFill>
                  <a:srgbClr val="0000C0"/>
                </a:solidFill>
                <a:effectLst/>
                <a:latin typeface="Menlo" panose="020B0609030804020204" pitchFamily="49" charset="0"/>
              </a:rPr>
              <a:t>msg</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i</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X</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Y</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Y</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Y</a:t>
            </a:r>
            <a:r>
              <a:rPr lang="en-IN" sz="1800" dirty="0">
                <a:solidFill>
                  <a:srgbClr val="000000"/>
                </a:solidFill>
                <a:effectLst/>
                <a:latin typeface="Menlo" panose="020B0609030804020204" pitchFamily="49" charset="0"/>
              </a:rPr>
              <a:t>+50;</a:t>
            </a:r>
          </a:p>
          <a:p>
            <a:pPr marL="0" marR="0">
              <a:spcBef>
                <a:spcPts val="0"/>
              </a:spcBef>
              <a:spcAft>
                <a:spcPts val="0"/>
              </a:spcAft>
            </a:pP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Demo</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u="sng"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p>
          <a:p>
            <a:endParaRPr lang="en-US" dirty="0"/>
          </a:p>
        </p:txBody>
      </p:sp>
      <p:sp>
        <p:nvSpPr>
          <p:cNvPr id="4" name="Footer Placeholder 3">
            <a:extLst>
              <a:ext uri="{FF2B5EF4-FFF2-40B4-BE49-F238E27FC236}">
                <a16:creationId xmlns:a16="http://schemas.microsoft.com/office/drawing/2014/main" id="{310BE8C6-CE17-5DC0-5C5F-DF29FD7CED44}"/>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6268602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DFC82-CC06-5150-D96D-6E9B3B10BB67}"/>
              </a:ext>
            </a:extLst>
          </p:cNvPr>
          <p:cNvSpPr>
            <a:spLocks noGrp="1"/>
          </p:cNvSpPr>
          <p:nvPr>
            <p:ph type="title"/>
          </p:nvPr>
        </p:nvSpPr>
        <p:spPr/>
        <p:txBody>
          <a:bodyPr/>
          <a:lstStyle/>
          <a:p>
            <a:r>
              <a:rPr lang="en-US" dirty="0" err="1"/>
              <a:t>ItemListener</a:t>
            </a:r>
            <a:endParaRPr lang="en-US" dirty="0"/>
          </a:p>
        </p:txBody>
      </p:sp>
      <p:sp>
        <p:nvSpPr>
          <p:cNvPr id="3" name="Content Placeholder 2">
            <a:extLst>
              <a:ext uri="{FF2B5EF4-FFF2-40B4-BE49-F238E27FC236}">
                <a16:creationId xmlns:a16="http://schemas.microsoft.com/office/drawing/2014/main" id="{9090389F-2E59-077B-4E4A-E818E2053BDA}"/>
              </a:ext>
            </a:extLst>
          </p:cNvPr>
          <p:cNvSpPr>
            <a:spLocks noGrp="1"/>
          </p:cNvSpPr>
          <p:nvPr>
            <p:ph idx="1"/>
          </p:nvPr>
        </p:nvSpPr>
        <p:spPr/>
        <p:txBody>
          <a:bodyPr/>
          <a:lstStyle/>
          <a:p>
            <a:pPr marL="0" marR="0">
              <a:spcBef>
                <a:spcPts val="0"/>
              </a:spcBef>
              <a:spcAft>
                <a:spcPts val="0"/>
              </a:spcAft>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java.awt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import</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java.awt.event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Frame </a:t>
            </a:r>
            <a:r>
              <a:rPr lang="en-IN" sz="1800" b="1" dirty="0">
                <a:solidFill>
                  <a:srgbClr val="7F0055"/>
                </a:solidFill>
                <a:effectLst/>
                <a:latin typeface="Menlo" panose="020B0609030804020204" pitchFamily="49" charset="0"/>
              </a:rPr>
              <a:t>implements</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ItemListener</a:t>
            </a:r>
            <a:r>
              <a:rPr lang="en-IN" sz="1800" dirty="0">
                <a:solidFill>
                  <a:srgbClr val="000000"/>
                </a:solidFill>
                <a:effectLst/>
                <a:latin typeface="Menlo" panose="020B0609030804020204" pitchFamily="49" charset="0"/>
              </a:rPr>
              <a:t> { </a:t>
            </a:r>
          </a:p>
          <a:p>
            <a:pPr marL="0" marR="0">
              <a:spcBef>
                <a:spcPts val="0"/>
              </a:spcBef>
              <a:spcAft>
                <a:spcPts val="0"/>
              </a:spcAft>
            </a:pPr>
            <a:r>
              <a:rPr lang="en-IN" sz="1800" dirty="0">
                <a:solidFill>
                  <a:srgbClr val="000000"/>
                </a:solidFill>
                <a:effectLst/>
                <a:latin typeface="Menlo" panose="020B0609030804020204" pitchFamily="49" charset="0"/>
              </a:rPr>
              <a:t>String </a:t>
            </a:r>
            <a:r>
              <a:rPr lang="en-IN" sz="1800" dirty="0">
                <a:solidFill>
                  <a:srgbClr val="0000C0"/>
                </a:solidFill>
                <a:effectLst/>
                <a:latin typeface="Menlo" panose="020B0609030804020204" pitchFamily="49" charset="0"/>
              </a:rPr>
              <a:t>qual</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gen</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Label </a:t>
            </a:r>
            <a:r>
              <a:rPr lang="en-IN" sz="1800" dirty="0">
                <a:solidFill>
                  <a:srgbClr val="0000C0"/>
                </a:solidFill>
                <a:effectLst/>
                <a:latin typeface="Menlo" panose="020B0609030804020204" pitchFamily="49" charset="0"/>
              </a:rPr>
              <a:t>l1</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l2</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err="1">
                <a:solidFill>
                  <a:srgbClr val="000000"/>
                </a:solidFill>
                <a:effectLst/>
                <a:latin typeface="Menlo" panose="020B0609030804020204" pitchFamily="49" charset="0"/>
              </a:rPr>
              <a:t>CheckboxGroup</a:t>
            </a: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cg</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Checkbox </a:t>
            </a:r>
            <a:r>
              <a:rPr lang="en-IN" sz="1800" dirty="0">
                <a:solidFill>
                  <a:srgbClr val="0000C0"/>
                </a:solidFill>
                <a:effectLst/>
                <a:latin typeface="Menlo" panose="020B0609030804020204" pitchFamily="49" charset="0"/>
              </a:rPr>
              <a:t>c1</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c2</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c3</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c4</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c5</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Font </a:t>
            </a:r>
            <a:r>
              <a:rPr lang="en-IN" sz="1800" dirty="0">
                <a:solidFill>
                  <a:srgbClr val="0000C0"/>
                </a:solidFill>
                <a:effectLst/>
                <a:latin typeface="Menlo" panose="020B0609030804020204" pitchFamily="49" charset="0"/>
              </a:rPr>
              <a:t>f</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(300,400);</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.setLayout</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FlowLayout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l1=</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Label(</a:t>
            </a:r>
            <a:r>
              <a:rPr lang="en-IN" sz="1800" dirty="0">
                <a:solidFill>
                  <a:srgbClr val="2A00FF"/>
                </a:solidFill>
                <a:effectLst/>
                <a:latin typeface="Menlo" panose="020B0609030804020204" pitchFamily="49" charset="0"/>
              </a:rPr>
              <a:t>"Qualification: "</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l2=</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Label(</a:t>
            </a:r>
            <a:r>
              <a:rPr lang="en-IN" sz="1800" dirty="0">
                <a:solidFill>
                  <a:srgbClr val="2A00FF"/>
                </a:solidFill>
                <a:effectLst/>
                <a:latin typeface="Menlo" panose="020B0609030804020204" pitchFamily="49" charset="0"/>
              </a:rPr>
              <a:t>"Gender: "</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c1=</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Checkbox(</a:t>
            </a:r>
            <a:r>
              <a:rPr lang="en-IN" sz="1800" dirty="0">
                <a:solidFill>
                  <a:srgbClr val="2A00FF"/>
                </a:solidFill>
                <a:effectLst/>
                <a:latin typeface="Menlo" panose="020B0609030804020204" pitchFamily="49" charset="0"/>
              </a:rPr>
              <a:t>"BSC"</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c2=</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Checkbox(</a:t>
            </a:r>
            <a:r>
              <a:rPr lang="en-IN" sz="1800" dirty="0">
                <a:solidFill>
                  <a:srgbClr val="2A00FF"/>
                </a:solidFill>
                <a:effectLst/>
                <a:latin typeface="Menlo" panose="020B0609030804020204" pitchFamily="49" charset="0"/>
              </a:rPr>
              <a:t>"BTECH"</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c3=</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Checkbox(</a:t>
            </a:r>
            <a:r>
              <a:rPr lang="en-IN" sz="1800" dirty="0">
                <a:solidFill>
                  <a:srgbClr val="2A00FF"/>
                </a:solidFill>
                <a:effectLst/>
                <a:latin typeface="Menlo" panose="020B0609030804020204" pitchFamily="49" charset="0"/>
              </a:rPr>
              <a:t>"MCA"</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cg=</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CheckboxGroup</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c4=</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Checkbox(</a:t>
            </a:r>
            <a:r>
              <a:rPr lang="en-IN" sz="1800" dirty="0">
                <a:solidFill>
                  <a:srgbClr val="2A00FF"/>
                </a:solidFill>
                <a:effectLst/>
                <a:latin typeface="Menlo" panose="020B0609030804020204" pitchFamily="49" charset="0"/>
              </a:rPr>
              <a:t>"Male"</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cg,</a:t>
            </a:r>
            <a:r>
              <a:rPr lang="en-IN" sz="1800" b="1" dirty="0" err="1">
                <a:solidFill>
                  <a:srgbClr val="7F0055"/>
                </a:solidFill>
                <a:effectLst/>
                <a:latin typeface="Menlo" panose="020B0609030804020204" pitchFamily="49" charset="0"/>
              </a:rPr>
              <a:t>false</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c5=</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Checkbox(</a:t>
            </a:r>
            <a:r>
              <a:rPr lang="en-IN" sz="1800" dirty="0">
                <a:solidFill>
                  <a:srgbClr val="2A00FF"/>
                </a:solidFill>
                <a:effectLst/>
                <a:latin typeface="Menlo" panose="020B0609030804020204" pitchFamily="49" charset="0"/>
              </a:rPr>
              <a:t>"Female"</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cg,</a:t>
            </a:r>
            <a:r>
              <a:rPr lang="en-IN" sz="1800" b="1" dirty="0" err="1">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c1.addItemListener(</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c2.addItemListener(</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c3.addItemListener(</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c4.addItemListener(</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c5.addItemListener(</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(l1); </a:t>
            </a: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(c3); </a:t>
            </a: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(c5);</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(c1); </a:t>
            </a: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(l2);</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(c2); </a:t>
            </a: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(c4)</a:t>
            </a:r>
            <a:r>
              <a:rPr lang="en-IN" sz="1800" u="sng" dirty="0">
                <a:solidFill>
                  <a:srgbClr val="000000"/>
                </a:solidFill>
                <a:effectLst/>
                <a:latin typeface="Menlo" panose="020B0609030804020204" pitchFamily="49" charset="0"/>
              </a:rPr>
              <a:t>;</a:t>
            </a: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itemStateChanged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ItemEvent</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ie</a:t>
            </a:r>
            <a:r>
              <a:rPr lang="en-IN" sz="1800" dirty="0">
                <a:solidFill>
                  <a:srgbClr val="000000"/>
                </a:solidFill>
                <a:effectLst/>
                <a:latin typeface="Menlo" panose="020B0609030804020204" pitchFamily="49" charset="0"/>
              </a:rPr>
              <a:t>) { </a:t>
            </a:r>
          </a:p>
          <a:p>
            <a:pPr marL="0" marR="0">
              <a:spcBef>
                <a:spcPts val="0"/>
              </a:spcBef>
              <a:spcAft>
                <a:spcPts val="0"/>
              </a:spcAft>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c1</a:t>
            </a:r>
            <a:r>
              <a:rPr lang="en-IN" sz="1800" dirty="0">
                <a:solidFill>
                  <a:srgbClr val="000000"/>
                </a:solidFill>
                <a:effectLst/>
                <a:latin typeface="Menlo" panose="020B0609030804020204" pitchFamily="49" charset="0"/>
              </a:rPr>
              <a:t>.getState()==</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qual</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qual</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c1</a:t>
            </a:r>
            <a:r>
              <a:rPr lang="en-IN" sz="1800" dirty="0">
                <a:solidFill>
                  <a:srgbClr val="000000"/>
                </a:solidFill>
                <a:effectLst/>
                <a:latin typeface="Menlo" panose="020B0609030804020204" pitchFamily="49" charset="0"/>
              </a:rPr>
              <a:t>.getLabel()+</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c2</a:t>
            </a:r>
            <a:r>
              <a:rPr lang="en-IN" sz="1800" dirty="0">
                <a:solidFill>
                  <a:srgbClr val="000000"/>
                </a:solidFill>
                <a:effectLst/>
                <a:latin typeface="Menlo" panose="020B0609030804020204" pitchFamily="49" charset="0"/>
              </a:rPr>
              <a:t>.getState()==</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qual</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qual</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c2</a:t>
            </a:r>
            <a:r>
              <a:rPr lang="en-IN" sz="1800" dirty="0">
                <a:solidFill>
                  <a:srgbClr val="000000"/>
                </a:solidFill>
                <a:effectLst/>
                <a:latin typeface="Menlo" panose="020B0609030804020204" pitchFamily="49" charset="0"/>
              </a:rPr>
              <a:t>.getLabel()+</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c3</a:t>
            </a:r>
            <a:r>
              <a:rPr lang="en-IN" sz="1800" dirty="0">
                <a:solidFill>
                  <a:srgbClr val="000000"/>
                </a:solidFill>
                <a:effectLst/>
                <a:latin typeface="Menlo" panose="020B0609030804020204" pitchFamily="49" charset="0"/>
              </a:rPr>
              <a:t>.getState()==</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qual</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qual</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c3</a:t>
            </a:r>
            <a:r>
              <a:rPr lang="en-IN" sz="1800" dirty="0">
                <a:solidFill>
                  <a:srgbClr val="000000"/>
                </a:solidFill>
                <a:effectLst/>
                <a:latin typeface="Menlo" panose="020B0609030804020204" pitchFamily="49" charset="0"/>
              </a:rPr>
              <a:t>.getLabel()+</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c4</a:t>
            </a:r>
            <a:r>
              <a:rPr lang="en-IN" sz="1800" dirty="0">
                <a:solidFill>
                  <a:srgbClr val="000000"/>
                </a:solidFill>
                <a:effectLst/>
                <a:latin typeface="Menlo" panose="020B0609030804020204" pitchFamily="49" charset="0"/>
              </a:rPr>
              <a:t>.getState()==</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gen</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c4</a:t>
            </a:r>
            <a:r>
              <a:rPr lang="en-IN" sz="1800" dirty="0">
                <a:solidFill>
                  <a:srgbClr val="000000"/>
                </a:solidFill>
                <a:effectLst/>
                <a:latin typeface="Menlo" panose="020B0609030804020204" pitchFamily="49" charset="0"/>
              </a:rPr>
              <a:t>.getLabel();}</a:t>
            </a:r>
          </a:p>
          <a:p>
            <a:pPr marL="0" marR="0">
              <a:spcBef>
                <a:spcPts val="0"/>
              </a:spcBef>
              <a:spcAft>
                <a:spcPts val="0"/>
              </a:spcAft>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c5</a:t>
            </a:r>
            <a:r>
              <a:rPr lang="en-IN" sz="1800" dirty="0">
                <a:solidFill>
                  <a:srgbClr val="000000"/>
                </a:solidFill>
                <a:effectLst/>
                <a:latin typeface="Menlo" panose="020B0609030804020204" pitchFamily="49" charset="0"/>
              </a:rPr>
              <a:t>.getState()==</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gen</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c5</a:t>
            </a:r>
            <a:r>
              <a:rPr lang="en-IN" sz="1800" dirty="0">
                <a:solidFill>
                  <a:srgbClr val="000000"/>
                </a:solidFill>
                <a:effectLst/>
                <a:latin typeface="Menlo" panose="020B0609030804020204" pitchFamily="49" charset="0"/>
              </a:rPr>
              <a:t>.getLabel(); }</a:t>
            </a:r>
          </a:p>
          <a:p>
            <a:pPr marL="0" marR="0">
              <a:spcBef>
                <a:spcPts val="0"/>
              </a:spcBef>
              <a:spcAft>
                <a:spcPts val="0"/>
              </a:spcAft>
            </a:pPr>
            <a:r>
              <a:rPr lang="en-IN" sz="1800" dirty="0">
                <a:solidFill>
                  <a:srgbClr val="000000"/>
                </a:solidFill>
                <a:effectLst/>
                <a:latin typeface="Menlo" panose="020B0609030804020204" pitchFamily="49" charset="0"/>
              </a:rPr>
              <a:t>repaint();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paint(Graphics </a:t>
            </a:r>
            <a:r>
              <a:rPr lang="en-IN" sz="1800" dirty="0">
                <a:solidFill>
                  <a:srgbClr val="6A3E3E"/>
                </a:solidFill>
                <a:effectLst/>
                <a:latin typeface="Menlo" panose="020B0609030804020204" pitchFamily="49" charset="0"/>
              </a:rPr>
              <a:t>g</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Font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Font(</a:t>
            </a:r>
            <a:r>
              <a:rPr lang="en-IN" sz="1800" dirty="0">
                <a:solidFill>
                  <a:srgbClr val="2A00FF"/>
                </a:solidFill>
                <a:effectLst/>
                <a:latin typeface="Menlo" panose="020B0609030804020204" pitchFamily="49" charset="0"/>
              </a:rPr>
              <a:t>"arial"</a:t>
            </a:r>
            <a:r>
              <a:rPr lang="en-IN" sz="1800" dirty="0">
                <a:solidFill>
                  <a:srgbClr val="000000"/>
                </a:solidFill>
                <a:effectLst/>
                <a:latin typeface="Menlo" panose="020B0609030804020204" pitchFamily="49" charset="0"/>
              </a:rPr>
              <a:t>,Font.</a:t>
            </a:r>
            <a:r>
              <a:rPr lang="en-IN" sz="1800" b="1" i="1" dirty="0">
                <a:solidFill>
                  <a:srgbClr val="0000C0"/>
                </a:solidFill>
                <a:effectLst/>
                <a:latin typeface="Menlo" panose="020B0609030804020204" pitchFamily="49" charset="0"/>
              </a:rPr>
              <a:t>BOLD</a:t>
            </a:r>
            <a:r>
              <a:rPr lang="en-IN" sz="1800" dirty="0">
                <a:solidFill>
                  <a:srgbClr val="000000"/>
                </a:solidFill>
                <a:effectLst/>
                <a:latin typeface="Menlo" panose="020B0609030804020204" pitchFamily="49" charset="0"/>
              </a:rPr>
              <a:t>,20);</a:t>
            </a:r>
          </a:p>
          <a:p>
            <a:pPr marL="0" marR="0">
              <a:spcBef>
                <a:spcPts val="0"/>
              </a:spcBef>
              <a:spcAft>
                <a:spcPts val="0"/>
              </a:spcAft>
            </a:pP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.setFont</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.setForeground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green</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.drawString</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"qualification------&gt;"</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qual</a:t>
            </a:r>
            <a:r>
              <a:rPr lang="en-IN" sz="1800" dirty="0">
                <a:solidFill>
                  <a:srgbClr val="000000"/>
                </a:solidFill>
                <a:effectLst/>
                <a:latin typeface="Menlo" panose="020B0609030804020204" pitchFamily="49" charset="0"/>
              </a:rPr>
              <a:t>,50,100); </a:t>
            </a:r>
          </a:p>
          <a:p>
            <a:pPr marL="0" marR="0">
              <a:spcBef>
                <a:spcPts val="0"/>
              </a:spcBef>
              <a:spcAft>
                <a:spcPts val="0"/>
              </a:spcAft>
            </a:pP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.drawString</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"gender--------------&gt;"</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gen</a:t>
            </a:r>
            <a:r>
              <a:rPr lang="en-IN" sz="1800" dirty="0">
                <a:solidFill>
                  <a:srgbClr val="000000"/>
                </a:solidFill>
                <a:effectLst/>
                <a:latin typeface="Menlo" panose="020B0609030804020204" pitchFamily="49" charset="0"/>
              </a:rPr>
              <a:t>,50,150); </a:t>
            </a:r>
          </a:p>
          <a:p>
            <a:pPr marL="0" marR="0">
              <a:spcBef>
                <a:spcPts val="0"/>
              </a:spcBef>
              <a:spcAft>
                <a:spcPts val="0"/>
              </a:spcAft>
            </a:pPr>
            <a:r>
              <a:rPr lang="en-IN" sz="1800" dirty="0">
                <a:solidFill>
                  <a:srgbClr val="0000C0"/>
                </a:solidFill>
                <a:effectLst/>
                <a:latin typeface="Menlo" panose="020B0609030804020204" pitchFamily="49" charset="0"/>
              </a:rPr>
              <a:t>qual</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C0"/>
                </a:solidFill>
                <a:effectLst/>
                <a:latin typeface="Menlo" panose="020B0609030804020204" pitchFamily="49" charset="0"/>
              </a:rPr>
              <a:t>gen</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ItemListenerDemo</a:t>
            </a: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p>
          <a:p>
            <a:endParaRPr lang="en-US" dirty="0"/>
          </a:p>
        </p:txBody>
      </p:sp>
      <p:sp>
        <p:nvSpPr>
          <p:cNvPr id="4" name="Footer Placeholder 3">
            <a:extLst>
              <a:ext uri="{FF2B5EF4-FFF2-40B4-BE49-F238E27FC236}">
                <a16:creationId xmlns:a16="http://schemas.microsoft.com/office/drawing/2014/main" id="{30DCFEED-4C56-3205-0430-478319046F3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47297925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EEE10-4BE2-2CE8-D857-650C06819A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99B425-C732-5253-F710-5801CFC94363}"/>
              </a:ext>
            </a:extLst>
          </p:cNvPr>
          <p:cNvSpPr>
            <a:spLocks noGrp="1"/>
          </p:cNvSpPr>
          <p:nvPr>
            <p:ph type="title"/>
          </p:nvPr>
        </p:nvSpPr>
        <p:spPr/>
        <p:txBody>
          <a:bodyPr/>
          <a:lstStyle/>
          <a:p>
            <a:r>
              <a:rPr lang="en-US" dirty="0" err="1"/>
              <a:t>ItemListener</a:t>
            </a:r>
            <a:endParaRPr lang="en-US" dirty="0"/>
          </a:p>
        </p:txBody>
      </p:sp>
      <p:sp>
        <p:nvSpPr>
          <p:cNvPr id="3" name="Content Placeholder 2">
            <a:extLst>
              <a:ext uri="{FF2B5EF4-FFF2-40B4-BE49-F238E27FC236}">
                <a16:creationId xmlns:a16="http://schemas.microsoft.com/office/drawing/2014/main" id="{571C6A48-61DB-39D4-5342-71754FF8087E}"/>
              </a:ext>
            </a:extLst>
          </p:cNvPr>
          <p:cNvSpPr>
            <a:spLocks noGrp="1"/>
          </p:cNvSpPr>
          <p:nvPr>
            <p:ph idx="1"/>
          </p:nvPr>
        </p:nvSpPr>
        <p:spPr/>
        <p:txBody>
          <a:bodyPr/>
          <a:lstStyle/>
          <a:p>
            <a:pPr marL="0" marR="0">
              <a:spcBef>
                <a:spcPts val="0"/>
              </a:spcBef>
              <a:spcAft>
                <a:spcPts val="0"/>
              </a:spcAft>
            </a:pPr>
            <a:r>
              <a:rPr lang="en-IN" sz="1800" dirty="0">
                <a:solidFill>
                  <a:srgbClr val="000000"/>
                </a:solidFill>
                <a:effectLst/>
                <a:latin typeface="Menlo" panose="020B0609030804020204" pitchFamily="49" charset="0"/>
              </a:rPr>
              <a:t>c1.addItemListener(</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c2.addItemListener(</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c3.addItemListener(</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c4.addItemListener(</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a:solidFill>
                  <a:srgbClr val="000000"/>
                </a:solidFill>
                <a:effectLst/>
                <a:latin typeface="Menlo" panose="020B0609030804020204" pitchFamily="49" charset="0"/>
              </a:rPr>
              <a:t>c5.addItemListener(</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(l1); </a:t>
            </a: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(c3); </a:t>
            </a: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(c5);</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(c1); </a:t>
            </a: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(l2);</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(c2); </a:t>
            </a: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(c4)</a:t>
            </a:r>
            <a:r>
              <a:rPr lang="en-IN" sz="1800" u="sng" dirty="0">
                <a:solidFill>
                  <a:srgbClr val="000000"/>
                </a:solidFill>
                <a:effectLst/>
                <a:latin typeface="Menlo" panose="020B0609030804020204" pitchFamily="49" charset="0"/>
              </a:rPr>
              <a:t>;</a:t>
            </a: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itemStateChanged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ItemEvent</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ie</a:t>
            </a:r>
            <a:r>
              <a:rPr lang="en-IN" sz="1800" dirty="0">
                <a:solidFill>
                  <a:srgbClr val="000000"/>
                </a:solidFill>
                <a:effectLst/>
                <a:latin typeface="Menlo" panose="020B0609030804020204" pitchFamily="49" charset="0"/>
              </a:rPr>
              <a:t>) { </a:t>
            </a:r>
          </a:p>
          <a:p>
            <a:pPr marL="0" marR="0">
              <a:spcBef>
                <a:spcPts val="0"/>
              </a:spcBef>
              <a:spcAft>
                <a:spcPts val="0"/>
              </a:spcAft>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c1</a:t>
            </a:r>
            <a:r>
              <a:rPr lang="en-IN" sz="1800" dirty="0">
                <a:solidFill>
                  <a:srgbClr val="000000"/>
                </a:solidFill>
                <a:effectLst/>
                <a:latin typeface="Menlo" panose="020B0609030804020204" pitchFamily="49" charset="0"/>
              </a:rPr>
              <a:t>.getState()==</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qual</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qual</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c1</a:t>
            </a:r>
            <a:r>
              <a:rPr lang="en-IN" sz="1800" dirty="0">
                <a:solidFill>
                  <a:srgbClr val="000000"/>
                </a:solidFill>
                <a:effectLst/>
                <a:latin typeface="Menlo" panose="020B0609030804020204" pitchFamily="49" charset="0"/>
              </a:rPr>
              <a:t>.getLabel()+</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c2</a:t>
            </a:r>
            <a:r>
              <a:rPr lang="en-IN" sz="1800" dirty="0">
                <a:solidFill>
                  <a:srgbClr val="000000"/>
                </a:solidFill>
                <a:effectLst/>
                <a:latin typeface="Menlo" panose="020B0609030804020204" pitchFamily="49" charset="0"/>
              </a:rPr>
              <a:t>.getState()==</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qual</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qual</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c2</a:t>
            </a:r>
            <a:r>
              <a:rPr lang="en-IN" sz="1800" dirty="0">
                <a:solidFill>
                  <a:srgbClr val="000000"/>
                </a:solidFill>
                <a:effectLst/>
                <a:latin typeface="Menlo" panose="020B0609030804020204" pitchFamily="49" charset="0"/>
              </a:rPr>
              <a:t>.getLabel()+</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c3</a:t>
            </a:r>
            <a:r>
              <a:rPr lang="en-IN" sz="1800" dirty="0">
                <a:solidFill>
                  <a:srgbClr val="000000"/>
                </a:solidFill>
                <a:effectLst/>
                <a:latin typeface="Menlo" panose="020B0609030804020204" pitchFamily="49" charset="0"/>
              </a:rPr>
              <a:t>.getState()==</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qual</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qual</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c3</a:t>
            </a:r>
            <a:r>
              <a:rPr lang="en-IN" sz="1800" dirty="0">
                <a:solidFill>
                  <a:srgbClr val="000000"/>
                </a:solidFill>
                <a:effectLst/>
                <a:latin typeface="Menlo" panose="020B0609030804020204" pitchFamily="49" charset="0"/>
              </a:rPr>
              <a:t>.getLabel()+</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c4</a:t>
            </a:r>
            <a:r>
              <a:rPr lang="en-IN" sz="1800" dirty="0">
                <a:solidFill>
                  <a:srgbClr val="000000"/>
                </a:solidFill>
                <a:effectLst/>
                <a:latin typeface="Menlo" panose="020B0609030804020204" pitchFamily="49" charset="0"/>
              </a:rPr>
              <a:t>.getState()==</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gen</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c4</a:t>
            </a:r>
            <a:r>
              <a:rPr lang="en-IN" sz="1800" dirty="0">
                <a:solidFill>
                  <a:srgbClr val="000000"/>
                </a:solidFill>
                <a:effectLst/>
                <a:latin typeface="Menlo" panose="020B0609030804020204" pitchFamily="49" charset="0"/>
              </a:rPr>
              <a:t>.getLabel();}</a:t>
            </a:r>
          </a:p>
          <a:p>
            <a:pPr marL="0" marR="0">
              <a:spcBef>
                <a:spcPts val="0"/>
              </a:spcBef>
              <a:spcAft>
                <a:spcPts val="0"/>
              </a:spcAft>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c5</a:t>
            </a:r>
            <a:r>
              <a:rPr lang="en-IN" sz="1800" dirty="0">
                <a:solidFill>
                  <a:srgbClr val="000000"/>
                </a:solidFill>
                <a:effectLst/>
                <a:latin typeface="Menlo" panose="020B0609030804020204" pitchFamily="49" charset="0"/>
              </a:rPr>
              <a:t>.getState()==</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gen</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c5</a:t>
            </a:r>
            <a:r>
              <a:rPr lang="en-IN" sz="1800" dirty="0">
                <a:solidFill>
                  <a:srgbClr val="000000"/>
                </a:solidFill>
                <a:effectLst/>
                <a:latin typeface="Menlo" panose="020B0609030804020204" pitchFamily="49" charset="0"/>
              </a:rPr>
              <a:t>.getLabel(); }</a:t>
            </a:r>
          </a:p>
          <a:p>
            <a:pPr marL="0" marR="0">
              <a:spcBef>
                <a:spcPts val="0"/>
              </a:spcBef>
              <a:spcAft>
                <a:spcPts val="0"/>
              </a:spcAft>
            </a:pPr>
            <a:r>
              <a:rPr lang="en-IN" sz="1800" dirty="0">
                <a:solidFill>
                  <a:srgbClr val="000000"/>
                </a:solidFill>
                <a:effectLst/>
                <a:latin typeface="Menlo" panose="020B0609030804020204" pitchFamily="49" charset="0"/>
              </a:rPr>
              <a:t>repaint();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paint(Graphics </a:t>
            </a:r>
            <a:r>
              <a:rPr lang="en-IN" sz="1800" dirty="0">
                <a:solidFill>
                  <a:srgbClr val="6A3E3E"/>
                </a:solidFill>
                <a:effectLst/>
                <a:latin typeface="Menlo" panose="020B0609030804020204" pitchFamily="49" charset="0"/>
              </a:rPr>
              <a:t>g</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Font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Font(</a:t>
            </a:r>
            <a:r>
              <a:rPr lang="en-IN" sz="1800" dirty="0">
                <a:solidFill>
                  <a:srgbClr val="2A00FF"/>
                </a:solidFill>
                <a:effectLst/>
                <a:latin typeface="Menlo" panose="020B0609030804020204" pitchFamily="49" charset="0"/>
              </a:rPr>
              <a:t>"arial"</a:t>
            </a:r>
            <a:r>
              <a:rPr lang="en-IN" sz="1800" dirty="0">
                <a:solidFill>
                  <a:srgbClr val="000000"/>
                </a:solidFill>
                <a:effectLst/>
                <a:latin typeface="Menlo" panose="020B0609030804020204" pitchFamily="49" charset="0"/>
              </a:rPr>
              <a:t>,Font.</a:t>
            </a:r>
            <a:r>
              <a:rPr lang="en-IN" sz="1800" b="1" i="1" dirty="0">
                <a:solidFill>
                  <a:srgbClr val="0000C0"/>
                </a:solidFill>
                <a:effectLst/>
                <a:latin typeface="Menlo" panose="020B0609030804020204" pitchFamily="49" charset="0"/>
              </a:rPr>
              <a:t>BOLD</a:t>
            </a:r>
            <a:r>
              <a:rPr lang="en-IN" sz="1800" dirty="0">
                <a:solidFill>
                  <a:srgbClr val="000000"/>
                </a:solidFill>
                <a:effectLst/>
                <a:latin typeface="Menlo" panose="020B0609030804020204" pitchFamily="49" charset="0"/>
              </a:rPr>
              <a:t>,20);</a:t>
            </a:r>
          </a:p>
          <a:p>
            <a:pPr marL="0" marR="0">
              <a:spcBef>
                <a:spcPts val="0"/>
              </a:spcBef>
              <a:spcAft>
                <a:spcPts val="0"/>
              </a:spcAft>
            </a:pP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.setFont</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.setForeground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green</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.drawString</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"qualification------&gt;"</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qual</a:t>
            </a:r>
            <a:r>
              <a:rPr lang="en-IN" sz="1800" dirty="0">
                <a:solidFill>
                  <a:srgbClr val="000000"/>
                </a:solidFill>
                <a:effectLst/>
                <a:latin typeface="Menlo" panose="020B0609030804020204" pitchFamily="49" charset="0"/>
              </a:rPr>
              <a:t>,50,100); </a:t>
            </a:r>
          </a:p>
          <a:p>
            <a:pPr marL="0" marR="0">
              <a:spcBef>
                <a:spcPts val="0"/>
              </a:spcBef>
              <a:spcAft>
                <a:spcPts val="0"/>
              </a:spcAft>
            </a:pP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.drawString</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"gender--------------&gt;"</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gen</a:t>
            </a:r>
            <a:r>
              <a:rPr lang="en-IN" sz="1800" dirty="0">
                <a:solidFill>
                  <a:srgbClr val="000000"/>
                </a:solidFill>
                <a:effectLst/>
                <a:latin typeface="Menlo" panose="020B0609030804020204" pitchFamily="49" charset="0"/>
              </a:rPr>
              <a:t>,50,150); </a:t>
            </a:r>
          </a:p>
          <a:p>
            <a:pPr marL="0" marR="0">
              <a:spcBef>
                <a:spcPts val="0"/>
              </a:spcBef>
              <a:spcAft>
                <a:spcPts val="0"/>
              </a:spcAft>
            </a:pPr>
            <a:r>
              <a:rPr lang="en-IN" sz="1800" dirty="0">
                <a:solidFill>
                  <a:srgbClr val="0000C0"/>
                </a:solidFill>
                <a:effectLst/>
                <a:latin typeface="Menlo" panose="020B0609030804020204" pitchFamily="49" charset="0"/>
              </a:rPr>
              <a:t>qual</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C0"/>
                </a:solidFill>
                <a:effectLst/>
                <a:latin typeface="Menlo" panose="020B0609030804020204" pitchFamily="49" charset="0"/>
              </a:rPr>
              <a:t>gen</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ItemListenerDemo</a:t>
            </a: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p>
          <a:p>
            <a:endParaRPr lang="en-US" dirty="0"/>
          </a:p>
        </p:txBody>
      </p:sp>
      <p:sp>
        <p:nvSpPr>
          <p:cNvPr id="4" name="Footer Placeholder 3">
            <a:extLst>
              <a:ext uri="{FF2B5EF4-FFF2-40B4-BE49-F238E27FC236}">
                <a16:creationId xmlns:a16="http://schemas.microsoft.com/office/drawing/2014/main" id="{5EC3DD7D-4D82-74F8-53BC-662519DFED92}"/>
              </a:ext>
            </a:extLst>
          </p:cNvPr>
          <p:cNvSpPr>
            <a:spLocks noGrp="1"/>
          </p:cNvSpPr>
          <p:nvPr>
            <p:ph type="ftr" sz="quarter" idx="11"/>
          </p:nvPr>
        </p:nvSpPr>
        <p:spPr/>
        <p:txBody>
          <a:bodyPr/>
          <a:lstStyle/>
          <a:p>
            <a:pPr>
              <a:defRPr/>
            </a:pPr>
            <a:r>
              <a:rPr lang="en-US" dirty="0"/>
              <a:t>Dr. Naveen Kumar, Associate Professor, AIIT, AUP</a:t>
            </a:r>
          </a:p>
        </p:txBody>
      </p:sp>
    </p:spTree>
    <p:extLst>
      <p:ext uri="{BB962C8B-B14F-4D97-AF65-F5344CB8AC3E}">
        <p14:creationId xmlns:p14="http://schemas.microsoft.com/office/powerpoint/2010/main" val="4870583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BE5CF-AFDF-7932-B7C3-C773EE6A87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87EE61-D3CC-EC6B-C64C-62701B13C32D}"/>
              </a:ext>
            </a:extLst>
          </p:cNvPr>
          <p:cNvSpPr>
            <a:spLocks noGrp="1"/>
          </p:cNvSpPr>
          <p:nvPr>
            <p:ph type="title"/>
          </p:nvPr>
        </p:nvSpPr>
        <p:spPr/>
        <p:txBody>
          <a:bodyPr/>
          <a:lstStyle/>
          <a:p>
            <a:r>
              <a:rPr lang="en-US" dirty="0" err="1"/>
              <a:t>ItemListener</a:t>
            </a:r>
            <a:endParaRPr lang="en-US" dirty="0"/>
          </a:p>
        </p:txBody>
      </p:sp>
      <p:sp>
        <p:nvSpPr>
          <p:cNvPr id="3" name="Content Placeholder 2">
            <a:extLst>
              <a:ext uri="{FF2B5EF4-FFF2-40B4-BE49-F238E27FC236}">
                <a16:creationId xmlns:a16="http://schemas.microsoft.com/office/drawing/2014/main" id="{195FC872-78D0-EC24-A433-7F794B2DBB5E}"/>
              </a:ext>
            </a:extLst>
          </p:cNvPr>
          <p:cNvSpPr>
            <a:spLocks noGrp="1"/>
          </p:cNvSpPr>
          <p:nvPr>
            <p:ph idx="1"/>
          </p:nvPr>
        </p:nvSpPr>
        <p:spPr/>
        <p:txBody>
          <a:bodyPr/>
          <a:lstStyle/>
          <a:p>
            <a:pPr marL="0" marR="0">
              <a:spcBef>
                <a:spcPts val="0"/>
              </a:spcBef>
              <a:spcAft>
                <a:spcPts val="0"/>
              </a:spcAft>
            </a:pP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paint(Graphics </a:t>
            </a:r>
            <a:r>
              <a:rPr lang="en-IN" sz="1800" dirty="0">
                <a:solidFill>
                  <a:srgbClr val="6A3E3E"/>
                </a:solidFill>
                <a:effectLst/>
                <a:latin typeface="Menlo" panose="020B0609030804020204" pitchFamily="49" charset="0"/>
              </a:rPr>
              <a:t>g</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Font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Font(</a:t>
            </a:r>
            <a:r>
              <a:rPr lang="en-IN" sz="1800" dirty="0">
                <a:solidFill>
                  <a:srgbClr val="2A00FF"/>
                </a:solidFill>
                <a:effectLst/>
                <a:latin typeface="Menlo" panose="020B0609030804020204" pitchFamily="49" charset="0"/>
              </a:rPr>
              <a:t>"arial"</a:t>
            </a:r>
            <a:r>
              <a:rPr lang="en-IN" sz="1800" dirty="0">
                <a:solidFill>
                  <a:srgbClr val="000000"/>
                </a:solidFill>
                <a:effectLst/>
                <a:latin typeface="Menlo" panose="020B0609030804020204" pitchFamily="49" charset="0"/>
              </a:rPr>
              <a:t>,Font.</a:t>
            </a:r>
            <a:r>
              <a:rPr lang="en-IN" sz="1800" b="1" i="1" dirty="0">
                <a:solidFill>
                  <a:srgbClr val="0000C0"/>
                </a:solidFill>
                <a:effectLst/>
                <a:latin typeface="Menlo" panose="020B0609030804020204" pitchFamily="49" charset="0"/>
              </a:rPr>
              <a:t>BOLD</a:t>
            </a:r>
            <a:r>
              <a:rPr lang="en-IN" sz="1800" dirty="0">
                <a:solidFill>
                  <a:srgbClr val="000000"/>
                </a:solidFill>
                <a:effectLst/>
                <a:latin typeface="Menlo" panose="020B0609030804020204" pitchFamily="49" charset="0"/>
              </a:rPr>
              <a:t>,20);</a:t>
            </a:r>
          </a:p>
          <a:p>
            <a:pPr marL="0" marR="0">
              <a:spcBef>
                <a:spcPts val="0"/>
              </a:spcBef>
              <a:spcAft>
                <a:spcPts val="0"/>
              </a:spcAft>
            </a:pP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.setFont</a:t>
            </a:r>
            <a:r>
              <a:rPr lang="en-IN" sz="1800" dirty="0">
                <a:solidFill>
                  <a:srgbClr val="000000"/>
                </a:solidFill>
                <a:effectLst/>
                <a:latin typeface="Menlo" panose="020B0609030804020204" pitchFamily="49" charset="0"/>
              </a:rPr>
              <a:t>(</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.setForeground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Color.</a:t>
            </a:r>
            <a:r>
              <a:rPr lang="en-IN" sz="1800" b="1" i="1" dirty="0" err="1">
                <a:solidFill>
                  <a:srgbClr val="0000C0"/>
                </a:solidFill>
                <a:effectLst/>
                <a:latin typeface="Menlo" panose="020B0609030804020204" pitchFamily="49" charset="0"/>
              </a:rPr>
              <a:t>green</a:t>
            </a:r>
            <a:r>
              <a:rPr lang="en-IN" sz="1800" dirty="0">
                <a:solidFill>
                  <a:srgbClr val="000000"/>
                </a:solidFill>
                <a:effectLst/>
                <a:latin typeface="Menlo" panose="020B0609030804020204" pitchFamily="49" charset="0"/>
              </a:rPr>
              <a:t>); </a:t>
            </a:r>
          </a:p>
          <a:p>
            <a:pPr marL="0" marR="0">
              <a:spcBef>
                <a:spcPts val="0"/>
              </a:spcBef>
              <a:spcAft>
                <a:spcPts val="0"/>
              </a:spcAft>
            </a:pP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.drawString</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"qualification------&gt;"</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qual</a:t>
            </a:r>
            <a:r>
              <a:rPr lang="en-IN" sz="1800" dirty="0">
                <a:solidFill>
                  <a:srgbClr val="000000"/>
                </a:solidFill>
                <a:effectLst/>
                <a:latin typeface="Menlo" panose="020B0609030804020204" pitchFamily="49" charset="0"/>
              </a:rPr>
              <a:t>,50,100); </a:t>
            </a:r>
          </a:p>
          <a:p>
            <a:pPr marL="0" marR="0">
              <a:spcBef>
                <a:spcPts val="0"/>
              </a:spcBef>
              <a:spcAft>
                <a:spcPts val="0"/>
              </a:spcAft>
            </a:pPr>
            <a:r>
              <a:rPr lang="en-IN" sz="1800" dirty="0" err="1">
                <a:solidFill>
                  <a:srgbClr val="6A3E3E"/>
                </a:solidFill>
                <a:effectLst/>
                <a:latin typeface="Menlo" panose="020B0609030804020204" pitchFamily="49" charset="0"/>
              </a:rPr>
              <a:t>g</a:t>
            </a:r>
            <a:r>
              <a:rPr lang="en-IN" sz="1800" dirty="0" err="1">
                <a:solidFill>
                  <a:srgbClr val="000000"/>
                </a:solidFill>
                <a:effectLst/>
                <a:latin typeface="Menlo" panose="020B0609030804020204" pitchFamily="49" charset="0"/>
              </a:rPr>
              <a:t>.drawString</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"gender--------------&gt;"</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gen</a:t>
            </a:r>
            <a:r>
              <a:rPr lang="en-IN" sz="1800" dirty="0">
                <a:solidFill>
                  <a:srgbClr val="000000"/>
                </a:solidFill>
                <a:effectLst/>
                <a:latin typeface="Menlo" panose="020B0609030804020204" pitchFamily="49" charset="0"/>
              </a:rPr>
              <a:t>,50,150); </a:t>
            </a:r>
          </a:p>
          <a:p>
            <a:pPr marL="0" marR="0">
              <a:spcBef>
                <a:spcPts val="0"/>
              </a:spcBef>
              <a:spcAft>
                <a:spcPts val="0"/>
              </a:spcAft>
            </a:pPr>
            <a:r>
              <a:rPr lang="en-IN" sz="1800" dirty="0">
                <a:solidFill>
                  <a:srgbClr val="0000C0"/>
                </a:solidFill>
                <a:effectLst/>
                <a:latin typeface="Menlo" panose="020B0609030804020204" pitchFamily="49" charset="0"/>
              </a:rPr>
              <a:t>qual</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C0"/>
                </a:solidFill>
                <a:effectLst/>
                <a:latin typeface="Menlo" panose="020B0609030804020204" pitchFamily="49" charset="0"/>
              </a:rPr>
              <a:t>gen</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ItemListenerDemo</a:t>
            </a: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myframe</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 }</a:t>
            </a:r>
          </a:p>
          <a:p>
            <a:endParaRPr lang="en-US" dirty="0"/>
          </a:p>
        </p:txBody>
      </p:sp>
      <p:sp>
        <p:nvSpPr>
          <p:cNvPr id="4" name="Footer Placeholder 3">
            <a:extLst>
              <a:ext uri="{FF2B5EF4-FFF2-40B4-BE49-F238E27FC236}">
                <a16:creationId xmlns:a16="http://schemas.microsoft.com/office/drawing/2014/main" id="{39CF80F1-70A0-FE14-D8EA-1C9212D35014}"/>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9891727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5D37D-3173-0B85-F60E-F26BC77BAE27}"/>
              </a:ext>
            </a:extLst>
          </p:cNvPr>
          <p:cNvSpPr>
            <a:spLocks noGrp="1"/>
          </p:cNvSpPr>
          <p:nvPr>
            <p:ph type="title"/>
          </p:nvPr>
        </p:nvSpPr>
        <p:spPr/>
        <p:txBody>
          <a:bodyPr/>
          <a:lstStyle/>
          <a:p>
            <a:r>
              <a:rPr lang="en-US" dirty="0" err="1"/>
              <a:t>KeyboardListener</a:t>
            </a:r>
            <a:endParaRPr lang="en-US" dirty="0"/>
          </a:p>
        </p:txBody>
      </p:sp>
      <p:sp>
        <p:nvSpPr>
          <p:cNvPr id="3" name="Content Placeholder 2">
            <a:extLst>
              <a:ext uri="{FF2B5EF4-FFF2-40B4-BE49-F238E27FC236}">
                <a16:creationId xmlns:a16="http://schemas.microsoft.com/office/drawing/2014/main" id="{9E40C63E-499B-F193-7D2A-8ACA6A55701F}"/>
              </a:ext>
            </a:extLst>
          </p:cNvPr>
          <p:cNvSpPr>
            <a:spLocks noGrp="1"/>
          </p:cNvSpPr>
          <p:nvPr>
            <p:ph idx="1"/>
          </p:nvPr>
        </p:nvSpPr>
        <p:spPr/>
        <p:txBody>
          <a:bodyPr/>
          <a:lstStyle/>
          <a:p>
            <a:pPr marL="0" marR="0">
              <a:spcBef>
                <a:spcPts val="0"/>
              </a:spcBef>
              <a:spcAft>
                <a:spcPts val="0"/>
              </a:spcAft>
            </a:pPr>
            <a:r>
              <a:rPr lang="en-IN" sz="1400" b="1">
                <a:solidFill>
                  <a:srgbClr val="7F0055"/>
                </a:solidFill>
                <a:effectLst/>
                <a:latin typeface="Menlo" panose="020B0609030804020204" pitchFamily="49" charset="0"/>
              </a:rPr>
              <a:t>class</a:t>
            </a:r>
            <a:r>
              <a:rPr lang="en-IN" sz="1400">
                <a:solidFill>
                  <a:srgbClr val="000000"/>
                </a:solidFill>
                <a:effectLst/>
                <a:latin typeface="Menlo" panose="020B0609030804020204" pitchFamily="49" charset="0"/>
              </a:rPr>
              <a:t> </a:t>
            </a:r>
            <a:r>
              <a:rPr lang="en-IN" sz="1400" u="sng" dirty="0" err="1">
                <a:solidFill>
                  <a:srgbClr val="000000"/>
                </a:solidFill>
                <a:effectLst/>
                <a:latin typeface="Menlo" panose="020B0609030804020204" pitchFamily="49" charset="0"/>
              </a:rPr>
              <a:t>myframe</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extends</a:t>
            </a:r>
            <a:r>
              <a:rPr lang="en-IN" sz="1400" dirty="0">
                <a:solidFill>
                  <a:srgbClr val="000000"/>
                </a:solidFill>
                <a:effectLst/>
                <a:latin typeface="Menlo" panose="020B0609030804020204" pitchFamily="49" charset="0"/>
              </a:rPr>
              <a:t> Frame</a:t>
            </a:r>
          </a:p>
          <a:p>
            <a:pPr marL="0" marR="0">
              <a:spcBef>
                <a:spcPts val="0"/>
              </a:spcBef>
              <a:spcAft>
                <a:spcPts val="0"/>
              </a:spcAft>
            </a:pPr>
            <a:r>
              <a:rPr lang="en-IN" sz="1400" dirty="0">
                <a:solidFill>
                  <a:srgbClr val="000000"/>
                </a:solidFill>
                <a:effectLst/>
                <a:latin typeface="Menlo" panose="020B0609030804020204" pitchFamily="49" charset="0"/>
              </a:rPr>
              <a:t>{ </a:t>
            </a:r>
          </a:p>
          <a:p>
            <a:pPr marL="0" marR="0">
              <a:spcBef>
                <a:spcPts val="0"/>
              </a:spcBef>
              <a:spcAft>
                <a:spcPts val="0"/>
              </a:spcAft>
            </a:pPr>
            <a:r>
              <a:rPr lang="en-IN" sz="1400" dirty="0" err="1">
                <a:solidFill>
                  <a:srgbClr val="000000"/>
                </a:solidFill>
                <a:effectLst/>
                <a:latin typeface="Menlo" panose="020B0609030804020204" pitchFamily="49" charset="0"/>
              </a:rPr>
              <a:t>myframe</a:t>
            </a:r>
            <a:r>
              <a:rPr lang="en-IN" sz="1400" dirty="0">
                <a:solidFill>
                  <a:srgbClr val="000000"/>
                </a:solidFill>
                <a:effectLst/>
                <a:latin typeface="Menlo" panose="020B0609030804020204" pitchFamily="49" charset="0"/>
              </a:rPr>
              <a:t>()</a:t>
            </a:r>
          </a:p>
          <a:p>
            <a:pPr marL="0" marR="0">
              <a:spcBef>
                <a:spcPts val="0"/>
              </a:spcBef>
              <a:spcAft>
                <a:spcPts val="0"/>
              </a:spcAft>
            </a:pPr>
            <a:r>
              <a:rPr lang="en-IN" sz="1400" dirty="0">
                <a:solidFill>
                  <a:srgbClr val="000000"/>
                </a:solidFill>
                <a:effectLst/>
                <a:latin typeface="Menlo" panose="020B0609030804020204" pitchFamily="49" charset="0"/>
              </a:rPr>
              <a:t>{ </a:t>
            </a:r>
            <a:r>
              <a:rPr lang="en-IN" sz="1400" b="1" dirty="0" err="1">
                <a:solidFill>
                  <a:srgbClr val="7F0055"/>
                </a:solidFill>
                <a:effectLst/>
                <a:latin typeface="Menlo" panose="020B0609030804020204" pitchFamily="49" charset="0"/>
              </a:rPr>
              <a:t>this</a:t>
            </a:r>
            <a:r>
              <a:rPr lang="en-IN" sz="1400" dirty="0" err="1">
                <a:solidFill>
                  <a:srgbClr val="000000"/>
                </a:solidFill>
                <a:effectLst/>
                <a:latin typeface="Menlo" panose="020B0609030804020204" pitchFamily="49" charset="0"/>
              </a:rPr>
              <a:t>.setSize</a:t>
            </a:r>
            <a:r>
              <a:rPr lang="en-IN" sz="1400" dirty="0">
                <a:solidFill>
                  <a:srgbClr val="000000"/>
                </a:solidFill>
                <a:effectLst/>
                <a:latin typeface="Menlo" panose="020B0609030804020204" pitchFamily="49" charset="0"/>
              </a:rPr>
              <a:t>(400,400);</a:t>
            </a:r>
          </a:p>
          <a:p>
            <a:pPr marL="0" marR="0">
              <a:spcBef>
                <a:spcPts val="0"/>
              </a:spcBef>
              <a:spcAft>
                <a:spcPts val="0"/>
              </a:spcAft>
            </a:pPr>
            <a:r>
              <a:rPr lang="en-IN" sz="1400" b="1" dirty="0" err="1">
                <a:solidFill>
                  <a:srgbClr val="7F0055"/>
                </a:solidFill>
                <a:effectLst/>
                <a:latin typeface="Menlo" panose="020B0609030804020204" pitchFamily="49" charset="0"/>
              </a:rPr>
              <a:t>this</a:t>
            </a:r>
            <a:r>
              <a:rPr lang="en-IN" sz="1400" dirty="0" err="1">
                <a:solidFill>
                  <a:srgbClr val="000000"/>
                </a:solidFill>
                <a:effectLst/>
                <a:latin typeface="Menlo" panose="020B0609030804020204" pitchFamily="49" charset="0"/>
              </a:rPr>
              <a:t>.setVisible</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true</a:t>
            </a:r>
            <a:r>
              <a:rPr lang="en-IN" sz="1400" dirty="0">
                <a:solidFill>
                  <a:srgbClr val="000000"/>
                </a:solidFill>
                <a:effectLst/>
                <a:latin typeface="Menlo" panose="020B0609030804020204" pitchFamily="49" charset="0"/>
              </a:rPr>
              <a:t>); </a:t>
            </a:r>
          </a:p>
          <a:p>
            <a:pPr marL="0" marR="0">
              <a:spcBef>
                <a:spcPts val="0"/>
              </a:spcBef>
              <a:spcAft>
                <a:spcPts val="0"/>
              </a:spcAft>
            </a:pPr>
            <a:r>
              <a:rPr lang="en-IN" sz="1400" b="1" dirty="0" err="1">
                <a:solidFill>
                  <a:srgbClr val="7F0055"/>
                </a:solidFill>
                <a:effectLst/>
                <a:latin typeface="Menlo" panose="020B0609030804020204" pitchFamily="49" charset="0"/>
              </a:rPr>
              <a:t>this</a:t>
            </a:r>
            <a:r>
              <a:rPr lang="en-IN" sz="1400" dirty="0" err="1">
                <a:solidFill>
                  <a:srgbClr val="000000"/>
                </a:solidFill>
                <a:effectLst/>
                <a:latin typeface="Menlo" panose="020B0609030804020204" pitchFamily="49" charset="0"/>
              </a:rPr>
              <a:t>.setBackground</a:t>
            </a:r>
            <a:r>
              <a:rPr lang="en-IN" sz="1400" dirty="0">
                <a:solidFill>
                  <a:srgbClr val="000000"/>
                </a:solidFill>
                <a:effectLst/>
                <a:latin typeface="Menlo" panose="020B0609030804020204" pitchFamily="49" charset="0"/>
              </a:rPr>
              <a:t>(</a:t>
            </a:r>
            <a:r>
              <a:rPr lang="en-IN" sz="1400" dirty="0" err="1">
                <a:solidFill>
                  <a:srgbClr val="000000"/>
                </a:solidFill>
                <a:effectLst/>
                <a:latin typeface="Menlo" panose="020B0609030804020204" pitchFamily="49" charset="0"/>
              </a:rPr>
              <a:t>Color.</a:t>
            </a:r>
            <a:r>
              <a:rPr lang="en-IN" sz="1400" b="1" i="1" dirty="0" err="1">
                <a:solidFill>
                  <a:srgbClr val="0000C0"/>
                </a:solidFill>
                <a:effectLst/>
                <a:latin typeface="Menlo" panose="020B0609030804020204" pitchFamily="49" charset="0"/>
              </a:rPr>
              <a:t>green</a:t>
            </a:r>
            <a:r>
              <a:rPr lang="en-IN" sz="1400" dirty="0">
                <a:solidFill>
                  <a:srgbClr val="000000"/>
                </a:solidFill>
                <a:effectLst/>
                <a:latin typeface="Menlo" panose="020B0609030804020204" pitchFamily="49" charset="0"/>
              </a:rPr>
              <a:t>); </a:t>
            </a:r>
          </a:p>
          <a:p>
            <a:pPr marL="0" marR="0">
              <a:spcBef>
                <a:spcPts val="0"/>
              </a:spcBef>
              <a:spcAft>
                <a:spcPts val="0"/>
              </a:spcAft>
            </a:pPr>
            <a:r>
              <a:rPr lang="en-IN" sz="1400" b="1" dirty="0" err="1">
                <a:solidFill>
                  <a:srgbClr val="7F0055"/>
                </a:solidFill>
                <a:effectLst/>
                <a:latin typeface="Menlo" panose="020B0609030804020204" pitchFamily="49" charset="0"/>
              </a:rPr>
              <a:t>this</a:t>
            </a:r>
            <a:r>
              <a:rPr lang="en-IN" sz="1400" dirty="0" err="1">
                <a:solidFill>
                  <a:srgbClr val="000000"/>
                </a:solidFill>
                <a:effectLst/>
                <a:latin typeface="Menlo" panose="020B0609030804020204" pitchFamily="49" charset="0"/>
              </a:rPr>
              <a:t>.addKeyListener</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new</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keyboardimpl</a:t>
            </a:r>
            <a:r>
              <a:rPr lang="en-IN" sz="1400" dirty="0">
                <a:solidFill>
                  <a:srgbClr val="000000"/>
                </a:solidFill>
                <a:effectLst/>
                <a:latin typeface="Menlo" panose="020B0609030804020204" pitchFamily="49" charset="0"/>
              </a:rPr>
              <a:t>());</a:t>
            </a:r>
          </a:p>
          <a:p>
            <a:pPr marL="0" marR="0">
              <a:spcBef>
                <a:spcPts val="0"/>
              </a:spcBef>
              <a:spcAft>
                <a:spcPts val="0"/>
              </a:spcAft>
            </a:pPr>
            <a:r>
              <a:rPr lang="en-IN" sz="1400" dirty="0">
                <a:solidFill>
                  <a:srgbClr val="000000"/>
                </a:solidFill>
                <a:effectLst/>
                <a:latin typeface="Menlo" panose="020B0609030804020204" pitchFamily="49" charset="0"/>
              </a:rPr>
              <a:t>}</a:t>
            </a:r>
          </a:p>
          <a:p>
            <a:pPr marL="0" marR="0">
              <a:spcBef>
                <a:spcPts val="0"/>
              </a:spcBef>
              <a:spcAft>
                <a:spcPts val="0"/>
              </a:spcAft>
            </a:pPr>
            <a:r>
              <a:rPr lang="en-IN" sz="1400" dirty="0">
                <a:solidFill>
                  <a:srgbClr val="000000"/>
                </a:solidFill>
                <a:effectLst/>
                <a:latin typeface="Menlo" panose="020B0609030804020204" pitchFamily="49" charset="0"/>
              </a:rPr>
              <a:t>}</a:t>
            </a:r>
          </a:p>
          <a:p>
            <a:pPr marL="0" marR="0">
              <a:spcBef>
                <a:spcPts val="0"/>
              </a:spcBef>
              <a:spcAft>
                <a:spcPts val="0"/>
              </a:spcAft>
            </a:pPr>
            <a:r>
              <a:rPr lang="en-IN" sz="1400" b="1" dirty="0">
                <a:solidFill>
                  <a:srgbClr val="7F0055"/>
                </a:solidFill>
                <a:effectLst/>
                <a:latin typeface="Menlo" panose="020B0609030804020204" pitchFamily="49" charset="0"/>
              </a:rPr>
              <a:t>class</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keyboardimpl</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implements</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KeyListener</a:t>
            </a:r>
            <a:r>
              <a:rPr lang="en-IN" sz="1400" dirty="0">
                <a:solidFill>
                  <a:srgbClr val="000000"/>
                </a:solidFill>
                <a:effectLst/>
                <a:latin typeface="Menlo" panose="020B0609030804020204" pitchFamily="49" charset="0"/>
              </a:rPr>
              <a:t> { </a:t>
            </a:r>
          </a:p>
          <a:p>
            <a:pPr marL="0" marR="0">
              <a:spcBef>
                <a:spcPts val="0"/>
              </a:spcBef>
              <a:spcAft>
                <a:spcPts val="0"/>
              </a:spcAft>
            </a:pPr>
            <a:r>
              <a:rPr lang="en-IN" sz="1400" b="1" dirty="0">
                <a:solidFill>
                  <a:srgbClr val="7F0055"/>
                </a:solidFill>
                <a:effectLst/>
                <a:latin typeface="Menlo" panose="020B0609030804020204" pitchFamily="49" charset="0"/>
              </a:rPr>
              <a:t>public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keyTyped</a:t>
            </a:r>
            <a:r>
              <a:rPr lang="en-IN" sz="1400" dirty="0">
                <a:solidFill>
                  <a:srgbClr val="000000"/>
                </a:solidFill>
                <a:effectLst/>
                <a:latin typeface="Menlo" panose="020B0609030804020204" pitchFamily="49" charset="0"/>
              </a:rPr>
              <a:t>(</a:t>
            </a:r>
            <a:r>
              <a:rPr lang="en-IN" sz="1400" dirty="0" err="1">
                <a:solidFill>
                  <a:srgbClr val="000000"/>
                </a:solidFill>
                <a:effectLst/>
                <a:latin typeface="Menlo" panose="020B0609030804020204" pitchFamily="49" charset="0"/>
              </a:rPr>
              <a:t>KeyEvent</a:t>
            </a:r>
            <a:r>
              <a:rPr lang="en-IN" sz="1400" dirty="0">
                <a:solidFill>
                  <a:srgbClr val="000000"/>
                </a:solidFill>
                <a:effectLst/>
                <a:latin typeface="Menlo" panose="020B0609030804020204" pitchFamily="49" charset="0"/>
              </a:rPr>
              <a:t> </a:t>
            </a:r>
            <a:r>
              <a:rPr lang="en-IN" sz="1400" dirty="0">
                <a:solidFill>
                  <a:srgbClr val="6A3E3E"/>
                </a:solidFill>
                <a:effectLst/>
                <a:latin typeface="Menlo" panose="020B0609030804020204" pitchFamily="49" charset="0"/>
              </a:rPr>
              <a:t>e</a:t>
            </a:r>
            <a:r>
              <a:rPr lang="en-IN" sz="1400" dirty="0">
                <a:solidFill>
                  <a:srgbClr val="000000"/>
                </a:solidFill>
                <a:effectLst/>
                <a:latin typeface="Menlo" panose="020B0609030804020204" pitchFamily="49" charset="0"/>
              </a:rPr>
              <a:t>){ </a:t>
            </a:r>
          </a:p>
          <a:p>
            <a:pPr marL="0" marR="0">
              <a:spcBef>
                <a:spcPts val="0"/>
              </a:spcBef>
              <a:spcAft>
                <a:spcPts val="0"/>
              </a:spcAft>
            </a:pPr>
            <a:r>
              <a:rPr lang="en-IN" sz="1400" dirty="0" err="1">
                <a:solidFill>
                  <a:srgbClr val="000000"/>
                </a:solidFill>
                <a:effectLst/>
                <a:latin typeface="Menlo" panose="020B0609030804020204" pitchFamily="49" charset="0"/>
              </a:rPr>
              <a:t>System.</a:t>
            </a:r>
            <a:r>
              <a:rPr lang="en-IN" sz="1400" b="1" i="1" dirty="0" err="1">
                <a:solidFill>
                  <a:srgbClr val="0000C0"/>
                </a:solidFill>
                <a:effectLst/>
                <a:latin typeface="Menlo" panose="020B0609030804020204" pitchFamily="49" charset="0"/>
              </a:rPr>
              <a:t>out</a:t>
            </a:r>
            <a:r>
              <a:rPr lang="en-IN" sz="1400" dirty="0" err="1">
                <a:solidFill>
                  <a:srgbClr val="000000"/>
                </a:solidFill>
                <a:effectLst/>
                <a:latin typeface="Menlo" panose="020B0609030804020204" pitchFamily="49" charset="0"/>
              </a:rPr>
              <a:t>.println</a:t>
            </a:r>
            <a:r>
              <a:rPr lang="en-IN" sz="1400" dirty="0">
                <a:solidFill>
                  <a:srgbClr val="000000"/>
                </a:solidFill>
                <a:effectLst/>
                <a:latin typeface="Menlo" panose="020B0609030804020204" pitchFamily="49" charset="0"/>
              </a:rPr>
              <a:t>(</a:t>
            </a:r>
            <a:r>
              <a:rPr lang="en-IN" sz="1400" dirty="0">
                <a:solidFill>
                  <a:srgbClr val="2A00FF"/>
                </a:solidFill>
                <a:effectLst/>
                <a:latin typeface="Menlo" panose="020B0609030804020204" pitchFamily="49" charset="0"/>
              </a:rPr>
              <a:t>"key typed "</a:t>
            </a:r>
            <a:r>
              <a:rPr lang="en-IN" sz="1400" dirty="0">
                <a:solidFill>
                  <a:srgbClr val="000000"/>
                </a:solidFill>
                <a:effectLst/>
                <a:latin typeface="Menlo" panose="020B0609030804020204" pitchFamily="49" charset="0"/>
              </a:rPr>
              <a:t>+</a:t>
            </a:r>
            <a:r>
              <a:rPr lang="en-IN" sz="1400" dirty="0" err="1">
                <a:solidFill>
                  <a:srgbClr val="6A3E3E"/>
                </a:solidFill>
                <a:effectLst/>
                <a:latin typeface="Menlo" panose="020B0609030804020204" pitchFamily="49" charset="0"/>
              </a:rPr>
              <a:t>e</a:t>
            </a:r>
            <a:r>
              <a:rPr lang="en-IN" sz="1400" dirty="0" err="1">
                <a:solidFill>
                  <a:srgbClr val="000000"/>
                </a:solidFill>
                <a:effectLst/>
                <a:latin typeface="Menlo" panose="020B0609030804020204" pitchFamily="49" charset="0"/>
              </a:rPr>
              <a:t>.getKeyChar</a:t>
            </a:r>
            <a:r>
              <a:rPr lang="en-IN" sz="1400" dirty="0">
                <a:solidFill>
                  <a:srgbClr val="000000"/>
                </a:solidFill>
                <a:effectLst/>
                <a:latin typeface="Menlo" panose="020B0609030804020204" pitchFamily="49" charset="0"/>
              </a:rPr>
              <a:t>());</a:t>
            </a:r>
          </a:p>
          <a:p>
            <a:pPr marL="0" marR="0">
              <a:spcBef>
                <a:spcPts val="0"/>
              </a:spcBef>
              <a:spcAft>
                <a:spcPts val="0"/>
              </a:spcAft>
            </a:pPr>
            <a:r>
              <a:rPr lang="en-IN" sz="1400" dirty="0">
                <a:solidFill>
                  <a:srgbClr val="000000"/>
                </a:solidFill>
                <a:effectLst/>
                <a:latin typeface="Menlo" panose="020B0609030804020204" pitchFamily="49" charset="0"/>
              </a:rPr>
              <a:t>}</a:t>
            </a:r>
          </a:p>
          <a:p>
            <a:pPr marL="0" marR="0">
              <a:spcBef>
                <a:spcPts val="0"/>
              </a:spcBef>
              <a:spcAft>
                <a:spcPts val="0"/>
              </a:spcAft>
            </a:pPr>
            <a:r>
              <a:rPr lang="en-IN" sz="1400" b="1" dirty="0">
                <a:solidFill>
                  <a:srgbClr val="7F0055"/>
                </a:solidFill>
                <a:effectLst/>
                <a:latin typeface="Menlo" panose="020B0609030804020204" pitchFamily="49" charset="0"/>
              </a:rPr>
              <a:t>public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keyPressed</a:t>
            </a:r>
            <a:r>
              <a:rPr lang="en-IN" sz="1400" dirty="0">
                <a:solidFill>
                  <a:srgbClr val="000000"/>
                </a:solidFill>
                <a:effectLst/>
                <a:latin typeface="Menlo" panose="020B0609030804020204" pitchFamily="49" charset="0"/>
              </a:rPr>
              <a:t>(</a:t>
            </a:r>
            <a:r>
              <a:rPr lang="en-IN" sz="1400" dirty="0" err="1">
                <a:solidFill>
                  <a:srgbClr val="000000"/>
                </a:solidFill>
                <a:effectLst/>
                <a:latin typeface="Menlo" panose="020B0609030804020204" pitchFamily="49" charset="0"/>
              </a:rPr>
              <a:t>KeyEvent</a:t>
            </a:r>
            <a:r>
              <a:rPr lang="en-IN" sz="1400" dirty="0">
                <a:solidFill>
                  <a:srgbClr val="000000"/>
                </a:solidFill>
                <a:effectLst/>
                <a:latin typeface="Menlo" panose="020B0609030804020204" pitchFamily="49" charset="0"/>
              </a:rPr>
              <a:t> </a:t>
            </a:r>
            <a:r>
              <a:rPr lang="en-IN" sz="1400" dirty="0">
                <a:solidFill>
                  <a:srgbClr val="6A3E3E"/>
                </a:solidFill>
                <a:effectLst/>
                <a:latin typeface="Menlo" panose="020B0609030804020204" pitchFamily="49" charset="0"/>
              </a:rPr>
              <a:t>e</a:t>
            </a:r>
            <a:r>
              <a:rPr lang="en-IN" sz="1400" dirty="0">
                <a:solidFill>
                  <a:srgbClr val="000000"/>
                </a:solidFill>
                <a:effectLst/>
                <a:latin typeface="Menlo" panose="020B0609030804020204" pitchFamily="49" charset="0"/>
              </a:rPr>
              <a:t>){ </a:t>
            </a:r>
          </a:p>
          <a:p>
            <a:pPr marL="0" marR="0">
              <a:spcBef>
                <a:spcPts val="0"/>
              </a:spcBef>
              <a:spcAft>
                <a:spcPts val="0"/>
              </a:spcAft>
            </a:pPr>
            <a:r>
              <a:rPr lang="en-IN" sz="1400" dirty="0" err="1">
                <a:solidFill>
                  <a:srgbClr val="000000"/>
                </a:solidFill>
                <a:effectLst/>
                <a:latin typeface="Menlo" panose="020B0609030804020204" pitchFamily="49" charset="0"/>
              </a:rPr>
              <a:t>System.</a:t>
            </a:r>
            <a:r>
              <a:rPr lang="en-IN" sz="1400" b="1" i="1" dirty="0" err="1">
                <a:solidFill>
                  <a:srgbClr val="0000C0"/>
                </a:solidFill>
                <a:effectLst/>
                <a:latin typeface="Menlo" panose="020B0609030804020204" pitchFamily="49" charset="0"/>
              </a:rPr>
              <a:t>out</a:t>
            </a:r>
            <a:r>
              <a:rPr lang="en-IN" sz="1400" dirty="0" err="1">
                <a:solidFill>
                  <a:srgbClr val="000000"/>
                </a:solidFill>
                <a:effectLst/>
                <a:latin typeface="Menlo" panose="020B0609030804020204" pitchFamily="49" charset="0"/>
              </a:rPr>
              <a:t>.println</a:t>
            </a:r>
            <a:r>
              <a:rPr lang="en-IN" sz="1400" dirty="0">
                <a:solidFill>
                  <a:srgbClr val="000000"/>
                </a:solidFill>
                <a:effectLst/>
                <a:latin typeface="Menlo" panose="020B0609030804020204" pitchFamily="49" charset="0"/>
              </a:rPr>
              <a:t>(</a:t>
            </a:r>
            <a:r>
              <a:rPr lang="en-IN" sz="1400" dirty="0">
                <a:solidFill>
                  <a:srgbClr val="2A00FF"/>
                </a:solidFill>
                <a:effectLst/>
                <a:latin typeface="Menlo" panose="020B0609030804020204" pitchFamily="49" charset="0"/>
              </a:rPr>
              <a:t>"key pressed "</a:t>
            </a:r>
            <a:r>
              <a:rPr lang="en-IN" sz="1400" dirty="0">
                <a:solidFill>
                  <a:srgbClr val="000000"/>
                </a:solidFill>
                <a:effectLst/>
                <a:latin typeface="Menlo" panose="020B0609030804020204" pitchFamily="49" charset="0"/>
              </a:rPr>
              <a:t>+</a:t>
            </a:r>
            <a:r>
              <a:rPr lang="en-IN" sz="1400" dirty="0" err="1">
                <a:solidFill>
                  <a:srgbClr val="6A3E3E"/>
                </a:solidFill>
                <a:effectLst/>
                <a:latin typeface="Menlo" panose="020B0609030804020204" pitchFamily="49" charset="0"/>
              </a:rPr>
              <a:t>e</a:t>
            </a:r>
            <a:r>
              <a:rPr lang="en-IN" sz="1400" dirty="0" err="1">
                <a:solidFill>
                  <a:srgbClr val="000000"/>
                </a:solidFill>
                <a:effectLst/>
                <a:latin typeface="Menlo" panose="020B0609030804020204" pitchFamily="49" charset="0"/>
              </a:rPr>
              <a:t>.getKeyChar</a:t>
            </a:r>
            <a:r>
              <a:rPr lang="en-IN" sz="1400" dirty="0">
                <a:solidFill>
                  <a:srgbClr val="000000"/>
                </a:solidFill>
                <a:effectLst/>
                <a:latin typeface="Menlo" panose="020B0609030804020204" pitchFamily="49" charset="0"/>
              </a:rPr>
              <a:t>()); </a:t>
            </a:r>
          </a:p>
          <a:p>
            <a:pPr marL="0" marR="0">
              <a:spcBef>
                <a:spcPts val="0"/>
              </a:spcBef>
              <a:spcAft>
                <a:spcPts val="0"/>
              </a:spcAft>
            </a:pPr>
            <a:r>
              <a:rPr lang="en-IN" sz="1400" dirty="0">
                <a:solidFill>
                  <a:srgbClr val="000000"/>
                </a:solidFill>
                <a:effectLst/>
                <a:latin typeface="Menlo" panose="020B0609030804020204" pitchFamily="49" charset="0"/>
              </a:rPr>
              <a:t>}</a:t>
            </a:r>
          </a:p>
          <a:p>
            <a:pPr marL="0" marR="0">
              <a:spcBef>
                <a:spcPts val="0"/>
              </a:spcBef>
              <a:spcAft>
                <a:spcPts val="0"/>
              </a:spcAft>
            </a:pPr>
            <a:r>
              <a:rPr lang="en-IN" sz="1400" b="1" dirty="0">
                <a:solidFill>
                  <a:srgbClr val="7F0055"/>
                </a:solidFill>
                <a:effectLst/>
                <a:latin typeface="Menlo" panose="020B0609030804020204" pitchFamily="49" charset="0"/>
              </a:rPr>
              <a:t>public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keyReleased</a:t>
            </a:r>
            <a:r>
              <a:rPr lang="en-IN" sz="1400" dirty="0">
                <a:solidFill>
                  <a:srgbClr val="000000"/>
                </a:solidFill>
                <a:effectLst/>
                <a:latin typeface="Menlo" panose="020B0609030804020204" pitchFamily="49" charset="0"/>
              </a:rPr>
              <a:t>(</a:t>
            </a:r>
            <a:r>
              <a:rPr lang="en-IN" sz="1400" dirty="0" err="1">
                <a:solidFill>
                  <a:srgbClr val="000000"/>
                </a:solidFill>
                <a:effectLst/>
                <a:latin typeface="Menlo" panose="020B0609030804020204" pitchFamily="49" charset="0"/>
              </a:rPr>
              <a:t>KeyEvent</a:t>
            </a:r>
            <a:r>
              <a:rPr lang="en-IN" sz="1400" dirty="0">
                <a:solidFill>
                  <a:srgbClr val="000000"/>
                </a:solidFill>
                <a:effectLst/>
                <a:latin typeface="Menlo" panose="020B0609030804020204" pitchFamily="49" charset="0"/>
              </a:rPr>
              <a:t> </a:t>
            </a:r>
            <a:r>
              <a:rPr lang="en-IN" sz="1400" dirty="0">
                <a:solidFill>
                  <a:srgbClr val="6A3E3E"/>
                </a:solidFill>
                <a:effectLst/>
                <a:latin typeface="Menlo" panose="020B0609030804020204" pitchFamily="49" charset="0"/>
              </a:rPr>
              <a:t>e</a:t>
            </a:r>
            <a:r>
              <a:rPr lang="en-IN" sz="1400" dirty="0">
                <a:solidFill>
                  <a:srgbClr val="000000"/>
                </a:solidFill>
                <a:effectLst/>
                <a:latin typeface="Menlo" panose="020B0609030804020204" pitchFamily="49" charset="0"/>
              </a:rPr>
              <a:t>){ </a:t>
            </a:r>
          </a:p>
          <a:p>
            <a:pPr marL="0" marR="0">
              <a:spcBef>
                <a:spcPts val="0"/>
              </a:spcBef>
              <a:spcAft>
                <a:spcPts val="0"/>
              </a:spcAft>
            </a:pPr>
            <a:r>
              <a:rPr lang="en-IN" sz="1400" dirty="0" err="1">
                <a:solidFill>
                  <a:srgbClr val="000000"/>
                </a:solidFill>
                <a:effectLst/>
                <a:latin typeface="Menlo" panose="020B0609030804020204" pitchFamily="49" charset="0"/>
              </a:rPr>
              <a:t>System.</a:t>
            </a:r>
            <a:r>
              <a:rPr lang="en-IN" sz="1400" b="1" i="1" dirty="0" err="1">
                <a:solidFill>
                  <a:srgbClr val="0000C0"/>
                </a:solidFill>
                <a:effectLst/>
                <a:latin typeface="Menlo" panose="020B0609030804020204" pitchFamily="49" charset="0"/>
              </a:rPr>
              <a:t>out</a:t>
            </a:r>
            <a:r>
              <a:rPr lang="en-IN" sz="1400" dirty="0" err="1">
                <a:solidFill>
                  <a:srgbClr val="000000"/>
                </a:solidFill>
                <a:effectLst/>
                <a:latin typeface="Menlo" panose="020B0609030804020204" pitchFamily="49" charset="0"/>
              </a:rPr>
              <a:t>.println</a:t>
            </a:r>
            <a:r>
              <a:rPr lang="en-IN" sz="1400" dirty="0">
                <a:solidFill>
                  <a:srgbClr val="000000"/>
                </a:solidFill>
                <a:effectLst/>
                <a:latin typeface="Menlo" panose="020B0609030804020204" pitchFamily="49" charset="0"/>
              </a:rPr>
              <a:t>(</a:t>
            </a:r>
            <a:r>
              <a:rPr lang="en-IN" sz="1400" dirty="0">
                <a:solidFill>
                  <a:srgbClr val="2A00FF"/>
                </a:solidFill>
                <a:effectLst/>
                <a:latin typeface="Menlo" panose="020B0609030804020204" pitchFamily="49" charset="0"/>
              </a:rPr>
              <a:t>"key released "</a:t>
            </a:r>
            <a:r>
              <a:rPr lang="en-IN" sz="1400" dirty="0">
                <a:solidFill>
                  <a:srgbClr val="000000"/>
                </a:solidFill>
                <a:effectLst/>
                <a:latin typeface="Menlo" panose="020B0609030804020204" pitchFamily="49" charset="0"/>
              </a:rPr>
              <a:t>+</a:t>
            </a:r>
            <a:r>
              <a:rPr lang="en-IN" sz="1400" dirty="0" err="1">
                <a:solidFill>
                  <a:srgbClr val="6A3E3E"/>
                </a:solidFill>
                <a:effectLst/>
                <a:latin typeface="Menlo" panose="020B0609030804020204" pitchFamily="49" charset="0"/>
              </a:rPr>
              <a:t>e</a:t>
            </a:r>
            <a:r>
              <a:rPr lang="en-IN" sz="1400" dirty="0" err="1">
                <a:solidFill>
                  <a:srgbClr val="000000"/>
                </a:solidFill>
                <a:effectLst/>
                <a:latin typeface="Menlo" panose="020B0609030804020204" pitchFamily="49" charset="0"/>
              </a:rPr>
              <a:t>.getKeyChar</a:t>
            </a:r>
            <a:r>
              <a:rPr lang="en-IN" sz="1400" dirty="0">
                <a:solidFill>
                  <a:srgbClr val="000000"/>
                </a:solidFill>
                <a:effectLst/>
                <a:latin typeface="Menlo" panose="020B0609030804020204" pitchFamily="49" charset="0"/>
              </a:rPr>
              <a:t>()); </a:t>
            </a:r>
          </a:p>
          <a:p>
            <a:pPr marL="0" marR="0">
              <a:spcBef>
                <a:spcPts val="0"/>
              </a:spcBef>
              <a:spcAft>
                <a:spcPts val="0"/>
              </a:spcAft>
            </a:pPr>
            <a:r>
              <a:rPr lang="en-IN" sz="1400" dirty="0">
                <a:solidFill>
                  <a:srgbClr val="000000"/>
                </a:solidFill>
                <a:effectLst/>
                <a:latin typeface="Menlo" panose="020B0609030804020204" pitchFamily="49" charset="0"/>
              </a:rPr>
              <a:t>}</a:t>
            </a:r>
          </a:p>
          <a:p>
            <a:pPr marL="0" marR="0">
              <a:spcBef>
                <a:spcPts val="0"/>
              </a:spcBef>
              <a:spcAft>
                <a:spcPts val="0"/>
              </a:spcAft>
            </a:pPr>
            <a:r>
              <a:rPr lang="en-IN" sz="1400" dirty="0">
                <a:solidFill>
                  <a:srgbClr val="000000"/>
                </a:solidFill>
                <a:effectLst/>
                <a:latin typeface="Menlo" panose="020B0609030804020204" pitchFamily="49" charset="0"/>
              </a:rPr>
              <a:t>}</a:t>
            </a:r>
          </a:p>
          <a:p>
            <a:pPr marL="0" marR="0">
              <a:spcBef>
                <a:spcPts val="0"/>
              </a:spcBef>
              <a:spcAft>
                <a:spcPts val="0"/>
              </a:spcAft>
            </a:pPr>
            <a:r>
              <a:rPr lang="en-IN" sz="1400" b="1" dirty="0">
                <a:solidFill>
                  <a:srgbClr val="7F0055"/>
                </a:solidFill>
                <a:effectLst/>
                <a:latin typeface="Menlo" panose="020B0609030804020204" pitchFamily="49" charset="0"/>
              </a:rPr>
              <a:t>class</a:t>
            </a:r>
            <a:r>
              <a:rPr lang="en-IN" sz="1400" dirty="0">
                <a:solidFill>
                  <a:srgbClr val="000000"/>
                </a:solidFill>
                <a:effectLst/>
                <a:latin typeface="Menlo" panose="020B0609030804020204" pitchFamily="49" charset="0"/>
              </a:rPr>
              <a:t> Demo</a:t>
            </a:r>
          </a:p>
          <a:p>
            <a:pPr marL="0" marR="0">
              <a:spcBef>
                <a:spcPts val="0"/>
              </a:spcBef>
              <a:spcAft>
                <a:spcPts val="0"/>
              </a:spcAft>
            </a:pP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public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static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main(String[] </a:t>
            </a:r>
            <a:r>
              <a:rPr lang="en-IN" sz="1400" dirty="0" err="1">
                <a:solidFill>
                  <a:srgbClr val="6A3E3E"/>
                </a:solidFill>
                <a:effectLst/>
                <a:latin typeface="Menlo" panose="020B0609030804020204" pitchFamily="49" charset="0"/>
              </a:rPr>
              <a:t>args</a:t>
            </a:r>
            <a:r>
              <a:rPr lang="en-IN" sz="1400" dirty="0">
                <a:solidFill>
                  <a:srgbClr val="000000"/>
                </a:solidFill>
                <a:effectLst/>
                <a:latin typeface="Menlo" panose="020B0609030804020204" pitchFamily="49" charset="0"/>
              </a:rPr>
              <a:t>)</a:t>
            </a:r>
          </a:p>
          <a:p>
            <a:pPr marL="0" marR="0">
              <a:spcBef>
                <a:spcPts val="0"/>
              </a:spcBef>
              <a:spcAft>
                <a:spcPts val="0"/>
              </a:spcAft>
            </a:pP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myframe</a:t>
            </a:r>
            <a:r>
              <a:rPr lang="en-IN" sz="1400" dirty="0">
                <a:solidFill>
                  <a:srgbClr val="000000"/>
                </a:solidFill>
                <a:effectLst/>
                <a:latin typeface="Menlo" panose="020B0609030804020204" pitchFamily="49" charset="0"/>
              </a:rPr>
              <a:t> </a:t>
            </a:r>
            <a:r>
              <a:rPr lang="en-IN" sz="1400" dirty="0">
                <a:solidFill>
                  <a:srgbClr val="6A3E3E"/>
                </a:solidFill>
                <a:effectLst/>
                <a:latin typeface="Menlo" panose="020B0609030804020204" pitchFamily="49" charset="0"/>
              </a:rPr>
              <a:t>f</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new</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myframe</a:t>
            </a:r>
            <a:r>
              <a:rPr lang="en-IN" sz="1400" dirty="0">
                <a:solidFill>
                  <a:srgbClr val="000000"/>
                </a:solidFill>
                <a:effectLst/>
                <a:latin typeface="Menlo" panose="020B0609030804020204" pitchFamily="49" charset="0"/>
              </a:rPr>
              <a:t>();</a:t>
            </a:r>
          </a:p>
          <a:p>
            <a:pPr marL="0" marR="0">
              <a:spcBef>
                <a:spcPts val="0"/>
              </a:spcBef>
              <a:spcAft>
                <a:spcPts val="0"/>
              </a:spcAft>
            </a:pPr>
            <a:r>
              <a:rPr lang="en-IN" sz="1400" dirty="0">
                <a:solidFill>
                  <a:srgbClr val="000000"/>
                </a:solidFill>
                <a:effectLst/>
                <a:latin typeface="Menlo" panose="020B0609030804020204" pitchFamily="49" charset="0"/>
              </a:rPr>
              <a:t>} }</a:t>
            </a:r>
          </a:p>
          <a:p>
            <a:endParaRPr lang="en-US" sz="2400" dirty="0"/>
          </a:p>
        </p:txBody>
      </p:sp>
      <p:sp>
        <p:nvSpPr>
          <p:cNvPr id="4" name="Footer Placeholder 3">
            <a:extLst>
              <a:ext uri="{FF2B5EF4-FFF2-40B4-BE49-F238E27FC236}">
                <a16:creationId xmlns:a16="http://schemas.microsoft.com/office/drawing/2014/main" id="{18DB3585-0C14-06AB-AB9C-A1169A502BBF}"/>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95858605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A2269-F1B2-BD94-280A-62C29A1AE002}"/>
              </a:ext>
            </a:extLst>
          </p:cNvPr>
          <p:cNvSpPr>
            <a:spLocks noGrp="1"/>
          </p:cNvSpPr>
          <p:nvPr>
            <p:ph type="title"/>
          </p:nvPr>
        </p:nvSpPr>
        <p:spPr/>
        <p:txBody>
          <a:bodyPr/>
          <a:lstStyle/>
          <a:p>
            <a:r>
              <a:rPr lang="en-US" dirty="0"/>
              <a:t>Swings</a:t>
            </a:r>
          </a:p>
        </p:txBody>
      </p:sp>
      <p:sp>
        <p:nvSpPr>
          <p:cNvPr id="3" name="Content Placeholder 2">
            <a:extLst>
              <a:ext uri="{FF2B5EF4-FFF2-40B4-BE49-F238E27FC236}">
                <a16:creationId xmlns:a16="http://schemas.microsoft.com/office/drawing/2014/main" id="{AB9B3B8F-1CF3-D90F-C622-CBBA2B9A0F3D}"/>
              </a:ext>
            </a:extLst>
          </p:cNvPr>
          <p:cNvSpPr>
            <a:spLocks noGrp="1"/>
          </p:cNvSpPr>
          <p:nvPr>
            <p:ph idx="1"/>
          </p:nvPr>
        </p:nvSpPr>
        <p:spPr/>
        <p:txBody>
          <a:bodyPr/>
          <a:lstStyle/>
          <a:p>
            <a:pPr>
              <a:buFont typeface="+mj-lt"/>
              <a:buAutoNum type="arabicPeriod"/>
            </a:pPr>
            <a:r>
              <a:rPr lang="en-IN" sz="2000" dirty="0">
                <a:effectLst/>
                <a:latin typeface="Calibri,Italic"/>
              </a:rPr>
              <a:t>Sun Micro Systems introduced </a:t>
            </a:r>
            <a:r>
              <a:rPr lang="en-IN" sz="2000" b="1" dirty="0">
                <a:effectLst/>
                <a:latin typeface="Calibri,Italic"/>
              </a:rPr>
              <a:t>AWT</a:t>
            </a:r>
            <a:r>
              <a:rPr lang="en-IN" sz="2000" dirty="0">
                <a:effectLst/>
                <a:latin typeface="Calibri,Italic"/>
              </a:rPr>
              <a:t> to prepare GUI applications but </a:t>
            </a:r>
            <a:r>
              <a:rPr lang="en-IN" sz="2000" dirty="0" err="1">
                <a:effectLst/>
                <a:latin typeface="Calibri,Italic"/>
              </a:rPr>
              <a:t>awt</a:t>
            </a:r>
            <a:r>
              <a:rPr lang="en-IN" sz="2000" dirty="0">
                <a:effectLst/>
                <a:latin typeface="Calibri,Italic"/>
              </a:rPr>
              <a:t> components not satisfy the client requirement. </a:t>
            </a:r>
          </a:p>
          <a:p>
            <a:pPr>
              <a:buFont typeface="+mj-lt"/>
              <a:buAutoNum type="arabicPeriod"/>
            </a:pPr>
            <a:endParaRPr lang="en-IN" sz="2000" dirty="0">
              <a:effectLst/>
              <a:latin typeface="Calibri,Italic"/>
            </a:endParaRPr>
          </a:p>
          <a:p>
            <a:pPr>
              <a:buFont typeface="+mj-lt"/>
              <a:buAutoNum type="arabicPeriod"/>
            </a:pPr>
            <a:r>
              <a:rPr lang="en-IN" sz="2000" dirty="0">
                <a:effectLst/>
                <a:latin typeface="Calibri,Italic"/>
              </a:rPr>
              <a:t>An alternative to AWT </a:t>
            </a:r>
            <a:r>
              <a:rPr lang="en-IN" sz="2000" b="1" dirty="0">
                <a:effectLst/>
                <a:latin typeface="Calibri,Italic"/>
              </a:rPr>
              <a:t>Netscape</a:t>
            </a:r>
            <a:r>
              <a:rPr lang="en-IN" sz="2000" dirty="0">
                <a:effectLst/>
                <a:latin typeface="Calibri,Italic"/>
              </a:rPr>
              <a:t> Communication Corporation has provided set of GUI components in the form of </a:t>
            </a:r>
            <a:r>
              <a:rPr lang="en-IN" sz="2000" b="1" dirty="0">
                <a:effectLst/>
                <a:latin typeface="Calibri,Italic"/>
              </a:rPr>
              <a:t>IFC</a:t>
            </a:r>
            <a:r>
              <a:rPr lang="en-IN" sz="2000" dirty="0">
                <a:effectLst/>
                <a:latin typeface="Calibri,Italic"/>
              </a:rPr>
              <a:t>(Internet Foundation Class) but </a:t>
            </a:r>
            <a:r>
              <a:rPr lang="en-IN" sz="2000" dirty="0">
                <a:effectLst/>
                <a:latin typeface="Calibri,BoldItalic"/>
              </a:rPr>
              <a:t>IFC </a:t>
            </a:r>
            <a:r>
              <a:rPr lang="en-IN" sz="2000" dirty="0">
                <a:effectLst/>
                <a:latin typeface="Calibri,Italic"/>
              </a:rPr>
              <a:t>also </a:t>
            </a:r>
            <a:r>
              <a:rPr lang="en-IN" sz="2000" b="1" dirty="0">
                <a:effectLst/>
                <a:latin typeface="Calibri,Italic"/>
              </a:rPr>
              <a:t>provide less performance</a:t>
            </a:r>
            <a:r>
              <a:rPr lang="en-IN" sz="2000" dirty="0">
                <a:effectLst/>
                <a:latin typeface="Calibri,Italic"/>
              </a:rPr>
              <a:t> and it is not satisfy the client requirement. </a:t>
            </a:r>
          </a:p>
          <a:p>
            <a:pPr>
              <a:buFont typeface="+mj-lt"/>
              <a:buAutoNum type="arabicPeriod"/>
            </a:pPr>
            <a:endParaRPr lang="en-IN" sz="2000" dirty="0">
              <a:effectLst/>
              <a:latin typeface="Calibri,BoldItalic"/>
            </a:endParaRPr>
          </a:p>
          <a:p>
            <a:pPr>
              <a:buFont typeface="+mj-lt"/>
              <a:buAutoNum type="arabicPeriod"/>
            </a:pPr>
            <a:r>
              <a:rPr lang="en-IN" sz="2000" dirty="0">
                <a:effectLst/>
                <a:latin typeface="Calibri,Italic"/>
              </a:rPr>
              <a:t>In the above context[</a:t>
            </a:r>
            <a:r>
              <a:rPr lang="en-IN" sz="2000" b="1" dirty="0">
                <a:effectLst/>
                <a:latin typeface="Calibri,Italic"/>
              </a:rPr>
              <a:t>sun &amp; Netscape</a:t>
            </a:r>
            <a:r>
              <a:rPr lang="en-IN" sz="2000" dirty="0">
                <a:effectLst/>
                <a:latin typeface="Calibri,Italic"/>
              </a:rPr>
              <a:t>] combine and introduced common product to design GUI applications is called </a:t>
            </a:r>
            <a:r>
              <a:rPr lang="en-IN" sz="2000" b="1" dirty="0">
                <a:effectLst/>
                <a:latin typeface="Calibri,Italic"/>
              </a:rPr>
              <a:t>JFS</a:t>
            </a:r>
            <a:r>
              <a:rPr lang="en-IN" sz="2000" dirty="0">
                <a:effectLst/>
                <a:latin typeface="Calibri,Italic"/>
              </a:rPr>
              <a:t>(java foundation classes) then it is renamed as </a:t>
            </a:r>
            <a:r>
              <a:rPr lang="en-IN" sz="2000" b="1" dirty="0">
                <a:effectLst/>
                <a:latin typeface="Calibri,Italic"/>
              </a:rPr>
              <a:t>swings</a:t>
            </a:r>
            <a:r>
              <a:rPr lang="en-IN" sz="2000" dirty="0">
                <a:effectLst/>
                <a:latin typeface="Calibri,Italic"/>
              </a:rPr>
              <a:t>. </a:t>
            </a:r>
            <a:endParaRPr lang="en-IN" sz="2000" dirty="0">
              <a:effectLst/>
              <a:latin typeface="Calibri,BoldItalic"/>
            </a:endParaRPr>
          </a:p>
          <a:p>
            <a:endParaRPr lang="en-US" sz="3600" dirty="0"/>
          </a:p>
        </p:txBody>
      </p:sp>
      <p:sp>
        <p:nvSpPr>
          <p:cNvPr id="4" name="Footer Placeholder 3">
            <a:extLst>
              <a:ext uri="{FF2B5EF4-FFF2-40B4-BE49-F238E27FC236}">
                <a16:creationId xmlns:a16="http://schemas.microsoft.com/office/drawing/2014/main" id="{780AFD75-C0EA-96C2-C0FC-7BD6BFEB6A48}"/>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62422636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B1E18-32B3-8993-ADDE-8BBE48549398}"/>
              </a:ext>
            </a:extLst>
          </p:cNvPr>
          <p:cNvSpPr>
            <a:spLocks noGrp="1"/>
          </p:cNvSpPr>
          <p:nvPr>
            <p:ph type="title"/>
          </p:nvPr>
        </p:nvSpPr>
        <p:spPr/>
        <p:txBody>
          <a:bodyPr/>
          <a:lstStyle/>
          <a:p>
            <a:r>
              <a:rPr lang="en-US" dirty="0"/>
              <a:t>AWT vs Swings</a:t>
            </a:r>
          </a:p>
        </p:txBody>
      </p:sp>
      <p:sp>
        <p:nvSpPr>
          <p:cNvPr id="3" name="Content Placeholder 2">
            <a:extLst>
              <a:ext uri="{FF2B5EF4-FFF2-40B4-BE49-F238E27FC236}">
                <a16:creationId xmlns:a16="http://schemas.microsoft.com/office/drawing/2014/main" id="{D12B7A4D-6FDD-1B19-23A0-26FED87471F5}"/>
              </a:ext>
            </a:extLst>
          </p:cNvPr>
          <p:cNvSpPr>
            <a:spLocks noGrp="1"/>
          </p:cNvSpPr>
          <p:nvPr>
            <p:ph idx="1"/>
          </p:nvPr>
        </p:nvSpPr>
        <p:spPr/>
        <p:txBody>
          <a:bodyPr/>
          <a:lstStyle/>
          <a:p>
            <a:pPr>
              <a:buFont typeface="Arial" panose="020B0604020202020204" pitchFamily="34" charset="0"/>
              <a:buChar char="•"/>
            </a:pPr>
            <a:r>
              <a:rPr lang="en-IN" sz="1800" dirty="0">
                <a:effectLst/>
                <a:latin typeface="Calibri" panose="020F0502020204030204" pitchFamily="34" charset="0"/>
              </a:rPr>
              <a:t>AWT components are </a:t>
            </a:r>
            <a:r>
              <a:rPr lang="en-IN" sz="1800" b="1" dirty="0">
                <a:effectLst/>
                <a:latin typeface="Calibri" panose="020F0502020204030204" pitchFamily="34" charset="0"/>
              </a:rPr>
              <a:t>platform dependent</a:t>
            </a:r>
            <a:r>
              <a:rPr lang="en-IN" sz="1800" dirty="0">
                <a:effectLst/>
                <a:latin typeface="Calibri" panose="020F0502020204030204" pitchFamily="34" charset="0"/>
              </a:rPr>
              <a:t> but Swings components are </a:t>
            </a:r>
            <a:r>
              <a:rPr lang="en-IN" sz="1800" b="1" dirty="0">
                <a:effectLst/>
                <a:latin typeface="Calibri" panose="020F0502020204030204" pitchFamily="34" charset="0"/>
              </a:rPr>
              <a:t>platform independent</a:t>
            </a:r>
            <a:r>
              <a:rPr lang="en-IN" sz="1800" dirty="0">
                <a:effectLst/>
                <a:latin typeface="Calibri" panose="020F0502020204030204" pitchFamily="34" charset="0"/>
              </a:rPr>
              <a:t> because these components are completely written in java . </a:t>
            </a:r>
            <a:endParaRPr lang="en-IN" dirty="0">
              <a:effectLst/>
            </a:endParaRPr>
          </a:p>
          <a:p>
            <a:pPr>
              <a:buFont typeface="Arial" panose="020B0604020202020204" pitchFamily="34" charset="0"/>
              <a:buChar char="•"/>
            </a:pPr>
            <a:r>
              <a:rPr lang="en-IN" sz="1800" dirty="0">
                <a:effectLst/>
                <a:latin typeface="Calibri" panose="020F0502020204030204" pitchFamily="34" charset="0"/>
              </a:rPr>
              <a:t>AWT components are </a:t>
            </a:r>
            <a:r>
              <a:rPr lang="en-IN" sz="1800" b="1" dirty="0">
                <a:effectLst/>
                <a:latin typeface="Calibri" panose="020F0502020204030204" pitchFamily="34" charset="0"/>
              </a:rPr>
              <a:t>heavyweight</a:t>
            </a:r>
            <a:r>
              <a:rPr lang="en-IN" sz="1800" dirty="0">
                <a:effectLst/>
                <a:latin typeface="Calibri" panose="020F0502020204030204" pitchFamily="34" charset="0"/>
              </a:rPr>
              <a:t> component but swing components are </a:t>
            </a:r>
            <a:r>
              <a:rPr lang="en-IN" sz="1800" b="1" dirty="0">
                <a:effectLst/>
                <a:latin typeface="Calibri" panose="020F0502020204030204" pitchFamily="34" charset="0"/>
              </a:rPr>
              <a:t>light weight</a:t>
            </a:r>
            <a:r>
              <a:rPr lang="en-IN" sz="1800" dirty="0">
                <a:effectLst/>
                <a:latin typeface="Calibri" panose="020F0502020204030204" pitchFamily="34" charset="0"/>
              </a:rPr>
              <a:t> component. </a:t>
            </a:r>
            <a:endParaRPr lang="en-IN" dirty="0">
              <a:effectLst/>
            </a:endParaRPr>
          </a:p>
          <a:p>
            <a:pPr>
              <a:buFont typeface="Arial" panose="020B0604020202020204" pitchFamily="34" charset="0"/>
              <a:buChar char="•"/>
            </a:pPr>
            <a:r>
              <a:rPr lang="en-IN" sz="1800" dirty="0">
                <a:effectLst/>
                <a:latin typeface="Calibri" panose="020F0502020204030204" pitchFamily="34" charset="0"/>
              </a:rPr>
              <a:t>AWT components </a:t>
            </a:r>
            <a:r>
              <a:rPr lang="en-IN" sz="1800" b="1" dirty="0">
                <a:effectLst/>
                <a:latin typeface="Calibri" panose="020F0502020204030204" pitchFamily="34" charset="0"/>
              </a:rPr>
              <a:t>consume more number of system resources</a:t>
            </a:r>
            <a:r>
              <a:rPr lang="en-IN" sz="1800" dirty="0">
                <a:effectLst/>
                <a:latin typeface="Calibri" panose="020F0502020204030204" pitchFamily="34" charset="0"/>
              </a:rPr>
              <a:t> Swings consume </a:t>
            </a:r>
            <a:r>
              <a:rPr lang="en-IN" sz="1800" b="1" dirty="0">
                <a:effectLst/>
                <a:latin typeface="Calibri" panose="020F0502020204030204" pitchFamily="34" charset="0"/>
              </a:rPr>
              <a:t>less number of system resources</a:t>
            </a:r>
            <a:r>
              <a:rPr lang="en-IN" sz="1800" dirty="0">
                <a:effectLst/>
                <a:latin typeface="Calibri" panose="020F0502020204030204" pitchFamily="34" charset="0"/>
              </a:rPr>
              <a:t>. </a:t>
            </a:r>
            <a:endParaRPr lang="en-IN" dirty="0">
              <a:effectLst/>
            </a:endParaRPr>
          </a:p>
          <a:p>
            <a:pPr>
              <a:buFont typeface="Arial" panose="020B0604020202020204" pitchFamily="34" charset="0"/>
              <a:buChar char="•"/>
            </a:pPr>
            <a:r>
              <a:rPr lang="en-IN" sz="1800" dirty="0">
                <a:effectLst/>
                <a:latin typeface="Calibri" panose="020F0502020204030204" pitchFamily="34" charset="0"/>
              </a:rPr>
              <a:t>AWT is provided </a:t>
            </a:r>
            <a:r>
              <a:rPr lang="en-IN" sz="1800" b="1" dirty="0">
                <a:effectLst/>
                <a:latin typeface="Calibri" panose="020F0502020204030204" pitchFamily="34" charset="0"/>
              </a:rPr>
              <a:t>less number of components</a:t>
            </a:r>
            <a:r>
              <a:rPr lang="en-IN" sz="1800" dirty="0">
                <a:effectLst/>
                <a:latin typeface="Calibri" panose="020F0502020204030204" pitchFamily="34" charset="0"/>
              </a:rPr>
              <a:t> whereas a swing provides </a:t>
            </a:r>
            <a:r>
              <a:rPr lang="en-IN" sz="1800" b="1" dirty="0">
                <a:effectLst/>
                <a:latin typeface="Calibri" panose="020F0502020204030204" pitchFamily="34" charset="0"/>
              </a:rPr>
              <a:t>more number of components</a:t>
            </a:r>
            <a:r>
              <a:rPr lang="en-IN" sz="1800" dirty="0">
                <a:effectLst/>
                <a:latin typeface="Calibri" panose="020F0502020204030204" pitchFamily="34" charset="0"/>
              </a:rPr>
              <a:t>. </a:t>
            </a:r>
            <a:endParaRPr lang="en-IN" dirty="0">
              <a:effectLst/>
            </a:endParaRPr>
          </a:p>
          <a:p>
            <a:pPr>
              <a:buFont typeface="Arial" panose="020B0604020202020204" pitchFamily="34" charset="0"/>
              <a:buChar char="•"/>
            </a:pPr>
            <a:r>
              <a:rPr lang="en-IN" sz="1800" dirty="0">
                <a:effectLst/>
                <a:latin typeface="Calibri" panose="020F0502020204030204" pitchFamily="34" charset="0"/>
              </a:rPr>
              <a:t>AWT doesn’t provide </a:t>
            </a:r>
            <a:r>
              <a:rPr lang="en-IN" sz="1800" b="1" dirty="0">
                <a:effectLst/>
                <a:latin typeface="Calibri" panose="020F0502020204030204" pitchFamily="34" charset="0"/>
              </a:rPr>
              <a:t>Tooltip</a:t>
            </a:r>
            <a:r>
              <a:rPr lang="en-IN" sz="1800" dirty="0">
                <a:effectLst/>
                <a:latin typeface="Calibri" panose="020F0502020204030204" pitchFamily="34" charset="0"/>
              </a:rPr>
              <a:t> Test support but swing components have </a:t>
            </a:r>
            <a:r>
              <a:rPr lang="en-IN" sz="1800" b="1" dirty="0">
                <a:effectLst/>
                <a:latin typeface="Calibri" panose="020F0502020204030204" pitchFamily="34" charset="0"/>
              </a:rPr>
              <a:t>provided Tooltip </a:t>
            </a:r>
            <a:r>
              <a:rPr lang="en-IN" sz="1800" dirty="0">
                <a:effectLst/>
                <a:latin typeface="Calibri" panose="020F0502020204030204" pitchFamily="34" charset="0"/>
              </a:rPr>
              <a:t>test support. </a:t>
            </a:r>
            <a:endParaRPr lang="en-IN" dirty="0">
              <a:effectLst/>
            </a:endParaRPr>
          </a:p>
          <a:p>
            <a:pPr>
              <a:buFont typeface="Arial" panose="020B0604020202020204" pitchFamily="34" charset="0"/>
              <a:buChar char="•"/>
            </a:pPr>
            <a:r>
              <a:rPr lang="en-IN" sz="1800" dirty="0">
                <a:effectLst/>
                <a:latin typeface="Calibri" panose="020F0502020204030204" pitchFamily="34" charset="0"/>
              </a:rPr>
              <a:t>In </a:t>
            </a:r>
            <a:r>
              <a:rPr lang="en-IN" sz="1800" dirty="0" err="1">
                <a:effectLst/>
                <a:latin typeface="Calibri" panose="020F0502020204030204" pitchFamily="34" charset="0"/>
              </a:rPr>
              <a:t>awt</a:t>
            </a:r>
            <a:r>
              <a:rPr lang="en-IN" sz="1800" dirty="0">
                <a:effectLst/>
                <a:latin typeface="Calibri" panose="020F0502020204030204" pitchFamily="34" charset="0"/>
              </a:rPr>
              <a:t> to close the window : </a:t>
            </a:r>
            <a:r>
              <a:rPr lang="en-IN" sz="1800" b="1" dirty="0" err="1">
                <a:effectLst/>
                <a:latin typeface="Calibri" panose="020F0502020204030204" pitchFamily="34" charset="0"/>
              </a:rPr>
              <a:t>windowListener</a:t>
            </a:r>
            <a:r>
              <a:rPr lang="en-IN" sz="1800" b="1" dirty="0">
                <a:effectLst/>
                <a:latin typeface="Calibri" panose="020F0502020204030204" pitchFamily="34" charset="0"/>
              </a:rPr>
              <a:t> </a:t>
            </a:r>
            <a:r>
              <a:rPr lang="en-IN" sz="1800" b="1" dirty="0" err="1">
                <a:effectLst/>
                <a:latin typeface="Calibri" panose="020F0502020204030204" pitchFamily="34" charset="0"/>
              </a:rPr>
              <a:t>windowAdaptor</a:t>
            </a:r>
            <a:r>
              <a:rPr lang="en-IN" sz="1800" dirty="0">
                <a:effectLst/>
                <a:latin typeface="Calibri" panose="020F0502020204030204" pitchFamily="34" charset="0"/>
              </a:rPr>
              <a:t> In case of swing use </a:t>
            </a:r>
            <a:r>
              <a:rPr lang="en-IN" sz="1800" b="1" dirty="0">
                <a:effectLst/>
                <a:latin typeface="Calibri" panose="020F0502020204030204" pitchFamily="34" charset="0"/>
              </a:rPr>
              <a:t>small piece of code</a:t>
            </a:r>
            <a:r>
              <a:rPr lang="en-IN" sz="1800" dirty="0">
                <a:effectLst/>
                <a:latin typeface="Calibri" panose="020F0502020204030204" pitchFamily="34" charset="0"/>
              </a:rPr>
              <a:t>. </a:t>
            </a:r>
            <a:r>
              <a:rPr lang="en-IN" sz="1800" dirty="0" err="1">
                <a:effectLst/>
                <a:latin typeface="Calibri" panose="020F0502020204030204" pitchFamily="34" charset="0"/>
              </a:rPr>
              <a:t>f.setDefaultCloseOption</a:t>
            </a:r>
            <a:r>
              <a:rPr lang="en-IN" sz="1800" dirty="0">
                <a:effectLst/>
                <a:latin typeface="Calibri" panose="020F0502020204030204" pitchFamily="34" charset="0"/>
              </a:rPr>
              <a:t>(</a:t>
            </a:r>
            <a:r>
              <a:rPr lang="en-IN" sz="1800" dirty="0" err="1">
                <a:effectLst/>
                <a:latin typeface="Calibri" panose="020F0502020204030204" pitchFamily="34" charset="0"/>
              </a:rPr>
              <a:t>JFrame.EXIT</a:t>
            </a:r>
            <a:r>
              <a:rPr lang="en-IN" sz="1800" dirty="0">
                <a:effectLst/>
                <a:latin typeface="Calibri" panose="020F0502020204030204" pitchFamily="34" charset="0"/>
              </a:rPr>
              <a:t>-ON-CLOSE); </a:t>
            </a:r>
            <a:endParaRPr lang="en-IN" dirty="0">
              <a:effectLst/>
            </a:endParaRPr>
          </a:p>
          <a:p>
            <a:pPr>
              <a:buFont typeface="Arial" panose="020B0604020202020204" pitchFamily="34" charset="0"/>
              <a:buChar char="•"/>
            </a:pPr>
            <a:r>
              <a:rPr lang="en-IN" sz="1800" dirty="0">
                <a:effectLst/>
                <a:latin typeface="Calibri" panose="020F0502020204030204" pitchFamily="34" charset="0"/>
              </a:rPr>
              <a:t>In case of AWT we will add the GUI components in the Frame directly but Swing we will add all GUI components to panes to accommodate GUI components. </a:t>
            </a:r>
            <a:endParaRPr lang="en-IN" dirty="0">
              <a:effectLst/>
            </a:endParaRPr>
          </a:p>
          <a:p>
            <a:pPr>
              <a:buFont typeface="Arial" panose="020B0604020202020204" pitchFamily="34" charset="0"/>
              <a:buChar char="•"/>
            </a:pPr>
            <a:r>
              <a:rPr lang="en-IN" sz="1800" dirty="0">
                <a:effectLst/>
                <a:latin typeface="Calibri" panose="020F0502020204030204" pitchFamily="34" charset="0"/>
              </a:rPr>
              <a:t>The </a:t>
            </a:r>
            <a:r>
              <a:rPr lang="en-IN" sz="1800" dirty="0" err="1">
                <a:effectLst/>
                <a:latin typeface="Calibri" panose="020F0502020204030204" pitchFamily="34" charset="0"/>
              </a:rPr>
              <a:t>awt</a:t>
            </a:r>
            <a:r>
              <a:rPr lang="en-IN" sz="1800" dirty="0">
                <a:effectLst/>
                <a:latin typeface="Calibri" panose="020F0502020204030204" pitchFamily="34" charset="0"/>
              </a:rPr>
              <a:t> classes &amp; interfaces are present in </a:t>
            </a:r>
            <a:r>
              <a:rPr lang="en-IN" sz="1800" dirty="0" err="1">
                <a:effectLst/>
                <a:latin typeface="Calibri" panose="020F0502020204030204" pitchFamily="34" charset="0"/>
              </a:rPr>
              <a:t>java.awt</a:t>
            </a:r>
            <a:r>
              <a:rPr lang="en-IN" sz="1800" dirty="0">
                <a:effectLst/>
                <a:latin typeface="Calibri" panose="020F0502020204030204" pitchFamily="34" charset="0"/>
              </a:rPr>
              <a:t> packages &amp; swing classes are present in </a:t>
            </a:r>
            <a:r>
              <a:rPr lang="en-IN" sz="1800" b="1" dirty="0" err="1">
                <a:effectLst/>
                <a:latin typeface="Calibri" panose="020F0502020204030204" pitchFamily="34" charset="0"/>
              </a:rPr>
              <a:t>javax.swing</a:t>
            </a:r>
            <a:r>
              <a:rPr lang="en-IN" sz="1800" dirty="0">
                <a:effectLst/>
                <a:latin typeface="Calibri" panose="020F0502020204030204" pitchFamily="34" charset="0"/>
              </a:rPr>
              <a:t> package. </a:t>
            </a:r>
            <a:endParaRPr lang="en-IN" dirty="0">
              <a:effectLst/>
            </a:endParaRPr>
          </a:p>
          <a:p>
            <a:endParaRPr lang="en-US" dirty="0"/>
          </a:p>
        </p:txBody>
      </p:sp>
      <p:sp>
        <p:nvSpPr>
          <p:cNvPr id="4" name="Footer Placeholder 3">
            <a:extLst>
              <a:ext uri="{FF2B5EF4-FFF2-40B4-BE49-F238E27FC236}">
                <a16:creationId xmlns:a16="http://schemas.microsoft.com/office/drawing/2014/main" id="{473DA785-39D6-C9A2-AC42-0F0E103F3C90}"/>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74667125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F7F43-E563-0721-10B9-1DA0D72C1D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5572812-AC3D-1E3A-16D7-A9F5DF703087}"/>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8029CBC7-E0E8-6297-B3A9-3F8DDBF6C7E9}"/>
              </a:ext>
            </a:extLst>
          </p:cNvPr>
          <p:cNvSpPr>
            <a:spLocks noGrp="1"/>
          </p:cNvSpPr>
          <p:nvPr>
            <p:ph type="ftr" sz="quarter" idx="11"/>
          </p:nvPr>
        </p:nvSpPr>
        <p:spPr/>
        <p:txBody>
          <a:bodyPr/>
          <a:lstStyle/>
          <a:p>
            <a:pPr>
              <a:defRPr/>
            </a:pPr>
            <a:r>
              <a:rPr lang="en-US"/>
              <a:t>Dr. Naveen Kumar, Associate Professor, AIIT, AUP</a:t>
            </a:r>
          </a:p>
        </p:txBody>
      </p:sp>
      <p:pic>
        <p:nvPicPr>
          <p:cNvPr id="1025" name="Picture 1" descr="page359image63942848">
            <a:extLst>
              <a:ext uri="{FF2B5EF4-FFF2-40B4-BE49-F238E27FC236}">
                <a16:creationId xmlns:a16="http://schemas.microsoft.com/office/drawing/2014/main" id="{25B73F50-E02E-BD5D-724E-B7913F0087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7908910" cy="5921331"/>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359image63943264">
            <a:extLst>
              <a:ext uri="{FF2B5EF4-FFF2-40B4-BE49-F238E27FC236}">
                <a16:creationId xmlns:a16="http://schemas.microsoft.com/office/drawing/2014/main" id="{74F0D4A5-C546-6FB5-5623-B7EA09CD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
            <a:ext cx="21533649" cy="45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516324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9B6DC-D49A-8E0B-C3F9-344EBDB3C2D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4C0EB8B-6D7A-636C-96D1-9AB741875597}"/>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DFB139D4-70D1-4491-9B2B-89B5FA09ACAF}"/>
              </a:ext>
            </a:extLst>
          </p:cNvPr>
          <p:cNvSpPr>
            <a:spLocks noGrp="1"/>
          </p:cNvSpPr>
          <p:nvPr>
            <p:ph type="ftr" sz="quarter" idx="11"/>
          </p:nvPr>
        </p:nvSpPr>
        <p:spPr/>
        <p:txBody>
          <a:bodyPr/>
          <a:lstStyle/>
          <a:p>
            <a:pPr>
              <a:defRPr/>
            </a:pPr>
            <a:r>
              <a:rPr lang="en-US"/>
              <a:t>Dr. Naveen Kumar, Associate Professor, AIIT, AUP</a:t>
            </a:r>
          </a:p>
        </p:txBody>
      </p:sp>
      <p:pic>
        <p:nvPicPr>
          <p:cNvPr id="2049" name="Picture 1" descr="page359image63942848">
            <a:extLst>
              <a:ext uri="{FF2B5EF4-FFF2-40B4-BE49-F238E27FC236}">
                <a16:creationId xmlns:a16="http://schemas.microsoft.com/office/drawing/2014/main" id="{9AEB637E-B8C5-64B0-69FE-E6812E3DAB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033016" cy="601424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page359image63943056">
            <a:extLst>
              <a:ext uri="{FF2B5EF4-FFF2-40B4-BE49-F238E27FC236}">
                <a16:creationId xmlns:a16="http://schemas.microsoft.com/office/drawing/2014/main" id="{F6255534-4146-CB21-4E2E-5E9F1EA75D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042400" cy="6981574"/>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page359image63943264">
            <a:extLst>
              <a:ext uri="{FF2B5EF4-FFF2-40B4-BE49-F238E27FC236}">
                <a16:creationId xmlns:a16="http://schemas.microsoft.com/office/drawing/2014/main" id="{4506B1A3-5D75-F4C7-C1C8-BF89477EEA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1"/>
            <a:ext cx="21533649" cy="45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71323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C83A4-67D4-B560-A0AC-2F35CC80B4A3}"/>
              </a:ext>
            </a:extLst>
          </p:cNvPr>
          <p:cNvSpPr>
            <a:spLocks noGrp="1"/>
          </p:cNvSpPr>
          <p:nvPr>
            <p:ph type="title"/>
          </p:nvPr>
        </p:nvSpPr>
        <p:spPr/>
        <p:txBody>
          <a:bodyPr/>
          <a:lstStyle/>
          <a:p>
            <a:r>
              <a:rPr lang="en-US" dirty="0" err="1"/>
              <a:t>JFrame</a:t>
            </a:r>
            <a:r>
              <a:rPr lang="en-US" dirty="0"/>
              <a:t> Demo</a:t>
            </a:r>
          </a:p>
        </p:txBody>
      </p:sp>
      <p:sp>
        <p:nvSpPr>
          <p:cNvPr id="3" name="Content Placeholder 2">
            <a:extLst>
              <a:ext uri="{FF2B5EF4-FFF2-40B4-BE49-F238E27FC236}">
                <a16:creationId xmlns:a16="http://schemas.microsoft.com/office/drawing/2014/main" id="{066F1336-F0C7-2B7D-3E53-21B86637ECFB}"/>
              </a:ext>
            </a:extLst>
          </p:cNvPr>
          <p:cNvSpPr>
            <a:spLocks noGrp="1"/>
          </p:cNvSpPr>
          <p:nvPr>
            <p:ph idx="1"/>
          </p:nvPr>
        </p:nvSpPr>
        <p:spPr/>
        <p:txBody>
          <a:bodyPr/>
          <a:lstStyle/>
          <a:p>
            <a:pPr marL="0" indent="0">
              <a:buNone/>
            </a:pPr>
            <a:r>
              <a:rPr lang="en-US" sz="1800" dirty="0"/>
              <a:t>public class </a:t>
            </a:r>
            <a:r>
              <a:rPr lang="en-US" sz="1800" dirty="0" err="1"/>
              <a:t>MyFrame</a:t>
            </a:r>
            <a:r>
              <a:rPr lang="en-US" sz="1800" dirty="0"/>
              <a:t> extends </a:t>
            </a:r>
            <a:r>
              <a:rPr lang="en-US" sz="1800" dirty="0" err="1"/>
              <a:t>JFrame</a:t>
            </a:r>
            <a:r>
              <a:rPr lang="en-US" sz="1800" dirty="0"/>
              <a:t>{</a:t>
            </a:r>
          </a:p>
          <a:p>
            <a:pPr marL="0" indent="0">
              <a:buNone/>
            </a:pPr>
            <a:r>
              <a:rPr lang="en-US" sz="1800" dirty="0"/>
              <a:t>	public </a:t>
            </a:r>
            <a:r>
              <a:rPr lang="en-US" sz="1800" dirty="0" err="1"/>
              <a:t>MyFrame</a:t>
            </a:r>
            <a:r>
              <a:rPr lang="en-US" sz="1800" dirty="0"/>
              <a:t>() { </a:t>
            </a:r>
          </a:p>
          <a:p>
            <a:pPr marL="0" indent="0">
              <a:buNone/>
            </a:pPr>
            <a:r>
              <a:rPr lang="en-US" sz="1800" dirty="0"/>
              <a:t>		</a:t>
            </a:r>
            <a:r>
              <a:rPr lang="en-US" sz="1800" dirty="0" err="1"/>
              <a:t>setVisible</a:t>
            </a:r>
            <a:r>
              <a:rPr lang="en-US" sz="1800" dirty="0"/>
              <a:t>(true);</a:t>
            </a:r>
          </a:p>
          <a:p>
            <a:pPr marL="0" indent="0">
              <a:buNone/>
            </a:pPr>
            <a:r>
              <a:rPr lang="en-US" sz="1800" dirty="0"/>
              <a:t>		</a:t>
            </a:r>
            <a:r>
              <a:rPr lang="en-US" sz="1800" dirty="0" err="1"/>
              <a:t>setSize</a:t>
            </a:r>
            <a:r>
              <a:rPr lang="en-US" sz="1800" dirty="0"/>
              <a:t>(300, 300);</a:t>
            </a:r>
          </a:p>
          <a:p>
            <a:pPr marL="0" indent="0">
              <a:buNone/>
            </a:pPr>
            <a:r>
              <a:rPr lang="en-US" sz="1800" dirty="0"/>
              <a:t>		</a:t>
            </a:r>
            <a:r>
              <a:rPr lang="en-US" sz="1800" dirty="0" err="1"/>
              <a:t>setTitle</a:t>
            </a:r>
            <a:r>
              <a:rPr lang="en-US" sz="1800" dirty="0"/>
              <a:t>("</a:t>
            </a:r>
            <a:r>
              <a:rPr lang="en-US" sz="1800" dirty="0" err="1"/>
              <a:t>MyFrame</a:t>
            </a:r>
            <a:r>
              <a:rPr lang="en-US" sz="1800" dirty="0"/>
              <a:t>"); </a:t>
            </a:r>
          </a:p>
          <a:p>
            <a:pPr marL="0" indent="0">
              <a:buNone/>
            </a:pPr>
            <a:r>
              <a:rPr lang="en-US" sz="1800" dirty="0"/>
              <a:t>	</a:t>
            </a:r>
            <a:r>
              <a:rPr lang="en-US" sz="1800" dirty="0" err="1"/>
              <a:t>setDefaultCloseOperation</a:t>
            </a:r>
            <a:r>
              <a:rPr lang="en-US" sz="1800" dirty="0"/>
              <a:t>(</a:t>
            </a:r>
            <a:r>
              <a:rPr lang="en-US" sz="1800" dirty="0" err="1"/>
              <a:t>JFrame.EXIT_ON_CLOSE</a:t>
            </a:r>
            <a:r>
              <a:rPr lang="en-US" sz="1800" dirty="0"/>
              <a:t>); </a:t>
            </a:r>
          </a:p>
          <a:p>
            <a:pPr marL="0" indent="0">
              <a:buNone/>
            </a:pPr>
            <a:r>
              <a:rPr lang="en-US" sz="1800" dirty="0"/>
              <a:t>		</a:t>
            </a:r>
            <a:r>
              <a:rPr lang="en-US" sz="1800" dirty="0" err="1"/>
              <a:t>setLayout</a:t>
            </a:r>
            <a:r>
              <a:rPr lang="en-US" sz="1800" dirty="0"/>
              <a:t>(new </a:t>
            </a:r>
            <a:r>
              <a:rPr lang="en-US" sz="1800" dirty="0" err="1"/>
              <a:t>FlowLayout</a:t>
            </a:r>
            <a:r>
              <a:rPr lang="en-US" sz="1800" dirty="0"/>
              <a:t>());</a:t>
            </a:r>
          </a:p>
          <a:p>
            <a:pPr marL="0" indent="0">
              <a:buNone/>
            </a:pPr>
            <a:r>
              <a:rPr lang="en-US" sz="1800" dirty="0"/>
              <a:t>		</a:t>
            </a:r>
            <a:r>
              <a:rPr lang="en-US" sz="1800" dirty="0" err="1"/>
              <a:t>JLabel</a:t>
            </a:r>
            <a:r>
              <a:rPr lang="en-US" sz="1800" dirty="0"/>
              <a:t> label = new </a:t>
            </a:r>
            <a:r>
              <a:rPr lang="en-US" sz="1800" dirty="0" err="1"/>
              <a:t>JLabel</a:t>
            </a:r>
            <a:r>
              <a:rPr lang="en-US" sz="1800" dirty="0"/>
              <a:t>("Hello World:");</a:t>
            </a:r>
          </a:p>
          <a:p>
            <a:pPr marL="0" indent="0">
              <a:buNone/>
            </a:pPr>
            <a:r>
              <a:rPr lang="en-US" sz="1800" dirty="0"/>
              <a:t>		</a:t>
            </a:r>
            <a:r>
              <a:rPr lang="en-US" sz="1800" dirty="0" err="1"/>
              <a:t>JButton</a:t>
            </a:r>
            <a:r>
              <a:rPr lang="en-US" sz="1800" dirty="0"/>
              <a:t> button = new </a:t>
            </a:r>
            <a:r>
              <a:rPr lang="en-US" sz="1800" dirty="0" err="1"/>
              <a:t>JButton</a:t>
            </a:r>
            <a:r>
              <a:rPr lang="en-US" sz="1800" dirty="0"/>
              <a:t>("click me"); </a:t>
            </a:r>
          </a:p>
          <a:p>
            <a:pPr marL="0" indent="0">
              <a:buNone/>
            </a:pPr>
            <a:r>
              <a:rPr lang="en-US" sz="1800" dirty="0"/>
              <a:t>		add(label);</a:t>
            </a:r>
          </a:p>
          <a:p>
            <a:pPr marL="0" indent="0">
              <a:buNone/>
            </a:pPr>
            <a:r>
              <a:rPr lang="en-US" sz="1800" dirty="0"/>
              <a:t>		add(button);</a:t>
            </a:r>
          </a:p>
          <a:p>
            <a:pPr marL="0" indent="0">
              <a:buNone/>
            </a:pPr>
            <a:r>
              <a:rPr lang="en-US" sz="1800" dirty="0"/>
              <a:t>	}</a:t>
            </a:r>
          </a:p>
          <a:p>
            <a:pPr marL="0" indent="0">
              <a:buNone/>
            </a:pPr>
            <a:r>
              <a:rPr lang="en-US" sz="1800" dirty="0"/>
              <a:t>	public static void main(String[] </a:t>
            </a:r>
            <a:r>
              <a:rPr lang="en-US" sz="1800" dirty="0" err="1"/>
              <a:t>args</a:t>
            </a:r>
            <a:r>
              <a:rPr lang="en-US" sz="1800" dirty="0"/>
              <a:t>) {</a:t>
            </a:r>
          </a:p>
          <a:p>
            <a:pPr marL="0" indent="0">
              <a:buNone/>
            </a:pPr>
            <a:r>
              <a:rPr lang="en-US" sz="1800" dirty="0"/>
              <a:t>		</a:t>
            </a:r>
            <a:r>
              <a:rPr lang="en-US" sz="1800" dirty="0" err="1"/>
              <a:t>MyFrame</a:t>
            </a:r>
            <a:r>
              <a:rPr lang="en-US" sz="1800" dirty="0"/>
              <a:t> f = new </a:t>
            </a:r>
            <a:r>
              <a:rPr lang="en-US" sz="1800" dirty="0" err="1"/>
              <a:t>MyFrame</a:t>
            </a:r>
            <a:r>
              <a:rPr lang="en-US" sz="1800" dirty="0"/>
              <a:t>();</a:t>
            </a:r>
          </a:p>
          <a:p>
            <a:pPr marL="0" indent="0">
              <a:buNone/>
            </a:pPr>
            <a:r>
              <a:rPr lang="en-US" sz="1800" dirty="0"/>
              <a:t>	}</a:t>
            </a:r>
          </a:p>
          <a:p>
            <a:pPr marL="0" indent="0">
              <a:buNone/>
            </a:pPr>
            <a:r>
              <a:rPr lang="en-US" sz="1800" dirty="0"/>
              <a:t>}</a:t>
            </a:r>
          </a:p>
        </p:txBody>
      </p:sp>
      <p:sp>
        <p:nvSpPr>
          <p:cNvPr id="4" name="Footer Placeholder 3">
            <a:extLst>
              <a:ext uri="{FF2B5EF4-FFF2-40B4-BE49-F238E27FC236}">
                <a16:creationId xmlns:a16="http://schemas.microsoft.com/office/drawing/2014/main" id="{DAAD2AD0-FB13-FAFC-A6DB-A0A10A2B8240}"/>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45684827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C3AE0-6859-4318-39C0-9D4879498656}"/>
              </a:ext>
            </a:extLst>
          </p:cNvPr>
          <p:cNvSpPr>
            <a:spLocks noGrp="1"/>
          </p:cNvSpPr>
          <p:nvPr>
            <p:ph type="title"/>
          </p:nvPr>
        </p:nvSpPr>
        <p:spPr/>
        <p:txBody>
          <a:bodyPr/>
          <a:lstStyle/>
          <a:p>
            <a:r>
              <a:rPr lang="en-IN" sz="3600" dirty="0">
                <a:effectLst/>
                <a:latin typeface="Calibri,Italic"/>
              </a:rPr>
              <a:t>SWING GUI COMPONENTS EXAMPLE </a:t>
            </a:r>
            <a:endParaRPr lang="en-US" sz="7200" dirty="0"/>
          </a:p>
        </p:txBody>
      </p:sp>
      <p:sp>
        <p:nvSpPr>
          <p:cNvPr id="3" name="Content Placeholder 2">
            <a:extLst>
              <a:ext uri="{FF2B5EF4-FFF2-40B4-BE49-F238E27FC236}">
                <a16:creationId xmlns:a16="http://schemas.microsoft.com/office/drawing/2014/main" id="{05EB9658-4100-A691-A872-79C70D3323B5}"/>
              </a:ext>
            </a:extLst>
          </p:cNvPr>
          <p:cNvSpPr>
            <a:spLocks noGrp="1"/>
          </p:cNvSpPr>
          <p:nvPr>
            <p:ph idx="1"/>
          </p:nvPr>
        </p:nvSpPr>
        <p:spPr/>
        <p:txBody>
          <a:bodyPr/>
          <a:lstStyle/>
          <a:p>
            <a:pPr marL="0" marR="0" indent="0">
              <a:spcBef>
                <a:spcPts val="0"/>
              </a:spcBef>
              <a:spcAft>
                <a:spcPts val="0"/>
              </a:spcAft>
              <a:buNone/>
            </a:pP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a:t>
            </a:r>
            <a:r>
              <a:rPr lang="en-IN" sz="1600" u="sng" dirty="0">
                <a:solidFill>
                  <a:srgbClr val="000000"/>
                </a:solidFill>
                <a:effectLst/>
                <a:latin typeface="Menlo" panose="020B0609030804020204" pitchFamily="49" charset="0"/>
              </a:rPr>
              <a:t>JFrame1Demo</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extends</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JFrame</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JLabel</a:t>
            </a:r>
            <a:r>
              <a:rPr lang="en-IN" sz="1600" dirty="0">
                <a:solidFill>
                  <a:srgbClr val="000000"/>
                </a:solidFill>
                <a:effectLst/>
                <a:latin typeface="Menlo" panose="020B0609030804020204" pitchFamily="49" charset="0"/>
              </a:rPr>
              <a:t> </a:t>
            </a:r>
            <a:r>
              <a:rPr lang="en-IN" sz="1600" dirty="0">
                <a:solidFill>
                  <a:srgbClr val="0000C0"/>
                </a:solidFill>
                <a:effectLst/>
                <a:latin typeface="Menlo" panose="020B0609030804020204" pitchFamily="49" charset="0"/>
              </a:rPr>
              <a:t>l1</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l2</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l3</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l4</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l5</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l6</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l7</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u="sng" dirty="0" err="1">
                <a:solidFill>
                  <a:srgbClr val="000000"/>
                </a:solidFill>
                <a:effectLst/>
                <a:latin typeface="Menlo" panose="020B0609030804020204" pitchFamily="49" charset="0"/>
              </a:rPr>
              <a:t>JTextField</a:t>
            </a:r>
            <a:r>
              <a:rPr lang="en-IN" sz="1600" dirty="0">
                <a:solidFill>
                  <a:srgbClr val="000000"/>
                </a:solidFill>
                <a:effectLst/>
                <a:latin typeface="Menlo" panose="020B0609030804020204" pitchFamily="49" charset="0"/>
              </a:rPr>
              <a:t> </a:t>
            </a:r>
            <a:r>
              <a:rPr lang="en-IN" sz="1600" dirty="0" err="1">
                <a:solidFill>
                  <a:srgbClr val="0000C0"/>
                </a:solidFill>
                <a:effectLst/>
                <a:latin typeface="Menlo" panose="020B0609030804020204" pitchFamily="49" charset="0"/>
              </a:rPr>
              <a:t>tf</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u="sng" dirty="0" err="1">
                <a:solidFill>
                  <a:srgbClr val="000000"/>
                </a:solidFill>
                <a:effectLst/>
                <a:latin typeface="Menlo" panose="020B0609030804020204" pitchFamily="49" charset="0"/>
              </a:rPr>
              <a:t>JPasswordField</a:t>
            </a:r>
            <a:r>
              <a:rPr lang="en-IN" sz="1600" dirty="0">
                <a:solidFill>
                  <a:srgbClr val="000000"/>
                </a:solidFill>
                <a:effectLst/>
                <a:latin typeface="Menlo" panose="020B0609030804020204" pitchFamily="49" charset="0"/>
              </a:rPr>
              <a:t> </a:t>
            </a:r>
            <a:r>
              <a:rPr lang="en-IN" sz="1600" dirty="0">
                <a:solidFill>
                  <a:srgbClr val="0000C0"/>
                </a:solidFill>
                <a:effectLst/>
                <a:latin typeface="Menlo" panose="020B0609030804020204" pitchFamily="49" charset="0"/>
              </a:rPr>
              <a:t>pf</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u="sng" dirty="0" err="1">
                <a:solidFill>
                  <a:srgbClr val="000000"/>
                </a:solidFill>
                <a:effectLst/>
                <a:latin typeface="Menlo" panose="020B0609030804020204" pitchFamily="49" charset="0"/>
              </a:rPr>
              <a:t>JCheckBox</a:t>
            </a:r>
            <a:r>
              <a:rPr lang="en-IN" sz="1600" dirty="0">
                <a:solidFill>
                  <a:srgbClr val="000000"/>
                </a:solidFill>
                <a:effectLst/>
                <a:latin typeface="Menlo" panose="020B0609030804020204" pitchFamily="49" charset="0"/>
              </a:rPr>
              <a:t> </a:t>
            </a:r>
            <a:r>
              <a:rPr lang="en-IN" sz="1600" dirty="0">
                <a:solidFill>
                  <a:srgbClr val="0000C0"/>
                </a:solidFill>
                <a:effectLst/>
                <a:latin typeface="Menlo" panose="020B0609030804020204" pitchFamily="49" charset="0"/>
              </a:rPr>
              <a:t>cb1</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cb2</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cb3</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u="sng" dirty="0" err="1">
                <a:solidFill>
                  <a:srgbClr val="000000"/>
                </a:solidFill>
                <a:effectLst/>
                <a:latin typeface="Menlo" panose="020B0609030804020204" pitchFamily="49" charset="0"/>
              </a:rPr>
              <a:t>JRadioButton</a:t>
            </a:r>
            <a:r>
              <a:rPr lang="en-IN" sz="1600" dirty="0">
                <a:solidFill>
                  <a:srgbClr val="000000"/>
                </a:solidFill>
                <a:effectLst/>
                <a:latin typeface="Menlo" panose="020B0609030804020204" pitchFamily="49" charset="0"/>
              </a:rPr>
              <a:t> </a:t>
            </a:r>
            <a:r>
              <a:rPr lang="en-IN" sz="1600" dirty="0">
                <a:solidFill>
                  <a:srgbClr val="0000C0"/>
                </a:solidFill>
                <a:effectLst/>
                <a:latin typeface="Menlo" panose="020B0609030804020204" pitchFamily="49" charset="0"/>
              </a:rPr>
              <a:t>rb1</a:t>
            </a:r>
            <a:r>
              <a:rPr lang="en-IN" sz="1600" dirty="0">
                <a:solidFill>
                  <a:srgbClr val="000000"/>
                </a:solidFill>
                <a:effectLst/>
                <a:latin typeface="Menlo" panose="020B0609030804020204" pitchFamily="49" charset="0"/>
              </a:rPr>
              <a:t>,</a:t>
            </a:r>
            <a:r>
              <a:rPr lang="en-IN" sz="1600" dirty="0">
                <a:solidFill>
                  <a:srgbClr val="0000C0"/>
                </a:solidFill>
                <a:effectLst/>
                <a:latin typeface="Menlo" panose="020B0609030804020204" pitchFamily="49" charset="0"/>
              </a:rPr>
              <a:t>rb2</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u="sng" dirty="0" err="1">
                <a:solidFill>
                  <a:srgbClr val="000000"/>
                </a:solidFill>
                <a:effectLst/>
                <a:latin typeface="Menlo" panose="020B0609030804020204" pitchFamily="49" charset="0"/>
              </a:rPr>
              <a:t>JList</a:t>
            </a:r>
            <a:r>
              <a:rPr lang="en-IN" sz="1600" dirty="0">
                <a:solidFill>
                  <a:srgbClr val="000000"/>
                </a:solidFill>
                <a:effectLst/>
                <a:latin typeface="Menlo" panose="020B0609030804020204" pitchFamily="49" charset="0"/>
              </a:rPr>
              <a:t> </a:t>
            </a:r>
            <a:r>
              <a:rPr lang="en-IN" sz="1600" dirty="0">
                <a:solidFill>
                  <a:srgbClr val="0000C0"/>
                </a:solidFill>
                <a:effectLst/>
                <a:latin typeface="Menlo" panose="020B0609030804020204" pitchFamily="49" charset="0"/>
              </a:rPr>
              <a:t>l</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u="sng" dirty="0" err="1">
                <a:solidFill>
                  <a:srgbClr val="000000"/>
                </a:solidFill>
                <a:effectLst/>
                <a:latin typeface="Menlo" panose="020B0609030804020204" pitchFamily="49" charset="0"/>
              </a:rPr>
              <a:t>JComboBox</a:t>
            </a:r>
            <a:r>
              <a:rPr lang="en-IN" sz="1600" dirty="0">
                <a:solidFill>
                  <a:srgbClr val="000000"/>
                </a:solidFill>
                <a:effectLst/>
                <a:latin typeface="Menlo" panose="020B0609030804020204" pitchFamily="49" charset="0"/>
              </a:rPr>
              <a:t> </a:t>
            </a:r>
            <a:r>
              <a:rPr lang="en-IN" sz="1600" dirty="0" err="1">
                <a:solidFill>
                  <a:srgbClr val="0000C0"/>
                </a:solidFill>
                <a:effectLst/>
                <a:latin typeface="Menlo" panose="020B0609030804020204" pitchFamily="49" charset="0"/>
              </a:rPr>
              <a:t>cb</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u="sng" dirty="0" err="1">
                <a:solidFill>
                  <a:srgbClr val="000000"/>
                </a:solidFill>
                <a:effectLst/>
                <a:latin typeface="Menlo" panose="020B0609030804020204" pitchFamily="49" charset="0"/>
              </a:rPr>
              <a:t>JTextArea</a:t>
            </a:r>
            <a:r>
              <a:rPr lang="en-IN" sz="1600" dirty="0">
                <a:solidFill>
                  <a:srgbClr val="000000"/>
                </a:solidFill>
                <a:effectLst/>
                <a:latin typeface="Menlo" panose="020B0609030804020204" pitchFamily="49" charset="0"/>
              </a:rPr>
              <a:t> </a:t>
            </a:r>
            <a:r>
              <a:rPr lang="en-IN" sz="1600" dirty="0">
                <a:solidFill>
                  <a:srgbClr val="0000C0"/>
                </a:solidFill>
                <a:effectLst/>
                <a:latin typeface="Menlo" panose="020B0609030804020204" pitchFamily="49" charset="0"/>
              </a:rPr>
              <a:t>ta</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err="1">
                <a:solidFill>
                  <a:srgbClr val="000000"/>
                </a:solidFill>
                <a:effectLst/>
                <a:latin typeface="Menlo" panose="020B0609030804020204" pitchFamily="49" charset="0"/>
              </a:rPr>
              <a:t>JButton</a:t>
            </a:r>
            <a:r>
              <a:rPr lang="en-IN" sz="1600" dirty="0">
                <a:solidFill>
                  <a:srgbClr val="000000"/>
                </a:solidFill>
                <a:effectLst/>
                <a:latin typeface="Menlo" panose="020B0609030804020204" pitchFamily="49" charset="0"/>
              </a:rPr>
              <a:t> </a:t>
            </a:r>
            <a:r>
              <a:rPr lang="en-IN" sz="1600" dirty="0">
                <a:solidFill>
                  <a:srgbClr val="0000C0"/>
                </a:solidFill>
                <a:effectLst/>
                <a:latin typeface="Menlo" panose="020B0609030804020204" pitchFamily="49" charset="0"/>
              </a:rPr>
              <a:t>b</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u="sng" dirty="0">
                <a:solidFill>
                  <a:srgbClr val="000000"/>
                </a:solidFill>
                <a:effectLst/>
                <a:latin typeface="Menlo" panose="020B0609030804020204" pitchFamily="49" charset="0"/>
              </a:rPr>
              <a:t>Container</a:t>
            </a:r>
            <a:r>
              <a:rPr lang="en-IN" sz="1600" dirty="0">
                <a:solidFill>
                  <a:srgbClr val="000000"/>
                </a:solidFill>
                <a:effectLst/>
                <a:latin typeface="Menlo" panose="020B0609030804020204" pitchFamily="49" charset="0"/>
              </a:rPr>
              <a:t> </a:t>
            </a:r>
            <a:r>
              <a:rPr lang="en-IN" sz="1600" dirty="0">
                <a:solidFill>
                  <a:srgbClr val="0000C0"/>
                </a:solidFill>
                <a:effectLst/>
                <a:latin typeface="Menlo" panose="020B0609030804020204" pitchFamily="49" charset="0"/>
              </a:rPr>
              <a:t>c</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JFrame1Demo()</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setVisible</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true</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err="1">
                <a:solidFill>
                  <a:srgbClr val="000000"/>
                </a:solidFill>
                <a:effectLst/>
                <a:latin typeface="Menlo" panose="020B0609030804020204" pitchFamily="49" charset="0"/>
              </a:rPr>
              <a:t>setSize</a:t>
            </a:r>
            <a:r>
              <a:rPr lang="en-IN" sz="1600" dirty="0">
                <a:solidFill>
                  <a:srgbClr val="000000"/>
                </a:solidFill>
                <a:effectLst/>
                <a:latin typeface="Menlo" panose="020B0609030804020204" pitchFamily="49" charset="0"/>
              </a:rPr>
              <a:t>(150,500);</a:t>
            </a:r>
          </a:p>
          <a:p>
            <a:pPr marL="0" marR="0" indent="0">
              <a:spcBef>
                <a:spcPts val="0"/>
              </a:spcBef>
              <a:spcAft>
                <a:spcPts val="0"/>
              </a:spcAft>
              <a:buNone/>
            </a:pPr>
            <a:r>
              <a:rPr lang="en-IN" sz="1600" dirty="0" err="1">
                <a:solidFill>
                  <a:srgbClr val="000000"/>
                </a:solidFill>
                <a:effectLst/>
                <a:latin typeface="Menlo" panose="020B0609030804020204" pitchFamily="49" charset="0"/>
              </a:rPr>
              <a:t>setTitle</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"SWING GUI COMPONENTS EXAMPLE"</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setDefaultCloseOperation</a:t>
            </a:r>
            <a:r>
              <a:rPr lang="en-IN" sz="1600" dirty="0">
                <a:solidFill>
                  <a:srgbClr val="000000"/>
                </a:solidFill>
                <a:effectLst/>
                <a:latin typeface="Menlo" panose="020B0609030804020204" pitchFamily="49" charset="0"/>
              </a:rPr>
              <a:t>(</a:t>
            </a:r>
            <a:r>
              <a:rPr lang="en-IN" sz="1600" dirty="0" err="1">
                <a:solidFill>
                  <a:srgbClr val="000000"/>
                </a:solidFill>
                <a:effectLst/>
                <a:latin typeface="Menlo" panose="020B0609030804020204" pitchFamily="49" charset="0"/>
              </a:rPr>
              <a:t>JFrame.</a:t>
            </a:r>
            <a:r>
              <a:rPr lang="en-IN" sz="1600" b="1" i="1" dirty="0" err="1">
                <a:solidFill>
                  <a:srgbClr val="0000C0"/>
                </a:solidFill>
                <a:effectLst/>
                <a:latin typeface="Menlo" panose="020B0609030804020204" pitchFamily="49" charset="0"/>
              </a:rPr>
              <a:t>EXIT_ON_CLOSE</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setLayout</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FlowLayout</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getContentPane</a:t>
            </a:r>
            <a:r>
              <a:rPr lang="en-IN" sz="1600" dirty="0">
                <a:solidFill>
                  <a:srgbClr val="000000"/>
                </a:solidFill>
                <a:effectLst/>
                <a:latin typeface="Menlo" panose="020B0609030804020204" pitchFamily="49" charset="0"/>
              </a:rPr>
              <a:t>().</a:t>
            </a:r>
            <a:r>
              <a:rPr lang="en-IN" sz="1600" dirty="0" err="1">
                <a:solidFill>
                  <a:srgbClr val="000000"/>
                </a:solidFill>
                <a:effectLst/>
                <a:latin typeface="Menlo" panose="020B0609030804020204" pitchFamily="49" charset="0"/>
              </a:rPr>
              <a:t>setBackground</a:t>
            </a:r>
            <a:r>
              <a:rPr lang="en-IN" sz="1600" dirty="0">
                <a:solidFill>
                  <a:srgbClr val="000000"/>
                </a:solidFill>
                <a:effectLst/>
                <a:latin typeface="Menlo" panose="020B0609030804020204" pitchFamily="49" charset="0"/>
              </a:rPr>
              <a:t>(</a:t>
            </a:r>
            <a:r>
              <a:rPr lang="en-IN" sz="1600" u="sng" dirty="0" err="1">
                <a:solidFill>
                  <a:srgbClr val="000000"/>
                </a:solidFill>
                <a:effectLst/>
                <a:latin typeface="Menlo" panose="020B0609030804020204" pitchFamily="49" charset="0"/>
              </a:rPr>
              <a:t>Color</a:t>
            </a:r>
            <a:r>
              <a:rPr lang="en-IN" sz="1600" dirty="0" err="1">
                <a:solidFill>
                  <a:srgbClr val="000000"/>
                </a:solidFill>
                <a:effectLst/>
                <a:latin typeface="Menlo" panose="020B0609030804020204" pitchFamily="49" charset="0"/>
              </a:rPr>
              <a:t>.red</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err="1">
                <a:solidFill>
                  <a:srgbClr val="000000"/>
                </a:solidFill>
                <a:effectLst/>
                <a:latin typeface="Menlo" panose="020B0609030804020204" pitchFamily="49" charset="0"/>
              </a:rPr>
              <a:t>setBackground</a:t>
            </a:r>
            <a:r>
              <a:rPr lang="en-IN" sz="1600" dirty="0">
                <a:solidFill>
                  <a:srgbClr val="000000"/>
                </a:solidFill>
                <a:effectLst/>
                <a:latin typeface="Menlo" panose="020B0609030804020204" pitchFamily="49" charset="0"/>
              </a:rPr>
              <a:t>(</a:t>
            </a:r>
            <a:r>
              <a:rPr lang="en-IN" sz="1600" u="sng" dirty="0" err="1">
                <a:solidFill>
                  <a:srgbClr val="000000"/>
                </a:solidFill>
                <a:effectLst/>
                <a:latin typeface="Menlo" panose="020B0609030804020204" pitchFamily="49" charset="0"/>
              </a:rPr>
              <a:t>Color</a:t>
            </a:r>
            <a:r>
              <a:rPr lang="en-IN" sz="1600" dirty="0" err="1">
                <a:solidFill>
                  <a:srgbClr val="000000"/>
                </a:solidFill>
                <a:effectLst/>
                <a:latin typeface="Menlo" panose="020B0609030804020204" pitchFamily="49" charset="0"/>
              </a:rPr>
              <a:t>.green</a:t>
            </a:r>
            <a:r>
              <a:rPr lang="en-IN" sz="1600" dirty="0">
                <a:solidFill>
                  <a:srgbClr val="000000"/>
                </a:solidFill>
                <a:effectLst/>
                <a:latin typeface="Menlo" panose="020B0609030804020204" pitchFamily="49" charset="0"/>
              </a:rPr>
              <a:t>);</a:t>
            </a:r>
          </a:p>
        </p:txBody>
      </p:sp>
      <p:sp>
        <p:nvSpPr>
          <p:cNvPr id="4" name="Footer Placeholder 3">
            <a:extLst>
              <a:ext uri="{FF2B5EF4-FFF2-40B4-BE49-F238E27FC236}">
                <a16:creationId xmlns:a16="http://schemas.microsoft.com/office/drawing/2014/main" id="{B8DA77C0-A84D-6F22-219A-57063FB6DDEE}"/>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4012799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A9722-4666-BBC8-A839-DAF057B3E6A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2A62419-3268-B3EB-79D8-5941E7B68AAA}"/>
              </a:ext>
            </a:extLst>
          </p:cNvPr>
          <p:cNvSpPr>
            <a:spLocks noGrp="1"/>
          </p:cNvSpPr>
          <p:nvPr>
            <p:ph idx="1"/>
          </p:nvPr>
        </p:nvSpPr>
        <p:spPr/>
        <p:txBody>
          <a:bodyPr/>
          <a:lstStyle/>
          <a:p>
            <a:pPr marL="0" marR="0" indent="0">
              <a:spcBef>
                <a:spcPts val="0"/>
              </a:spcBef>
              <a:spcAft>
                <a:spcPts val="0"/>
              </a:spcAft>
              <a:buNone/>
            </a:pPr>
            <a:r>
              <a:rPr lang="en-IN" sz="2000" dirty="0">
                <a:solidFill>
                  <a:srgbClr val="0000C0"/>
                </a:solidFill>
                <a:effectLst/>
                <a:latin typeface="Menlo" panose="020B0609030804020204" pitchFamily="49" charset="0"/>
              </a:rPr>
              <a:t>l1</a:t>
            </a:r>
            <a:r>
              <a:rPr lang="en-IN" sz="2000" dirty="0">
                <a:solidFill>
                  <a:srgbClr val="000000"/>
                </a:solidFill>
                <a:effectLst/>
                <a:latin typeface="Menlo" panose="020B0609030804020204" pitchFamily="49" charset="0"/>
              </a:rPr>
              <a:t>=</a:t>
            </a:r>
            <a:r>
              <a:rPr lang="en-IN" sz="2000" b="1" dirty="0">
                <a:solidFill>
                  <a:srgbClr val="7F0055"/>
                </a:solidFill>
                <a:effectLst/>
                <a:latin typeface="Menlo" panose="020B0609030804020204" pitchFamily="49" charset="0"/>
              </a:rPr>
              <a:t>new</a:t>
            </a:r>
            <a:r>
              <a:rPr lang="en-IN" sz="2000" dirty="0">
                <a:solidFill>
                  <a:srgbClr val="000000"/>
                </a:solidFill>
                <a:effectLst/>
                <a:latin typeface="Menlo" panose="020B0609030804020204" pitchFamily="49" charset="0"/>
              </a:rPr>
              <a:t> </a:t>
            </a:r>
            <a:r>
              <a:rPr lang="en-IN" sz="2000" dirty="0" err="1">
                <a:solidFill>
                  <a:srgbClr val="000000"/>
                </a:solidFill>
                <a:effectLst/>
                <a:latin typeface="Menlo" panose="020B0609030804020204" pitchFamily="49" charset="0"/>
              </a:rPr>
              <a:t>JLabel</a:t>
            </a:r>
            <a:r>
              <a:rPr lang="en-IN" sz="2000" dirty="0">
                <a:solidFill>
                  <a:srgbClr val="000000"/>
                </a:solidFill>
                <a:effectLst/>
                <a:latin typeface="Menlo" panose="020B0609030804020204" pitchFamily="49" charset="0"/>
              </a:rPr>
              <a:t>(</a:t>
            </a:r>
            <a:r>
              <a:rPr lang="en-IN" sz="2000" dirty="0">
                <a:solidFill>
                  <a:srgbClr val="2A00FF"/>
                </a:solidFill>
                <a:effectLst/>
                <a:latin typeface="Menlo" panose="020B0609030804020204" pitchFamily="49" charset="0"/>
              </a:rPr>
              <a:t>"User Name"</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0000C0"/>
                </a:solidFill>
                <a:effectLst/>
                <a:latin typeface="Menlo" panose="020B0609030804020204" pitchFamily="49" charset="0"/>
              </a:rPr>
              <a:t>l2</a:t>
            </a:r>
            <a:r>
              <a:rPr lang="en-IN" sz="2000" dirty="0">
                <a:solidFill>
                  <a:srgbClr val="000000"/>
                </a:solidFill>
                <a:effectLst/>
                <a:latin typeface="Menlo" panose="020B0609030804020204" pitchFamily="49" charset="0"/>
              </a:rPr>
              <a:t>= </a:t>
            </a:r>
            <a:r>
              <a:rPr lang="en-IN" sz="2000" b="1" dirty="0">
                <a:solidFill>
                  <a:srgbClr val="7F0055"/>
                </a:solidFill>
                <a:effectLst/>
                <a:latin typeface="Menlo" panose="020B0609030804020204" pitchFamily="49" charset="0"/>
              </a:rPr>
              <a:t>new</a:t>
            </a:r>
            <a:r>
              <a:rPr lang="en-IN" sz="2000" dirty="0">
                <a:solidFill>
                  <a:srgbClr val="000000"/>
                </a:solidFill>
                <a:effectLst/>
                <a:latin typeface="Menlo" panose="020B0609030804020204" pitchFamily="49" charset="0"/>
              </a:rPr>
              <a:t> </a:t>
            </a:r>
            <a:r>
              <a:rPr lang="en-IN" sz="2000" dirty="0" err="1">
                <a:solidFill>
                  <a:srgbClr val="000000"/>
                </a:solidFill>
                <a:effectLst/>
                <a:latin typeface="Menlo" panose="020B0609030804020204" pitchFamily="49" charset="0"/>
              </a:rPr>
              <a:t>JLabel</a:t>
            </a:r>
            <a:r>
              <a:rPr lang="en-IN" sz="2000" dirty="0">
                <a:solidFill>
                  <a:srgbClr val="000000"/>
                </a:solidFill>
                <a:effectLst/>
                <a:latin typeface="Menlo" panose="020B0609030804020204" pitchFamily="49" charset="0"/>
              </a:rPr>
              <a:t>(</a:t>
            </a:r>
            <a:r>
              <a:rPr lang="en-IN" sz="2000" dirty="0">
                <a:solidFill>
                  <a:srgbClr val="2A00FF"/>
                </a:solidFill>
                <a:effectLst/>
                <a:latin typeface="Menlo" panose="020B0609030804020204" pitchFamily="49" charset="0"/>
              </a:rPr>
              <a:t>"password"</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0000C0"/>
                </a:solidFill>
                <a:effectLst/>
                <a:latin typeface="Menlo" panose="020B0609030804020204" pitchFamily="49" charset="0"/>
              </a:rPr>
              <a:t>l3</a:t>
            </a:r>
            <a:r>
              <a:rPr lang="en-IN" sz="2000" dirty="0">
                <a:solidFill>
                  <a:srgbClr val="000000"/>
                </a:solidFill>
                <a:effectLst/>
                <a:latin typeface="Menlo" panose="020B0609030804020204" pitchFamily="49" charset="0"/>
              </a:rPr>
              <a:t>= </a:t>
            </a:r>
            <a:r>
              <a:rPr lang="en-IN" sz="2000" b="1" dirty="0">
                <a:solidFill>
                  <a:srgbClr val="7F0055"/>
                </a:solidFill>
                <a:effectLst/>
                <a:latin typeface="Menlo" panose="020B0609030804020204" pitchFamily="49" charset="0"/>
              </a:rPr>
              <a:t>new</a:t>
            </a:r>
            <a:r>
              <a:rPr lang="en-IN" sz="2000" dirty="0">
                <a:solidFill>
                  <a:srgbClr val="000000"/>
                </a:solidFill>
                <a:effectLst/>
                <a:latin typeface="Menlo" panose="020B0609030804020204" pitchFamily="49" charset="0"/>
              </a:rPr>
              <a:t> </a:t>
            </a:r>
            <a:r>
              <a:rPr lang="en-IN" sz="2000" dirty="0" err="1">
                <a:solidFill>
                  <a:srgbClr val="000000"/>
                </a:solidFill>
                <a:effectLst/>
                <a:latin typeface="Menlo" panose="020B0609030804020204" pitchFamily="49" charset="0"/>
              </a:rPr>
              <a:t>JLabel</a:t>
            </a:r>
            <a:r>
              <a:rPr lang="en-IN" sz="2000" dirty="0">
                <a:solidFill>
                  <a:srgbClr val="000000"/>
                </a:solidFill>
                <a:effectLst/>
                <a:latin typeface="Menlo" panose="020B0609030804020204" pitchFamily="49" charset="0"/>
              </a:rPr>
              <a:t>(</a:t>
            </a:r>
            <a:r>
              <a:rPr lang="en-IN" sz="2000" dirty="0">
                <a:solidFill>
                  <a:srgbClr val="2A00FF"/>
                </a:solidFill>
                <a:effectLst/>
                <a:latin typeface="Menlo" panose="020B0609030804020204" pitchFamily="49" charset="0"/>
              </a:rPr>
              <a:t>"Qualification"</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0000C0"/>
                </a:solidFill>
                <a:effectLst/>
                <a:latin typeface="Menlo" panose="020B0609030804020204" pitchFamily="49" charset="0"/>
              </a:rPr>
              <a:t>l4</a:t>
            </a:r>
            <a:r>
              <a:rPr lang="en-IN" sz="2000" dirty="0">
                <a:solidFill>
                  <a:srgbClr val="000000"/>
                </a:solidFill>
                <a:effectLst/>
                <a:latin typeface="Menlo" panose="020B0609030804020204" pitchFamily="49" charset="0"/>
              </a:rPr>
              <a:t>= </a:t>
            </a:r>
            <a:r>
              <a:rPr lang="en-IN" sz="2000" b="1" dirty="0">
                <a:solidFill>
                  <a:srgbClr val="7F0055"/>
                </a:solidFill>
                <a:effectLst/>
                <a:latin typeface="Menlo" panose="020B0609030804020204" pitchFamily="49" charset="0"/>
              </a:rPr>
              <a:t>new</a:t>
            </a:r>
            <a:r>
              <a:rPr lang="en-IN" sz="2000" dirty="0">
                <a:solidFill>
                  <a:srgbClr val="000000"/>
                </a:solidFill>
                <a:effectLst/>
                <a:latin typeface="Menlo" panose="020B0609030804020204" pitchFamily="49" charset="0"/>
              </a:rPr>
              <a:t> </a:t>
            </a:r>
            <a:r>
              <a:rPr lang="en-IN" sz="2000" dirty="0" err="1">
                <a:solidFill>
                  <a:srgbClr val="000000"/>
                </a:solidFill>
                <a:effectLst/>
                <a:latin typeface="Menlo" panose="020B0609030804020204" pitchFamily="49" charset="0"/>
              </a:rPr>
              <a:t>JLabel</a:t>
            </a:r>
            <a:r>
              <a:rPr lang="en-IN" sz="2000" dirty="0">
                <a:solidFill>
                  <a:srgbClr val="000000"/>
                </a:solidFill>
                <a:effectLst/>
                <a:latin typeface="Menlo" panose="020B0609030804020204" pitchFamily="49" charset="0"/>
              </a:rPr>
              <a:t>(</a:t>
            </a:r>
            <a:r>
              <a:rPr lang="en-IN" sz="2000" dirty="0">
                <a:solidFill>
                  <a:srgbClr val="2A00FF"/>
                </a:solidFill>
                <a:effectLst/>
                <a:latin typeface="Menlo" panose="020B0609030804020204" pitchFamily="49" charset="0"/>
              </a:rPr>
              <a:t>"User Gender"</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0000C0"/>
                </a:solidFill>
                <a:effectLst/>
                <a:latin typeface="Menlo" panose="020B0609030804020204" pitchFamily="49" charset="0"/>
              </a:rPr>
              <a:t>l5</a:t>
            </a:r>
            <a:r>
              <a:rPr lang="en-IN" sz="2000" dirty="0">
                <a:solidFill>
                  <a:srgbClr val="000000"/>
                </a:solidFill>
                <a:effectLst/>
                <a:latin typeface="Menlo" panose="020B0609030804020204" pitchFamily="49" charset="0"/>
              </a:rPr>
              <a:t>= </a:t>
            </a:r>
            <a:r>
              <a:rPr lang="en-IN" sz="2000" b="1" dirty="0">
                <a:solidFill>
                  <a:srgbClr val="7F0055"/>
                </a:solidFill>
                <a:effectLst/>
                <a:latin typeface="Menlo" panose="020B0609030804020204" pitchFamily="49" charset="0"/>
              </a:rPr>
              <a:t>new</a:t>
            </a:r>
            <a:r>
              <a:rPr lang="en-IN" sz="2000" dirty="0">
                <a:solidFill>
                  <a:srgbClr val="000000"/>
                </a:solidFill>
                <a:effectLst/>
                <a:latin typeface="Menlo" panose="020B0609030804020204" pitchFamily="49" charset="0"/>
              </a:rPr>
              <a:t> </a:t>
            </a:r>
            <a:r>
              <a:rPr lang="en-IN" sz="2000" dirty="0" err="1">
                <a:solidFill>
                  <a:srgbClr val="000000"/>
                </a:solidFill>
                <a:effectLst/>
                <a:latin typeface="Menlo" panose="020B0609030804020204" pitchFamily="49" charset="0"/>
              </a:rPr>
              <a:t>JLabel</a:t>
            </a:r>
            <a:r>
              <a:rPr lang="en-IN" sz="2000" dirty="0">
                <a:solidFill>
                  <a:srgbClr val="000000"/>
                </a:solidFill>
                <a:effectLst/>
                <a:latin typeface="Menlo" panose="020B0609030804020204" pitchFamily="49" charset="0"/>
              </a:rPr>
              <a:t>(</a:t>
            </a:r>
            <a:r>
              <a:rPr lang="en-IN" sz="2000" dirty="0">
                <a:solidFill>
                  <a:srgbClr val="2A00FF"/>
                </a:solidFill>
                <a:effectLst/>
                <a:latin typeface="Menlo" panose="020B0609030804020204" pitchFamily="49" charset="0"/>
              </a:rPr>
              <a:t>"Technologies"</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0000C0"/>
                </a:solidFill>
                <a:effectLst/>
                <a:latin typeface="Menlo" panose="020B0609030804020204" pitchFamily="49" charset="0"/>
              </a:rPr>
              <a:t>l6</a:t>
            </a:r>
            <a:r>
              <a:rPr lang="en-IN" sz="2000" dirty="0">
                <a:solidFill>
                  <a:srgbClr val="000000"/>
                </a:solidFill>
                <a:effectLst/>
                <a:latin typeface="Menlo" panose="020B0609030804020204" pitchFamily="49" charset="0"/>
              </a:rPr>
              <a:t>= </a:t>
            </a:r>
            <a:r>
              <a:rPr lang="en-IN" sz="2000" b="1" dirty="0">
                <a:solidFill>
                  <a:srgbClr val="7F0055"/>
                </a:solidFill>
                <a:effectLst/>
                <a:latin typeface="Menlo" panose="020B0609030804020204" pitchFamily="49" charset="0"/>
              </a:rPr>
              <a:t>new</a:t>
            </a:r>
            <a:r>
              <a:rPr lang="en-IN" sz="2000" dirty="0">
                <a:solidFill>
                  <a:srgbClr val="000000"/>
                </a:solidFill>
                <a:effectLst/>
                <a:latin typeface="Menlo" panose="020B0609030804020204" pitchFamily="49" charset="0"/>
              </a:rPr>
              <a:t> </a:t>
            </a:r>
            <a:r>
              <a:rPr lang="en-IN" sz="2000" dirty="0" err="1">
                <a:solidFill>
                  <a:srgbClr val="000000"/>
                </a:solidFill>
                <a:effectLst/>
                <a:latin typeface="Menlo" panose="020B0609030804020204" pitchFamily="49" charset="0"/>
              </a:rPr>
              <a:t>JLabel</a:t>
            </a:r>
            <a:r>
              <a:rPr lang="en-IN" sz="2000" dirty="0">
                <a:solidFill>
                  <a:srgbClr val="000000"/>
                </a:solidFill>
                <a:effectLst/>
                <a:latin typeface="Menlo" panose="020B0609030804020204" pitchFamily="49" charset="0"/>
              </a:rPr>
              <a:t>(</a:t>
            </a:r>
            <a:r>
              <a:rPr lang="en-IN" sz="2000" dirty="0">
                <a:solidFill>
                  <a:srgbClr val="2A00FF"/>
                </a:solidFill>
                <a:effectLst/>
                <a:latin typeface="Menlo" panose="020B0609030804020204" pitchFamily="49" charset="0"/>
              </a:rPr>
              <a:t>"</a:t>
            </a:r>
            <a:r>
              <a:rPr lang="en-IN" sz="2000" dirty="0" err="1">
                <a:solidFill>
                  <a:srgbClr val="2A00FF"/>
                </a:solidFill>
                <a:effectLst/>
                <a:latin typeface="Menlo" panose="020B0609030804020204" pitchFamily="49" charset="0"/>
              </a:rPr>
              <a:t>UserAddress</a:t>
            </a:r>
            <a:r>
              <a:rPr lang="en-IN" sz="2000" dirty="0">
                <a:solidFill>
                  <a:srgbClr val="2A00FF"/>
                </a:solidFill>
                <a:effectLst/>
                <a:latin typeface="Menlo" panose="020B0609030804020204" pitchFamily="49" charset="0"/>
              </a:rPr>
              <a:t>"</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0000C0"/>
                </a:solidFill>
                <a:effectLst/>
                <a:latin typeface="Menlo" panose="020B0609030804020204" pitchFamily="49" charset="0"/>
              </a:rPr>
              <a:t>l7</a:t>
            </a:r>
            <a:r>
              <a:rPr lang="en-IN" sz="2000" dirty="0">
                <a:solidFill>
                  <a:srgbClr val="000000"/>
                </a:solidFill>
                <a:effectLst/>
                <a:latin typeface="Menlo" panose="020B0609030804020204" pitchFamily="49" charset="0"/>
              </a:rPr>
              <a:t>= </a:t>
            </a:r>
            <a:r>
              <a:rPr lang="en-IN" sz="2000" b="1" dirty="0">
                <a:solidFill>
                  <a:srgbClr val="7F0055"/>
                </a:solidFill>
                <a:effectLst/>
                <a:latin typeface="Menlo" panose="020B0609030804020204" pitchFamily="49" charset="0"/>
              </a:rPr>
              <a:t>new</a:t>
            </a:r>
            <a:r>
              <a:rPr lang="en-IN" sz="2000" dirty="0">
                <a:solidFill>
                  <a:srgbClr val="000000"/>
                </a:solidFill>
                <a:effectLst/>
                <a:latin typeface="Menlo" panose="020B0609030804020204" pitchFamily="49" charset="0"/>
              </a:rPr>
              <a:t> </a:t>
            </a:r>
            <a:r>
              <a:rPr lang="en-IN" sz="2000" dirty="0" err="1">
                <a:solidFill>
                  <a:srgbClr val="000000"/>
                </a:solidFill>
                <a:effectLst/>
                <a:latin typeface="Menlo" panose="020B0609030804020204" pitchFamily="49" charset="0"/>
              </a:rPr>
              <a:t>JLabel</a:t>
            </a:r>
            <a:r>
              <a:rPr lang="en-IN" sz="2000" dirty="0">
                <a:solidFill>
                  <a:srgbClr val="000000"/>
                </a:solidFill>
                <a:effectLst/>
                <a:latin typeface="Menlo" panose="020B0609030804020204" pitchFamily="49" charset="0"/>
              </a:rPr>
              <a:t>(</a:t>
            </a:r>
            <a:r>
              <a:rPr lang="en-IN" sz="2000" dirty="0">
                <a:solidFill>
                  <a:srgbClr val="2A00FF"/>
                </a:solidFill>
                <a:effectLst/>
                <a:latin typeface="Menlo" panose="020B0609030804020204" pitchFamily="49" charset="0"/>
              </a:rPr>
              <a:t>"comments"</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u="sng" dirty="0" err="1">
                <a:solidFill>
                  <a:srgbClr val="0000C0"/>
                </a:solidFill>
                <a:effectLst/>
                <a:latin typeface="Menlo" panose="020B0609030804020204" pitchFamily="49" charset="0"/>
              </a:rPr>
              <a:t>tf</a:t>
            </a:r>
            <a:r>
              <a:rPr lang="en-IN" sz="2000" dirty="0">
                <a:solidFill>
                  <a:srgbClr val="000000"/>
                </a:solidFill>
                <a:effectLst/>
                <a:latin typeface="Menlo" panose="020B0609030804020204" pitchFamily="49" charset="0"/>
              </a:rPr>
              <a:t>=</a:t>
            </a:r>
            <a:r>
              <a:rPr lang="en-IN" sz="2000" b="1" dirty="0">
                <a:solidFill>
                  <a:srgbClr val="7F0055"/>
                </a:solidFill>
                <a:effectLst/>
                <a:latin typeface="Menlo" panose="020B0609030804020204" pitchFamily="49" charset="0"/>
              </a:rPr>
              <a:t>new</a:t>
            </a:r>
            <a:r>
              <a:rPr lang="en-IN" sz="2000" dirty="0">
                <a:solidFill>
                  <a:srgbClr val="000000"/>
                </a:solidFill>
                <a:effectLst/>
                <a:latin typeface="Menlo" panose="020B0609030804020204" pitchFamily="49" charset="0"/>
              </a:rPr>
              <a:t> </a:t>
            </a:r>
            <a:r>
              <a:rPr lang="en-IN" sz="2000" u="sng" dirty="0" err="1">
                <a:solidFill>
                  <a:srgbClr val="000000"/>
                </a:solidFill>
                <a:effectLst/>
                <a:latin typeface="Menlo" panose="020B0609030804020204" pitchFamily="49" charset="0"/>
              </a:rPr>
              <a:t>JTextField</a:t>
            </a:r>
            <a:r>
              <a:rPr lang="en-IN" sz="2000" dirty="0">
                <a:solidFill>
                  <a:srgbClr val="000000"/>
                </a:solidFill>
                <a:effectLst/>
                <a:latin typeface="Menlo" panose="020B0609030804020204" pitchFamily="49" charset="0"/>
              </a:rPr>
              <a:t>(15); </a:t>
            </a:r>
          </a:p>
          <a:p>
            <a:pPr marL="0" marR="0" indent="0">
              <a:spcBef>
                <a:spcPts val="0"/>
              </a:spcBef>
              <a:spcAft>
                <a:spcPts val="0"/>
              </a:spcAft>
              <a:buNone/>
            </a:pPr>
            <a:r>
              <a:rPr lang="en-IN" sz="2000" u="sng" dirty="0" err="1">
                <a:solidFill>
                  <a:srgbClr val="0000C0"/>
                </a:solidFill>
                <a:effectLst/>
                <a:latin typeface="Menlo" panose="020B0609030804020204" pitchFamily="49" charset="0"/>
              </a:rPr>
              <a:t>tf</a:t>
            </a:r>
            <a:r>
              <a:rPr lang="en-IN" sz="2000" dirty="0" err="1">
                <a:solidFill>
                  <a:srgbClr val="000000"/>
                </a:solidFill>
                <a:effectLst/>
                <a:latin typeface="Menlo" panose="020B0609030804020204" pitchFamily="49" charset="0"/>
              </a:rPr>
              <a:t>.setToolTipText</a:t>
            </a:r>
            <a:r>
              <a:rPr lang="en-IN" sz="2000" dirty="0">
                <a:solidFill>
                  <a:srgbClr val="000000"/>
                </a:solidFill>
                <a:effectLst/>
                <a:latin typeface="Menlo" panose="020B0609030804020204" pitchFamily="49" charset="0"/>
              </a:rPr>
              <a:t>(</a:t>
            </a:r>
            <a:r>
              <a:rPr lang="en-IN" sz="2000" dirty="0">
                <a:solidFill>
                  <a:srgbClr val="2A00FF"/>
                </a:solidFill>
                <a:effectLst/>
                <a:latin typeface="Menlo" panose="020B0609030804020204" pitchFamily="49" charset="0"/>
              </a:rPr>
              <a:t>"</a:t>
            </a:r>
            <a:r>
              <a:rPr lang="en-IN" sz="2000" dirty="0" err="1">
                <a:solidFill>
                  <a:srgbClr val="2A00FF"/>
                </a:solidFill>
                <a:effectLst/>
                <a:latin typeface="Menlo" panose="020B0609030804020204" pitchFamily="49" charset="0"/>
              </a:rPr>
              <a:t>TextField</a:t>
            </a:r>
            <a:r>
              <a:rPr lang="en-IN" sz="2000" dirty="0">
                <a:solidFill>
                  <a:srgbClr val="2A00FF"/>
                </a:solidFill>
                <a:effectLst/>
                <a:latin typeface="Menlo" panose="020B0609030804020204" pitchFamily="49" charset="0"/>
              </a:rPr>
              <a:t>"</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u="sng" dirty="0">
                <a:solidFill>
                  <a:srgbClr val="0000C0"/>
                </a:solidFill>
                <a:effectLst/>
                <a:latin typeface="Menlo" panose="020B0609030804020204" pitchFamily="49" charset="0"/>
              </a:rPr>
              <a:t>pf</a:t>
            </a:r>
            <a:r>
              <a:rPr lang="en-IN" sz="2000" dirty="0">
                <a:solidFill>
                  <a:srgbClr val="000000"/>
                </a:solidFill>
                <a:effectLst/>
                <a:latin typeface="Menlo" panose="020B0609030804020204" pitchFamily="49" charset="0"/>
              </a:rPr>
              <a:t>=</a:t>
            </a:r>
            <a:r>
              <a:rPr lang="en-IN" sz="2000" b="1" dirty="0">
                <a:solidFill>
                  <a:srgbClr val="7F0055"/>
                </a:solidFill>
                <a:effectLst/>
                <a:latin typeface="Menlo" panose="020B0609030804020204" pitchFamily="49" charset="0"/>
              </a:rPr>
              <a:t>new</a:t>
            </a:r>
            <a:r>
              <a:rPr lang="en-IN" sz="2000" dirty="0">
                <a:solidFill>
                  <a:srgbClr val="000000"/>
                </a:solidFill>
                <a:effectLst/>
                <a:latin typeface="Menlo" panose="020B0609030804020204" pitchFamily="49" charset="0"/>
              </a:rPr>
              <a:t> </a:t>
            </a:r>
            <a:r>
              <a:rPr lang="en-IN" sz="2000" u="sng" dirty="0" err="1">
                <a:solidFill>
                  <a:srgbClr val="000000"/>
                </a:solidFill>
                <a:effectLst/>
                <a:latin typeface="Menlo" panose="020B0609030804020204" pitchFamily="49" charset="0"/>
              </a:rPr>
              <a:t>JPasswordField</a:t>
            </a:r>
            <a:r>
              <a:rPr lang="en-IN" sz="2000" dirty="0">
                <a:solidFill>
                  <a:srgbClr val="000000"/>
                </a:solidFill>
                <a:effectLst/>
                <a:latin typeface="Menlo" panose="020B0609030804020204" pitchFamily="49" charset="0"/>
              </a:rPr>
              <a:t>(15); </a:t>
            </a:r>
          </a:p>
          <a:p>
            <a:pPr marL="0" marR="0" indent="0">
              <a:spcBef>
                <a:spcPts val="0"/>
              </a:spcBef>
              <a:spcAft>
                <a:spcPts val="0"/>
              </a:spcAft>
              <a:buNone/>
            </a:pPr>
            <a:r>
              <a:rPr lang="en-IN" sz="2000" u="sng" dirty="0" err="1">
                <a:solidFill>
                  <a:srgbClr val="0000C0"/>
                </a:solidFill>
                <a:effectLst/>
                <a:latin typeface="Menlo" panose="020B0609030804020204" pitchFamily="49" charset="0"/>
              </a:rPr>
              <a:t>pf</a:t>
            </a:r>
            <a:r>
              <a:rPr lang="en-IN" sz="2000" dirty="0" err="1">
                <a:solidFill>
                  <a:srgbClr val="000000"/>
                </a:solidFill>
                <a:effectLst/>
                <a:latin typeface="Menlo" panose="020B0609030804020204" pitchFamily="49" charset="0"/>
              </a:rPr>
              <a:t>.setToolTipText</a:t>
            </a:r>
            <a:r>
              <a:rPr lang="en-IN" sz="2000" dirty="0">
                <a:solidFill>
                  <a:srgbClr val="000000"/>
                </a:solidFill>
                <a:effectLst/>
                <a:latin typeface="Menlo" panose="020B0609030804020204" pitchFamily="49" charset="0"/>
              </a:rPr>
              <a:t>(</a:t>
            </a:r>
            <a:r>
              <a:rPr lang="en-IN" sz="2000" dirty="0">
                <a:solidFill>
                  <a:srgbClr val="2A00FF"/>
                </a:solidFill>
                <a:effectLst/>
                <a:latin typeface="Menlo" panose="020B0609030804020204" pitchFamily="49" charset="0"/>
              </a:rPr>
              <a:t>"</a:t>
            </a:r>
            <a:r>
              <a:rPr lang="en-IN" sz="2000" dirty="0" err="1">
                <a:solidFill>
                  <a:srgbClr val="2A00FF"/>
                </a:solidFill>
                <a:effectLst/>
                <a:latin typeface="Menlo" panose="020B0609030804020204" pitchFamily="49" charset="0"/>
              </a:rPr>
              <a:t>PasswordField</a:t>
            </a:r>
            <a:r>
              <a:rPr lang="en-IN" sz="2000" dirty="0">
                <a:solidFill>
                  <a:srgbClr val="2A00FF"/>
                </a:solidFill>
                <a:effectLst/>
                <a:latin typeface="Menlo" panose="020B0609030804020204" pitchFamily="49" charset="0"/>
              </a:rPr>
              <a:t>"</a:t>
            </a:r>
            <a:r>
              <a:rPr lang="en-IN" sz="2000" dirty="0">
                <a:solidFill>
                  <a:srgbClr val="000000"/>
                </a:solidFill>
                <a:effectLst/>
                <a:latin typeface="Menlo" panose="020B0609030804020204" pitchFamily="49" charset="0"/>
              </a:rPr>
              <a:t>); </a:t>
            </a:r>
          </a:p>
          <a:p>
            <a:pPr marL="0" marR="0" indent="0">
              <a:spcBef>
                <a:spcPts val="0"/>
              </a:spcBef>
              <a:spcAft>
                <a:spcPts val="0"/>
              </a:spcAft>
              <a:buNone/>
            </a:pPr>
            <a:r>
              <a:rPr lang="en-IN" sz="2000" u="sng" dirty="0">
                <a:solidFill>
                  <a:srgbClr val="0000C0"/>
                </a:solidFill>
                <a:effectLst/>
                <a:latin typeface="Menlo" panose="020B0609030804020204" pitchFamily="49" charset="0"/>
              </a:rPr>
              <a:t>cb1</a:t>
            </a:r>
            <a:r>
              <a:rPr lang="en-IN" sz="2000" dirty="0">
                <a:solidFill>
                  <a:srgbClr val="000000"/>
                </a:solidFill>
                <a:effectLst/>
                <a:latin typeface="Menlo" panose="020B0609030804020204" pitchFamily="49" charset="0"/>
              </a:rPr>
              <a:t>=</a:t>
            </a:r>
            <a:r>
              <a:rPr lang="en-IN" sz="2000" b="1" dirty="0">
                <a:solidFill>
                  <a:srgbClr val="7F0055"/>
                </a:solidFill>
                <a:effectLst/>
                <a:latin typeface="Menlo" panose="020B0609030804020204" pitchFamily="49" charset="0"/>
              </a:rPr>
              <a:t>new</a:t>
            </a:r>
            <a:r>
              <a:rPr lang="en-IN" sz="2000" dirty="0">
                <a:solidFill>
                  <a:srgbClr val="000000"/>
                </a:solidFill>
                <a:effectLst/>
                <a:latin typeface="Menlo" panose="020B0609030804020204" pitchFamily="49" charset="0"/>
              </a:rPr>
              <a:t> </a:t>
            </a:r>
            <a:r>
              <a:rPr lang="en-IN" sz="2000" u="sng" dirty="0" err="1">
                <a:solidFill>
                  <a:srgbClr val="000000"/>
                </a:solidFill>
                <a:effectLst/>
                <a:latin typeface="Menlo" panose="020B0609030804020204" pitchFamily="49" charset="0"/>
              </a:rPr>
              <a:t>JCheckBox</a:t>
            </a:r>
            <a:r>
              <a:rPr lang="en-IN" sz="2000" dirty="0">
                <a:solidFill>
                  <a:srgbClr val="000000"/>
                </a:solidFill>
                <a:effectLst/>
                <a:latin typeface="Menlo" panose="020B0609030804020204" pitchFamily="49" charset="0"/>
              </a:rPr>
              <a:t>(</a:t>
            </a:r>
            <a:r>
              <a:rPr lang="en-IN" sz="2000" dirty="0">
                <a:solidFill>
                  <a:srgbClr val="2A00FF"/>
                </a:solidFill>
                <a:effectLst/>
                <a:latin typeface="Menlo" panose="020B0609030804020204" pitchFamily="49" charset="0"/>
              </a:rPr>
              <a:t>"</a:t>
            </a:r>
            <a:r>
              <a:rPr lang="en-IN" sz="2000" dirty="0" err="1">
                <a:solidFill>
                  <a:srgbClr val="2A00FF"/>
                </a:solidFill>
                <a:effectLst/>
                <a:latin typeface="Menlo" panose="020B0609030804020204" pitchFamily="49" charset="0"/>
              </a:rPr>
              <a:t>BSC"</a:t>
            </a:r>
            <a:r>
              <a:rPr lang="en-IN" sz="2000" dirty="0" err="1">
                <a:solidFill>
                  <a:srgbClr val="000000"/>
                </a:solidFill>
                <a:effectLst/>
                <a:latin typeface="Menlo" panose="020B0609030804020204" pitchFamily="49" charset="0"/>
              </a:rPr>
              <a:t>,</a:t>
            </a:r>
            <a:r>
              <a:rPr lang="en-IN" sz="2000" b="1" dirty="0" err="1">
                <a:solidFill>
                  <a:srgbClr val="7F0055"/>
                </a:solidFill>
                <a:effectLst/>
                <a:latin typeface="Menlo" panose="020B0609030804020204" pitchFamily="49" charset="0"/>
              </a:rPr>
              <a:t>false</a:t>
            </a:r>
            <a:r>
              <a:rPr lang="en-IN" sz="2000" dirty="0">
                <a:solidFill>
                  <a:srgbClr val="000000"/>
                </a:solidFill>
                <a:effectLst/>
                <a:latin typeface="Menlo" panose="020B0609030804020204" pitchFamily="49" charset="0"/>
              </a:rPr>
              <a:t>); </a:t>
            </a:r>
          </a:p>
          <a:p>
            <a:pPr marL="0" marR="0" indent="0">
              <a:spcBef>
                <a:spcPts val="0"/>
              </a:spcBef>
              <a:spcAft>
                <a:spcPts val="0"/>
              </a:spcAft>
              <a:buNone/>
            </a:pPr>
            <a:r>
              <a:rPr lang="en-IN" sz="2000" u="sng" dirty="0">
                <a:solidFill>
                  <a:srgbClr val="0000C0"/>
                </a:solidFill>
                <a:effectLst/>
                <a:latin typeface="Menlo" panose="020B0609030804020204" pitchFamily="49" charset="0"/>
              </a:rPr>
              <a:t>cb2</a:t>
            </a:r>
            <a:r>
              <a:rPr lang="en-IN" sz="2000" dirty="0">
                <a:solidFill>
                  <a:srgbClr val="000000"/>
                </a:solidFill>
                <a:effectLst/>
                <a:latin typeface="Menlo" panose="020B0609030804020204" pitchFamily="49" charset="0"/>
              </a:rPr>
              <a:t>=</a:t>
            </a:r>
            <a:r>
              <a:rPr lang="en-IN" sz="2000" b="1" dirty="0">
                <a:solidFill>
                  <a:srgbClr val="7F0055"/>
                </a:solidFill>
                <a:effectLst/>
                <a:latin typeface="Menlo" panose="020B0609030804020204" pitchFamily="49" charset="0"/>
              </a:rPr>
              <a:t>new</a:t>
            </a:r>
            <a:r>
              <a:rPr lang="en-IN" sz="2000" dirty="0">
                <a:solidFill>
                  <a:srgbClr val="000000"/>
                </a:solidFill>
                <a:effectLst/>
                <a:latin typeface="Menlo" panose="020B0609030804020204" pitchFamily="49" charset="0"/>
              </a:rPr>
              <a:t> </a:t>
            </a:r>
            <a:r>
              <a:rPr lang="en-IN" sz="2000" u="sng" dirty="0" err="1">
                <a:solidFill>
                  <a:srgbClr val="000000"/>
                </a:solidFill>
                <a:effectLst/>
                <a:latin typeface="Menlo" panose="020B0609030804020204" pitchFamily="49" charset="0"/>
              </a:rPr>
              <a:t>JCheckBox</a:t>
            </a:r>
            <a:r>
              <a:rPr lang="en-IN" sz="2000" dirty="0">
                <a:solidFill>
                  <a:srgbClr val="000000"/>
                </a:solidFill>
                <a:effectLst/>
                <a:latin typeface="Menlo" panose="020B0609030804020204" pitchFamily="49" charset="0"/>
              </a:rPr>
              <a:t>(</a:t>
            </a:r>
            <a:r>
              <a:rPr lang="en-IN" sz="2000" dirty="0">
                <a:solidFill>
                  <a:srgbClr val="2A00FF"/>
                </a:solidFill>
                <a:effectLst/>
                <a:latin typeface="Menlo" panose="020B0609030804020204" pitchFamily="49" charset="0"/>
              </a:rPr>
              <a:t>"</a:t>
            </a:r>
            <a:r>
              <a:rPr lang="en-IN" sz="2000" dirty="0" err="1">
                <a:solidFill>
                  <a:srgbClr val="2A00FF"/>
                </a:solidFill>
                <a:effectLst/>
                <a:latin typeface="Menlo" panose="020B0609030804020204" pitchFamily="49" charset="0"/>
              </a:rPr>
              <a:t>MCA"</a:t>
            </a:r>
            <a:r>
              <a:rPr lang="en-IN" sz="2000" dirty="0" err="1">
                <a:solidFill>
                  <a:srgbClr val="000000"/>
                </a:solidFill>
                <a:effectLst/>
                <a:latin typeface="Menlo" panose="020B0609030804020204" pitchFamily="49" charset="0"/>
              </a:rPr>
              <a:t>,</a:t>
            </a:r>
            <a:r>
              <a:rPr lang="en-IN" sz="2000" b="1" dirty="0" err="1">
                <a:solidFill>
                  <a:srgbClr val="7F0055"/>
                </a:solidFill>
                <a:effectLst/>
                <a:latin typeface="Menlo" panose="020B0609030804020204" pitchFamily="49" charset="0"/>
              </a:rPr>
              <a:t>false</a:t>
            </a:r>
            <a:r>
              <a:rPr lang="en-IN" sz="2000" dirty="0">
                <a:solidFill>
                  <a:srgbClr val="000000"/>
                </a:solidFill>
                <a:effectLst/>
                <a:latin typeface="Menlo" panose="020B0609030804020204" pitchFamily="49" charset="0"/>
              </a:rPr>
              <a:t>); </a:t>
            </a:r>
          </a:p>
          <a:p>
            <a:pPr marL="0" marR="0" indent="0">
              <a:spcBef>
                <a:spcPts val="0"/>
              </a:spcBef>
              <a:spcAft>
                <a:spcPts val="0"/>
              </a:spcAft>
              <a:buNone/>
            </a:pPr>
            <a:r>
              <a:rPr lang="en-IN" sz="2000" u="sng" dirty="0">
                <a:solidFill>
                  <a:srgbClr val="0000C0"/>
                </a:solidFill>
                <a:effectLst/>
                <a:latin typeface="Menlo" panose="020B0609030804020204" pitchFamily="49" charset="0"/>
              </a:rPr>
              <a:t>cb3</a:t>
            </a:r>
            <a:r>
              <a:rPr lang="en-IN" sz="2000" dirty="0">
                <a:solidFill>
                  <a:srgbClr val="000000"/>
                </a:solidFill>
                <a:effectLst/>
                <a:latin typeface="Menlo" panose="020B0609030804020204" pitchFamily="49" charset="0"/>
              </a:rPr>
              <a:t>=</a:t>
            </a:r>
            <a:r>
              <a:rPr lang="en-IN" sz="2000" b="1" dirty="0">
                <a:solidFill>
                  <a:srgbClr val="7F0055"/>
                </a:solidFill>
                <a:effectLst/>
                <a:latin typeface="Menlo" panose="020B0609030804020204" pitchFamily="49" charset="0"/>
              </a:rPr>
              <a:t>new</a:t>
            </a:r>
            <a:r>
              <a:rPr lang="en-IN" sz="2000" dirty="0">
                <a:solidFill>
                  <a:srgbClr val="000000"/>
                </a:solidFill>
                <a:effectLst/>
                <a:latin typeface="Menlo" panose="020B0609030804020204" pitchFamily="49" charset="0"/>
              </a:rPr>
              <a:t> </a:t>
            </a:r>
            <a:r>
              <a:rPr lang="en-IN" sz="2000" u="sng" dirty="0" err="1">
                <a:solidFill>
                  <a:srgbClr val="000000"/>
                </a:solidFill>
                <a:effectLst/>
                <a:latin typeface="Menlo" panose="020B0609030804020204" pitchFamily="49" charset="0"/>
              </a:rPr>
              <a:t>JCheckBox</a:t>
            </a:r>
            <a:r>
              <a:rPr lang="en-IN" sz="2000" dirty="0">
                <a:solidFill>
                  <a:srgbClr val="000000"/>
                </a:solidFill>
                <a:effectLst/>
                <a:latin typeface="Menlo" panose="020B0609030804020204" pitchFamily="49" charset="0"/>
              </a:rPr>
              <a:t>(</a:t>
            </a:r>
            <a:r>
              <a:rPr lang="en-IN" sz="2000" dirty="0">
                <a:solidFill>
                  <a:srgbClr val="2A00FF"/>
                </a:solidFill>
                <a:effectLst/>
                <a:latin typeface="Menlo" panose="020B0609030804020204" pitchFamily="49" charset="0"/>
              </a:rPr>
              <a:t>"</a:t>
            </a:r>
            <a:r>
              <a:rPr lang="en-IN" sz="2000" dirty="0" err="1">
                <a:solidFill>
                  <a:srgbClr val="2A00FF"/>
                </a:solidFill>
                <a:effectLst/>
                <a:latin typeface="Menlo" panose="020B0609030804020204" pitchFamily="49" charset="0"/>
              </a:rPr>
              <a:t>PHD"</a:t>
            </a:r>
            <a:r>
              <a:rPr lang="en-IN" sz="2000" dirty="0" err="1">
                <a:solidFill>
                  <a:srgbClr val="000000"/>
                </a:solidFill>
                <a:effectLst/>
                <a:latin typeface="Menlo" panose="020B0609030804020204" pitchFamily="49" charset="0"/>
              </a:rPr>
              <a:t>,</a:t>
            </a:r>
            <a:r>
              <a:rPr lang="en-IN" sz="2000" b="1" dirty="0" err="1">
                <a:solidFill>
                  <a:srgbClr val="7F0055"/>
                </a:solidFill>
                <a:effectLst/>
                <a:latin typeface="Menlo" panose="020B0609030804020204" pitchFamily="49" charset="0"/>
              </a:rPr>
              <a:t>false</a:t>
            </a:r>
            <a:r>
              <a:rPr lang="en-IN" sz="2000" dirty="0">
                <a:solidFill>
                  <a:srgbClr val="000000"/>
                </a:solidFill>
                <a:effectLst/>
                <a:latin typeface="Menlo" panose="020B0609030804020204" pitchFamily="49" charset="0"/>
              </a:rPr>
              <a:t>); </a:t>
            </a:r>
          </a:p>
          <a:p>
            <a:pPr marL="0" marR="0" indent="0">
              <a:spcBef>
                <a:spcPts val="0"/>
              </a:spcBef>
              <a:spcAft>
                <a:spcPts val="0"/>
              </a:spcAft>
              <a:buNone/>
            </a:pPr>
            <a:r>
              <a:rPr lang="en-IN" sz="2000" u="sng" dirty="0">
                <a:solidFill>
                  <a:srgbClr val="0000C0"/>
                </a:solidFill>
                <a:effectLst/>
                <a:latin typeface="Menlo" panose="020B0609030804020204" pitchFamily="49" charset="0"/>
              </a:rPr>
              <a:t>rb1</a:t>
            </a:r>
            <a:r>
              <a:rPr lang="en-IN" sz="2000" dirty="0">
                <a:solidFill>
                  <a:srgbClr val="000000"/>
                </a:solidFill>
                <a:effectLst/>
                <a:latin typeface="Menlo" panose="020B0609030804020204" pitchFamily="49" charset="0"/>
              </a:rPr>
              <a:t>=</a:t>
            </a:r>
            <a:r>
              <a:rPr lang="en-IN" sz="2000" b="1" dirty="0">
                <a:solidFill>
                  <a:srgbClr val="7F0055"/>
                </a:solidFill>
                <a:effectLst/>
                <a:latin typeface="Menlo" panose="020B0609030804020204" pitchFamily="49" charset="0"/>
              </a:rPr>
              <a:t>new</a:t>
            </a:r>
            <a:r>
              <a:rPr lang="en-IN" sz="2000" dirty="0">
                <a:solidFill>
                  <a:srgbClr val="000000"/>
                </a:solidFill>
                <a:effectLst/>
                <a:latin typeface="Menlo" panose="020B0609030804020204" pitchFamily="49" charset="0"/>
              </a:rPr>
              <a:t> </a:t>
            </a:r>
            <a:r>
              <a:rPr lang="en-IN" sz="2000" u="sng" dirty="0" err="1">
                <a:solidFill>
                  <a:srgbClr val="000000"/>
                </a:solidFill>
                <a:effectLst/>
                <a:latin typeface="Menlo" panose="020B0609030804020204" pitchFamily="49" charset="0"/>
              </a:rPr>
              <a:t>JRadioButton</a:t>
            </a:r>
            <a:r>
              <a:rPr lang="en-IN" sz="2000" dirty="0">
                <a:solidFill>
                  <a:srgbClr val="000000"/>
                </a:solidFill>
                <a:effectLst/>
                <a:latin typeface="Menlo" panose="020B0609030804020204" pitchFamily="49" charset="0"/>
              </a:rPr>
              <a:t>(</a:t>
            </a:r>
            <a:r>
              <a:rPr lang="en-IN" sz="2000" dirty="0">
                <a:solidFill>
                  <a:srgbClr val="2A00FF"/>
                </a:solidFill>
                <a:effectLst/>
                <a:latin typeface="Menlo" panose="020B0609030804020204" pitchFamily="49" charset="0"/>
              </a:rPr>
              <a:t>"</a:t>
            </a:r>
            <a:r>
              <a:rPr lang="en-IN" sz="2000" dirty="0" err="1">
                <a:solidFill>
                  <a:srgbClr val="2A00FF"/>
                </a:solidFill>
                <a:effectLst/>
                <a:latin typeface="Menlo" panose="020B0609030804020204" pitchFamily="49" charset="0"/>
              </a:rPr>
              <a:t>Male"</a:t>
            </a:r>
            <a:r>
              <a:rPr lang="en-IN" sz="2000" dirty="0" err="1">
                <a:solidFill>
                  <a:srgbClr val="000000"/>
                </a:solidFill>
                <a:effectLst/>
                <a:latin typeface="Menlo" panose="020B0609030804020204" pitchFamily="49" charset="0"/>
              </a:rPr>
              <a:t>,</a:t>
            </a:r>
            <a:r>
              <a:rPr lang="en-IN" sz="2000" b="1" dirty="0" err="1">
                <a:solidFill>
                  <a:srgbClr val="7F0055"/>
                </a:solidFill>
                <a:effectLst/>
                <a:latin typeface="Menlo" panose="020B0609030804020204" pitchFamily="49" charset="0"/>
              </a:rPr>
              <a:t>false</a:t>
            </a:r>
            <a:r>
              <a:rPr lang="en-IN" sz="2000" dirty="0">
                <a:solidFill>
                  <a:srgbClr val="000000"/>
                </a:solidFill>
                <a:effectLst/>
                <a:latin typeface="Menlo" panose="020B0609030804020204" pitchFamily="49" charset="0"/>
              </a:rPr>
              <a:t>); </a:t>
            </a:r>
          </a:p>
          <a:p>
            <a:pPr marL="0" marR="0" indent="0">
              <a:spcBef>
                <a:spcPts val="0"/>
              </a:spcBef>
              <a:spcAft>
                <a:spcPts val="0"/>
              </a:spcAft>
              <a:buNone/>
            </a:pPr>
            <a:r>
              <a:rPr lang="en-IN" sz="2000" u="sng" dirty="0">
                <a:solidFill>
                  <a:srgbClr val="0000C0"/>
                </a:solidFill>
                <a:effectLst/>
                <a:latin typeface="Menlo" panose="020B0609030804020204" pitchFamily="49" charset="0"/>
              </a:rPr>
              <a:t>rb2</a:t>
            </a:r>
            <a:r>
              <a:rPr lang="en-IN" sz="2000" dirty="0">
                <a:solidFill>
                  <a:srgbClr val="000000"/>
                </a:solidFill>
                <a:effectLst/>
                <a:latin typeface="Menlo" panose="020B0609030804020204" pitchFamily="49" charset="0"/>
              </a:rPr>
              <a:t>=</a:t>
            </a:r>
            <a:r>
              <a:rPr lang="en-IN" sz="2000" b="1" dirty="0">
                <a:solidFill>
                  <a:srgbClr val="7F0055"/>
                </a:solidFill>
                <a:effectLst/>
                <a:latin typeface="Menlo" panose="020B0609030804020204" pitchFamily="49" charset="0"/>
              </a:rPr>
              <a:t>new</a:t>
            </a:r>
            <a:r>
              <a:rPr lang="en-IN" sz="2000" dirty="0">
                <a:solidFill>
                  <a:srgbClr val="000000"/>
                </a:solidFill>
                <a:effectLst/>
                <a:latin typeface="Menlo" panose="020B0609030804020204" pitchFamily="49" charset="0"/>
              </a:rPr>
              <a:t> </a:t>
            </a:r>
            <a:r>
              <a:rPr lang="en-IN" sz="2000" u="sng" dirty="0" err="1">
                <a:solidFill>
                  <a:srgbClr val="000000"/>
                </a:solidFill>
                <a:effectLst/>
                <a:latin typeface="Menlo" panose="020B0609030804020204" pitchFamily="49" charset="0"/>
              </a:rPr>
              <a:t>JRadioButton</a:t>
            </a:r>
            <a:r>
              <a:rPr lang="en-IN" sz="2000" dirty="0">
                <a:solidFill>
                  <a:srgbClr val="000000"/>
                </a:solidFill>
                <a:effectLst/>
                <a:latin typeface="Menlo" panose="020B0609030804020204" pitchFamily="49" charset="0"/>
              </a:rPr>
              <a:t>(</a:t>
            </a:r>
            <a:r>
              <a:rPr lang="en-IN" sz="2000" dirty="0">
                <a:solidFill>
                  <a:srgbClr val="2A00FF"/>
                </a:solidFill>
                <a:effectLst/>
                <a:latin typeface="Menlo" panose="020B0609030804020204" pitchFamily="49" charset="0"/>
              </a:rPr>
              <a:t>"</a:t>
            </a:r>
            <a:r>
              <a:rPr lang="en-IN" sz="2000" dirty="0" err="1">
                <a:solidFill>
                  <a:srgbClr val="2A00FF"/>
                </a:solidFill>
                <a:effectLst/>
                <a:latin typeface="Menlo" panose="020B0609030804020204" pitchFamily="49" charset="0"/>
              </a:rPr>
              <a:t>Female"</a:t>
            </a:r>
            <a:r>
              <a:rPr lang="en-IN" sz="2000" dirty="0" err="1">
                <a:solidFill>
                  <a:srgbClr val="000000"/>
                </a:solidFill>
                <a:effectLst/>
                <a:latin typeface="Menlo" panose="020B0609030804020204" pitchFamily="49" charset="0"/>
              </a:rPr>
              <a:t>,</a:t>
            </a:r>
            <a:r>
              <a:rPr lang="en-IN" sz="2000" b="1" dirty="0" err="1">
                <a:solidFill>
                  <a:srgbClr val="7F0055"/>
                </a:solidFill>
                <a:effectLst/>
                <a:latin typeface="Menlo" panose="020B0609030804020204" pitchFamily="49" charset="0"/>
              </a:rPr>
              <a:t>false</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u="sng" dirty="0" err="1">
                <a:solidFill>
                  <a:srgbClr val="000000"/>
                </a:solidFill>
                <a:effectLst/>
                <a:latin typeface="Menlo" panose="020B0609030804020204" pitchFamily="49" charset="0"/>
              </a:rPr>
              <a:t>ButtonGroup</a:t>
            </a:r>
            <a:r>
              <a:rPr lang="en-IN" sz="2000" dirty="0">
                <a:solidFill>
                  <a:srgbClr val="000000"/>
                </a:solidFill>
                <a:effectLst/>
                <a:latin typeface="Menlo" panose="020B0609030804020204" pitchFamily="49" charset="0"/>
              </a:rPr>
              <a:t> </a:t>
            </a:r>
            <a:r>
              <a:rPr lang="en-IN" sz="2000" dirty="0" err="1">
                <a:solidFill>
                  <a:srgbClr val="6A3E3E"/>
                </a:solidFill>
                <a:effectLst/>
                <a:latin typeface="Menlo" panose="020B0609030804020204" pitchFamily="49" charset="0"/>
              </a:rPr>
              <a:t>bg</a:t>
            </a:r>
            <a:r>
              <a:rPr lang="en-IN" sz="2000" dirty="0">
                <a:solidFill>
                  <a:srgbClr val="000000"/>
                </a:solidFill>
                <a:effectLst/>
                <a:latin typeface="Menlo" panose="020B0609030804020204" pitchFamily="49" charset="0"/>
              </a:rPr>
              <a:t>=</a:t>
            </a:r>
            <a:r>
              <a:rPr lang="en-IN" sz="2000" b="1" dirty="0">
                <a:solidFill>
                  <a:srgbClr val="7F0055"/>
                </a:solidFill>
                <a:effectLst/>
                <a:latin typeface="Menlo" panose="020B0609030804020204" pitchFamily="49" charset="0"/>
              </a:rPr>
              <a:t>new</a:t>
            </a:r>
            <a:r>
              <a:rPr lang="en-IN" sz="2000" dirty="0">
                <a:solidFill>
                  <a:srgbClr val="000000"/>
                </a:solidFill>
                <a:effectLst/>
                <a:latin typeface="Menlo" panose="020B0609030804020204" pitchFamily="49" charset="0"/>
              </a:rPr>
              <a:t> </a:t>
            </a:r>
            <a:r>
              <a:rPr lang="en-IN" sz="2000" u="sng" dirty="0" err="1">
                <a:solidFill>
                  <a:srgbClr val="000000"/>
                </a:solidFill>
                <a:effectLst/>
                <a:latin typeface="Menlo" panose="020B0609030804020204" pitchFamily="49" charset="0"/>
              </a:rPr>
              <a:t>ButtonGroup</a:t>
            </a:r>
            <a:r>
              <a:rPr lang="en-IN" sz="2000" dirty="0">
                <a:solidFill>
                  <a:srgbClr val="000000"/>
                </a:solidFill>
                <a:effectLst/>
                <a:latin typeface="Menlo" panose="020B0609030804020204" pitchFamily="49" charset="0"/>
              </a:rPr>
              <a:t>(); </a:t>
            </a:r>
          </a:p>
          <a:p>
            <a:pPr marL="0" marR="0" indent="0">
              <a:spcBef>
                <a:spcPts val="0"/>
              </a:spcBef>
              <a:spcAft>
                <a:spcPts val="0"/>
              </a:spcAft>
              <a:buNone/>
            </a:pPr>
            <a:r>
              <a:rPr lang="en-IN" sz="2000" dirty="0" err="1">
                <a:solidFill>
                  <a:srgbClr val="6A3E3E"/>
                </a:solidFill>
                <a:effectLst/>
                <a:latin typeface="Menlo" panose="020B0609030804020204" pitchFamily="49" charset="0"/>
              </a:rPr>
              <a:t>bg</a:t>
            </a:r>
            <a:r>
              <a:rPr lang="en-IN" sz="2000" dirty="0" err="1">
                <a:solidFill>
                  <a:srgbClr val="000000"/>
                </a:solidFill>
                <a:effectLst/>
                <a:latin typeface="Menlo" panose="020B0609030804020204" pitchFamily="49" charset="0"/>
              </a:rPr>
              <a:t>.add</a:t>
            </a:r>
            <a:r>
              <a:rPr lang="en-IN" sz="2000" dirty="0">
                <a:solidFill>
                  <a:srgbClr val="000000"/>
                </a:solidFill>
                <a:effectLst/>
                <a:latin typeface="Menlo" panose="020B0609030804020204" pitchFamily="49" charset="0"/>
              </a:rPr>
              <a:t>(</a:t>
            </a:r>
            <a:r>
              <a:rPr lang="en-IN" sz="2000" u="sng" dirty="0">
                <a:solidFill>
                  <a:srgbClr val="0000C0"/>
                </a:solidFill>
                <a:effectLst/>
                <a:latin typeface="Menlo" panose="020B0609030804020204" pitchFamily="49" charset="0"/>
              </a:rPr>
              <a:t>rb1</a:t>
            </a:r>
            <a:r>
              <a:rPr lang="en-IN" sz="2000" dirty="0">
                <a:solidFill>
                  <a:srgbClr val="000000"/>
                </a:solidFill>
                <a:effectLst/>
                <a:latin typeface="Menlo" panose="020B0609030804020204" pitchFamily="49" charset="0"/>
              </a:rPr>
              <a:t>); </a:t>
            </a:r>
            <a:endParaRPr lang="en-US" sz="2000" dirty="0"/>
          </a:p>
        </p:txBody>
      </p:sp>
      <p:sp>
        <p:nvSpPr>
          <p:cNvPr id="4" name="Footer Placeholder 3">
            <a:extLst>
              <a:ext uri="{FF2B5EF4-FFF2-40B4-BE49-F238E27FC236}">
                <a16:creationId xmlns:a16="http://schemas.microsoft.com/office/drawing/2014/main" id="{23AE63A9-2043-2230-3C9E-ABE017C1AB9B}"/>
              </a:ext>
            </a:extLst>
          </p:cNvPr>
          <p:cNvSpPr>
            <a:spLocks noGrp="1"/>
          </p:cNvSpPr>
          <p:nvPr>
            <p:ph type="ftr" sz="quarter" idx="11"/>
          </p:nvPr>
        </p:nvSpPr>
        <p:spPr/>
        <p:txBody>
          <a:bodyPr/>
          <a:lstStyle/>
          <a:p>
            <a:pPr>
              <a:defRPr/>
            </a:pPr>
            <a:r>
              <a:rPr lang="en-US" dirty="0"/>
              <a:t>Dr. Naveen Kumar, Associate Professor, AIIT, AUP</a:t>
            </a:r>
          </a:p>
        </p:txBody>
      </p:sp>
    </p:spTree>
    <p:extLst>
      <p:ext uri="{BB962C8B-B14F-4D97-AF65-F5344CB8AC3E}">
        <p14:creationId xmlns:p14="http://schemas.microsoft.com/office/powerpoint/2010/main" val="47196953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2A503-015B-7D1D-D82F-3105D1D4AA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834D473-F803-B82E-FFC0-AAEC3F1B4EDD}"/>
              </a:ext>
            </a:extLst>
          </p:cNvPr>
          <p:cNvSpPr>
            <a:spLocks noGrp="1"/>
          </p:cNvSpPr>
          <p:nvPr>
            <p:ph idx="1"/>
          </p:nvPr>
        </p:nvSpPr>
        <p:spPr/>
        <p:txBody>
          <a:bodyPr/>
          <a:lstStyle/>
          <a:p>
            <a:pPr marL="0" marR="0" indent="0">
              <a:spcBef>
                <a:spcPts val="0"/>
              </a:spcBef>
              <a:spcAft>
                <a:spcPts val="0"/>
              </a:spcAft>
              <a:buNone/>
            </a:pPr>
            <a:r>
              <a:rPr lang="en-IN" sz="2400" dirty="0" err="1">
                <a:solidFill>
                  <a:srgbClr val="6A3E3E"/>
                </a:solidFill>
                <a:effectLst/>
                <a:latin typeface="Menlo" panose="020B0609030804020204" pitchFamily="49" charset="0"/>
              </a:rPr>
              <a:t>bg</a:t>
            </a:r>
            <a:r>
              <a:rPr lang="en-IN" sz="2400" dirty="0" err="1">
                <a:solidFill>
                  <a:srgbClr val="000000"/>
                </a:solidFill>
                <a:effectLst/>
                <a:latin typeface="Menlo" panose="020B0609030804020204" pitchFamily="49" charset="0"/>
              </a:rPr>
              <a:t>.add</a:t>
            </a:r>
            <a:r>
              <a:rPr lang="en-IN" sz="2400" dirty="0">
                <a:solidFill>
                  <a:srgbClr val="000000"/>
                </a:solidFill>
                <a:effectLst/>
                <a:latin typeface="Menlo" panose="020B0609030804020204" pitchFamily="49" charset="0"/>
              </a:rPr>
              <a:t>(</a:t>
            </a:r>
            <a:r>
              <a:rPr lang="en-IN" sz="2400" u="sng" dirty="0">
                <a:solidFill>
                  <a:srgbClr val="0000C0"/>
                </a:solidFill>
                <a:effectLst/>
                <a:latin typeface="Menlo" panose="020B0609030804020204" pitchFamily="49" charset="0"/>
              </a:rPr>
              <a:t>rb2</a:t>
            </a:r>
            <a:r>
              <a:rPr lang="en-IN" sz="2400" dirty="0">
                <a:solidFill>
                  <a:srgbClr val="000000"/>
                </a:solidFill>
                <a:effectLst/>
                <a:latin typeface="Menlo" panose="020B0609030804020204" pitchFamily="49" charset="0"/>
              </a:rPr>
              <a:t>); </a:t>
            </a:r>
          </a:p>
          <a:p>
            <a:pPr marL="0" marR="0" indent="0">
              <a:spcBef>
                <a:spcPts val="0"/>
              </a:spcBef>
              <a:spcAft>
                <a:spcPts val="0"/>
              </a:spcAft>
              <a:buNone/>
            </a:pPr>
            <a:r>
              <a:rPr lang="en-IN" sz="2400" dirty="0">
                <a:solidFill>
                  <a:srgbClr val="000000"/>
                </a:solidFill>
                <a:effectLst/>
                <a:latin typeface="Menlo" panose="020B0609030804020204" pitchFamily="49" charset="0"/>
              </a:rPr>
              <a:t>String[] </a:t>
            </a:r>
            <a:r>
              <a:rPr lang="en-IN" sz="2400" dirty="0" err="1">
                <a:solidFill>
                  <a:srgbClr val="6A3E3E"/>
                </a:solidFill>
                <a:effectLst/>
                <a:latin typeface="Menlo" panose="020B0609030804020204" pitchFamily="49" charset="0"/>
              </a:rPr>
              <a:t>listitems</a:t>
            </a:r>
            <a:r>
              <a:rPr lang="en-IN" sz="2400" dirty="0">
                <a:solidFill>
                  <a:srgbClr val="000000"/>
                </a:solidFill>
                <a:effectLst/>
                <a:latin typeface="Menlo" panose="020B0609030804020204" pitchFamily="49" charset="0"/>
              </a:rPr>
              <a:t>={</a:t>
            </a:r>
            <a:r>
              <a:rPr lang="en-IN" sz="2400" dirty="0">
                <a:solidFill>
                  <a:srgbClr val="2A00FF"/>
                </a:solidFill>
                <a:effectLst/>
                <a:latin typeface="Menlo" panose="020B0609030804020204" pitchFamily="49" charset="0"/>
              </a:rPr>
              <a:t>"</a:t>
            </a:r>
            <a:r>
              <a:rPr lang="en-IN" sz="2400" dirty="0" err="1">
                <a:solidFill>
                  <a:srgbClr val="2A00FF"/>
                </a:solidFill>
                <a:effectLst/>
                <a:latin typeface="Menlo" panose="020B0609030804020204" pitchFamily="49" charset="0"/>
              </a:rPr>
              <a:t>cpp</a:t>
            </a:r>
            <a:r>
              <a:rPr lang="en-IN" sz="2400" dirty="0">
                <a:solidFill>
                  <a:srgbClr val="2A00FF"/>
                </a:solidFill>
                <a:effectLst/>
                <a:latin typeface="Menlo" panose="020B0609030804020204" pitchFamily="49" charset="0"/>
              </a:rPr>
              <a:t>"</a:t>
            </a:r>
            <a:r>
              <a:rPr lang="en-IN" sz="2400" dirty="0">
                <a:solidFill>
                  <a:srgbClr val="000000"/>
                </a:solidFill>
                <a:effectLst/>
                <a:latin typeface="Menlo" panose="020B0609030804020204" pitchFamily="49" charset="0"/>
              </a:rPr>
              <a:t>,</a:t>
            </a:r>
            <a:r>
              <a:rPr lang="en-IN" sz="2400" dirty="0">
                <a:solidFill>
                  <a:srgbClr val="2A00FF"/>
                </a:solidFill>
                <a:effectLst/>
                <a:latin typeface="Menlo" panose="020B0609030804020204" pitchFamily="49" charset="0"/>
              </a:rPr>
              <a:t>"</a:t>
            </a:r>
            <a:r>
              <a:rPr lang="en-IN" sz="2400" dirty="0" err="1">
                <a:solidFill>
                  <a:srgbClr val="2A00FF"/>
                </a:solidFill>
                <a:effectLst/>
                <a:latin typeface="Menlo" panose="020B0609030804020204" pitchFamily="49" charset="0"/>
              </a:rPr>
              <a:t>c"</a:t>
            </a:r>
            <a:r>
              <a:rPr lang="en-IN" sz="2400" dirty="0" err="1">
                <a:solidFill>
                  <a:srgbClr val="000000"/>
                </a:solidFill>
                <a:effectLst/>
                <a:latin typeface="Menlo" panose="020B0609030804020204" pitchFamily="49" charset="0"/>
              </a:rPr>
              <a:t>,</a:t>
            </a:r>
            <a:r>
              <a:rPr lang="en-IN" sz="2400" dirty="0" err="1">
                <a:solidFill>
                  <a:srgbClr val="2A00FF"/>
                </a:solidFill>
                <a:effectLst/>
                <a:latin typeface="Menlo" panose="020B0609030804020204" pitchFamily="49" charset="0"/>
              </a:rPr>
              <a:t>"java</a:t>
            </a:r>
            <a:r>
              <a:rPr lang="en-IN" sz="2400" dirty="0">
                <a:solidFill>
                  <a:srgbClr val="2A00FF"/>
                </a:solidFill>
                <a:effectLst/>
                <a:latin typeface="Menlo" panose="020B0609030804020204" pitchFamily="49" charset="0"/>
              </a:rPr>
              <a:t>"</a:t>
            </a:r>
            <a:r>
              <a:rPr lang="en-IN" sz="2400" dirty="0">
                <a:solidFill>
                  <a:srgbClr val="000000"/>
                </a:solidFill>
                <a:effectLst/>
                <a:latin typeface="Menlo" panose="020B0609030804020204" pitchFamily="49" charset="0"/>
              </a:rPr>
              <a:t>}; </a:t>
            </a:r>
          </a:p>
          <a:p>
            <a:pPr marL="0" marR="0" indent="0">
              <a:spcBef>
                <a:spcPts val="0"/>
              </a:spcBef>
              <a:spcAft>
                <a:spcPts val="0"/>
              </a:spcAft>
              <a:buNone/>
            </a:pPr>
            <a:r>
              <a:rPr lang="en-IN" sz="2400" u="sng" dirty="0">
                <a:solidFill>
                  <a:srgbClr val="0000C0"/>
                </a:solidFill>
                <a:effectLst/>
                <a:latin typeface="Menlo" panose="020B0609030804020204" pitchFamily="49" charset="0"/>
              </a:rPr>
              <a:t>l</a:t>
            </a:r>
            <a:r>
              <a:rPr lang="en-IN" sz="2400" dirty="0">
                <a:solidFill>
                  <a:srgbClr val="000000"/>
                </a:solidFill>
                <a:effectLst/>
                <a:latin typeface="Menlo" panose="020B0609030804020204" pitchFamily="49" charset="0"/>
              </a:rPr>
              <a:t>=</a:t>
            </a:r>
            <a:r>
              <a:rPr lang="en-IN" sz="2400" b="1" dirty="0">
                <a:solidFill>
                  <a:srgbClr val="7F0055"/>
                </a:solidFill>
                <a:effectLst/>
                <a:latin typeface="Menlo" panose="020B0609030804020204" pitchFamily="49" charset="0"/>
              </a:rPr>
              <a:t>new</a:t>
            </a:r>
            <a:r>
              <a:rPr lang="en-IN" sz="2400" dirty="0">
                <a:solidFill>
                  <a:srgbClr val="000000"/>
                </a:solidFill>
                <a:effectLst/>
                <a:latin typeface="Menlo" panose="020B0609030804020204" pitchFamily="49" charset="0"/>
              </a:rPr>
              <a:t> </a:t>
            </a:r>
            <a:r>
              <a:rPr lang="en-IN" sz="2400" u="sng" dirty="0" err="1">
                <a:solidFill>
                  <a:srgbClr val="000000"/>
                </a:solidFill>
                <a:effectLst/>
                <a:latin typeface="Menlo" panose="020B0609030804020204" pitchFamily="49" charset="0"/>
              </a:rPr>
              <a:t>JList</a:t>
            </a:r>
            <a:r>
              <a:rPr lang="en-IN" sz="2400" dirty="0">
                <a:solidFill>
                  <a:srgbClr val="000000"/>
                </a:solidFill>
                <a:effectLst/>
                <a:latin typeface="Menlo" panose="020B0609030804020204" pitchFamily="49" charset="0"/>
              </a:rPr>
              <a:t>(</a:t>
            </a:r>
            <a:r>
              <a:rPr lang="en-IN" sz="2400" dirty="0" err="1">
                <a:solidFill>
                  <a:srgbClr val="6A3E3E"/>
                </a:solidFill>
                <a:effectLst/>
                <a:latin typeface="Menlo" panose="020B0609030804020204" pitchFamily="49" charset="0"/>
              </a:rPr>
              <a:t>listitems</a:t>
            </a:r>
            <a:r>
              <a:rPr lang="en-IN" sz="2400" dirty="0">
                <a:solidFill>
                  <a:srgbClr val="000000"/>
                </a:solidFill>
                <a:effectLst/>
                <a:latin typeface="Menlo" panose="020B0609030804020204" pitchFamily="49" charset="0"/>
              </a:rPr>
              <a:t>);</a:t>
            </a:r>
          </a:p>
          <a:p>
            <a:pPr marL="0" marR="0" indent="0">
              <a:spcBef>
                <a:spcPts val="0"/>
              </a:spcBef>
              <a:spcAft>
                <a:spcPts val="0"/>
              </a:spcAft>
              <a:buNone/>
            </a:pPr>
            <a:r>
              <a:rPr lang="en-IN" sz="2400" dirty="0">
                <a:solidFill>
                  <a:srgbClr val="000000"/>
                </a:solidFill>
                <a:effectLst/>
                <a:latin typeface="Menlo" panose="020B0609030804020204" pitchFamily="49" charset="0"/>
              </a:rPr>
              <a:t>String[] </a:t>
            </a:r>
            <a:r>
              <a:rPr lang="en-IN" sz="2400" dirty="0" err="1">
                <a:solidFill>
                  <a:srgbClr val="6A3E3E"/>
                </a:solidFill>
                <a:effectLst/>
                <a:latin typeface="Menlo" panose="020B0609030804020204" pitchFamily="49" charset="0"/>
              </a:rPr>
              <a:t>cbitems</a:t>
            </a:r>
            <a:r>
              <a:rPr lang="en-IN" sz="2400" dirty="0">
                <a:solidFill>
                  <a:srgbClr val="000000"/>
                </a:solidFill>
                <a:effectLst/>
                <a:latin typeface="Menlo" panose="020B0609030804020204" pitchFamily="49" charset="0"/>
              </a:rPr>
              <a:t>={</a:t>
            </a:r>
            <a:r>
              <a:rPr lang="en-IN" sz="2400" dirty="0">
                <a:solidFill>
                  <a:srgbClr val="2A00FF"/>
                </a:solidFill>
                <a:effectLst/>
                <a:latin typeface="Menlo" panose="020B0609030804020204" pitchFamily="49" charset="0"/>
              </a:rPr>
              <a:t>"</a:t>
            </a:r>
            <a:r>
              <a:rPr lang="en-IN" sz="2400" dirty="0" err="1">
                <a:solidFill>
                  <a:srgbClr val="2A00FF"/>
                </a:solidFill>
                <a:effectLst/>
                <a:latin typeface="Menlo" panose="020B0609030804020204" pitchFamily="49" charset="0"/>
              </a:rPr>
              <a:t>hyd</a:t>
            </a:r>
            <a:r>
              <a:rPr lang="en-IN" sz="2400" dirty="0">
                <a:solidFill>
                  <a:srgbClr val="2A00FF"/>
                </a:solidFill>
                <a:effectLst/>
                <a:latin typeface="Menlo" panose="020B0609030804020204" pitchFamily="49" charset="0"/>
              </a:rPr>
              <a:t>"</a:t>
            </a:r>
            <a:r>
              <a:rPr lang="en-IN" sz="2400" dirty="0">
                <a:solidFill>
                  <a:srgbClr val="000000"/>
                </a:solidFill>
                <a:effectLst/>
                <a:latin typeface="Menlo" panose="020B0609030804020204" pitchFamily="49" charset="0"/>
              </a:rPr>
              <a:t>,</a:t>
            </a:r>
            <a:r>
              <a:rPr lang="en-IN" sz="2400" dirty="0">
                <a:solidFill>
                  <a:srgbClr val="2A00FF"/>
                </a:solidFill>
                <a:effectLst/>
                <a:latin typeface="Menlo" panose="020B0609030804020204" pitchFamily="49" charset="0"/>
              </a:rPr>
              <a:t>"</a:t>
            </a:r>
            <a:r>
              <a:rPr lang="en-IN" sz="2400" dirty="0" err="1">
                <a:solidFill>
                  <a:srgbClr val="2A00FF"/>
                </a:solidFill>
                <a:effectLst/>
                <a:latin typeface="Menlo" panose="020B0609030804020204" pitchFamily="49" charset="0"/>
              </a:rPr>
              <a:t>pune</a:t>
            </a:r>
            <a:r>
              <a:rPr lang="en-IN" sz="2400" dirty="0">
                <a:solidFill>
                  <a:srgbClr val="2A00FF"/>
                </a:solidFill>
                <a:effectLst/>
                <a:latin typeface="Menlo" panose="020B0609030804020204" pitchFamily="49" charset="0"/>
              </a:rPr>
              <a:t>"</a:t>
            </a:r>
            <a:r>
              <a:rPr lang="en-IN" sz="2400" dirty="0">
                <a:solidFill>
                  <a:srgbClr val="000000"/>
                </a:solidFill>
                <a:effectLst/>
                <a:latin typeface="Menlo" panose="020B0609030804020204" pitchFamily="49" charset="0"/>
              </a:rPr>
              <a:t>,</a:t>
            </a:r>
            <a:r>
              <a:rPr lang="en-IN" sz="2400" dirty="0">
                <a:solidFill>
                  <a:srgbClr val="2A00FF"/>
                </a:solidFill>
                <a:effectLst/>
                <a:latin typeface="Menlo" panose="020B0609030804020204" pitchFamily="49" charset="0"/>
              </a:rPr>
              <a:t>"</a:t>
            </a:r>
            <a:r>
              <a:rPr lang="en-IN" sz="2400" dirty="0" err="1">
                <a:solidFill>
                  <a:srgbClr val="2A00FF"/>
                </a:solidFill>
                <a:effectLst/>
                <a:latin typeface="Menlo" panose="020B0609030804020204" pitchFamily="49" charset="0"/>
              </a:rPr>
              <a:t>bangalore</a:t>
            </a:r>
            <a:r>
              <a:rPr lang="en-IN" sz="2400" dirty="0">
                <a:solidFill>
                  <a:srgbClr val="2A00FF"/>
                </a:solidFill>
                <a:effectLst/>
                <a:latin typeface="Menlo" panose="020B0609030804020204" pitchFamily="49" charset="0"/>
              </a:rPr>
              <a:t>"</a:t>
            </a:r>
            <a:r>
              <a:rPr lang="en-IN" sz="2400" dirty="0">
                <a:solidFill>
                  <a:srgbClr val="000000"/>
                </a:solidFill>
                <a:effectLst/>
                <a:latin typeface="Menlo" panose="020B0609030804020204" pitchFamily="49" charset="0"/>
              </a:rPr>
              <a:t>}; </a:t>
            </a:r>
          </a:p>
          <a:p>
            <a:pPr marL="0" marR="0" indent="0">
              <a:spcBef>
                <a:spcPts val="0"/>
              </a:spcBef>
              <a:spcAft>
                <a:spcPts val="0"/>
              </a:spcAft>
              <a:buNone/>
            </a:pPr>
            <a:r>
              <a:rPr lang="en-IN" sz="2400" u="sng" dirty="0" err="1">
                <a:solidFill>
                  <a:srgbClr val="0000C0"/>
                </a:solidFill>
                <a:effectLst/>
                <a:latin typeface="Menlo" panose="020B0609030804020204" pitchFamily="49" charset="0"/>
              </a:rPr>
              <a:t>cb</a:t>
            </a:r>
            <a:r>
              <a:rPr lang="en-IN" sz="2400" dirty="0">
                <a:solidFill>
                  <a:srgbClr val="000000"/>
                </a:solidFill>
                <a:effectLst/>
                <a:latin typeface="Menlo" panose="020B0609030804020204" pitchFamily="49" charset="0"/>
              </a:rPr>
              <a:t>=</a:t>
            </a:r>
            <a:r>
              <a:rPr lang="en-IN" sz="2400" b="1" dirty="0">
                <a:solidFill>
                  <a:srgbClr val="7F0055"/>
                </a:solidFill>
                <a:effectLst/>
                <a:latin typeface="Menlo" panose="020B0609030804020204" pitchFamily="49" charset="0"/>
              </a:rPr>
              <a:t>new</a:t>
            </a:r>
            <a:r>
              <a:rPr lang="en-IN" sz="2400" dirty="0">
                <a:solidFill>
                  <a:srgbClr val="000000"/>
                </a:solidFill>
                <a:effectLst/>
                <a:latin typeface="Menlo" panose="020B0609030804020204" pitchFamily="49" charset="0"/>
              </a:rPr>
              <a:t> </a:t>
            </a:r>
            <a:r>
              <a:rPr lang="en-IN" sz="2400" u="sng" dirty="0" err="1">
                <a:solidFill>
                  <a:srgbClr val="000000"/>
                </a:solidFill>
                <a:effectLst/>
                <a:latin typeface="Menlo" panose="020B0609030804020204" pitchFamily="49" charset="0"/>
              </a:rPr>
              <a:t>JComboBox</a:t>
            </a:r>
            <a:r>
              <a:rPr lang="en-IN" sz="2400" dirty="0">
                <a:solidFill>
                  <a:srgbClr val="000000"/>
                </a:solidFill>
                <a:effectLst/>
                <a:latin typeface="Menlo" panose="020B0609030804020204" pitchFamily="49" charset="0"/>
              </a:rPr>
              <a:t>(</a:t>
            </a:r>
            <a:r>
              <a:rPr lang="en-IN" sz="2400" dirty="0" err="1">
                <a:solidFill>
                  <a:srgbClr val="6A3E3E"/>
                </a:solidFill>
                <a:effectLst/>
                <a:latin typeface="Menlo" panose="020B0609030804020204" pitchFamily="49" charset="0"/>
              </a:rPr>
              <a:t>cbitems</a:t>
            </a:r>
            <a:r>
              <a:rPr lang="en-IN" sz="2400" dirty="0">
                <a:solidFill>
                  <a:srgbClr val="000000"/>
                </a:solidFill>
                <a:effectLst/>
                <a:latin typeface="Menlo" panose="020B0609030804020204" pitchFamily="49" charset="0"/>
              </a:rPr>
              <a:t>);</a:t>
            </a:r>
          </a:p>
          <a:p>
            <a:pPr marL="0" marR="0" indent="0">
              <a:spcBef>
                <a:spcPts val="0"/>
              </a:spcBef>
              <a:spcAft>
                <a:spcPts val="0"/>
              </a:spcAft>
              <a:buNone/>
            </a:pPr>
            <a:r>
              <a:rPr lang="en-IN" sz="2400" u="sng" dirty="0">
                <a:solidFill>
                  <a:srgbClr val="0000C0"/>
                </a:solidFill>
                <a:effectLst/>
                <a:latin typeface="Menlo" panose="020B0609030804020204" pitchFamily="49" charset="0"/>
              </a:rPr>
              <a:t>ta</a:t>
            </a:r>
            <a:r>
              <a:rPr lang="en-IN" sz="2400" dirty="0">
                <a:solidFill>
                  <a:srgbClr val="000000"/>
                </a:solidFill>
                <a:effectLst/>
                <a:latin typeface="Menlo" panose="020B0609030804020204" pitchFamily="49" charset="0"/>
              </a:rPr>
              <a:t>=</a:t>
            </a:r>
            <a:r>
              <a:rPr lang="en-IN" sz="2400" b="1" dirty="0">
                <a:solidFill>
                  <a:srgbClr val="7F0055"/>
                </a:solidFill>
                <a:effectLst/>
                <a:latin typeface="Menlo" panose="020B0609030804020204" pitchFamily="49" charset="0"/>
              </a:rPr>
              <a:t>new</a:t>
            </a:r>
            <a:r>
              <a:rPr lang="en-IN" sz="2400" dirty="0">
                <a:solidFill>
                  <a:srgbClr val="000000"/>
                </a:solidFill>
                <a:effectLst/>
                <a:latin typeface="Menlo" panose="020B0609030804020204" pitchFamily="49" charset="0"/>
              </a:rPr>
              <a:t> </a:t>
            </a:r>
            <a:r>
              <a:rPr lang="en-IN" sz="2400" u="sng" dirty="0" err="1">
                <a:solidFill>
                  <a:srgbClr val="000000"/>
                </a:solidFill>
                <a:effectLst/>
                <a:latin typeface="Menlo" panose="020B0609030804020204" pitchFamily="49" charset="0"/>
              </a:rPr>
              <a:t>JTextArea</a:t>
            </a:r>
            <a:r>
              <a:rPr lang="en-IN" sz="2400" dirty="0">
                <a:solidFill>
                  <a:srgbClr val="000000"/>
                </a:solidFill>
                <a:effectLst/>
                <a:latin typeface="Menlo" panose="020B0609030804020204" pitchFamily="49" charset="0"/>
              </a:rPr>
              <a:t>(5,20);</a:t>
            </a:r>
          </a:p>
          <a:p>
            <a:pPr marL="0" marR="0" indent="0">
              <a:spcBef>
                <a:spcPts val="0"/>
              </a:spcBef>
              <a:spcAft>
                <a:spcPts val="0"/>
              </a:spcAft>
              <a:buNone/>
            </a:pPr>
            <a:r>
              <a:rPr lang="en-IN" sz="2400" dirty="0">
                <a:solidFill>
                  <a:srgbClr val="0000C0"/>
                </a:solidFill>
                <a:effectLst/>
                <a:latin typeface="Menlo" panose="020B0609030804020204" pitchFamily="49" charset="0"/>
              </a:rPr>
              <a:t>b</a:t>
            </a:r>
            <a:r>
              <a:rPr lang="en-IN" sz="2400" dirty="0">
                <a:solidFill>
                  <a:srgbClr val="000000"/>
                </a:solidFill>
                <a:effectLst/>
                <a:latin typeface="Menlo" panose="020B0609030804020204" pitchFamily="49" charset="0"/>
              </a:rPr>
              <a:t>=</a:t>
            </a:r>
            <a:r>
              <a:rPr lang="en-IN" sz="2400" b="1" dirty="0">
                <a:solidFill>
                  <a:srgbClr val="7F0055"/>
                </a:solidFill>
                <a:effectLst/>
                <a:latin typeface="Menlo" panose="020B0609030804020204" pitchFamily="49" charset="0"/>
              </a:rPr>
              <a:t>new</a:t>
            </a:r>
            <a:r>
              <a:rPr lang="en-IN" sz="2400" dirty="0">
                <a:solidFill>
                  <a:srgbClr val="000000"/>
                </a:solidFill>
                <a:effectLst/>
                <a:latin typeface="Menlo" panose="020B0609030804020204" pitchFamily="49" charset="0"/>
              </a:rPr>
              <a:t> </a:t>
            </a:r>
            <a:r>
              <a:rPr lang="en-IN" sz="2400" dirty="0" err="1">
                <a:solidFill>
                  <a:srgbClr val="000000"/>
                </a:solidFill>
                <a:effectLst/>
                <a:latin typeface="Menlo" panose="020B0609030804020204" pitchFamily="49" charset="0"/>
              </a:rPr>
              <a:t>JButton</a:t>
            </a:r>
            <a:r>
              <a:rPr lang="en-IN" sz="2400" dirty="0">
                <a:solidFill>
                  <a:srgbClr val="000000"/>
                </a:solidFill>
                <a:effectLst/>
                <a:latin typeface="Menlo" panose="020B0609030804020204" pitchFamily="49" charset="0"/>
              </a:rPr>
              <a:t>(</a:t>
            </a:r>
            <a:r>
              <a:rPr lang="en-IN" sz="2400" dirty="0">
                <a:solidFill>
                  <a:srgbClr val="2A00FF"/>
                </a:solidFill>
                <a:effectLst/>
                <a:latin typeface="Menlo" panose="020B0609030804020204" pitchFamily="49" charset="0"/>
              </a:rPr>
              <a:t>"submit"</a:t>
            </a:r>
            <a:r>
              <a:rPr lang="en-IN" sz="2400" dirty="0">
                <a:solidFill>
                  <a:srgbClr val="000000"/>
                </a:solidFill>
                <a:effectLst/>
                <a:latin typeface="Menlo" panose="020B0609030804020204" pitchFamily="49" charset="0"/>
              </a:rPr>
              <a:t>);</a:t>
            </a:r>
          </a:p>
          <a:p>
            <a:pPr marL="0" marR="0" indent="0">
              <a:spcBef>
                <a:spcPts val="0"/>
              </a:spcBef>
              <a:spcAft>
                <a:spcPts val="0"/>
              </a:spcAft>
              <a:buNone/>
            </a:pPr>
            <a:r>
              <a:rPr lang="en-IN" sz="2400" dirty="0">
                <a:solidFill>
                  <a:srgbClr val="000000"/>
                </a:solidFill>
                <a:effectLst/>
                <a:latin typeface="Menlo" panose="020B0609030804020204" pitchFamily="49" charset="0"/>
              </a:rPr>
              <a:t>add(</a:t>
            </a:r>
            <a:r>
              <a:rPr lang="en-IN" sz="2400" dirty="0">
                <a:solidFill>
                  <a:srgbClr val="0000C0"/>
                </a:solidFill>
                <a:effectLst/>
                <a:latin typeface="Menlo" panose="020B0609030804020204" pitchFamily="49" charset="0"/>
              </a:rPr>
              <a:t>l1</a:t>
            </a:r>
            <a:r>
              <a:rPr lang="en-IN" sz="2400" dirty="0">
                <a:solidFill>
                  <a:srgbClr val="000000"/>
                </a:solidFill>
                <a:effectLst/>
                <a:latin typeface="Menlo" panose="020B0609030804020204" pitchFamily="49" charset="0"/>
              </a:rPr>
              <a:t>); </a:t>
            </a:r>
          </a:p>
          <a:p>
            <a:pPr marL="0" marR="0" indent="0">
              <a:spcBef>
                <a:spcPts val="0"/>
              </a:spcBef>
              <a:spcAft>
                <a:spcPts val="0"/>
              </a:spcAft>
              <a:buNone/>
            </a:pPr>
            <a:r>
              <a:rPr lang="en-IN" sz="2400" dirty="0">
                <a:solidFill>
                  <a:srgbClr val="000000"/>
                </a:solidFill>
                <a:effectLst/>
                <a:latin typeface="Menlo" panose="020B0609030804020204" pitchFamily="49" charset="0"/>
              </a:rPr>
              <a:t>add(</a:t>
            </a:r>
            <a:r>
              <a:rPr lang="en-IN" sz="2400" u="sng" dirty="0" err="1">
                <a:solidFill>
                  <a:srgbClr val="0000C0"/>
                </a:solidFill>
                <a:effectLst/>
                <a:latin typeface="Menlo" panose="020B0609030804020204" pitchFamily="49" charset="0"/>
              </a:rPr>
              <a:t>tf</a:t>
            </a:r>
            <a:r>
              <a:rPr lang="en-IN" sz="2400" dirty="0">
                <a:solidFill>
                  <a:srgbClr val="000000"/>
                </a:solidFill>
                <a:effectLst/>
                <a:latin typeface="Menlo" panose="020B0609030804020204" pitchFamily="49" charset="0"/>
              </a:rPr>
              <a:t>); </a:t>
            </a:r>
          </a:p>
          <a:p>
            <a:pPr marL="0" marR="0" indent="0">
              <a:spcBef>
                <a:spcPts val="0"/>
              </a:spcBef>
              <a:spcAft>
                <a:spcPts val="0"/>
              </a:spcAft>
              <a:buNone/>
            </a:pPr>
            <a:r>
              <a:rPr lang="en-IN" sz="2400" dirty="0">
                <a:solidFill>
                  <a:srgbClr val="000000"/>
                </a:solidFill>
                <a:effectLst/>
                <a:latin typeface="Menlo" panose="020B0609030804020204" pitchFamily="49" charset="0"/>
              </a:rPr>
              <a:t>add(</a:t>
            </a:r>
            <a:r>
              <a:rPr lang="en-IN" sz="2400" dirty="0">
                <a:solidFill>
                  <a:srgbClr val="0000C0"/>
                </a:solidFill>
                <a:effectLst/>
                <a:latin typeface="Menlo" panose="020B0609030804020204" pitchFamily="49" charset="0"/>
              </a:rPr>
              <a:t>l3</a:t>
            </a:r>
            <a:r>
              <a:rPr lang="en-IN" sz="2400" dirty="0">
                <a:solidFill>
                  <a:srgbClr val="000000"/>
                </a:solidFill>
                <a:effectLst/>
                <a:latin typeface="Menlo" panose="020B0609030804020204" pitchFamily="49" charset="0"/>
              </a:rPr>
              <a:t>); </a:t>
            </a:r>
          </a:p>
          <a:p>
            <a:pPr marL="0" marR="0" indent="0">
              <a:spcBef>
                <a:spcPts val="0"/>
              </a:spcBef>
              <a:spcAft>
                <a:spcPts val="0"/>
              </a:spcAft>
              <a:buNone/>
            </a:pPr>
            <a:r>
              <a:rPr lang="en-IN" sz="2400" dirty="0">
                <a:solidFill>
                  <a:srgbClr val="000000"/>
                </a:solidFill>
                <a:effectLst/>
                <a:latin typeface="Menlo" panose="020B0609030804020204" pitchFamily="49" charset="0"/>
              </a:rPr>
              <a:t>add(</a:t>
            </a:r>
            <a:r>
              <a:rPr lang="en-IN" sz="2400" dirty="0">
                <a:solidFill>
                  <a:srgbClr val="0000C0"/>
                </a:solidFill>
                <a:effectLst/>
                <a:latin typeface="Menlo" panose="020B0609030804020204" pitchFamily="49" charset="0"/>
              </a:rPr>
              <a:t>l4</a:t>
            </a:r>
            <a:r>
              <a:rPr lang="en-IN" sz="2400" dirty="0">
                <a:solidFill>
                  <a:srgbClr val="000000"/>
                </a:solidFill>
                <a:effectLst/>
                <a:latin typeface="Menlo" panose="020B0609030804020204" pitchFamily="49" charset="0"/>
              </a:rPr>
              <a:t>); </a:t>
            </a:r>
          </a:p>
          <a:p>
            <a:pPr marL="0" marR="0" indent="0">
              <a:spcBef>
                <a:spcPts val="0"/>
              </a:spcBef>
              <a:spcAft>
                <a:spcPts val="0"/>
              </a:spcAft>
              <a:buNone/>
            </a:pPr>
            <a:r>
              <a:rPr lang="en-IN" sz="2400" dirty="0">
                <a:solidFill>
                  <a:srgbClr val="000000"/>
                </a:solidFill>
                <a:effectLst/>
                <a:latin typeface="Menlo" panose="020B0609030804020204" pitchFamily="49" charset="0"/>
              </a:rPr>
              <a:t>add(</a:t>
            </a:r>
            <a:r>
              <a:rPr lang="en-IN" sz="2400" u="sng" dirty="0">
                <a:solidFill>
                  <a:srgbClr val="0000C0"/>
                </a:solidFill>
                <a:effectLst/>
                <a:latin typeface="Menlo" panose="020B0609030804020204" pitchFamily="49" charset="0"/>
              </a:rPr>
              <a:t>l</a:t>
            </a:r>
            <a:r>
              <a:rPr lang="en-IN" sz="2400" dirty="0">
                <a:solidFill>
                  <a:srgbClr val="000000"/>
                </a:solidFill>
                <a:effectLst/>
                <a:latin typeface="Menlo" panose="020B0609030804020204" pitchFamily="49" charset="0"/>
              </a:rPr>
              <a:t>); </a:t>
            </a:r>
          </a:p>
          <a:p>
            <a:pPr marL="0" marR="0" indent="0">
              <a:spcBef>
                <a:spcPts val="0"/>
              </a:spcBef>
              <a:spcAft>
                <a:spcPts val="0"/>
              </a:spcAft>
              <a:buNone/>
            </a:pPr>
            <a:r>
              <a:rPr lang="en-IN" sz="2400" dirty="0">
                <a:solidFill>
                  <a:srgbClr val="000000"/>
                </a:solidFill>
                <a:effectLst/>
                <a:latin typeface="Menlo" panose="020B0609030804020204" pitchFamily="49" charset="0"/>
              </a:rPr>
              <a:t>add(</a:t>
            </a:r>
            <a:r>
              <a:rPr lang="en-IN" sz="2400" u="sng" dirty="0">
                <a:solidFill>
                  <a:srgbClr val="0000C0"/>
                </a:solidFill>
                <a:effectLst/>
                <a:latin typeface="Menlo" panose="020B0609030804020204" pitchFamily="49" charset="0"/>
              </a:rPr>
              <a:t>ta</a:t>
            </a:r>
            <a:r>
              <a:rPr lang="en-IN" sz="2400" dirty="0">
                <a:solidFill>
                  <a:srgbClr val="000000"/>
                </a:solidFill>
                <a:effectLst/>
                <a:latin typeface="Menlo" panose="020B0609030804020204" pitchFamily="49" charset="0"/>
              </a:rPr>
              <a:t>);</a:t>
            </a:r>
          </a:p>
          <a:p>
            <a:pPr marL="0" marR="0" indent="0">
              <a:spcBef>
                <a:spcPts val="0"/>
              </a:spcBef>
              <a:spcAft>
                <a:spcPts val="0"/>
              </a:spcAft>
              <a:buNone/>
            </a:pPr>
            <a:r>
              <a:rPr lang="en-IN" sz="2400" dirty="0">
                <a:solidFill>
                  <a:srgbClr val="000000"/>
                </a:solidFill>
                <a:effectLst/>
                <a:latin typeface="Menlo" panose="020B0609030804020204" pitchFamily="49" charset="0"/>
              </a:rPr>
              <a:t>add(</a:t>
            </a:r>
            <a:r>
              <a:rPr lang="en-IN" sz="2400" dirty="0">
                <a:solidFill>
                  <a:srgbClr val="0000C0"/>
                </a:solidFill>
                <a:effectLst/>
                <a:latin typeface="Menlo" panose="020B0609030804020204" pitchFamily="49" charset="0"/>
              </a:rPr>
              <a:t>l2</a:t>
            </a:r>
            <a:r>
              <a:rPr lang="en-IN" sz="2400" dirty="0">
                <a:solidFill>
                  <a:srgbClr val="000000"/>
                </a:solidFill>
                <a:effectLst/>
                <a:latin typeface="Menlo" panose="020B0609030804020204" pitchFamily="49" charset="0"/>
              </a:rPr>
              <a:t>); </a:t>
            </a:r>
          </a:p>
        </p:txBody>
      </p:sp>
      <p:sp>
        <p:nvSpPr>
          <p:cNvPr id="4" name="Footer Placeholder 3">
            <a:extLst>
              <a:ext uri="{FF2B5EF4-FFF2-40B4-BE49-F238E27FC236}">
                <a16:creationId xmlns:a16="http://schemas.microsoft.com/office/drawing/2014/main" id="{46FA2238-229E-1008-B5D0-2B8565EBA75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26489022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4B29A-1C62-CB07-03C6-77904550242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DF3DAF-27E5-FAFF-ACAA-EFAD6F3CADAA}"/>
              </a:ext>
            </a:extLst>
          </p:cNvPr>
          <p:cNvSpPr>
            <a:spLocks noGrp="1"/>
          </p:cNvSpPr>
          <p:nvPr>
            <p:ph idx="1"/>
          </p:nvPr>
        </p:nvSpPr>
        <p:spPr/>
        <p:txBody>
          <a:bodyPr/>
          <a:lstStyle/>
          <a:p>
            <a:pPr marL="0" marR="0" indent="0">
              <a:spcBef>
                <a:spcPts val="0"/>
              </a:spcBef>
              <a:spcAft>
                <a:spcPts val="0"/>
              </a:spcAft>
              <a:buNone/>
            </a:pPr>
            <a:r>
              <a:rPr lang="en-IN" sz="2000" dirty="0">
                <a:solidFill>
                  <a:srgbClr val="000000"/>
                </a:solidFill>
                <a:effectLst/>
                <a:latin typeface="Menlo" panose="020B0609030804020204" pitchFamily="49" charset="0"/>
              </a:rPr>
              <a:t>add(</a:t>
            </a:r>
            <a:r>
              <a:rPr lang="en-IN" sz="2000" u="sng" dirty="0">
                <a:solidFill>
                  <a:srgbClr val="0000C0"/>
                </a:solidFill>
                <a:effectLst/>
                <a:latin typeface="Menlo" panose="020B0609030804020204" pitchFamily="49" charset="0"/>
              </a:rPr>
              <a:t>pf</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000000"/>
                </a:solidFill>
                <a:effectLst/>
                <a:latin typeface="Menlo" panose="020B0609030804020204" pitchFamily="49" charset="0"/>
              </a:rPr>
              <a:t>add(</a:t>
            </a:r>
            <a:r>
              <a:rPr lang="en-IN" sz="2000" u="sng" dirty="0">
                <a:solidFill>
                  <a:srgbClr val="0000C0"/>
                </a:solidFill>
                <a:effectLst/>
                <a:latin typeface="Menlo" panose="020B0609030804020204" pitchFamily="49" charset="0"/>
              </a:rPr>
              <a:t>cb1</a:t>
            </a:r>
            <a:r>
              <a:rPr lang="en-IN" sz="2000" dirty="0">
                <a:solidFill>
                  <a:srgbClr val="000000"/>
                </a:solidFill>
                <a:effectLst/>
                <a:latin typeface="Menlo" panose="020B0609030804020204" pitchFamily="49" charset="0"/>
              </a:rPr>
              <a:t>); </a:t>
            </a:r>
          </a:p>
          <a:p>
            <a:pPr marL="0" marR="0" indent="0">
              <a:spcBef>
                <a:spcPts val="0"/>
              </a:spcBef>
              <a:spcAft>
                <a:spcPts val="0"/>
              </a:spcAft>
              <a:buNone/>
            </a:pPr>
            <a:r>
              <a:rPr lang="en-IN" sz="2000" dirty="0">
                <a:solidFill>
                  <a:srgbClr val="000000"/>
                </a:solidFill>
                <a:effectLst/>
                <a:latin typeface="Menlo" panose="020B0609030804020204" pitchFamily="49" charset="0"/>
              </a:rPr>
              <a:t>add(</a:t>
            </a:r>
            <a:r>
              <a:rPr lang="en-IN" sz="2000" u="sng" dirty="0">
                <a:solidFill>
                  <a:srgbClr val="0000C0"/>
                </a:solidFill>
                <a:effectLst/>
                <a:latin typeface="Menlo" panose="020B0609030804020204" pitchFamily="49" charset="0"/>
              </a:rPr>
              <a:t>cb2</a:t>
            </a:r>
            <a:r>
              <a:rPr lang="en-IN" sz="2000" dirty="0">
                <a:solidFill>
                  <a:srgbClr val="000000"/>
                </a:solidFill>
                <a:effectLst/>
                <a:latin typeface="Menlo" panose="020B0609030804020204" pitchFamily="49" charset="0"/>
              </a:rPr>
              <a:t>); </a:t>
            </a:r>
          </a:p>
          <a:p>
            <a:pPr marL="0" marR="0" indent="0">
              <a:spcBef>
                <a:spcPts val="0"/>
              </a:spcBef>
              <a:spcAft>
                <a:spcPts val="0"/>
              </a:spcAft>
              <a:buNone/>
            </a:pPr>
            <a:r>
              <a:rPr lang="en-IN" sz="2000" dirty="0">
                <a:solidFill>
                  <a:srgbClr val="000000"/>
                </a:solidFill>
                <a:effectLst/>
                <a:latin typeface="Menlo" panose="020B0609030804020204" pitchFamily="49" charset="0"/>
              </a:rPr>
              <a:t>add(</a:t>
            </a:r>
            <a:r>
              <a:rPr lang="en-IN" sz="2000" u="sng" dirty="0">
                <a:solidFill>
                  <a:srgbClr val="0000C0"/>
                </a:solidFill>
                <a:effectLst/>
                <a:latin typeface="Menlo" panose="020B0609030804020204" pitchFamily="49" charset="0"/>
              </a:rPr>
              <a:t>cb3</a:t>
            </a:r>
            <a:r>
              <a:rPr lang="en-IN" sz="2000" dirty="0">
                <a:solidFill>
                  <a:srgbClr val="000000"/>
                </a:solidFill>
                <a:effectLst/>
                <a:latin typeface="Menlo" panose="020B0609030804020204" pitchFamily="49" charset="0"/>
              </a:rPr>
              <a:t>); </a:t>
            </a:r>
          </a:p>
          <a:p>
            <a:pPr marL="0" marR="0" indent="0">
              <a:spcBef>
                <a:spcPts val="0"/>
              </a:spcBef>
              <a:spcAft>
                <a:spcPts val="0"/>
              </a:spcAft>
              <a:buNone/>
            </a:pPr>
            <a:r>
              <a:rPr lang="en-IN" sz="2000" dirty="0">
                <a:solidFill>
                  <a:srgbClr val="000000"/>
                </a:solidFill>
                <a:effectLst/>
                <a:latin typeface="Menlo" panose="020B0609030804020204" pitchFamily="49" charset="0"/>
              </a:rPr>
              <a:t>add(</a:t>
            </a:r>
            <a:r>
              <a:rPr lang="en-IN" sz="2000" u="sng" dirty="0">
                <a:solidFill>
                  <a:srgbClr val="0000C0"/>
                </a:solidFill>
                <a:effectLst/>
                <a:latin typeface="Menlo" panose="020B0609030804020204" pitchFamily="49" charset="0"/>
              </a:rPr>
              <a:t>rb1</a:t>
            </a:r>
            <a:r>
              <a:rPr lang="en-IN" sz="2000" dirty="0">
                <a:solidFill>
                  <a:srgbClr val="000000"/>
                </a:solidFill>
                <a:effectLst/>
                <a:latin typeface="Menlo" panose="020B0609030804020204" pitchFamily="49" charset="0"/>
              </a:rPr>
              <a:t>); </a:t>
            </a:r>
          </a:p>
          <a:p>
            <a:pPr marL="0" marR="0" indent="0">
              <a:spcBef>
                <a:spcPts val="0"/>
              </a:spcBef>
              <a:spcAft>
                <a:spcPts val="0"/>
              </a:spcAft>
              <a:buNone/>
            </a:pPr>
            <a:r>
              <a:rPr lang="en-IN" sz="2000" dirty="0">
                <a:solidFill>
                  <a:srgbClr val="000000"/>
                </a:solidFill>
                <a:effectLst/>
                <a:latin typeface="Menlo" panose="020B0609030804020204" pitchFamily="49" charset="0"/>
              </a:rPr>
              <a:t>add(</a:t>
            </a:r>
            <a:r>
              <a:rPr lang="en-IN" sz="2000" u="sng" dirty="0">
                <a:solidFill>
                  <a:srgbClr val="0000C0"/>
                </a:solidFill>
                <a:effectLst/>
                <a:latin typeface="Menlo" panose="020B0609030804020204" pitchFamily="49" charset="0"/>
              </a:rPr>
              <a:t>rb2</a:t>
            </a:r>
            <a:r>
              <a:rPr lang="en-IN" sz="2000" dirty="0">
                <a:solidFill>
                  <a:srgbClr val="000000"/>
                </a:solidFill>
                <a:effectLst/>
                <a:latin typeface="Menlo" panose="020B0609030804020204" pitchFamily="49" charset="0"/>
              </a:rPr>
              <a:t>); </a:t>
            </a:r>
          </a:p>
          <a:p>
            <a:pPr marL="0" marR="0" indent="0">
              <a:spcBef>
                <a:spcPts val="0"/>
              </a:spcBef>
              <a:spcAft>
                <a:spcPts val="0"/>
              </a:spcAft>
              <a:buNone/>
            </a:pPr>
            <a:r>
              <a:rPr lang="en-IN" sz="2000" dirty="0">
                <a:solidFill>
                  <a:srgbClr val="000000"/>
                </a:solidFill>
                <a:effectLst/>
                <a:latin typeface="Menlo" panose="020B0609030804020204" pitchFamily="49" charset="0"/>
              </a:rPr>
              <a:t>add(</a:t>
            </a:r>
            <a:r>
              <a:rPr lang="en-IN" sz="2000" dirty="0">
                <a:solidFill>
                  <a:srgbClr val="0000C0"/>
                </a:solidFill>
                <a:effectLst/>
                <a:latin typeface="Menlo" panose="020B0609030804020204" pitchFamily="49" charset="0"/>
              </a:rPr>
              <a:t>l5</a:t>
            </a:r>
            <a:r>
              <a:rPr lang="en-IN" sz="2000" dirty="0">
                <a:solidFill>
                  <a:srgbClr val="000000"/>
                </a:solidFill>
                <a:effectLst/>
                <a:latin typeface="Menlo" panose="020B0609030804020204" pitchFamily="49" charset="0"/>
              </a:rPr>
              <a:t>); </a:t>
            </a:r>
          </a:p>
          <a:p>
            <a:pPr marL="0" marR="0" indent="0">
              <a:spcBef>
                <a:spcPts val="0"/>
              </a:spcBef>
              <a:spcAft>
                <a:spcPts val="0"/>
              </a:spcAft>
              <a:buNone/>
            </a:pPr>
            <a:r>
              <a:rPr lang="en-IN" sz="2000" dirty="0">
                <a:solidFill>
                  <a:srgbClr val="000000"/>
                </a:solidFill>
                <a:effectLst/>
                <a:latin typeface="Menlo" panose="020B0609030804020204" pitchFamily="49" charset="0"/>
              </a:rPr>
              <a:t>add(</a:t>
            </a:r>
            <a:r>
              <a:rPr lang="en-IN" sz="2000" dirty="0">
                <a:solidFill>
                  <a:srgbClr val="0000C0"/>
                </a:solidFill>
                <a:effectLst/>
                <a:latin typeface="Menlo" panose="020B0609030804020204" pitchFamily="49" charset="0"/>
              </a:rPr>
              <a:t>l6</a:t>
            </a:r>
            <a:r>
              <a:rPr lang="en-IN" sz="2000" dirty="0">
                <a:solidFill>
                  <a:srgbClr val="000000"/>
                </a:solidFill>
                <a:effectLst/>
                <a:latin typeface="Menlo" panose="020B0609030804020204" pitchFamily="49" charset="0"/>
              </a:rPr>
              <a:t>); </a:t>
            </a:r>
          </a:p>
          <a:p>
            <a:pPr marL="0" marR="0" indent="0">
              <a:spcBef>
                <a:spcPts val="0"/>
              </a:spcBef>
              <a:spcAft>
                <a:spcPts val="0"/>
              </a:spcAft>
              <a:buNone/>
            </a:pPr>
            <a:r>
              <a:rPr lang="en-IN" sz="2000" dirty="0">
                <a:solidFill>
                  <a:srgbClr val="000000"/>
                </a:solidFill>
                <a:effectLst/>
                <a:latin typeface="Menlo" panose="020B0609030804020204" pitchFamily="49" charset="0"/>
              </a:rPr>
              <a:t>add(</a:t>
            </a:r>
            <a:r>
              <a:rPr lang="en-IN" sz="2000" u="sng" dirty="0" err="1">
                <a:solidFill>
                  <a:srgbClr val="0000C0"/>
                </a:solidFill>
                <a:effectLst/>
                <a:latin typeface="Menlo" panose="020B0609030804020204" pitchFamily="49" charset="0"/>
              </a:rPr>
              <a:t>cb</a:t>
            </a:r>
            <a:r>
              <a:rPr lang="en-IN" sz="2000" dirty="0">
                <a:solidFill>
                  <a:srgbClr val="000000"/>
                </a:solidFill>
                <a:effectLst/>
                <a:latin typeface="Menlo" panose="020B0609030804020204" pitchFamily="49" charset="0"/>
              </a:rPr>
              <a:t>); </a:t>
            </a:r>
          </a:p>
          <a:p>
            <a:pPr marL="0" marR="0" indent="0">
              <a:spcBef>
                <a:spcPts val="0"/>
              </a:spcBef>
              <a:spcAft>
                <a:spcPts val="0"/>
              </a:spcAft>
              <a:buNone/>
            </a:pPr>
            <a:r>
              <a:rPr lang="en-IN" sz="2000" dirty="0">
                <a:solidFill>
                  <a:srgbClr val="000000"/>
                </a:solidFill>
                <a:effectLst/>
                <a:latin typeface="Menlo" panose="020B0609030804020204" pitchFamily="49" charset="0"/>
              </a:rPr>
              <a:t>add(</a:t>
            </a:r>
            <a:r>
              <a:rPr lang="en-IN" sz="2000" dirty="0">
                <a:solidFill>
                  <a:srgbClr val="0000C0"/>
                </a:solidFill>
                <a:effectLst/>
                <a:latin typeface="Menlo" panose="020B0609030804020204" pitchFamily="49" charset="0"/>
              </a:rPr>
              <a:t>l7</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000000"/>
                </a:solidFill>
                <a:effectLst/>
                <a:latin typeface="Menlo" panose="020B0609030804020204" pitchFamily="49" charset="0"/>
              </a:rPr>
              <a:t>add(</a:t>
            </a:r>
            <a:r>
              <a:rPr lang="en-IN" sz="2000" dirty="0">
                <a:solidFill>
                  <a:srgbClr val="0000C0"/>
                </a:solidFill>
                <a:effectLst/>
                <a:latin typeface="Menlo" panose="020B0609030804020204" pitchFamily="49" charset="0"/>
              </a:rPr>
              <a:t>b</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b="1" dirty="0">
                <a:solidFill>
                  <a:srgbClr val="7F0055"/>
                </a:solidFill>
                <a:effectLst/>
                <a:latin typeface="Menlo" panose="020B0609030804020204" pitchFamily="49" charset="0"/>
              </a:rPr>
              <a:t>public</a:t>
            </a:r>
            <a:r>
              <a:rPr lang="en-IN" sz="2000" dirty="0">
                <a:solidFill>
                  <a:srgbClr val="000000"/>
                </a:solidFill>
                <a:effectLst/>
                <a:latin typeface="Menlo" panose="020B0609030804020204" pitchFamily="49" charset="0"/>
              </a:rPr>
              <a:t> </a:t>
            </a:r>
            <a:r>
              <a:rPr lang="en-IN" sz="2000" b="1" dirty="0">
                <a:solidFill>
                  <a:srgbClr val="7F0055"/>
                </a:solidFill>
                <a:effectLst/>
                <a:latin typeface="Menlo" panose="020B0609030804020204" pitchFamily="49" charset="0"/>
              </a:rPr>
              <a:t>static</a:t>
            </a:r>
            <a:r>
              <a:rPr lang="en-IN" sz="2000" dirty="0">
                <a:solidFill>
                  <a:srgbClr val="000000"/>
                </a:solidFill>
                <a:effectLst/>
                <a:latin typeface="Menlo" panose="020B0609030804020204" pitchFamily="49" charset="0"/>
              </a:rPr>
              <a:t> </a:t>
            </a:r>
            <a:r>
              <a:rPr lang="en-IN" sz="2000" b="1" dirty="0">
                <a:solidFill>
                  <a:srgbClr val="7F0055"/>
                </a:solidFill>
                <a:effectLst/>
                <a:latin typeface="Menlo" panose="020B0609030804020204" pitchFamily="49" charset="0"/>
              </a:rPr>
              <a:t>void</a:t>
            </a:r>
            <a:r>
              <a:rPr lang="en-IN" sz="2000" dirty="0">
                <a:solidFill>
                  <a:srgbClr val="000000"/>
                </a:solidFill>
                <a:effectLst/>
                <a:latin typeface="Menlo" panose="020B0609030804020204" pitchFamily="49" charset="0"/>
              </a:rPr>
              <a:t> main(String[] </a:t>
            </a:r>
            <a:r>
              <a:rPr lang="en-IN" sz="2000" dirty="0" err="1">
                <a:solidFill>
                  <a:srgbClr val="6A3E3E"/>
                </a:solidFill>
                <a:effectLst/>
                <a:latin typeface="Menlo" panose="020B0609030804020204" pitchFamily="49" charset="0"/>
              </a:rPr>
              <a:t>args</a:t>
            </a:r>
            <a:r>
              <a:rPr lang="en-IN" sz="2000" dirty="0">
                <a:solidFill>
                  <a:srgbClr val="000000"/>
                </a:solidFill>
                <a:effectLst/>
                <a:latin typeface="Menlo" panose="020B0609030804020204" pitchFamily="49" charset="0"/>
              </a:rPr>
              <a:t>) { </a:t>
            </a:r>
          </a:p>
          <a:p>
            <a:pPr marL="0" marR="0" indent="0">
              <a:spcBef>
                <a:spcPts val="0"/>
              </a:spcBef>
              <a:spcAft>
                <a:spcPts val="0"/>
              </a:spcAft>
              <a:buNone/>
            </a:pPr>
            <a:r>
              <a:rPr lang="en-IN" sz="2000" dirty="0">
                <a:solidFill>
                  <a:srgbClr val="000000"/>
                </a:solidFill>
                <a:effectLst/>
                <a:latin typeface="Menlo" panose="020B0609030804020204" pitchFamily="49" charset="0"/>
              </a:rPr>
              <a:t>JFrame1Demo </a:t>
            </a:r>
            <a:r>
              <a:rPr lang="en-IN" sz="2000" dirty="0">
                <a:solidFill>
                  <a:srgbClr val="6A3E3E"/>
                </a:solidFill>
                <a:effectLst/>
                <a:latin typeface="Menlo" panose="020B0609030804020204" pitchFamily="49" charset="0"/>
              </a:rPr>
              <a:t>f</a:t>
            </a:r>
            <a:r>
              <a:rPr lang="en-IN" sz="2000" dirty="0">
                <a:solidFill>
                  <a:srgbClr val="000000"/>
                </a:solidFill>
                <a:effectLst/>
                <a:latin typeface="Menlo" panose="020B0609030804020204" pitchFamily="49" charset="0"/>
              </a:rPr>
              <a:t>=</a:t>
            </a:r>
            <a:r>
              <a:rPr lang="en-IN" sz="2000" b="1" dirty="0">
                <a:solidFill>
                  <a:srgbClr val="7F0055"/>
                </a:solidFill>
                <a:effectLst/>
                <a:latin typeface="Menlo" panose="020B0609030804020204" pitchFamily="49" charset="0"/>
              </a:rPr>
              <a:t>new</a:t>
            </a:r>
            <a:r>
              <a:rPr lang="en-IN" sz="2000" dirty="0">
                <a:solidFill>
                  <a:srgbClr val="000000"/>
                </a:solidFill>
                <a:effectLst/>
                <a:latin typeface="Menlo" panose="020B0609030804020204" pitchFamily="49" charset="0"/>
              </a:rPr>
              <a:t> JFrame1Demo();</a:t>
            </a:r>
          </a:p>
          <a:p>
            <a:pPr marL="0" marR="0" indent="0">
              <a:spcBef>
                <a:spcPts val="0"/>
              </a:spcBef>
              <a:spcAft>
                <a:spcPts val="0"/>
              </a:spcAft>
              <a:buNone/>
            </a:pP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000000"/>
                </a:solidFill>
                <a:effectLst/>
                <a:latin typeface="Menlo" panose="020B0609030804020204" pitchFamily="49" charset="0"/>
              </a:rPr>
              <a:t>}</a:t>
            </a:r>
          </a:p>
          <a:p>
            <a:pPr marL="0" indent="0">
              <a:buNone/>
            </a:pPr>
            <a:endParaRPr lang="en-US" sz="2000" dirty="0"/>
          </a:p>
        </p:txBody>
      </p:sp>
      <p:sp>
        <p:nvSpPr>
          <p:cNvPr id="4" name="Footer Placeholder 3">
            <a:extLst>
              <a:ext uri="{FF2B5EF4-FFF2-40B4-BE49-F238E27FC236}">
                <a16:creationId xmlns:a16="http://schemas.microsoft.com/office/drawing/2014/main" id="{9ECA2CA0-B470-3BC6-2437-7173EB05E980}"/>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76103618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A299-EF23-8A87-F093-2F7D7BB427FF}"/>
              </a:ext>
            </a:extLst>
          </p:cNvPr>
          <p:cNvSpPr>
            <a:spLocks noGrp="1"/>
          </p:cNvSpPr>
          <p:nvPr>
            <p:ph type="title"/>
          </p:nvPr>
        </p:nvSpPr>
        <p:spPr/>
        <p:txBody>
          <a:bodyPr/>
          <a:lstStyle/>
          <a:p>
            <a:r>
              <a:rPr lang="en-US" dirty="0" err="1"/>
              <a:t>ImageIcon</a:t>
            </a:r>
            <a:r>
              <a:rPr lang="en-US" dirty="0"/>
              <a:t> in Swings</a:t>
            </a:r>
          </a:p>
        </p:txBody>
      </p:sp>
      <p:sp>
        <p:nvSpPr>
          <p:cNvPr id="3" name="Content Placeholder 2">
            <a:extLst>
              <a:ext uri="{FF2B5EF4-FFF2-40B4-BE49-F238E27FC236}">
                <a16:creationId xmlns:a16="http://schemas.microsoft.com/office/drawing/2014/main" id="{7597AC95-C281-471F-EED4-AE057543BC55}"/>
              </a:ext>
            </a:extLst>
          </p:cNvPr>
          <p:cNvSpPr>
            <a:spLocks noGrp="1"/>
          </p:cNvSpPr>
          <p:nvPr>
            <p:ph idx="1"/>
          </p:nvPr>
        </p:nvSpPr>
        <p:spPr/>
        <p:txBody>
          <a:bodyPr/>
          <a:lstStyle/>
          <a:p>
            <a:pPr marL="0" marR="0" indent="0">
              <a:spcBef>
                <a:spcPts val="0"/>
              </a:spcBef>
              <a:spcAft>
                <a:spcPts val="0"/>
              </a:spcAft>
              <a:buNone/>
            </a:pPr>
            <a:r>
              <a:rPr lang="en-IN" sz="1600" b="1" dirty="0">
                <a:solidFill>
                  <a:srgbClr val="7F0055"/>
                </a:solidFill>
                <a:effectLst/>
                <a:latin typeface="Menlo" panose="020B0609030804020204" pitchFamily="49" charset="0"/>
              </a:rPr>
              <a:t>public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a:t>
            </a:r>
            <a:r>
              <a:rPr lang="en-IN" sz="1600" u="sng" dirty="0" err="1">
                <a:solidFill>
                  <a:srgbClr val="000000"/>
                </a:solidFill>
                <a:effectLst/>
                <a:latin typeface="Menlo" panose="020B0609030804020204" pitchFamily="49" charset="0"/>
              </a:rPr>
              <a:t>MyFrame</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extends</a:t>
            </a:r>
            <a:r>
              <a:rPr lang="en-IN" sz="1600" dirty="0">
                <a:solidFill>
                  <a:srgbClr val="000000"/>
                </a:solidFill>
                <a:effectLst/>
                <a:latin typeface="Menlo" panose="020B0609030804020204" pitchFamily="49" charset="0"/>
              </a:rPr>
              <a:t> </a:t>
            </a:r>
            <a:r>
              <a:rPr lang="en-IN" sz="1600" u="sng" dirty="0" err="1">
                <a:solidFill>
                  <a:srgbClr val="000000"/>
                </a:solidFill>
                <a:effectLst/>
                <a:latin typeface="Menlo" panose="020B0609030804020204" pitchFamily="49" charset="0"/>
              </a:rPr>
              <a:t>JFrame</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b="1" dirty="0">
                <a:solidFill>
                  <a:srgbClr val="7F0055"/>
                </a:solidFill>
                <a:effectLst/>
                <a:latin typeface="Menlo" panose="020B0609030804020204" pitchFamily="49" charset="0"/>
              </a:rPr>
              <a:t>public</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MyFrame</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u="sng" dirty="0" err="1">
                <a:solidFill>
                  <a:srgbClr val="000000"/>
                </a:solidFill>
                <a:effectLst/>
                <a:latin typeface="Menlo" panose="020B0609030804020204" pitchFamily="49" charset="0"/>
              </a:rPr>
              <a:t>setVisible</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true</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u="sng" dirty="0" err="1">
                <a:solidFill>
                  <a:srgbClr val="000000"/>
                </a:solidFill>
                <a:effectLst/>
                <a:latin typeface="Menlo" panose="020B0609030804020204" pitchFamily="49" charset="0"/>
              </a:rPr>
              <a:t>setSize</a:t>
            </a:r>
            <a:r>
              <a:rPr lang="en-IN" sz="1600" dirty="0">
                <a:solidFill>
                  <a:srgbClr val="000000"/>
                </a:solidFill>
                <a:effectLst/>
                <a:latin typeface="Menlo" panose="020B0609030804020204" pitchFamily="49" charset="0"/>
              </a:rPr>
              <a:t>(200, 200);</a:t>
            </a:r>
          </a:p>
          <a:p>
            <a:pPr marL="0" marR="0" indent="0">
              <a:spcBef>
                <a:spcPts val="0"/>
              </a:spcBef>
              <a:spcAft>
                <a:spcPts val="0"/>
              </a:spcAft>
              <a:buNone/>
            </a:pPr>
            <a:r>
              <a:rPr lang="en-IN" sz="1600" u="sng" dirty="0" err="1">
                <a:solidFill>
                  <a:srgbClr val="000000"/>
                </a:solidFill>
                <a:effectLst/>
                <a:latin typeface="Menlo" panose="020B0609030804020204" pitchFamily="49" charset="0"/>
              </a:rPr>
              <a:t>setTitle</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a:t>
            </a:r>
            <a:r>
              <a:rPr lang="en-IN" sz="1600" dirty="0" err="1">
                <a:solidFill>
                  <a:srgbClr val="2A00FF"/>
                </a:solidFill>
                <a:effectLst/>
                <a:latin typeface="Menlo" panose="020B0609030804020204" pitchFamily="49" charset="0"/>
              </a:rPr>
              <a:t>MyFrame</a:t>
            </a:r>
            <a:r>
              <a:rPr lang="en-IN" sz="1600" dirty="0">
                <a:solidFill>
                  <a:srgbClr val="2A00FF"/>
                </a:solidFill>
                <a:effectLst/>
                <a:latin typeface="Menlo" panose="020B0609030804020204" pitchFamily="49" charset="0"/>
              </a:rPr>
              <a:t>"</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setDefaultCloseOperation</a:t>
            </a:r>
            <a:r>
              <a:rPr lang="en-IN" sz="1600" dirty="0">
                <a:solidFill>
                  <a:srgbClr val="000000"/>
                </a:solidFill>
                <a:effectLst/>
                <a:latin typeface="Menlo" panose="020B0609030804020204" pitchFamily="49" charset="0"/>
              </a:rPr>
              <a:t>(</a:t>
            </a:r>
            <a:r>
              <a:rPr lang="en-IN" sz="1600" u="sng" dirty="0" err="1">
                <a:solidFill>
                  <a:srgbClr val="000000"/>
                </a:solidFill>
                <a:effectLst/>
                <a:latin typeface="Menlo" panose="020B0609030804020204" pitchFamily="49" charset="0"/>
              </a:rPr>
              <a:t>JFrame</a:t>
            </a:r>
            <a:r>
              <a:rPr lang="en-IN" sz="1600" dirty="0" err="1">
                <a:solidFill>
                  <a:srgbClr val="000000"/>
                </a:solidFill>
                <a:effectLst/>
                <a:latin typeface="Menlo" panose="020B0609030804020204" pitchFamily="49" charset="0"/>
              </a:rPr>
              <a:t>.EXIT_ON_CLOSE</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setLayout</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a:t>
            </a:r>
            <a:r>
              <a:rPr lang="en-IN" sz="1600" u="sng" dirty="0" err="1">
                <a:solidFill>
                  <a:srgbClr val="000000"/>
                </a:solidFill>
                <a:effectLst/>
                <a:latin typeface="Menlo" panose="020B0609030804020204" pitchFamily="49" charset="0"/>
              </a:rPr>
              <a:t>BorderLayout</a:t>
            </a:r>
            <a:r>
              <a:rPr lang="en-IN" sz="1600" dirty="0">
                <a:solidFill>
                  <a:srgbClr val="000000"/>
                </a:solidFill>
                <a:effectLst/>
                <a:latin typeface="Menlo" panose="020B0609030804020204" pitchFamily="49" charset="0"/>
              </a:rPr>
              <a:t>()); </a:t>
            </a:r>
            <a:r>
              <a:rPr lang="en-IN" sz="1600" dirty="0">
                <a:solidFill>
                  <a:srgbClr val="3F7F5F"/>
                </a:solidFill>
                <a:effectLst/>
                <a:latin typeface="Menlo" panose="020B0609030804020204" pitchFamily="49" charset="0"/>
              </a:rPr>
              <a:t>//setting layout to frame</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u="sng" dirty="0" err="1">
                <a:solidFill>
                  <a:srgbClr val="000000"/>
                </a:solidFill>
                <a:effectLst/>
                <a:latin typeface="Menlo" panose="020B0609030804020204" pitchFamily="49" charset="0"/>
              </a:rPr>
              <a:t>JLabel</a:t>
            </a:r>
            <a:r>
              <a:rPr lang="en-IN" sz="1600" dirty="0">
                <a:solidFill>
                  <a:srgbClr val="000000"/>
                </a:solidFill>
                <a:effectLst/>
                <a:latin typeface="Menlo" panose="020B0609030804020204" pitchFamily="49" charset="0"/>
              </a:rPr>
              <a:t> </a:t>
            </a:r>
            <a:r>
              <a:rPr lang="en-IN" sz="1600" dirty="0">
                <a:solidFill>
                  <a:srgbClr val="6A3E3E"/>
                </a:solidFill>
                <a:effectLst/>
                <a:latin typeface="Menlo" panose="020B0609030804020204" pitchFamily="49" charset="0"/>
              </a:rPr>
              <a:t>label</a:t>
            </a:r>
            <a:r>
              <a:rPr lang="en-IN" sz="1600" dirty="0">
                <a:solidFill>
                  <a:srgbClr val="000000"/>
                </a:solidFill>
                <a:effectLst/>
                <a:latin typeface="Menlo" panose="020B0609030804020204" pitchFamily="49" charset="0"/>
              </a:rPr>
              <a:t> = </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a:t>
            </a:r>
            <a:r>
              <a:rPr lang="en-IN" sz="1600" u="sng" dirty="0" err="1">
                <a:solidFill>
                  <a:srgbClr val="000000"/>
                </a:solidFill>
                <a:effectLst/>
                <a:latin typeface="Menlo" panose="020B0609030804020204" pitchFamily="49" charset="0"/>
              </a:rPr>
              <a:t>JLabel</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a:t>
            </a:r>
            <a:r>
              <a:rPr lang="en-IN" sz="1600" u="sng" dirty="0" err="1">
                <a:solidFill>
                  <a:srgbClr val="000000"/>
                </a:solidFill>
                <a:effectLst/>
                <a:latin typeface="Menlo" panose="020B0609030804020204" pitchFamily="49" charset="0"/>
              </a:rPr>
              <a:t>ImageIcon</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a:t>
            </a:r>
            <a:r>
              <a:rPr lang="en-IN" sz="1600" dirty="0" err="1">
                <a:solidFill>
                  <a:srgbClr val="2A00FF"/>
                </a:solidFill>
                <a:effectLst/>
                <a:latin typeface="Menlo" panose="020B0609030804020204" pitchFamily="49" charset="0"/>
              </a:rPr>
              <a:t>download.jpg</a:t>
            </a:r>
            <a:r>
              <a:rPr lang="en-IN" sz="1600" dirty="0">
                <a:solidFill>
                  <a:srgbClr val="2A00FF"/>
                </a:solidFill>
                <a:effectLst/>
                <a:latin typeface="Menlo" panose="020B0609030804020204" pitchFamily="49" charset="0"/>
              </a:rPr>
              <a:t>"</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add(</a:t>
            </a:r>
            <a:r>
              <a:rPr lang="en-IN" sz="1600" dirty="0">
                <a:solidFill>
                  <a:srgbClr val="6A3E3E"/>
                </a:solidFill>
                <a:effectLst/>
                <a:latin typeface="Menlo" panose="020B0609030804020204" pitchFamily="49" charset="0"/>
              </a:rPr>
              <a:t>label</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err="1">
                <a:solidFill>
                  <a:srgbClr val="6A3E3E"/>
                </a:solidFill>
                <a:effectLst/>
                <a:latin typeface="Menlo" panose="020B0609030804020204" pitchFamily="49" charset="0"/>
              </a:rPr>
              <a:t>label</a:t>
            </a:r>
            <a:r>
              <a:rPr lang="en-IN" sz="1600" dirty="0" err="1">
                <a:solidFill>
                  <a:srgbClr val="000000"/>
                </a:solidFill>
                <a:effectLst/>
                <a:latin typeface="Menlo" panose="020B0609030804020204" pitchFamily="49" charset="0"/>
              </a:rPr>
              <a:t>.setLayout</a:t>
            </a:r>
            <a:r>
              <a:rPr lang="en-IN" sz="1600" dirty="0">
                <a:solidFill>
                  <a:srgbClr val="000000"/>
                </a:solidFill>
                <a:effectLst/>
                <a:latin typeface="Menlo" panose="020B0609030804020204" pitchFamily="49" charset="0"/>
              </a:rPr>
              <a:t>(</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FlowLayout</a:t>
            </a:r>
            <a:r>
              <a:rPr lang="en-IN" sz="1600" dirty="0">
                <a:solidFill>
                  <a:srgbClr val="000000"/>
                </a:solidFill>
                <a:effectLst/>
                <a:latin typeface="Menlo" panose="020B0609030804020204" pitchFamily="49" charset="0"/>
              </a:rPr>
              <a:t>()); </a:t>
            </a:r>
            <a:r>
              <a:rPr lang="en-IN" sz="1600" dirty="0">
                <a:solidFill>
                  <a:srgbClr val="3F7F5F"/>
                </a:solidFill>
                <a:effectLst/>
                <a:latin typeface="Menlo" panose="020B0609030804020204" pitchFamily="49" charset="0"/>
              </a:rPr>
              <a:t>// setting layout to back ground image</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u="sng" dirty="0" err="1">
                <a:solidFill>
                  <a:srgbClr val="000000"/>
                </a:solidFill>
                <a:effectLst/>
                <a:latin typeface="Menlo" panose="020B0609030804020204" pitchFamily="49" charset="0"/>
              </a:rPr>
              <a:t>JLabel</a:t>
            </a:r>
            <a:r>
              <a:rPr lang="en-IN" sz="1600" dirty="0">
                <a:solidFill>
                  <a:srgbClr val="000000"/>
                </a:solidFill>
                <a:effectLst/>
                <a:latin typeface="Menlo" panose="020B0609030804020204" pitchFamily="49" charset="0"/>
              </a:rPr>
              <a:t> </a:t>
            </a:r>
            <a:r>
              <a:rPr lang="en-IN" sz="1600" dirty="0">
                <a:solidFill>
                  <a:srgbClr val="6A3E3E"/>
                </a:solidFill>
                <a:effectLst/>
                <a:latin typeface="Menlo" panose="020B0609030804020204" pitchFamily="49" charset="0"/>
              </a:rPr>
              <a:t>label2</a:t>
            </a:r>
            <a:r>
              <a:rPr lang="en-IN" sz="1600" dirty="0">
                <a:solidFill>
                  <a:srgbClr val="000000"/>
                </a:solidFill>
                <a:effectLst/>
                <a:latin typeface="Menlo" panose="020B0609030804020204" pitchFamily="49" charset="0"/>
              </a:rPr>
              <a:t> = </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a:t>
            </a:r>
            <a:r>
              <a:rPr lang="en-IN" sz="1600" u="sng" dirty="0" err="1">
                <a:solidFill>
                  <a:srgbClr val="000000"/>
                </a:solidFill>
                <a:effectLst/>
                <a:latin typeface="Menlo" panose="020B0609030804020204" pitchFamily="49" charset="0"/>
              </a:rPr>
              <a:t>JLabel</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"Hello World:"</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u="sng" dirty="0" err="1">
                <a:solidFill>
                  <a:srgbClr val="000000"/>
                </a:solidFill>
                <a:effectLst/>
                <a:latin typeface="Menlo" panose="020B0609030804020204" pitchFamily="49" charset="0"/>
              </a:rPr>
              <a:t>JButton</a:t>
            </a:r>
            <a:r>
              <a:rPr lang="en-IN" sz="1600" dirty="0">
                <a:solidFill>
                  <a:srgbClr val="000000"/>
                </a:solidFill>
                <a:effectLst/>
                <a:latin typeface="Menlo" panose="020B0609030804020204" pitchFamily="49" charset="0"/>
              </a:rPr>
              <a:t> </a:t>
            </a:r>
            <a:r>
              <a:rPr lang="en-IN" sz="1600" dirty="0">
                <a:solidFill>
                  <a:srgbClr val="6A3E3E"/>
                </a:solidFill>
                <a:effectLst/>
                <a:latin typeface="Menlo" panose="020B0609030804020204" pitchFamily="49" charset="0"/>
              </a:rPr>
              <a:t>button</a:t>
            </a:r>
            <a:r>
              <a:rPr lang="en-IN" sz="1600" dirty="0">
                <a:solidFill>
                  <a:srgbClr val="000000"/>
                </a:solidFill>
                <a:effectLst/>
                <a:latin typeface="Menlo" panose="020B0609030804020204" pitchFamily="49" charset="0"/>
              </a:rPr>
              <a:t> = </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a:t>
            </a:r>
            <a:r>
              <a:rPr lang="en-IN" sz="1600" u="sng" dirty="0" err="1">
                <a:solidFill>
                  <a:srgbClr val="000000"/>
                </a:solidFill>
                <a:effectLst/>
                <a:latin typeface="Menlo" panose="020B0609030804020204" pitchFamily="49" charset="0"/>
              </a:rPr>
              <a:t>JButton</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"click me"</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6A3E3E"/>
                </a:solidFill>
                <a:effectLst/>
                <a:latin typeface="Menlo" panose="020B0609030804020204" pitchFamily="49" charset="0"/>
              </a:rPr>
              <a:t>label</a:t>
            </a:r>
            <a:r>
              <a:rPr lang="en-IN" sz="1600" dirty="0" err="1">
                <a:solidFill>
                  <a:srgbClr val="000000"/>
                </a:solidFill>
                <a:effectLst/>
                <a:latin typeface="Menlo" panose="020B0609030804020204" pitchFamily="49" charset="0"/>
              </a:rPr>
              <a:t>.add</a:t>
            </a:r>
            <a:r>
              <a:rPr lang="en-IN" sz="1600" dirty="0">
                <a:solidFill>
                  <a:srgbClr val="000000"/>
                </a:solidFill>
                <a:effectLst/>
                <a:latin typeface="Menlo" panose="020B0609030804020204" pitchFamily="49" charset="0"/>
              </a:rPr>
              <a:t>(</a:t>
            </a:r>
            <a:r>
              <a:rPr lang="en-IN" sz="1600" dirty="0">
                <a:solidFill>
                  <a:srgbClr val="6A3E3E"/>
                </a:solidFill>
                <a:effectLst/>
                <a:latin typeface="Menlo" panose="020B0609030804020204" pitchFamily="49" charset="0"/>
              </a:rPr>
              <a:t>label2</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err="1">
                <a:solidFill>
                  <a:srgbClr val="6A3E3E"/>
                </a:solidFill>
                <a:effectLst/>
                <a:latin typeface="Menlo" panose="020B0609030804020204" pitchFamily="49" charset="0"/>
              </a:rPr>
              <a:t>label</a:t>
            </a:r>
            <a:r>
              <a:rPr lang="en-IN" sz="1600" dirty="0" err="1">
                <a:solidFill>
                  <a:srgbClr val="000000"/>
                </a:solidFill>
                <a:effectLst/>
                <a:latin typeface="Menlo" panose="020B0609030804020204" pitchFamily="49" charset="0"/>
              </a:rPr>
              <a:t>.add</a:t>
            </a:r>
            <a:r>
              <a:rPr lang="en-IN" sz="1600" dirty="0">
                <a:solidFill>
                  <a:srgbClr val="000000"/>
                </a:solidFill>
                <a:effectLst/>
                <a:latin typeface="Menlo" panose="020B0609030804020204" pitchFamily="49" charset="0"/>
              </a:rPr>
              <a:t>(</a:t>
            </a:r>
            <a:r>
              <a:rPr lang="en-IN" sz="1600" dirty="0">
                <a:solidFill>
                  <a:srgbClr val="6A3E3E"/>
                </a:solidFill>
                <a:effectLst/>
                <a:latin typeface="Menlo" panose="020B0609030804020204" pitchFamily="49" charset="0"/>
              </a:rPr>
              <a:t>button</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b="1" dirty="0">
                <a:solidFill>
                  <a:srgbClr val="7F0055"/>
                </a:solidFill>
                <a:effectLst/>
                <a:latin typeface="Menlo" panose="020B0609030804020204" pitchFamily="49" charset="0"/>
              </a:rPr>
              <a:t>public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static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main(String[] </a:t>
            </a:r>
            <a:r>
              <a:rPr lang="en-IN" sz="1600" dirty="0" err="1">
                <a:solidFill>
                  <a:srgbClr val="6A3E3E"/>
                </a:solidFill>
                <a:effectLst/>
                <a:latin typeface="Menlo" panose="020B0609030804020204" pitchFamily="49" charset="0"/>
              </a:rPr>
              <a:t>args</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MyFrame</a:t>
            </a:r>
            <a:r>
              <a:rPr lang="en-IN" sz="1600" dirty="0">
                <a:solidFill>
                  <a:srgbClr val="000000"/>
                </a:solidFill>
                <a:effectLst/>
                <a:latin typeface="Menlo" panose="020B0609030804020204" pitchFamily="49" charset="0"/>
              </a:rPr>
              <a:t> </a:t>
            </a:r>
            <a:r>
              <a:rPr lang="en-IN" sz="1600" dirty="0">
                <a:solidFill>
                  <a:srgbClr val="6A3E3E"/>
                </a:solidFill>
                <a:effectLst/>
                <a:latin typeface="Menlo" panose="020B0609030804020204" pitchFamily="49" charset="0"/>
              </a:rPr>
              <a:t>f</a:t>
            </a:r>
            <a:r>
              <a:rPr lang="en-IN" sz="1600" dirty="0">
                <a:solidFill>
                  <a:srgbClr val="000000"/>
                </a:solidFill>
                <a:effectLst/>
                <a:latin typeface="Menlo" panose="020B0609030804020204" pitchFamily="49" charset="0"/>
              </a:rPr>
              <a:t> = </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MyFrame</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indent="0">
              <a:buNone/>
            </a:pPr>
            <a:endParaRPr lang="en-US" sz="2800" dirty="0"/>
          </a:p>
        </p:txBody>
      </p:sp>
      <p:sp>
        <p:nvSpPr>
          <p:cNvPr id="4" name="Footer Placeholder 3">
            <a:extLst>
              <a:ext uri="{FF2B5EF4-FFF2-40B4-BE49-F238E27FC236}">
                <a16:creationId xmlns:a16="http://schemas.microsoft.com/office/drawing/2014/main" id="{91109DD9-2527-6202-6C6B-BBFDFA475EFE}"/>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45923046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997A1-4431-9A09-FED3-F240A24FDDFA}"/>
              </a:ext>
            </a:extLst>
          </p:cNvPr>
          <p:cNvSpPr>
            <a:spLocks noGrp="1"/>
          </p:cNvSpPr>
          <p:nvPr>
            <p:ph type="title"/>
          </p:nvPr>
        </p:nvSpPr>
        <p:spPr/>
        <p:txBody>
          <a:bodyPr/>
          <a:lstStyle/>
          <a:p>
            <a:r>
              <a:rPr lang="en-US" dirty="0" err="1"/>
              <a:t>MessageDialog</a:t>
            </a:r>
            <a:r>
              <a:rPr lang="en-US" dirty="0"/>
              <a:t> in Swings</a:t>
            </a:r>
          </a:p>
        </p:txBody>
      </p:sp>
      <p:sp>
        <p:nvSpPr>
          <p:cNvPr id="3" name="Content Placeholder 2">
            <a:extLst>
              <a:ext uri="{FF2B5EF4-FFF2-40B4-BE49-F238E27FC236}">
                <a16:creationId xmlns:a16="http://schemas.microsoft.com/office/drawing/2014/main" id="{303DD5B0-294D-2E8F-5F17-ED221268264F}"/>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a:solidFill>
                  <a:srgbClr val="000000"/>
                </a:solidFill>
                <a:effectLst/>
                <a:latin typeface="Menlo" panose="020B0609030804020204" pitchFamily="49" charset="0"/>
              </a:rPr>
              <a:t>MyFrame2</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JFrame</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implements</a:t>
            </a:r>
            <a:r>
              <a:rPr lang="en-IN" sz="1800" dirty="0">
                <a:solidFill>
                  <a:srgbClr val="000000"/>
                </a:solidFill>
                <a:effectLst/>
                <a:latin typeface="Menlo" panose="020B0609030804020204" pitchFamily="49" charset="0"/>
              </a:rPr>
              <a:t> ActionListener {</a:t>
            </a:r>
          </a:p>
          <a:p>
            <a:pPr marL="0" marR="0" indent="0">
              <a:spcBef>
                <a:spcPts val="0"/>
              </a:spcBef>
              <a:spcAft>
                <a:spcPts val="0"/>
              </a:spcAft>
              <a:buNone/>
            </a:pPr>
            <a:r>
              <a:rPr lang="en-IN" sz="1800" u="sng" dirty="0" err="1">
                <a:solidFill>
                  <a:srgbClr val="000000"/>
                </a:solidFill>
                <a:effectLst/>
                <a:latin typeface="Menlo" panose="020B0609030804020204" pitchFamily="49" charset="0"/>
              </a:rPr>
              <a:t>JRadioButton</a:t>
            </a: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button1</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button2</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u="sng" dirty="0" err="1">
                <a:solidFill>
                  <a:srgbClr val="000000"/>
                </a:solidFill>
                <a:effectLst/>
                <a:latin typeface="Menlo" panose="020B0609030804020204" pitchFamily="49" charset="0"/>
              </a:rPr>
              <a:t>JButton</a:t>
            </a: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button</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MyFrame2() {</a:t>
            </a:r>
          </a:p>
          <a:p>
            <a:pPr marL="0" marR="0" indent="0">
              <a:spcBef>
                <a:spcPts val="0"/>
              </a:spcBef>
              <a:spcAft>
                <a:spcPts val="0"/>
              </a:spcAft>
              <a:buNone/>
            </a:pPr>
            <a:r>
              <a:rPr lang="en-IN" sz="1800" u="sng"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u="sng"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MyFrame</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u="sng"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(300, 300); </a:t>
            </a:r>
          </a:p>
          <a:p>
            <a:pPr marL="0" marR="0" indent="0">
              <a:spcBef>
                <a:spcPts val="0"/>
              </a:spcBef>
              <a:spcAft>
                <a:spcPts val="0"/>
              </a:spcAft>
              <a:buNone/>
            </a:pPr>
            <a:r>
              <a:rPr lang="en-IN" sz="1800" u="sng" dirty="0" err="1">
                <a:solidFill>
                  <a:srgbClr val="000000"/>
                </a:solidFill>
                <a:effectLst/>
                <a:latin typeface="Menlo" panose="020B0609030804020204" pitchFamily="49" charset="0"/>
              </a:rPr>
              <a:t>setLayout</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FlowLayout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u="sng" dirty="0">
                <a:solidFill>
                  <a:srgbClr val="0000C0"/>
                </a:solidFill>
                <a:effectLst/>
                <a:latin typeface="Menlo" panose="020B0609030804020204" pitchFamily="49" charset="0"/>
              </a:rPr>
              <a:t>button1</a:t>
            </a:r>
            <a:r>
              <a:rPr lang="en-IN" sz="1800" dirty="0">
                <a:solidFill>
                  <a:srgbClr val="000000"/>
                </a:solidFill>
                <a:effectLst/>
                <a:latin typeface="Menlo" panose="020B0609030804020204" pitchFamily="49" charset="0"/>
              </a:rPr>
              <a:t> = </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JRadioButton</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"Male"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u="sng" dirty="0">
                <a:solidFill>
                  <a:srgbClr val="0000C0"/>
                </a:solidFill>
                <a:effectLst/>
                <a:latin typeface="Menlo" panose="020B0609030804020204" pitchFamily="49" charset="0"/>
              </a:rPr>
              <a:t>button2</a:t>
            </a:r>
            <a:r>
              <a:rPr lang="en-IN" sz="1800" dirty="0">
                <a:solidFill>
                  <a:srgbClr val="000000"/>
                </a:solidFill>
                <a:effectLst/>
                <a:latin typeface="Menlo" panose="020B0609030804020204" pitchFamily="49" charset="0"/>
              </a:rPr>
              <a:t> = </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JRadioButton</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"Female"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u="sng" dirty="0">
                <a:solidFill>
                  <a:srgbClr val="0000C0"/>
                </a:solidFill>
                <a:effectLst/>
                <a:latin typeface="Menlo" panose="020B0609030804020204" pitchFamily="49" charset="0"/>
              </a:rPr>
              <a:t>button</a:t>
            </a:r>
            <a:r>
              <a:rPr lang="en-IN" sz="1800" dirty="0">
                <a:solidFill>
                  <a:srgbClr val="000000"/>
                </a:solidFill>
                <a:effectLst/>
                <a:latin typeface="Menlo" panose="020B0609030804020204" pitchFamily="49" charset="0"/>
              </a:rPr>
              <a:t> = </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JButton</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"click"</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u="sng" dirty="0" err="1">
                <a:solidFill>
                  <a:srgbClr val="000000"/>
                </a:solidFill>
                <a:effectLst/>
                <a:latin typeface="Menlo" panose="020B0609030804020204" pitchFamily="49" charset="0"/>
              </a:rPr>
              <a:t>ButtonGroup</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group</a:t>
            </a:r>
            <a:r>
              <a:rPr lang="en-IN" sz="1800" dirty="0">
                <a:solidFill>
                  <a:srgbClr val="000000"/>
                </a:solidFill>
                <a:effectLst/>
                <a:latin typeface="Menlo" panose="020B0609030804020204" pitchFamily="49" charset="0"/>
              </a:rPr>
              <a:t> = </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ButtonGroup</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group</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 </a:t>
            </a:r>
            <a:r>
              <a:rPr lang="en-IN" sz="1800" u="sng" dirty="0">
                <a:solidFill>
                  <a:srgbClr val="0000C0"/>
                </a:solidFill>
                <a:effectLst/>
                <a:latin typeface="Menlo" panose="020B0609030804020204" pitchFamily="49" charset="0"/>
              </a:rPr>
              <a:t>button1</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6A3E3E"/>
                </a:solidFill>
                <a:effectLst/>
                <a:latin typeface="Menlo" panose="020B0609030804020204" pitchFamily="49" charset="0"/>
              </a:rPr>
              <a:t>group</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 </a:t>
            </a:r>
            <a:r>
              <a:rPr lang="en-IN" sz="1800" u="sng" dirty="0">
                <a:solidFill>
                  <a:srgbClr val="0000C0"/>
                </a:solidFill>
                <a:effectLst/>
                <a:latin typeface="Menlo" panose="020B0609030804020204" pitchFamily="49" charset="0"/>
              </a:rPr>
              <a:t>button2</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add(</a:t>
            </a:r>
            <a:r>
              <a:rPr lang="en-IN" sz="1800" u="sng" dirty="0">
                <a:solidFill>
                  <a:srgbClr val="0000C0"/>
                </a:solidFill>
                <a:effectLst/>
                <a:latin typeface="Menlo" panose="020B0609030804020204" pitchFamily="49" charset="0"/>
              </a:rPr>
              <a:t>button1</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add(</a:t>
            </a:r>
            <a:r>
              <a:rPr lang="en-IN" sz="1800" u="sng" dirty="0">
                <a:solidFill>
                  <a:srgbClr val="0000C0"/>
                </a:solidFill>
                <a:effectLst/>
                <a:latin typeface="Menlo" panose="020B0609030804020204" pitchFamily="49" charset="0"/>
              </a:rPr>
              <a:t>button2</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add(</a:t>
            </a:r>
            <a:r>
              <a:rPr lang="en-IN" sz="1800" u="sng" dirty="0">
                <a:solidFill>
                  <a:srgbClr val="0000C0"/>
                </a:solidFill>
                <a:effectLst/>
                <a:latin typeface="Menlo" panose="020B0609030804020204" pitchFamily="49" charset="0"/>
              </a:rPr>
              <a:t>button</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u="sng" dirty="0" err="1">
                <a:solidFill>
                  <a:srgbClr val="0000C0"/>
                </a:solidFill>
                <a:effectLst/>
                <a:latin typeface="Menlo" panose="020B0609030804020204" pitchFamily="49" charset="0"/>
              </a:rPr>
              <a:t>button</a:t>
            </a:r>
            <a:r>
              <a:rPr lang="en-IN" sz="1800" dirty="0" err="1">
                <a:solidFill>
                  <a:srgbClr val="000000"/>
                </a:solidFill>
                <a:effectLst/>
                <a:latin typeface="Menlo" panose="020B0609030804020204" pitchFamily="49" charset="0"/>
              </a:rPr>
              <a:t>.addActionListener</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endParaRPr lang="en-US" dirty="0"/>
          </a:p>
        </p:txBody>
      </p:sp>
      <p:sp>
        <p:nvSpPr>
          <p:cNvPr id="4" name="Footer Placeholder 3">
            <a:extLst>
              <a:ext uri="{FF2B5EF4-FFF2-40B4-BE49-F238E27FC236}">
                <a16:creationId xmlns:a16="http://schemas.microsoft.com/office/drawing/2014/main" id="{19A1DCC0-BE73-71B2-4B7C-3165ED861EF4}"/>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78150981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A7EDA-C685-C974-4CE5-77AA299369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EFCAFA-4C50-EFF4-4C60-4719DF1D7E66}"/>
              </a:ext>
            </a:extLst>
          </p:cNvPr>
          <p:cNvSpPr>
            <a:spLocks noGrp="1"/>
          </p:cNvSpPr>
          <p:nvPr>
            <p:ph type="title"/>
          </p:nvPr>
        </p:nvSpPr>
        <p:spPr/>
        <p:txBody>
          <a:bodyPr/>
          <a:lstStyle/>
          <a:p>
            <a:r>
              <a:rPr lang="en-US" dirty="0" err="1"/>
              <a:t>MessageDialog</a:t>
            </a:r>
            <a:r>
              <a:rPr lang="en-US" dirty="0"/>
              <a:t> in Swings</a:t>
            </a:r>
          </a:p>
        </p:txBody>
      </p:sp>
      <p:sp>
        <p:nvSpPr>
          <p:cNvPr id="3" name="Content Placeholder 2">
            <a:extLst>
              <a:ext uri="{FF2B5EF4-FFF2-40B4-BE49-F238E27FC236}">
                <a16:creationId xmlns:a16="http://schemas.microsoft.com/office/drawing/2014/main" id="{BA0940DD-664B-360C-7654-BFDC9DED17CB}"/>
              </a:ext>
            </a:extLst>
          </p:cNvPr>
          <p:cNvSpPr>
            <a:spLocks noGrp="1"/>
          </p:cNvSpPr>
          <p:nvPr>
            <p:ph idx="1"/>
          </p:nvPr>
        </p:nvSpPr>
        <p:spPr/>
        <p:txBody>
          <a:bodyPr/>
          <a:lstStyle/>
          <a:p>
            <a:pPr marL="0" marR="0" indent="0">
              <a:spcBef>
                <a:spcPts val="0"/>
              </a:spcBef>
              <a:spcAft>
                <a:spcPts val="0"/>
              </a:spcAft>
              <a:buNone/>
            </a:pPr>
            <a:r>
              <a:rPr lang="en-IN" sz="1800" dirty="0">
                <a:solidFill>
                  <a:srgbClr val="646464"/>
                </a:solidFill>
                <a:effectLst/>
                <a:latin typeface="Menlo" panose="020B0609030804020204" pitchFamily="49" charset="0"/>
              </a:rPr>
              <a:t>@Override</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actionPerformed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ActionEvent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a:t>
            </a:r>
            <a:r>
              <a:rPr lang="en-IN" sz="1800" u="sng" dirty="0">
                <a:solidFill>
                  <a:srgbClr val="0000C0"/>
                </a:solidFill>
                <a:effectLst/>
                <a:latin typeface="Menlo" panose="020B0609030804020204" pitchFamily="49" charset="0"/>
              </a:rPr>
              <a:t>button1</a:t>
            </a:r>
            <a:r>
              <a:rPr lang="en-IN" sz="1800" dirty="0">
                <a:solidFill>
                  <a:srgbClr val="000000"/>
                </a:solidFill>
                <a:effectLst/>
                <a:latin typeface="Menlo" panose="020B0609030804020204" pitchFamily="49" charset="0"/>
              </a:rPr>
              <a:t>.isSelected())</a:t>
            </a:r>
          </a:p>
          <a:p>
            <a:pPr marL="0" marR="0" indent="0">
              <a:spcBef>
                <a:spcPts val="0"/>
              </a:spcBef>
              <a:spcAft>
                <a:spcPts val="0"/>
              </a:spcAft>
              <a:buNone/>
            </a:pP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JOptionPane</a:t>
            </a:r>
            <a:r>
              <a:rPr lang="en-IN" sz="1800" dirty="0" err="1">
                <a:solidFill>
                  <a:srgbClr val="000000"/>
                </a:solidFill>
                <a:effectLst/>
                <a:latin typeface="Menlo" panose="020B0609030804020204" pitchFamily="49" charset="0"/>
              </a:rPr>
              <a:t>.showMessageDialog</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 </a:t>
            </a:r>
            <a:r>
              <a:rPr lang="en-IN" sz="1800" dirty="0">
                <a:solidFill>
                  <a:srgbClr val="2A00FF"/>
                </a:solidFill>
                <a:effectLst/>
                <a:latin typeface="Menlo" panose="020B0609030804020204" pitchFamily="49" charset="0"/>
              </a:rPr>
              <a:t>"U r selected Male option thankyou"</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a:solidFill>
                  <a:srgbClr val="7F0055"/>
                </a:solidFill>
                <a:effectLst/>
                <a:latin typeface="Menlo" panose="020B0609030804020204" pitchFamily="49" charset="0"/>
              </a:rPr>
              <a:t>if</a:t>
            </a:r>
            <a:r>
              <a:rPr lang="en-IN" sz="1800" dirty="0">
                <a:solidFill>
                  <a:srgbClr val="000000"/>
                </a:solidFill>
                <a:effectLst/>
                <a:latin typeface="Menlo" panose="020B0609030804020204" pitchFamily="49" charset="0"/>
              </a:rPr>
              <a:t>(</a:t>
            </a:r>
            <a:r>
              <a:rPr lang="en-IN" sz="1800" u="sng" dirty="0">
                <a:solidFill>
                  <a:srgbClr val="0000C0"/>
                </a:solidFill>
                <a:effectLst/>
                <a:latin typeface="Menlo" panose="020B0609030804020204" pitchFamily="49" charset="0"/>
              </a:rPr>
              <a:t>button2</a:t>
            </a:r>
            <a:r>
              <a:rPr lang="en-IN" sz="1800" dirty="0">
                <a:solidFill>
                  <a:srgbClr val="000000"/>
                </a:solidFill>
                <a:effectLst/>
                <a:latin typeface="Menlo" panose="020B0609030804020204" pitchFamily="49" charset="0"/>
              </a:rPr>
              <a:t>.isSelected())</a:t>
            </a:r>
          </a:p>
          <a:p>
            <a:pPr marL="0" marR="0" indent="0">
              <a:spcBef>
                <a:spcPts val="0"/>
              </a:spcBef>
              <a:spcAft>
                <a:spcPts val="0"/>
              </a:spcAft>
              <a:buNone/>
            </a:pPr>
            <a:r>
              <a:rPr lang="en-IN" sz="1800" dirty="0">
                <a:solidFill>
                  <a:srgbClr val="000000"/>
                </a:solidFill>
                <a:effectLst/>
                <a:latin typeface="Menlo" panose="020B0609030804020204" pitchFamily="49" charset="0"/>
              </a:rPr>
              <a:t>{ </a:t>
            </a:r>
            <a:r>
              <a:rPr lang="en-IN" sz="1800" u="sng" dirty="0" err="1">
                <a:solidFill>
                  <a:srgbClr val="000000"/>
                </a:solidFill>
                <a:effectLst/>
                <a:latin typeface="Menlo" panose="020B0609030804020204" pitchFamily="49" charset="0"/>
              </a:rPr>
              <a:t>JOptionPane</a:t>
            </a:r>
            <a:r>
              <a:rPr lang="en-IN" sz="1800" dirty="0" err="1">
                <a:solidFill>
                  <a:srgbClr val="000000"/>
                </a:solidFill>
                <a:effectLst/>
                <a:latin typeface="Menlo" panose="020B0609030804020204" pitchFamily="49" charset="0"/>
              </a:rPr>
              <a:t>.showMessageDialog</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 </a:t>
            </a:r>
            <a:r>
              <a:rPr lang="en-IN" sz="1800" dirty="0">
                <a:solidFill>
                  <a:srgbClr val="2A00FF"/>
                </a:solidFill>
                <a:effectLst/>
                <a:latin typeface="Menlo" panose="020B0609030804020204" pitchFamily="49" charset="0"/>
              </a:rPr>
              <a:t>"U r selected Female option thankyou"</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 { </a:t>
            </a:r>
          </a:p>
          <a:p>
            <a:pPr marL="0" marR="0" indent="0">
              <a:spcBef>
                <a:spcPts val="0"/>
              </a:spcBef>
              <a:spcAft>
                <a:spcPts val="0"/>
              </a:spcAft>
              <a:buNone/>
            </a:pPr>
            <a:r>
              <a:rPr lang="en-IN" sz="1800" dirty="0">
                <a:solidFill>
                  <a:srgbClr val="000000"/>
                </a:solidFill>
                <a:effectLst/>
                <a:latin typeface="Menlo" panose="020B0609030804020204" pitchFamily="49" charset="0"/>
              </a:rPr>
              <a:t>MyFrame2 </a:t>
            </a:r>
            <a:r>
              <a:rPr lang="en-IN" sz="1800" dirty="0">
                <a:solidFill>
                  <a:srgbClr val="6A3E3E"/>
                </a:solidFill>
                <a:effectLst/>
                <a:latin typeface="Menlo" panose="020B0609030804020204" pitchFamily="49" charset="0"/>
              </a:rPr>
              <a:t>frame2</a:t>
            </a:r>
            <a:r>
              <a:rPr lang="en-IN" sz="1800" dirty="0">
                <a:solidFill>
                  <a:srgbClr val="000000"/>
                </a:solidFill>
                <a:effectLst/>
                <a:latin typeface="Menlo" panose="020B0609030804020204" pitchFamily="49" charset="0"/>
              </a:rPr>
              <a:t> = </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MyFrame2();</a:t>
            </a:r>
          </a:p>
          <a:p>
            <a:pPr marL="0" marR="0" indent="0">
              <a:spcBef>
                <a:spcPts val="0"/>
              </a:spcBef>
              <a:spcAft>
                <a:spcPts val="0"/>
              </a:spcAft>
              <a:buNone/>
            </a:pP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buNone/>
            </a:pPr>
            <a:endParaRPr lang="en-US" dirty="0"/>
          </a:p>
        </p:txBody>
      </p:sp>
      <p:sp>
        <p:nvSpPr>
          <p:cNvPr id="4" name="Footer Placeholder 3">
            <a:extLst>
              <a:ext uri="{FF2B5EF4-FFF2-40B4-BE49-F238E27FC236}">
                <a16:creationId xmlns:a16="http://schemas.microsoft.com/office/drawing/2014/main" id="{B230FDBB-8952-F728-6AA0-1C12589CDD06}"/>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1954199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4A14E-B6A1-A094-6A19-1691BCD145D2}"/>
              </a:ext>
            </a:extLst>
          </p:cNvPr>
          <p:cNvSpPr>
            <a:spLocks noGrp="1"/>
          </p:cNvSpPr>
          <p:nvPr>
            <p:ph type="title"/>
          </p:nvPr>
        </p:nvSpPr>
        <p:spPr/>
        <p:txBody>
          <a:bodyPr/>
          <a:lstStyle/>
          <a:p>
            <a:r>
              <a:rPr lang="en-US" dirty="0" err="1"/>
              <a:t>JTable</a:t>
            </a:r>
            <a:r>
              <a:rPr lang="en-US" dirty="0"/>
              <a:t> Demo</a:t>
            </a:r>
          </a:p>
        </p:txBody>
      </p:sp>
      <p:sp>
        <p:nvSpPr>
          <p:cNvPr id="3" name="Content Placeholder 2">
            <a:extLst>
              <a:ext uri="{FF2B5EF4-FFF2-40B4-BE49-F238E27FC236}">
                <a16:creationId xmlns:a16="http://schemas.microsoft.com/office/drawing/2014/main" id="{7A99CB40-0D01-439C-A085-DBA697054A63}"/>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a:solidFill>
                  <a:srgbClr val="000000"/>
                </a:solidFill>
                <a:effectLst/>
                <a:latin typeface="Menlo" panose="020B0609030804020204" pitchFamily="49" charset="0"/>
              </a:rPr>
              <a:t>JFrame4Demo</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JFrame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JFrame4Demo() { </a:t>
            </a:r>
          </a:p>
          <a:p>
            <a:pPr marL="0" marR="0" indent="0">
              <a:spcBef>
                <a:spcPts val="0"/>
              </a:spcBef>
              <a:spcAft>
                <a:spcPts val="0"/>
              </a:spcAft>
              <a:buNone/>
            </a:pP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(400, 200); </a:t>
            </a:r>
          </a:p>
          <a:p>
            <a:pPr marL="0" marR="0" indent="0">
              <a:spcBef>
                <a:spcPts val="0"/>
              </a:spcBef>
              <a:spcAft>
                <a:spcPts val="0"/>
              </a:spcAft>
              <a:buNone/>
            </a:pPr>
            <a:r>
              <a:rPr lang="en-IN" sz="1800" dirty="0" err="1">
                <a:solidFill>
                  <a:srgbClr val="000000"/>
                </a:solidFill>
                <a:effectLst/>
                <a:latin typeface="Menlo" panose="020B0609030804020204" pitchFamily="49" charset="0"/>
              </a:rPr>
              <a:t>setDefaultCloseOperation</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JFrame.</a:t>
            </a:r>
            <a:r>
              <a:rPr lang="en-IN" sz="1800" b="1" i="1" dirty="0" err="1">
                <a:solidFill>
                  <a:srgbClr val="0000C0"/>
                </a:solidFill>
                <a:effectLst/>
                <a:latin typeface="Menlo" panose="020B0609030804020204" pitchFamily="49" charset="0"/>
              </a:rPr>
              <a:t>EXIT_ON_CLOSE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String[][] </a:t>
            </a:r>
            <a:r>
              <a:rPr lang="en-IN" sz="1800" dirty="0">
                <a:solidFill>
                  <a:srgbClr val="6A3E3E"/>
                </a:solidFill>
                <a:effectLst/>
                <a:latin typeface="Menlo" panose="020B0609030804020204" pitchFamily="49" charset="0"/>
              </a:rPr>
              <a:t>data</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"101"</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”rakesh"</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"10000"</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"102"</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”Sita"</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"20000"</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"101"</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”Rajeev"</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"30000"</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String[] </a:t>
            </a:r>
            <a:r>
              <a:rPr lang="en-IN" sz="1800" dirty="0">
                <a:solidFill>
                  <a:srgbClr val="6A3E3E"/>
                </a:solidFill>
                <a:effectLst/>
                <a:latin typeface="Menlo" panose="020B0609030804020204" pitchFamily="49" charset="0"/>
              </a:rPr>
              <a:t>col</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"Eid"</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Ename</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a:t>
            </a:r>
            <a:r>
              <a:rPr lang="en-IN" sz="1800" dirty="0" err="1">
                <a:solidFill>
                  <a:srgbClr val="2A00FF"/>
                </a:solidFill>
                <a:effectLst/>
                <a:latin typeface="Menlo" panose="020B0609030804020204" pitchFamily="49" charset="0"/>
              </a:rPr>
              <a:t>Esal</a:t>
            </a:r>
            <a:r>
              <a:rPr lang="en-IN" sz="1800" dirty="0">
                <a:solidFill>
                  <a:srgbClr val="2A00FF"/>
                </a:solidFill>
                <a:effectLst/>
                <a:latin typeface="Menlo" panose="020B0609030804020204" pitchFamily="49" charset="0"/>
              </a:rPr>
              <a: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JTable</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jTable</a:t>
            </a:r>
            <a:r>
              <a:rPr lang="en-IN" sz="1800" dirty="0">
                <a:solidFill>
                  <a:srgbClr val="000000"/>
                </a:solidFill>
                <a:effectLst/>
                <a:latin typeface="Menlo" panose="020B0609030804020204" pitchFamily="49" charset="0"/>
              </a:rPr>
              <a:t> = </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JTable</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data</a:t>
            </a:r>
            <a:r>
              <a:rPr lang="en-IN" sz="1800" dirty="0" err="1">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col</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add(</a:t>
            </a:r>
            <a:r>
              <a:rPr lang="en-IN" sz="1800" dirty="0" err="1">
                <a:solidFill>
                  <a:srgbClr val="6A3E3E"/>
                </a:solidFill>
                <a:effectLst/>
                <a:latin typeface="Menlo" panose="020B0609030804020204" pitchFamily="49" charset="0"/>
              </a:rPr>
              <a:t>jTable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JScrollPane</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jScrollPane</a:t>
            </a:r>
            <a:r>
              <a:rPr lang="en-IN" sz="1800" dirty="0">
                <a:solidFill>
                  <a:srgbClr val="000000"/>
                </a:solidFill>
                <a:effectLst/>
                <a:latin typeface="Menlo" panose="020B0609030804020204" pitchFamily="49" charset="0"/>
              </a:rPr>
              <a:t> = </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JScrollPane</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jTable</a:t>
            </a:r>
            <a:r>
              <a:rPr lang="en-IN" sz="1800" dirty="0">
                <a:solidFill>
                  <a:srgbClr val="000000"/>
                </a:solidFill>
                <a:effectLst/>
                <a:latin typeface="Menlo" panose="020B0609030804020204" pitchFamily="49" charset="0"/>
              </a:rPr>
              <a:t>); add(</a:t>
            </a:r>
            <a:r>
              <a:rPr lang="en-IN" sz="1800" dirty="0" err="1">
                <a:solidFill>
                  <a:srgbClr val="6A3E3E"/>
                </a:solidFill>
                <a:effectLst/>
                <a:latin typeface="Menlo" panose="020B0609030804020204" pitchFamily="49" charset="0"/>
              </a:rPr>
              <a:t>jScrollPane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JFrame4Demo </a:t>
            </a:r>
            <a:r>
              <a:rPr lang="en-IN" sz="1800" u="sng" dirty="0">
                <a:solidFill>
                  <a:srgbClr val="6A3E3E"/>
                </a:solidFill>
                <a:effectLst/>
                <a:latin typeface="Menlo" panose="020B0609030804020204" pitchFamily="49" charset="0"/>
              </a:rPr>
              <a:t>frame3</a:t>
            </a:r>
            <a:r>
              <a:rPr lang="en-IN" sz="1800" dirty="0">
                <a:solidFill>
                  <a:srgbClr val="000000"/>
                </a:solidFill>
                <a:effectLst/>
                <a:latin typeface="Menlo" panose="020B0609030804020204" pitchFamily="49" charset="0"/>
              </a:rPr>
              <a:t> = </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JFrame4Demo(); </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buNone/>
            </a:pPr>
            <a:endParaRPr lang="en-US" dirty="0"/>
          </a:p>
        </p:txBody>
      </p:sp>
      <p:sp>
        <p:nvSpPr>
          <p:cNvPr id="4" name="Footer Placeholder 3">
            <a:extLst>
              <a:ext uri="{FF2B5EF4-FFF2-40B4-BE49-F238E27FC236}">
                <a16:creationId xmlns:a16="http://schemas.microsoft.com/office/drawing/2014/main" id="{90CD1AE8-8890-A1F6-C0DE-7C8D390B842D}"/>
              </a:ext>
            </a:extLst>
          </p:cNvPr>
          <p:cNvSpPr>
            <a:spLocks noGrp="1"/>
          </p:cNvSpPr>
          <p:nvPr>
            <p:ph type="ftr" sz="quarter" idx="11"/>
          </p:nvPr>
        </p:nvSpPr>
        <p:spPr/>
        <p:txBody>
          <a:bodyPr/>
          <a:lstStyle/>
          <a:p>
            <a:pPr>
              <a:defRPr/>
            </a:pPr>
            <a:r>
              <a:rPr lang="en-US"/>
              <a:t>Dr. Naveen Kumar, Associate Professor, AIIT, AUP</a:t>
            </a:r>
          </a:p>
        </p:txBody>
      </p:sp>
      <p:pic>
        <p:nvPicPr>
          <p:cNvPr id="1025" name="Picture 1" descr="page364image56783872">
            <a:extLst>
              <a:ext uri="{FF2B5EF4-FFF2-40B4-BE49-F238E27FC236}">
                <a16:creationId xmlns:a16="http://schemas.microsoft.com/office/drawing/2014/main" id="{9BBC4DEC-AAF5-6FC7-150B-35BD5D49BC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5795309"/>
            <a:ext cx="3136900" cy="1058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889637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C352F-6561-2670-A4FB-AFC3F1204100}"/>
              </a:ext>
            </a:extLst>
          </p:cNvPr>
          <p:cNvSpPr>
            <a:spLocks noGrp="1"/>
          </p:cNvSpPr>
          <p:nvPr>
            <p:ph type="title"/>
          </p:nvPr>
        </p:nvSpPr>
        <p:spPr/>
        <p:txBody>
          <a:bodyPr/>
          <a:lstStyle/>
          <a:p>
            <a:r>
              <a:rPr lang="en-US" dirty="0" err="1"/>
              <a:t>JColorChooser</a:t>
            </a:r>
            <a:endParaRPr lang="en-US" dirty="0"/>
          </a:p>
        </p:txBody>
      </p:sp>
      <p:sp>
        <p:nvSpPr>
          <p:cNvPr id="3" name="Content Placeholder 2">
            <a:extLst>
              <a:ext uri="{FF2B5EF4-FFF2-40B4-BE49-F238E27FC236}">
                <a16:creationId xmlns:a16="http://schemas.microsoft.com/office/drawing/2014/main" id="{B8A9D977-490B-482C-7A91-527820D211D8}"/>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a:solidFill>
                  <a:srgbClr val="000000"/>
                </a:solidFill>
                <a:effectLst/>
                <a:latin typeface="Menlo" panose="020B0609030804020204" pitchFamily="49" charset="0"/>
              </a:rPr>
              <a:t>JFrame5</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JFrame</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implements</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ChangeListener</a:t>
            </a:r>
            <a:r>
              <a:rPr lang="en-IN" sz="1800" dirty="0">
                <a:solidFill>
                  <a:srgbClr val="000000"/>
                </a:solidFill>
                <a:effectLst/>
                <a:latin typeface="Menlo" panose="020B0609030804020204" pitchFamily="49" charset="0"/>
              </a:rPr>
              <a:t> { </a:t>
            </a:r>
            <a:r>
              <a:rPr lang="en-IN" sz="1800" dirty="0" err="1">
                <a:solidFill>
                  <a:srgbClr val="000000"/>
                </a:solidFill>
                <a:effectLst/>
                <a:latin typeface="Menlo" panose="020B0609030804020204" pitchFamily="49" charset="0"/>
              </a:rPr>
              <a:t>JColorChooser</a:t>
            </a: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cc</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Container </a:t>
            </a:r>
            <a:r>
              <a:rPr lang="en-IN" sz="1800" dirty="0">
                <a:solidFill>
                  <a:srgbClr val="0000C0"/>
                </a:solidFill>
                <a:effectLst/>
                <a:latin typeface="Menlo" panose="020B0609030804020204" pitchFamily="49" charset="0"/>
              </a:rPr>
              <a:t>c</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JFrame5(){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(500,500);</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.setTitle</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"SWING COLORCHOOSER EXAMPLE"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err="1">
                <a:solidFill>
                  <a:srgbClr val="7F0055"/>
                </a:solidFill>
                <a:effectLst/>
                <a:latin typeface="Menlo" panose="020B0609030804020204" pitchFamily="49" charset="0"/>
              </a:rPr>
              <a:t>this</a:t>
            </a:r>
            <a:r>
              <a:rPr lang="en-IN" sz="1800" dirty="0" err="1">
                <a:solidFill>
                  <a:srgbClr val="000000"/>
                </a:solidFill>
                <a:effectLst/>
                <a:latin typeface="Menlo" panose="020B0609030804020204" pitchFamily="49" charset="0"/>
              </a:rPr>
              <a:t>.setDefaultCloseOperation</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JFrame.</a:t>
            </a:r>
            <a:r>
              <a:rPr lang="en-IN" sz="1800" b="1" i="1" dirty="0" err="1">
                <a:solidFill>
                  <a:srgbClr val="0000C0"/>
                </a:solidFill>
                <a:effectLst/>
                <a:latin typeface="Menlo" panose="020B0609030804020204" pitchFamily="49" charset="0"/>
              </a:rPr>
              <a:t>EXIT_ON_CLOSE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C0"/>
                </a:solidFill>
                <a:effectLst/>
                <a:latin typeface="Menlo" panose="020B0609030804020204" pitchFamily="49" charset="0"/>
              </a:rPr>
              <a:t>c</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getContentPane</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C0"/>
                </a:solidFill>
                <a:effectLst/>
                <a:latin typeface="Menlo" panose="020B0609030804020204" pitchFamily="49" charset="0"/>
              </a:rPr>
              <a:t>cc</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JColorChooser</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0000C0"/>
                </a:solidFill>
                <a:effectLst/>
                <a:latin typeface="Menlo" panose="020B0609030804020204" pitchFamily="49" charset="0"/>
              </a:rPr>
              <a:t>cc</a:t>
            </a:r>
            <a:r>
              <a:rPr lang="en-IN" sz="1800" dirty="0" err="1">
                <a:solidFill>
                  <a:srgbClr val="000000"/>
                </a:solidFill>
                <a:effectLst/>
                <a:latin typeface="Menlo" panose="020B0609030804020204" pitchFamily="49" charset="0"/>
              </a:rPr>
              <a:t>.getSelectionModel</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addChangeListener</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this</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0000C0"/>
                </a:solidFill>
                <a:effectLst/>
                <a:latin typeface="Menlo" panose="020B0609030804020204" pitchFamily="49" charset="0"/>
              </a:rPr>
              <a:t>c</a:t>
            </a:r>
            <a:r>
              <a:rPr lang="en-IN" sz="1800" dirty="0" err="1">
                <a:solidFill>
                  <a:srgbClr val="000000"/>
                </a:solidFill>
                <a:effectLst/>
                <a:latin typeface="Menlo" panose="020B0609030804020204" pitchFamily="49" charset="0"/>
              </a:rPr>
              <a:t>.add</a:t>
            </a:r>
            <a:r>
              <a:rPr lang="en-IN" sz="1800" dirty="0">
                <a:solidFill>
                  <a:srgbClr val="000000"/>
                </a:solidFill>
                <a:effectLst/>
                <a:latin typeface="Menlo" panose="020B0609030804020204" pitchFamily="49" charset="0"/>
              </a:rPr>
              <a:t>(</a:t>
            </a:r>
            <a:r>
              <a:rPr lang="en-IN" sz="1800" dirty="0">
                <a:solidFill>
                  <a:srgbClr val="0000C0"/>
                </a:solidFill>
                <a:effectLst/>
                <a:latin typeface="Menlo" panose="020B0609030804020204" pitchFamily="49" charset="0"/>
              </a:rPr>
              <a:t>cc</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stateChanged</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ChangeEvent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c</a:t>
            </a:r>
            <a:r>
              <a:rPr lang="en-IN" sz="1800" dirty="0">
                <a:solidFill>
                  <a:srgbClr val="000000"/>
                </a:solidFill>
                <a:effectLst/>
                <a:latin typeface="Menlo" panose="020B0609030804020204" pitchFamily="49" charset="0"/>
              </a:rPr>
              <a:t>) { </a:t>
            </a:r>
          </a:p>
          <a:p>
            <a:pPr marL="0" marR="0" indent="0">
              <a:spcBef>
                <a:spcPts val="0"/>
              </a:spcBef>
              <a:spcAft>
                <a:spcPts val="0"/>
              </a:spcAft>
              <a:buNone/>
            </a:pPr>
            <a:r>
              <a:rPr lang="en-IN" sz="1800" dirty="0" err="1">
                <a:solidFill>
                  <a:srgbClr val="000000"/>
                </a:solidFill>
                <a:effectLst/>
                <a:latin typeface="Menlo" panose="020B0609030804020204" pitchFamily="49" charset="0"/>
              </a:rPr>
              <a:t>Color</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color</a:t>
            </a:r>
            <a:r>
              <a:rPr lang="en-IN" sz="1800" dirty="0">
                <a:solidFill>
                  <a:srgbClr val="000000"/>
                </a:solidFill>
                <a:effectLst/>
                <a:latin typeface="Menlo" panose="020B0609030804020204" pitchFamily="49" charset="0"/>
              </a:rPr>
              <a:t>=</a:t>
            </a:r>
            <a:r>
              <a:rPr lang="en-IN" sz="1800" dirty="0" err="1">
                <a:solidFill>
                  <a:srgbClr val="0000C0"/>
                </a:solidFill>
                <a:effectLst/>
                <a:latin typeface="Menlo" panose="020B0609030804020204" pitchFamily="49" charset="0"/>
              </a:rPr>
              <a:t>cc</a:t>
            </a:r>
            <a:r>
              <a:rPr lang="en-IN" sz="1800" dirty="0" err="1">
                <a:solidFill>
                  <a:srgbClr val="000000"/>
                </a:solidFill>
                <a:effectLst/>
                <a:latin typeface="Menlo" panose="020B0609030804020204" pitchFamily="49" charset="0"/>
              </a:rPr>
              <a:t>.getColor</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JFrame</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JFrame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.setSize</a:t>
            </a:r>
            <a:r>
              <a:rPr lang="en-IN" sz="1800" dirty="0">
                <a:solidFill>
                  <a:srgbClr val="000000"/>
                </a:solidFill>
                <a:effectLst/>
                <a:latin typeface="Menlo" panose="020B0609030804020204" pitchFamily="49" charset="0"/>
              </a:rPr>
              <a:t>(400,400);</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.setVisible</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true</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6A3E3E"/>
                </a:solidFill>
                <a:effectLst/>
                <a:latin typeface="Menlo" panose="020B0609030804020204" pitchFamily="49" charset="0"/>
              </a:rPr>
              <a:t>f</a:t>
            </a:r>
            <a:r>
              <a:rPr lang="en-IN" sz="1800" dirty="0" err="1">
                <a:solidFill>
                  <a:srgbClr val="000000"/>
                </a:solidFill>
                <a:effectLst/>
                <a:latin typeface="Menlo" panose="020B0609030804020204" pitchFamily="49" charset="0"/>
              </a:rPr>
              <a:t>.getContentPane</a:t>
            </a:r>
            <a:r>
              <a:rPr lang="en-IN" sz="1800" dirty="0">
                <a:solidFill>
                  <a:srgbClr val="000000"/>
                </a:solidFill>
                <a:effectLst/>
                <a:latin typeface="Menlo" panose="020B0609030804020204" pitchFamily="49" charset="0"/>
              </a:rPr>
              <a:t>().</a:t>
            </a:r>
            <a:r>
              <a:rPr lang="en-IN" sz="1800" dirty="0" err="1">
                <a:solidFill>
                  <a:srgbClr val="000000"/>
                </a:solidFill>
                <a:effectLst/>
                <a:latin typeface="Menlo" panose="020B0609030804020204" pitchFamily="49" charset="0"/>
              </a:rPr>
              <a:t>setBackground</a:t>
            </a:r>
            <a:r>
              <a:rPr lang="en-IN" sz="1800" dirty="0">
                <a:solidFill>
                  <a:srgbClr val="000000"/>
                </a:solidFill>
                <a:effectLst/>
                <a:latin typeface="Menlo" panose="020B0609030804020204" pitchFamily="49" charset="0"/>
              </a:rPr>
              <a:t>(</a:t>
            </a:r>
            <a:r>
              <a:rPr lang="en-IN" sz="1800" dirty="0" err="1">
                <a:solidFill>
                  <a:srgbClr val="6A3E3E"/>
                </a:solidFill>
                <a:effectLst/>
                <a:latin typeface="Menlo" panose="020B0609030804020204" pitchFamily="49" charset="0"/>
              </a:rPr>
              <a:t>color</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a:t>
            </a:r>
            <a:endParaRPr lang="en-US" dirty="0"/>
          </a:p>
        </p:txBody>
      </p:sp>
      <p:sp>
        <p:nvSpPr>
          <p:cNvPr id="4" name="Footer Placeholder 3">
            <a:extLst>
              <a:ext uri="{FF2B5EF4-FFF2-40B4-BE49-F238E27FC236}">
                <a16:creationId xmlns:a16="http://schemas.microsoft.com/office/drawing/2014/main" id="{094A55CE-2AA3-0745-AD41-A2835FEDC661}"/>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66949489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FE714-0209-4756-0CEA-16B178C234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0D8C7-B6A2-9439-93C9-0B7DBD46AC07}"/>
              </a:ext>
            </a:extLst>
          </p:cNvPr>
          <p:cNvSpPr>
            <a:spLocks noGrp="1"/>
          </p:cNvSpPr>
          <p:nvPr>
            <p:ph type="title"/>
          </p:nvPr>
        </p:nvSpPr>
        <p:spPr/>
        <p:txBody>
          <a:bodyPr/>
          <a:lstStyle/>
          <a:p>
            <a:r>
              <a:rPr lang="en-US" dirty="0" err="1"/>
              <a:t>JColorChooser</a:t>
            </a:r>
            <a:endParaRPr lang="en-US" dirty="0"/>
          </a:p>
        </p:txBody>
      </p:sp>
      <p:sp>
        <p:nvSpPr>
          <p:cNvPr id="3" name="Content Placeholder 2">
            <a:extLst>
              <a:ext uri="{FF2B5EF4-FFF2-40B4-BE49-F238E27FC236}">
                <a16:creationId xmlns:a16="http://schemas.microsoft.com/office/drawing/2014/main" id="{113F9A34-6F72-5F42-8F26-7EADC508E0EF}"/>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ColorChooserDemo</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JFrame5 </a:t>
            </a:r>
            <a:r>
              <a:rPr lang="en-IN" sz="1800" u="sng" dirty="0">
                <a:solidFill>
                  <a:srgbClr val="6A3E3E"/>
                </a:solidFill>
                <a:effectLst/>
                <a:latin typeface="Menlo" panose="020B0609030804020204" pitchFamily="49" charset="0"/>
              </a:rPr>
              <a:t>f</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JFrame5();</a:t>
            </a:r>
          </a:p>
          <a:p>
            <a:pPr marL="0" marR="0" indent="0">
              <a:spcBef>
                <a:spcPts val="0"/>
              </a:spcBef>
              <a:spcAft>
                <a:spcPts val="0"/>
              </a:spcAft>
              <a:buNone/>
            </a:pP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buNone/>
            </a:pPr>
            <a:endParaRPr lang="en-US" dirty="0"/>
          </a:p>
        </p:txBody>
      </p:sp>
      <p:sp>
        <p:nvSpPr>
          <p:cNvPr id="4" name="Footer Placeholder 3">
            <a:extLst>
              <a:ext uri="{FF2B5EF4-FFF2-40B4-BE49-F238E27FC236}">
                <a16:creationId xmlns:a16="http://schemas.microsoft.com/office/drawing/2014/main" id="{27064FDB-A414-4A92-D410-3D54DC2BA4F8}"/>
              </a:ext>
            </a:extLst>
          </p:cNvPr>
          <p:cNvSpPr>
            <a:spLocks noGrp="1"/>
          </p:cNvSpPr>
          <p:nvPr>
            <p:ph type="ftr" sz="quarter" idx="11"/>
          </p:nvPr>
        </p:nvSpPr>
        <p:spPr/>
        <p:txBody>
          <a:bodyPr/>
          <a:lstStyle/>
          <a:p>
            <a:pPr>
              <a:defRPr/>
            </a:pPr>
            <a:r>
              <a:rPr lang="en-US"/>
              <a:t>Dr. Naveen Kumar, Associate Professor, AIIT, AUP</a:t>
            </a:r>
          </a:p>
        </p:txBody>
      </p:sp>
      <p:pic>
        <p:nvPicPr>
          <p:cNvPr id="2049" name="Picture 1" descr="page365image56714384">
            <a:extLst>
              <a:ext uri="{FF2B5EF4-FFF2-40B4-BE49-F238E27FC236}">
                <a16:creationId xmlns:a16="http://schemas.microsoft.com/office/drawing/2014/main" id="{2759A6BA-7F5E-BA00-56F5-F9DD52CC62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7500" y="3517900"/>
            <a:ext cx="5130800" cy="1663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30535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68C2C-7864-D8B4-3FE5-E72FB81C8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BF21FB-79D9-A034-9416-7821C783F64A}"/>
              </a:ext>
            </a:extLst>
          </p:cNvPr>
          <p:cNvSpPr>
            <a:spLocks noGrp="1"/>
          </p:cNvSpPr>
          <p:nvPr>
            <p:ph type="title"/>
          </p:nvPr>
        </p:nvSpPr>
        <p:spPr/>
        <p:txBody>
          <a:bodyPr/>
          <a:lstStyle/>
          <a:p>
            <a:r>
              <a:rPr lang="en-US" dirty="0" err="1"/>
              <a:t>JFileChooser</a:t>
            </a:r>
            <a:endParaRPr lang="en-US" dirty="0"/>
          </a:p>
        </p:txBody>
      </p:sp>
      <p:sp>
        <p:nvSpPr>
          <p:cNvPr id="3" name="Content Placeholder 2">
            <a:extLst>
              <a:ext uri="{FF2B5EF4-FFF2-40B4-BE49-F238E27FC236}">
                <a16:creationId xmlns:a16="http://schemas.microsoft.com/office/drawing/2014/main" id="{1A496548-3294-6E8E-E03C-4D081FF41598}"/>
              </a:ext>
            </a:extLst>
          </p:cNvPr>
          <p:cNvSpPr>
            <a:spLocks noGrp="1"/>
          </p:cNvSpPr>
          <p:nvPr>
            <p:ph idx="1"/>
          </p:nvPr>
        </p:nvSpPr>
        <p:spPr/>
        <p:txBody>
          <a:bodyPr/>
          <a:lstStyle/>
          <a:p>
            <a:pPr marL="0" marR="0" indent="0">
              <a:spcBef>
                <a:spcPts val="0"/>
              </a:spcBef>
              <a:spcAft>
                <a:spcPts val="0"/>
              </a:spcAft>
              <a:buNone/>
            </a:pPr>
            <a:r>
              <a:rPr lang="en-IN" sz="1400" b="1" dirty="0">
                <a:solidFill>
                  <a:srgbClr val="7F0055"/>
                </a:solidFill>
                <a:effectLst/>
                <a:latin typeface="Menlo" panose="020B0609030804020204" pitchFamily="49" charset="0"/>
              </a:rPr>
              <a:t>public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class</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JFileChooserDemo</a:t>
            </a: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b="1" dirty="0">
                <a:solidFill>
                  <a:srgbClr val="7F0055"/>
                </a:solidFill>
                <a:effectLst/>
                <a:latin typeface="Menlo" panose="020B0609030804020204" pitchFamily="49" charset="0"/>
              </a:rPr>
              <a:t>public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static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main(String[] </a:t>
            </a:r>
            <a:r>
              <a:rPr lang="en-IN" sz="1400" dirty="0" err="1">
                <a:solidFill>
                  <a:srgbClr val="6A3E3E"/>
                </a:solidFill>
                <a:effectLst/>
                <a:latin typeface="Menlo" panose="020B0609030804020204" pitchFamily="49" charset="0"/>
              </a:rPr>
              <a:t>args</a:t>
            </a: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dirty="0">
                <a:solidFill>
                  <a:srgbClr val="000000"/>
                </a:solidFill>
                <a:effectLst/>
                <a:latin typeface="Menlo" panose="020B0609030804020204" pitchFamily="49" charset="0"/>
              </a:rPr>
              <a:t>JFrame6 </a:t>
            </a:r>
            <a:r>
              <a:rPr lang="en-IN" sz="1400" u="sng" dirty="0">
                <a:solidFill>
                  <a:srgbClr val="6A3E3E"/>
                </a:solidFill>
                <a:effectLst/>
                <a:latin typeface="Menlo" panose="020B0609030804020204" pitchFamily="49" charset="0"/>
              </a:rPr>
              <a:t>f</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new</a:t>
            </a:r>
            <a:r>
              <a:rPr lang="en-IN" sz="1400" dirty="0">
                <a:solidFill>
                  <a:srgbClr val="000000"/>
                </a:solidFill>
                <a:effectLst/>
                <a:latin typeface="Menlo" panose="020B0609030804020204" pitchFamily="49" charset="0"/>
              </a:rPr>
              <a:t> JFrame6();</a:t>
            </a:r>
          </a:p>
          <a:p>
            <a:pPr marL="0" marR="0" indent="0">
              <a:spcBef>
                <a:spcPts val="0"/>
              </a:spcBef>
              <a:spcAft>
                <a:spcPts val="0"/>
              </a:spcAft>
              <a:buNone/>
            </a:pP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b="1" dirty="0">
                <a:solidFill>
                  <a:srgbClr val="7F0055"/>
                </a:solidFill>
                <a:effectLst/>
                <a:latin typeface="Menlo" panose="020B0609030804020204" pitchFamily="49" charset="0"/>
              </a:rPr>
              <a:t>class</a:t>
            </a:r>
            <a:r>
              <a:rPr lang="en-IN" sz="1400" dirty="0">
                <a:solidFill>
                  <a:srgbClr val="000000"/>
                </a:solidFill>
                <a:effectLst/>
                <a:latin typeface="Menlo" panose="020B0609030804020204" pitchFamily="49" charset="0"/>
              </a:rPr>
              <a:t> </a:t>
            </a:r>
            <a:r>
              <a:rPr lang="en-IN" sz="1400" u="sng" dirty="0">
                <a:solidFill>
                  <a:srgbClr val="000000"/>
                </a:solidFill>
                <a:effectLst/>
                <a:latin typeface="Menlo" panose="020B0609030804020204" pitchFamily="49" charset="0"/>
              </a:rPr>
              <a:t>JFrame6</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extends</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JFrame</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implements</a:t>
            </a:r>
            <a:r>
              <a:rPr lang="en-IN" sz="1400" dirty="0">
                <a:solidFill>
                  <a:srgbClr val="000000"/>
                </a:solidFill>
                <a:effectLst/>
                <a:latin typeface="Menlo" panose="020B0609030804020204" pitchFamily="49" charset="0"/>
              </a:rPr>
              <a:t> ActionListener{ </a:t>
            </a:r>
          </a:p>
          <a:p>
            <a:pPr marL="0" marR="0" indent="0">
              <a:spcBef>
                <a:spcPts val="0"/>
              </a:spcBef>
              <a:spcAft>
                <a:spcPts val="0"/>
              </a:spcAft>
              <a:buNone/>
            </a:pPr>
            <a:r>
              <a:rPr lang="en-IN" sz="1400" dirty="0" err="1">
                <a:solidFill>
                  <a:srgbClr val="000000"/>
                </a:solidFill>
                <a:effectLst/>
                <a:latin typeface="Menlo" panose="020B0609030804020204" pitchFamily="49" charset="0"/>
              </a:rPr>
              <a:t>JFileChooser</a:t>
            </a:r>
            <a:r>
              <a:rPr lang="en-IN" sz="1400" dirty="0">
                <a:solidFill>
                  <a:srgbClr val="000000"/>
                </a:solidFill>
                <a:effectLst/>
                <a:latin typeface="Menlo" panose="020B0609030804020204" pitchFamily="49" charset="0"/>
              </a:rPr>
              <a:t> </a:t>
            </a:r>
            <a:r>
              <a:rPr lang="en-IN" sz="1400" dirty="0">
                <a:solidFill>
                  <a:srgbClr val="0000C0"/>
                </a:solidFill>
                <a:effectLst/>
                <a:latin typeface="Menlo" panose="020B0609030804020204" pitchFamily="49" charset="0"/>
              </a:rPr>
              <a:t>fc</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000000"/>
                </a:solidFill>
                <a:effectLst/>
                <a:latin typeface="Menlo" panose="020B0609030804020204" pitchFamily="49" charset="0"/>
              </a:rPr>
              <a:t>Container </a:t>
            </a:r>
            <a:r>
              <a:rPr lang="en-IN" sz="1400" dirty="0">
                <a:solidFill>
                  <a:srgbClr val="0000C0"/>
                </a:solidFill>
                <a:effectLst/>
                <a:latin typeface="Menlo" panose="020B0609030804020204" pitchFamily="49" charset="0"/>
              </a:rPr>
              <a:t>c</a:t>
            </a: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dirty="0" err="1">
                <a:solidFill>
                  <a:srgbClr val="000000"/>
                </a:solidFill>
                <a:effectLst/>
                <a:latin typeface="Menlo" panose="020B0609030804020204" pitchFamily="49" charset="0"/>
              </a:rPr>
              <a:t>JLabel</a:t>
            </a:r>
            <a:r>
              <a:rPr lang="en-IN" sz="1400" dirty="0">
                <a:solidFill>
                  <a:srgbClr val="000000"/>
                </a:solidFill>
                <a:effectLst/>
                <a:latin typeface="Menlo" panose="020B0609030804020204" pitchFamily="49" charset="0"/>
              </a:rPr>
              <a:t> </a:t>
            </a:r>
            <a:r>
              <a:rPr lang="en-IN" sz="1400" dirty="0">
                <a:solidFill>
                  <a:srgbClr val="0000C0"/>
                </a:solidFill>
                <a:effectLst/>
                <a:latin typeface="Menlo" panose="020B0609030804020204" pitchFamily="49" charset="0"/>
              </a:rPr>
              <a:t>l</a:t>
            </a: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dirty="0" err="1">
                <a:solidFill>
                  <a:srgbClr val="000000"/>
                </a:solidFill>
                <a:effectLst/>
                <a:latin typeface="Menlo" panose="020B0609030804020204" pitchFamily="49" charset="0"/>
              </a:rPr>
              <a:t>JTextField</a:t>
            </a:r>
            <a:r>
              <a:rPr lang="en-IN" sz="1400" dirty="0">
                <a:solidFill>
                  <a:srgbClr val="000000"/>
                </a:solidFill>
                <a:effectLst/>
                <a:latin typeface="Menlo" panose="020B0609030804020204" pitchFamily="49" charset="0"/>
              </a:rPr>
              <a:t> </a:t>
            </a:r>
            <a:r>
              <a:rPr lang="en-IN" sz="1400" dirty="0" err="1">
                <a:solidFill>
                  <a:srgbClr val="0000C0"/>
                </a:solidFill>
                <a:effectLst/>
                <a:latin typeface="Menlo" panose="020B0609030804020204" pitchFamily="49" charset="0"/>
              </a:rPr>
              <a:t>tf</a:t>
            </a: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dirty="0" err="1">
                <a:solidFill>
                  <a:srgbClr val="000000"/>
                </a:solidFill>
                <a:effectLst/>
                <a:latin typeface="Menlo" panose="020B0609030804020204" pitchFamily="49" charset="0"/>
              </a:rPr>
              <a:t>JButton</a:t>
            </a:r>
            <a:r>
              <a:rPr lang="en-IN" sz="1400" dirty="0">
                <a:solidFill>
                  <a:srgbClr val="000000"/>
                </a:solidFill>
                <a:effectLst/>
                <a:latin typeface="Menlo" panose="020B0609030804020204" pitchFamily="49" charset="0"/>
              </a:rPr>
              <a:t> </a:t>
            </a:r>
            <a:r>
              <a:rPr lang="en-IN" sz="1400" dirty="0">
                <a:solidFill>
                  <a:srgbClr val="0000C0"/>
                </a:solidFill>
                <a:effectLst/>
                <a:latin typeface="Menlo" panose="020B0609030804020204" pitchFamily="49" charset="0"/>
              </a:rPr>
              <a:t>b</a:t>
            </a: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dirty="0">
                <a:solidFill>
                  <a:srgbClr val="000000"/>
                </a:solidFill>
                <a:effectLst/>
                <a:latin typeface="Menlo" panose="020B0609030804020204" pitchFamily="49" charset="0"/>
              </a:rPr>
              <a:t>JFrame6(){ </a:t>
            </a:r>
          </a:p>
          <a:p>
            <a:pPr marL="0" marR="0" indent="0">
              <a:spcBef>
                <a:spcPts val="0"/>
              </a:spcBef>
              <a:spcAft>
                <a:spcPts val="0"/>
              </a:spcAft>
              <a:buNone/>
            </a:pPr>
            <a:r>
              <a:rPr lang="en-IN" sz="1400" b="1" dirty="0" err="1">
                <a:solidFill>
                  <a:srgbClr val="7F0055"/>
                </a:solidFill>
                <a:effectLst/>
                <a:latin typeface="Menlo" panose="020B0609030804020204" pitchFamily="49" charset="0"/>
              </a:rPr>
              <a:t>this</a:t>
            </a:r>
            <a:r>
              <a:rPr lang="en-IN" sz="1400" dirty="0" err="1">
                <a:solidFill>
                  <a:srgbClr val="000000"/>
                </a:solidFill>
                <a:effectLst/>
                <a:latin typeface="Menlo" panose="020B0609030804020204" pitchFamily="49" charset="0"/>
              </a:rPr>
              <a:t>.setVisible</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true</a:t>
            </a: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b="1" dirty="0" err="1">
                <a:solidFill>
                  <a:srgbClr val="7F0055"/>
                </a:solidFill>
                <a:effectLst/>
                <a:latin typeface="Menlo" panose="020B0609030804020204" pitchFamily="49" charset="0"/>
              </a:rPr>
              <a:t>this</a:t>
            </a:r>
            <a:r>
              <a:rPr lang="en-IN" sz="1400" dirty="0" err="1">
                <a:solidFill>
                  <a:srgbClr val="000000"/>
                </a:solidFill>
                <a:effectLst/>
                <a:latin typeface="Menlo" panose="020B0609030804020204" pitchFamily="49" charset="0"/>
              </a:rPr>
              <a:t>.setSize</a:t>
            </a:r>
            <a:r>
              <a:rPr lang="en-IN" sz="1400" dirty="0">
                <a:solidFill>
                  <a:srgbClr val="000000"/>
                </a:solidFill>
                <a:effectLst/>
                <a:latin typeface="Menlo" panose="020B0609030804020204" pitchFamily="49" charset="0"/>
              </a:rPr>
              <a:t>(500,500);</a:t>
            </a:r>
          </a:p>
          <a:p>
            <a:pPr marL="0" marR="0" indent="0">
              <a:spcBef>
                <a:spcPts val="0"/>
              </a:spcBef>
              <a:spcAft>
                <a:spcPts val="0"/>
              </a:spcAft>
              <a:buNone/>
            </a:pPr>
            <a:r>
              <a:rPr lang="en-IN" sz="1400" b="1" dirty="0" err="1">
                <a:solidFill>
                  <a:srgbClr val="7F0055"/>
                </a:solidFill>
                <a:effectLst/>
                <a:latin typeface="Menlo" panose="020B0609030804020204" pitchFamily="49" charset="0"/>
              </a:rPr>
              <a:t>this</a:t>
            </a:r>
            <a:r>
              <a:rPr lang="en-IN" sz="1400" dirty="0" err="1">
                <a:solidFill>
                  <a:srgbClr val="000000"/>
                </a:solidFill>
                <a:effectLst/>
                <a:latin typeface="Menlo" panose="020B0609030804020204" pitchFamily="49" charset="0"/>
              </a:rPr>
              <a:t>.setTitle</a:t>
            </a:r>
            <a:r>
              <a:rPr lang="en-IN" sz="1400" dirty="0">
                <a:solidFill>
                  <a:srgbClr val="000000"/>
                </a:solidFill>
                <a:effectLst/>
                <a:latin typeface="Menlo" panose="020B0609030804020204" pitchFamily="49" charset="0"/>
              </a:rPr>
              <a:t>(</a:t>
            </a:r>
            <a:r>
              <a:rPr lang="en-IN" sz="1400" dirty="0">
                <a:solidFill>
                  <a:srgbClr val="2A00FF"/>
                </a:solidFill>
                <a:effectLst/>
                <a:latin typeface="Menlo" panose="020B0609030804020204" pitchFamily="49" charset="0"/>
              </a:rPr>
              <a:t>"SWING GUI COMPONENTS EXAMPLE"</a:t>
            </a: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b="1" dirty="0" err="1">
                <a:solidFill>
                  <a:srgbClr val="7F0055"/>
                </a:solidFill>
                <a:effectLst/>
                <a:latin typeface="Menlo" panose="020B0609030804020204" pitchFamily="49" charset="0"/>
              </a:rPr>
              <a:t>this</a:t>
            </a:r>
            <a:r>
              <a:rPr lang="en-IN" sz="1400" dirty="0" err="1">
                <a:solidFill>
                  <a:srgbClr val="000000"/>
                </a:solidFill>
                <a:effectLst/>
                <a:latin typeface="Menlo" panose="020B0609030804020204" pitchFamily="49" charset="0"/>
              </a:rPr>
              <a:t>.setDefaultCloseOperation</a:t>
            </a:r>
            <a:r>
              <a:rPr lang="en-IN" sz="1400" dirty="0">
                <a:solidFill>
                  <a:srgbClr val="000000"/>
                </a:solidFill>
                <a:effectLst/>
                <a:latin typeface="Menlo" panose="020B0609030804020204" pitchFamily="49" charset="0"/>
              </a:rPr>
              <a:t>(</a:t>
            </a:r>
            <a:r>
              <a:rPr lang="en-IN" sz="1400" dirty="0" err="1">
                <a:solidFill>
                  <a:srgbClr val="000000"/>
                </a:solidFill>
                <a:effectLst/>
                <a:latin typeface="Menlo" panose="020B0609030804020204" pitchFamily="49" charset="0"/>
              </a:rPr>
              <a:t>JFrame.</a:t>
            </a:r>
            <a:r>
              <a:rPr lang="en-IN" sz="1400" b="1" i="1" dirty="0" err="1">
                <a:solidFill>
                  <a:srgbClr val="0000C0"/>
                </a:solidFill>
                <a:effectLst/>
                <a:latin typeface="Menlo" panose="020B0609030804020204" pitchFamily="49" charset="0"/>
              </a:rPr>
              <a:t>EXIT_ON_CLOSE</a:t>
            </a: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dirty="0">
                <a:solidFill>
                  <a:srgbClr val="0000C0"/>
                </a:solidFill>
                <a:effectLst/>
                <a:latin typeface="Menlo" panose="020B0609030804020204" pitchFamily="49" charset="0"/>
              </a:rPr>
              <a:t>c</a:t>
            </a:r>
            <a:r>
              <a:rPr lang="en-IN" sz="1400" dirty="0">
                <a:solidFill>
                  <a:srgbClr val="000000"/>
                </a:solidFill>
                <a:effectLst/>
                <a:latin typeface="Menlo" panose="020B0609030804020204" pitchFamily="49" charset="0"/>
              </a:rPr>
              <a:t>=</a:t>
            </a:r>
            <a:r>
              <a:rPr lang="en-IN" sz="1400" dirty="0" err="1">
                <a:solidFill>
                  <a:srgbClr val="000000"/>
                </a:solidFill>
                <a:effectLst/>
                <a:latin typeface="Menlo" panose="020B0609030804020204" pitchFamily="49" charset="0"/>
              </a:rPr>
              <a:t>getContentPane</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0000C0"/>
                </a:solidFill>
                <a:effectLst/>
                <a:latin typeface="Menlo" panose="020B0609030804020204" pitchFamily="49" charset="0"/>
              </a:rPr>
              <a:t>l</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new</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JLabel</a:t>
            </a:r>
            <a:r>
              <a:rPr lang="en-IN" sz="1400" dirty="0">
                <a:solidFill>
                  <a:srgbClr val="000000"/>
                </a:solidFill>
                <a:effectLst/>
                <a:latin typeface="Menlo" panose="020B0609030804020204" pitchFamily="49" charset="0"/>
              </a:rPr>
              <a:t>(</a:t>
            </a:r>
            <a:r>
              <a:rPr lang="en-IN" sz="1400" dirty="0">
                <a:solidFill>
                  <a:srgbClr val="2A00FF"/>
                </a:solidFill>
                <a:effectLst/>
                <a:latin typeface="Menlo" panose="020B0609030804020204" pitchFamily="49" charset="0"/>
              </a:rPr>
              <a:t>"Select File:"</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err="1">
                <a:solidFill>
                  <a:srgbClr val="0000C0"/>
                </a:solidFill>
                <a:effectLst/>
                <a:latin typeface="Menlo" panose="020B0609030804020204" pitchFamily="49" charset="0"/>
              </a:rPr>
              <a:t>tf</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new</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JTextField</a:t>
            </a:r>
            <a:r>
              <a:rPr lang="en-IN" sz="1400" dirty="0">
                <a:solidFill>
                  <a:srgbClr val="000000"/>
                </a:solidFill>
                <a:effectLst/>
                <a:latin typeface="Menlo" panose="020B0609030804020204" pitchFamily="49" charset="0"/>
              </a:rPr>
              <a:t>(25);</a:t>
            </a:r>
          </a:p>
          <a:p>
            <a:pPr marL="0" marR="0" indent="0">
              <a:spcBef>
                <a:spcPts val="0"/>
              </a:spcBef>
              <a:spcAft>
                <a:spcPts val="0"/>
              </a:spcAft>
              <a:buNone/>
            </a:pPr>
            <a:r>
              <a:rPr lang="en-IN" sz="1400" dirty="0">
                <a:solidFill>
                  <a:srgbClr val="0000C0"/>
                </a:solidFill>
                <a:effectLst/>
                <a:latin typeface="Menlo" panose="020B0609030804020204" pitchFamily="49" charset="0"/>
              </a:rPr>
              <a:t>b</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new</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JButton</a:t>
            </a:r>
            <a:r>
              <a:rPr lang="en-IN" sz="1400" dirty="0">
                <a:solidFill>
                  <a:srgbClr val="000000"/>
                </a:solidFill>
                <a:effectLst/>
                <a:latin typeface="Menlo" panose="020B0609030804020204" pitchFamily="49" charset="0"/>
              </a:rPr>
              <a:t>(</a:t>
            </a:r>
            <a:r>
              <a:rPr lang="en-IN" sz="1400" dirty="0">
                <a:solidFill>
                  <a:srgbClr val="2A00FF"/>
                </a:solidFill>
                <a:effectLst/>
                <a:latin typeface="Menlo" panose="020B0609030804020204" pitchFamily="49" charset="0"/>
              </a:rPr>
              <a:t>"BROWSE"</a:t>
            </a: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b="1" dirty="0" err="1">
                <a:solidFill>
                  <a:srgbClr val="7F0055"/>
                </a:solidFill>
                <a:effectLst/>
                <a:latin typeface="Menlo" panose="020B0609030804020204" pitchFamily="49" charset="0"/>
              </a:rPr>
              <a:t>this</a:t>
            </a:r>
            <a:r>
              <a:rPr lang="en-IN" sz="1400" dirty="0" err="1">
                <a:solidFill>
                  <a:srgbClr val="000000"/>
                </a:solidFill>
                <a:effectLst/>
                <a:latin typeface="Menlo" panose="020B0609030804020204" pitchFamily="49" charset="0"/>
              </a:rPr>
              <a:t>.setLayout</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new</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FlowLayout</a:t>
            </a: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dirty="0" err="1">
                <a:solidFill>
                  <a:srgbClr val="0000C0"/>
                </a:solidFill>
                <a:effectLst/>
                <a:latin typeface="Menlo" panose="020B0609030804020204" pitchFamily="49" charset="0"/>
              </a:rPr>
              <a:t>b</a:t>
            </a:r>
            <a:r>
              <a:rPr lang="en-IN" sz="1400" dirty="0" err="1">
                <a:solidFill>
                  <a:srgbClr val="000000"/>
                </a:solidFill>
                <a:effectLst/>
                <a:latin typeface="Menlo" panose="020B0609030804020204" pitchFamily="49" charset="0"/>
              </a:rPr>
              <a:t>.addActionListener</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this</a:t>
            </a: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dirty="0" err="1">
                <a:solidFill>
                  <a:srgbClr val="0000C0"/>
                </a:solidFill>
                <a:effectLst/>
                <a:latin typeface="Menlo" panose="020B0609030804020204" pitchFamily="49" charset="0"/>
              </a:rPr>
              <a:t>c</a:t>
            </a:r>
            <a:r>
              <a:rPr lang="en-IN" sz="1400" dirty="0" err="1">
                <a:solidFill>
                  <a:srgbClr val="000000"/>
                </a:solidFill>
                <a:effectLst/>
                <a:latin typeface="Menlo" panose="020B0609030804020204" pitchFamily="49" charset="0"/>
              </a:rPr>
              <a:t>.add</a:t>
            </a:r>
            <a:r>
              <a:rPr lang="en-IN" sz="1400" dirty="0">
                <a:solidFill>
                  <a:srgbClr val="000000"/>
                </a:solidFill>
                <a:effectLst/>
                <a:latin typeface="Menlo" panose="020B0609030804020204" pitchFamily="49" charset="0"/>
              </a:rPr>
              <a:t>(</a:t>
            </a:r>
            <a:r>
              <a:rPr lang="en-IN" sz="1400" dirty="0">
                <a:solidFill>
                  <a:srgbClr val="0000C0"/>
                </a:solidFill>
                <a:effectLst/>
                <a:latin typeface="Menlo" panose="020B0609030804020204" pitchFamily="49" charset="0"/>
              </a:rPr>
              <a:t>l</a:t>
            </a: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dirty="0" err="1">
                <a:solidFill>
                  <a:srgbClr val="0000C0"/>
                </a:solidFill>
                <a:effectLst/>
                <a:latin typeface="Menlo" panose="020B0609030804020204" pitchFamily="49" charset="0"/>
              </a:rPr>
              <a:t>c</a:t>
            </a:r>
            <a:r>
              <a:rPr lang="en-IN" sz="1400" dirty="0" err="1">
                <a:solidFill>
                  <a:srgbClr val="000000"/>
                </a:solidFill>
                <a:effectLst/>
                <a:latin typeface="Menlo" panose="020B0609030804020204" pitchFamily="49" charset="0"/>
              </a:rPr>
              <a:t>.add</a:t>
            </a:r>
            <a:r>
              <a:rPr lang="en-IN" sz="1400" dirty="0">
                <a:solidFill>
                  <a:srgbClr val="000000"/>
                </a:solidFill>
                <a:effectLst/>
                <a:latin typeface="Menlo" panose="020B0609030804020204" pitchFamily="49" charset="0"/>
              </a:rPr>
              <a:t>(</a:t>
            </a:r>
            <a:r>
              <a:rPr lang="en-IN" sz="1400" dirty="0" err="1">
                <a:solidFill>
                  <a:srgbClr val="0000C0"/>
                </a:solidFill>
                <a:effectLst/>
                <a:latin typeface="Menlo" panose="020B0609030804020204" pitchFamily="49" charset="0"/>
              </a:rPr>
              <a:t>tf</a:t>
            </a: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dirty="0" err="1">
                <a:solidFill>
                  <a:srgbClr val="0000C0"/>
                </a:solidFill>
                <a:effectLst/>
                <a:latin typeface="Menlo" panose="020B0609030804020204" pitchFamily="49" charset="0"/>
              </a:rPr>
              <a:t>c</a:t>
            </a:r>
            <a:r>
              <a:rPr lang="en-IN" sz="1400" dirty="0" err="1">
                <a:solidFill>
                  <a:srgbClr val="000000"/>
                </a:solidFill>
                <a:effectLst/>
                <a:latin typeface="Menlo" panose="020B0609030804020204" pitchFamily="49" charset="0"/>
              </a:rPr>
              <a:t>.add</a:t>
            </a:r>
            <a:r>
              <a:rPr lang="en-IN" sz="1400" dirty="0">
                <a:solidFill>
                  <a:srgbClr val="000000"/>
                </a:solidFill>
                <a:effectLst/>
                <a:latin typeface="Menlo" panose="020B0609030804020204" pitchFamily="49" charset="0"/>
              </a:rPr>
              <a:t>(</a:t>
            </a:r>
            <a:r>
              <a:rPr lang="en-IN" sz="1400" dirty="0">
                <a:solidFill>
                  <a:srgbClr val="0000C0"/>
                </a:solidFill>
                <a:effectLst/>
                <a:latin typeface="Menlo" panose="020B0609030804020204" pitchFamily="49" charset="0"/>
              </a:rPr>
              <a:t>b</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000000"/>
                </a:solidFill>
                <a:effectLst/>
                <a:latin typeface="Menlo" panose="020B0609030804020204" pitchFamily="49" charset="0"/>
              </a:rPr>
              <a:t>}</a:t>
            </a:r>
            <a:endParaRPr lang="en-US" sz="2400" dirty="0"/>
          </a:p>
        </p:txBody>
      </p:sp>
      <p:sp>
        <p:nvSpPr>
          <p:cNvPr id="4" name="Footer Placeholder 3">
            <a:extLst>
              <a:ext uri="{FF2B5EF4-FFF2-40B4-BE49-F238E27FC236}">
                <a16:creationId xmlns:a16="http://schemas.microsoft.com/office/drawing/2014/main" id="{1407B165-27BB-7FB2-AF80-8D0EEC5A9584}"/>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70128264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6801D-DA8B-4BFF-5162-BE290E7D8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C1A420-B2E6-FA60-1C6F-7B7689BC170A}"/>
              </a:ext>
            </a:extLst>
          </p:cNvPr>
          <p:cNvSpPr>
            <a:spLocks noGrp="1"/>
          </p:cNvSpPr>
          <p:nvPr>
            <p:ph type="title"/>
          </p:nvPr>
        </p:nvSpPr>
        <p:spPr/>
        <p:txBody>
          <a:bodyPr/>
          <a:lstStyle/>
          <a:p>
            <a:r>
              <a:rPr lang="en-US" dirty="0" err="1"/>
              <a:t>JFileChooser</a:t>
            </a:r>
            <a:endParaRPr lang="en-US" dirty="0"/>
          </a:p>
        </p:txBody>
      </p:sp>
      <p:sp>
        <p:nvSpPr>
          <p:cNvPr id="3" name="Content Placeholder 2">
            <a:extLst>
              <a:ext uri="{FF2B5EF4-FFF2-40B4-BE49-F238E27FC236}">
                <a16:creationId xmlns:a16="http://schemas.microsoft.com/office/drawing/2014/main" id="{7DCDBA17-97E4-508F-F129-9BE582EDA3A3}"/>
              </a:ext>
            </a:extLst>
          </p:cNvPr>
          <p:cNvSpPr>
            <a:spLocks noGrp="1"/>
          </p:cNvSpPr>
          <p:nvPr>
            <p:ph idx="1"/>
          </p:nvPr>
        </p:nvSpPr>
        <p:spPr/>
        <p:txBody>
          <a:bodyPr/>
          <a:lstStyle/>
          <a:p>
            <a:pPr marL="0" marR="0" indent="0">
              <a:spcBef>
                <a:spcPts val="0"/>
              </a:spcBef>
              <a:spcAft>
                <a:spcPts val="0"/>
              </a:spcAft>
              <a:buNone/>
            </a:pPr>
            <a:r>
              <a:rPr lang="en-IN" sz="1400" b="1" dirty="0">
                <a:solidFill>
                  <a:srgbClr val="7F0055"/>
                </a:solidFill>
                <a:effectLst/>
                <a:latin typeface="Menlo" panose="020B0609030804020204" pitchFamily="49" charset="0"/>
              </a:rPr>
              <a:t>public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actionPerformed</a:t>
            </a:r>
            <a:r>
              <a:rPr lang="en-IN" sz="1400" dirty="0">
                <a:solidFill>
                  <a:srgbClr val="000000"/>
                </a:solidFill>
                <a:effectLst/>
                <a:latin typeface="Menlo" panose="020B0609030804020204" pitchFamily="49" charset="0"/>
              </a:rPr>
              <a:t>(</a:t>
            </a:r>
            <a:r>
              <a:rPr lang="en-IN" sz="1400" dirty="0" err="1">
                <a:solidFill>
                  <a:srgbClr val="000000"/>
                </a:solidFill>
                <a:effectLst/>
                <a:latin typeface="Menlo" panose="020B0609030804020204" pitchFamily="49" charset="0"/>
              </a:rPr>
              <a:t>ActionEvent</a:t>
            </a:r>
            <a:r>
              <a:rPr lang="en-IN" sz="1400" dirty="0">
                <a:solidFill>
                  <a:srgbClr val="000000"/>
                </a:solidFill>
                <a:effectLst/>
                <a:latin typeface="Menlo" panose="020B0609030804020204" pitchFamily="49" charset="0"/>
              </a:rPr>
              <a:t> </a:t>
            </a:r>
            <a:r>
              <a:rPr lang="en-IN" sz="1400" dirty="0">
                <a:solidFill>
                  <a:srgbClr val="6A3E3E"/>
                </a:solidFill>
                <a:effectLst/>
                <a:latin typeface="Menlo" panose="020B0609030804020204" pitchFamily="49" charset="0"/>
              </a:rPr>
              <a:t>ae</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b="1" dirty="0">
                <a:solidFill>
                  <a:srgbClr val="7F0055"/>
                </a:solidFill>
                <a:effectLst/>
                <a:latin typeface="Menlo" panose="020B0609030804020204" pitchFamily="49" charset="0"/>
              </a:rPr>
              <a:t>class</a:t>
            </a:r>
            <a:r>
              <a:rPr lang="en-IN" sz="1400" dirty="0">
                <a:solidFill>
                  <a:srgbClr val="000000"/>
                </a:solidFill>
                <a:effectLst/>
                <a:latin typeface="Menlo" panose="020B0609030804020204" pitchFamily="49" charset="0"/>
              </a:rPr>
              <a:t> </a:t>
            </a:r>
            <a:r>
              <a:rPr lang="en-IN" sz="1400" u="sng" dirty="0">
                <a:solidFill>
                  <a:srgbClr val="000000"/>
                </a:solidFill>
                <a:effectLst/>
                <a:latin typeface="Menlo" panose="020B0609030804020204" pitchFamily="49" charset="0"/>
              </a:rPr>
              <a:t>FileChooser1</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extends</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JFrame</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implements</a:t>
            </a:r>
            <a:r>
              <a:rPr lang="en-IN" sz="1400" dirty="0">
                <a:solidFill>
                  <a:srgbClr val="000000"/>
                </a:solidFill>
                <a:effectLst/>
                <a:latin typeface="Menlo" panose="020B0609030804020204" pitchFamily="49" charset="0"/>
              </a:rPr>
              <a:t> ActionListener</a:t>
            </a:r>
          </a:p>
          <a:p>
            <a:pPr marL="0" marR="0" indent="0">
              <a:spcBef>
                <a:spcPts val="0"/>
              </a:spcBef>
              <a:spcAft>
                <a:spcPts val="0"/>
              </a:spcAft>
              <a:buNone/>
            </a:pP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dirty="0">
                <a:solidFill>
                  <a:srgbClr val="000000"/>
                </a:solidFill>
                <a:effectLst/>
                <a:latin typeface="Menlo" panose="020B0609030804020204" pitchFamily="49" charset="0"/>
              </a:rPr>
              <a:t>FileChooser1() </a:t>
            </a:r>
          </a:p>
          <a:p>
            <a:pPr marL="0" marR="0" indent="0">
              <a:spcBef>
                <a:spcPts val="0"/>
              </a:spcBef>
              <a:spcAft>
                <a:spcPts val="0"/>
              </a:spcAft>
              <a:buNone/>
            </a:pP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dirty="0">
                <a:solidFill>
                  <a:srgbClr val="000000"/>
                </a:solidFill>
                <a:effectLst/>
                <a:latin typeface="Menlo" panose="020B0609030804020204" pitchFamily="49" charset="0"/>
              </a:rPr>
              <a:t>Container </a:t>
            </a:r>
            <a:r>
              <a:rPr lang="en-IN" sz="1400" dirty="0">
                <a:solidFill>
                  <a:srgbClr val="6A3E3E"/>
                </a:solidFill>
                <a:effectLst/>
                <a:latin typeface="Menlo" panose="020B0609030804020204" pitchFamily="49" charset="0"/>
              </a:rPr>
              <a:t>c</a:t>
            </a:r>
            <a:r>
              <a:rPr lang="en-IN" sz="1400" dirty="0">
                <a:solidFill>
                  <a:srgbClr val="000000"/>
                </a:solidFill>
                <a:effectLst/>
                <a:latin typeface="Menlo" panose="020B0609030804020204" pitchFamily="49" charset="0"/>
              </a:rPr>
              <a:t>=</a:t>
            </a:r>
            <a:r>
              <a:rPr lang="en-IN" sz="1400" dirty="0" err="1">
                <a:solidFill>
                  <a:srgbClr val="000000"/>
                </a:solidFill>
                <a:effectLst/>
                <a:latin typeface="Menlo" panose="020B0609030804020204" pitchFamily="49" charset="0"/>
              </a:rPr>
              <a:t>getContentPane</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b="1" dirty="0" err="1">
                <a:solidFill>
                  <a:srgbClr val="7F0055"/>
                </a:solidFill>
                <a:effectLst/>
                <a:latin typeface="Menlo" panose="020B0609030804020204" pitchFamily="49" charset="0"/>
              </a:rPr>
              <a:t>this</a:t>
            </a:r>
            <a:r>
              <a:rPr lang="en-IN" sz="1400" dirty="0" err="1">
                <a:solidFill>
                  <a:srgbClr val="000000"/>
                </a:solidFill>
                <a:effectLst/>
                <a:latin typeface="Menlo" panose="020B0609030804020204" pitchFamily="49" charset="0"/>
              </a:rPr>
              <a:t>.setVisible</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true</a:t>
            </a:r>
            <a:r>
              <a:rPr lang="en-IN" sz="1400" dirty="0">
                <a:solidFill>
                  <a:srgbClr val="000000"/>
                </a:solidFill>
                <a:effectLst/>
                <a:latin typeface="Menlo" panose="020B0609030804020204" pitchFamily="49" charset="0"/>
              </a:rPr>
              <a:t>); </a:t>
            </a:r>
            <a:r>
              <a:rPr lang="en-IN" sz="1400" b="1" dirty="0" err="1">
                <a:solidFill>
                  <a:srgbClr val="7F0055"/>
                </a:solidFill>
                <a:effectLst/>
                <a:latin typeface="Menlo" panose="020B0609030804020204" pitchFamily="49" charset="0"/>
              </a:rPr>
              <a:t>this</a:t>
            </a:r>
            <a:r>
              <a:rPr lang="en-IN" sz="1400" dirty="0" err="1">
                <a:solidFill>
                  <a:srgbClr val="000000"/>
                </a:solidFill>
                <a:effectLst/>
                <a:latin typeface="Menlo" panose="020B0609030804020204" pitchFamily="49" charset="0"/>
              </a:rPr>
              <a:t>.setSize</a:t>
            </a:r>
            <a:r>
              <a:rPr lang="en-IN" sz="1400" dirty="0">
                <a:solidFill>
                  <a:srgbClr val="000000"/>
                </a:solidFill>
                <a:effectLst/>
                <a:latin typeface="Menlo" panose="020B0609030804020204" pitchFamily="49" charset="0"/>
              </a:rPr>
              <a:t>(500,500);</a:t>
            </a:r>
          </a:p>
          <a:p>
            <a:pPr marL="0" marR="0" indent="0">
              <a:spcBef>
                <a:spcPts val="0"/>
              </a:spcBef>
              <a:spcAft>
                <a:spcPts val="0"/>
              </a:spcAft>
              <a:buNone/>
            </a:pPr>
            <a:r>
              <a:rPr lang="en-IN" sz="1400" dirty="0">
                <a:solidFill>
                  <a:srgbClr val="0000C0"/>
                </a:solidFill>
                <a:effectLst/>
                <a:latin typeface="Menlo" panose="020B0609030804020204" pitchFamily="49" charset="0"/>
              </a:rPr>
              <a:t>fc</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new</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JFileChooser</a:t>
            </a:r>
            <a:r>
              <a:rPr lang="en-IN" sz="1400" dirty="0">
                <a:solidFill>
                  <a:srgbClr val="000000"/>
                </a:solidFill>
                <a:effectLst/>
                <a:latin typeface="Menlo" panose="020B0609030804020204" pitchFamily="49" charset="0"/>
              </a:rPr>
              <a:t>(); </a:t>
            </a:r>
            <a:r>
              <a:rPr lang="en-IN" sz="1400" dirty="0" err="1">
                <a:solidFill>
                  <a:srgbClr val="0000C0"/>
                </a:solidFill>
                <a:effectLst/>
                <a:latin typeface="Menlo" panose="020B0609030804020204" pitchFamily="49" charset="0"/>
              </a:rPr>
              <a:t>fc</a:t>
            </a:r>
            <a:r>
              <a:rPr lang="en-IN" sz="1400" dirty="0" err="1">
                <a:solidFill>
                  <a:srgbClr val="000000"/>
                </a:solidFill>
                <a:effectLst/>
                <a:latin typeface="Menlo" panose="020B0609030804020204" pitchFamily="49" charset="0"/>
              </a:rPr>
              <a:t>.addActionListener</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this</a:t>
            </a:r>
            <a:r>
              <a:rPr lang="en-IN" sz="1400" dirty="0">
                <a:solidFill>
                  <a:srgbClr val="000000"/>
                </a:solidFill>
                <a:effectLst/>
                <a:latin typeface="Menlo" panose="020B0609030804020204" pitchFamily="49" charset="0"/>
              </a:rPr>
              <a:t>); </a:t>
            </a:r>
            <a:r>
              <a:rPr lang="en-IN" sz="1400" dirty="0" err="1">
                <a:solidFill>
                  <a:srgbClr val="0000C0"/>
                </a:solidFill>
                <a:effectLst/>
                <a:latin typeface="Menlo" panose="020B0609030804020204" pitchFamily="49" charset="0"/>
              </a:rPr>
              <a:t>fc</a:t>
            </a:r>
            <a:r>
              <a:rPr lang="en-IN" sz="1400" dirty="0" err="1">
                <a:solidFill>
                  <a:srgbClr val="000000"/>
                </a:solidFill>
                <a:effectLst/>
                <a:latin typeface="Menlo" panose="020B0609030804020204" pitchFamily="49" charset="0"/>
              </a:rPr>
              <a:t>.setLayout</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new</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FlowLayout</a:t>
            </a:r>
            <a:r>
              <a:rPr lang="en-IN" sz="1400" dirty="0">
                <a:solidFill>
                  <a:srgbClr val="000000"/>
                </a:solidFill>
                <a:effectLst/>
                <a:latin typeface="Menlo" panose="020B0609030804020204" pitchFamily="49" charset="0"/>
              </a:rPr>
              <a:t>()); </a:t>
            </a:r>
            <a:r>
              <a:rPr lang="en-IN" sz="1400" dirty="0" err="1">
                <a:solidFill>
                  <a:srgbClr val="6A3E3E"/>
                </a:solidFill>
                <a:effectLst/>
                <a:latin typeface="Menlo" panose="020B0609030804020204" pitchFamily="49" charset="0"/>
              </a:rPr>
              <a:t>c</a:t>
            </a:r>
            <a:r>
              <a:rPr lang="en-IN" sz="1400" dirty="0" err="1">
                <a:solidFill>
                  <a:srgbClr val="000000"/>
                </a:solidFill>
                <a:effectLst/>
                <a:latin typeface="Menlo" panose="020B0609030804020204" pitchFamily="49" charset="0"/>
              </a:rPr>
              <a:t>.add</a:t>
            </a:r>
            <a:r>
              <a:rPr lang="en-IN" sz="1400" dirty="0">
                <a:solidFill>
                  <a:srgbClr val="000000"/>
                </a:solidFill>
                <a:effectLst/>
                <a:latin typeface="Menlo" panose="020B0609030804020204" pitchFamily="49" charset="0"/>
              </a:rPr>
              <a:t>(</a:t>
            </a:r>
            <a:r>
              <a:rPr lang="en-IN" sz="1400" dirty="0">
                <a:solidFill>
                  <a:srgbClr val="0000C0"/>
                </a:solidFill>
                <a:effectLst/>
                <a:latin typeface="Menlo" panose="020B0609030804020204" pitchFamily="49" charset="0"/>
              </a:rPr>
              <a:t>fc</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b="1" dirty="0">
                <a:solidFill>
                  <a:srgbClr val="7F0055"/>
                </a:solidFill>
                <a:effectLst/>
                <a:latin typeface="Menlo" panose="020B0609030804020204" pitchFamily="49" charset="0"/>
              </a:rPr>
              <a:t>public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actionPerformed</a:t>
            </a:r>
            <a:r>
              <a:rPr lang="en-IN" sz="1400" dirty="0">
                <a:solidFill>
                  <a:srgbClr val="000000"/>
                </a:solidFill>
                <a:effectLst/>
                <a:latin typeface="Menlo" panose="020B0609030804020204" pitchFamily="49" charset="0"/>
              </a:rPr>
              <a:t>(</a:t>
            </a:r>
            <a:r>
              <a:rPr lang="en-IN" sz="1400" dirty="0" err="1">
                <a:solidFill>
                  <a:srgbClr val="000000"/>
                </a:solidFill>
                <a:effectLst/>
                <a:latin typeface="Menlo" panose="020B0609030804020204" pitchFamily="49" charset="0"/>
              </a:rPr>
              <a:t>ActionEvent</a:t>
            </a:r>
            <a:r>
              <a:rPr lang="en-IN" sz="1400" dirty="0">
                <a:solidFill>
                  <a:srgbClr val="000000"/>
                </a:solidFill>
                <a:effectLst/>
                <a:latin typeface="Menlo" panose="020B0609030804020204" pitchFamily="49" charset="0"/>
              </a:rPr>
              <a:t> </a:t>
            </a:r>
            <a:r>
              <a:rPr lang="en-IN" sz="1400" dirty="0">
                <a:solidFill>
                  <a:srgbClr val="6A3E3E"/>
                </a:solidFill>
                <a:effectLst/>
                <a:latin typeface="Menlo" panose="020B0609030804020204" pitchFamily="49" charset="0"/>
              </a:rPr>
              <a:t>ae</a:t>
            </a:r>
            <a:r>
              <a:rPr lang="en-IN" sz="1400" dirty="0">
                <a:solidFill>
                  <a:srgbClr val="000000"/>
                </a:solidFill>
                <a:effectLst/>
                <a:latin typeface="Menlo" panose="020B0609030804020204" pitchFamily="49" charset="0"/>
              </a:rPr>
              <a:t>) { </a:t>
            </a:r>
          </a:p>
          <a:p>
            <a:pPr marL="0" marR="0" indent="0">
              <a:spcBef>
                <a:spcPts val="0"/>
              </a:spcBef>
              <a:spcAft>
                <a:spcPts val="0"/>
              </a:spcAft>
              <a:buNone/>
            </a:pPr>
            <a:r>
              <a:rPr lang="en-IN" sz="1400" dirty="0">
                <a:solidFill>
                  <a:srgbClr val="000000"/>
                </a:solidFill>
                <a:effectLst/>
                <a:latin typeface="Menlo" panose="020B0609030804020204" pitchFamily="49" charset="0"/>
              </a:rPr>
              <a:t>File </a:t>
            </a:r>
            <a:r>
              <a:rPr lang="en-IN" sz="1400" dirty="0">
                <a:solidFill>
                  <a:srgbClr val="6A3E3E"/>
                </a:solidFill>
                <a:effectLst/>
                <a:latin typeface="Menlo" panose="020B0609030804020204" pitchFamily="49" charset="0"/>
              </a:rPr>
              <a:t>f</a:t>
            </a:r>
            <a:r>
              <a:rPr lang="en-IN" sz="1400" dirty="0">
                <a:solidFill>
                  <a:srgbClr val="000000"/>
                </a:solidFill>
                <a:effectLst/>
                <a:latin typeface="Menlo" panose="020B0609030804020204" pitchFamily="49" charset="0"/>
              </a:rPr>
              <a:t>=</a:t>
            </a:r>
            <a:r>
              <a:rPr lang="en-IN" sz="1400" dirty="0" err="1">
                <a:solidFill>
                  <a:srgbClr val="0000C0"/>
                </a:solidFill>
                <a:effectLst/>
                <a:latin typeface="Menlo" panose="020B0609030804020204" pitchFamily="49" charset="0"/>
              </a:rPr>
              <a:t>fc</a:t>
            </a:r>
            <a:r>
              <a:rPr lang="en-IN" sz="1400" dirty="0" err="1">
                <a:solidFill>
                  <a:srgbClr val="000000"/>
                </a:solidFill>
                <a:effectLst/>
                <a:latin typeface="Menlo" panose="020B0609030804020204" pitchFamily="49" charset="0"/>
              </a:rPr>
              <a:t>.getSelectedFile</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000000"/>
                </a:solidFill>
                <a:effectLst/>
                <a:latin typeface="Menlo" panose="020B0609030804020204" pitchFamily="49" charset="0"/>
              </a:rPr>
              <a:t>String </a:t>
            </a:r>
            <a:r>
              <a:rPr lang="en-IN" sz="1400" dirty="0">
                <a:solidFill>
                  <a:srgbClr val="6A3E3E"/>
                </a:solidFill>
                <a:effectLst/>
                <a:latin typeface="Menlo" panose="020B0609030804020204" pitchFamily="49" charset="0"/>
              </a:rPr>
              <a:t>path</a:t>
            </a:r>
            <a:r>
              <a:rPr lang="en-IN" sz="1400" dirty="0">
                <a:solidFill>
                  <a:srgbClr val="000000"/>
                </a:solidFill>
                <a:effectLst/>
                <a:latin typeface="Menlo" panose="020B0609030804020204" pitchFamily="49" charset="0"/>
              </a:rPr>
              <a:t>=</a:t>
            </a:r>
            <a:r>
              <a:rPr lang="en-IN" sz="1400" dirty="0" err="1">
                <a:solidFill>
                  <a:srgbClr val="6A3E3E"/>
                </a:solidFill>
                <a:effectLst/>
                <a:latin typeface="Menlo" panose="020B0609030804020204" pitchFamily="49" charset="0"/>
              </a:rPr>
              <a:t>f</a:t>
            </a:r>
            <a:r>
              <a:rPr lang="en-IN" sz="1400" dirty="0" err="1">
                <a:solidFill>
                  <a:srgbClr val="000000"/>
                </a:solidFill>
                <a:effectLst/>
                <a:latin typeface="Menlo" panose="020B0609030804020204" pitchFamily="49" charset="0"/>
              </a:rPr>
              <a:t>.getAbsolutePath</a:t>
            </a: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dirty="0" err="1">
                <a:solidFill>
                  <a:srgbClr val="0000C0"/>
                </a:solidFill>
                <a:effectLst/>
                <a:latin typeface="Menlo" panose="020B0609030804020204" pitchFamily="49" charset="0"/>
              </a:rPr>
              <a:t>tf</a:t>
            </a:r>
            <a:r>
              <a:rPr lang="en-IN" sz="1400" dirty="0" err="1">
                <a:solidFill>
                  <a:srgbClr val="000000"/>
                </a:solidFill>
                <a:effectLst/>
                <a:latin typeface="Menlo" panose="020B0609030804020204" pitchFamily="49" charset="0"/>
              </a:rPr>
              <a:t>.setText</a:t>
            </a:r>
            <a:r>
              <a:rPr lang="en-IN" sz="1400" dirty="0">
                <a:solidFill>
                  <a:srgbClr val="000000"/>
                </a:solidFill>
                <a:effectLst/>
                <a:latin typeface="Menlo" panose="020B0609030804020204" pitchFamily="49" charset="0"/>
              </a:rPr>
              <a:t>(</a:t>
            </a:r>
            <a:r>
              <a:rPr lang="en-IN" sz="1400" dirty="0">
                <a:solidFill>
                  <a:srgbClr val="6A3E3E"/>
                </a:solidFill>
                <a:effectLst/>
                <a:latin typeface="Menlo" panose="020B0609030804020204" pitchFamily="49" charset="0"/>
              </a:rPr>
              <a:t>path</a:t>
            </a: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b="1" dirty="0" err="1">
                <a:solidFill>
                  <a:srgbClr val="7F0055"/>
                </a:solidFill>
                <a:effectLst/>
                <a:latin typeface="Menlo" panose="020B0609030804020204" pitchFamily="49" charset="0"/>
              </a:rPr>
              <a:t>this</a:t>
            </a:r>
            <a:r>
              <a:rPr lang="en-IN" sz="1400" dirty="0" err="1">
                <a:solidFill>
                  <a:srgbClr val="000000"/>
                </a:solidFill>
                <a:effectLst/>
                <a:latin typeface="Menlo" panose="020B0609030804020204" pitchFamily="49" charset="0"/>
              </a:rPr>
              <a:t>.setVisible</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false</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b="1" dirty="0">
                <a:solidFill>
                  <a:srgbClr val="7F0055"/>
                </a:solidFill>
                <a:effectLst/>
                <a:latin typeface="Menlo" panose="020B0609030804020204" pitchFamily="49" charset="0"/>
              </a:rPr>
              <a:t>new</a:t>
            </a:r>
            <a:r>
              <a:rPr lang="en-IN" sz="1400" dirty="0">
                <a:solidFill>
                  <a:srgbClr val="000000"/>
                </a:solidFill>
                <a:effectLst/>
                <a:latin typeface="Menlo" panose="020B0609030804020204" pitchFamily="49" charset="0"/>
              </a:rPr>
              <a:t> FileChooser1();</a:t>
            </a:r>
          </a:p>
          <a:p>
            <a:pPr marL="0" marR="0" indent="0">
              <a:spcBef>
                <a:spcPts val="0"/>
              </a:spcBef>
              <a:spcAft>
                <a:spcPts val="0"/>
              </a:spcAft>
              <a:buNone/>
            </a:pP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000000"/>
                </a:solidFill>
                <a:effectLst/>
                <a:latin typeface="Menlo" panose="020B0609030804020204" pitchFamily="49" charset="0"/>
              </a:rPr>
              <a:t>}</a:t>
            </a:r>
          </a:p>
          <a:p>
            <a:pPr marL="0" indent="0">
              <a:buNone/>
            </a:pPr>
            <a:endParaRPr lang="en-US" sz="2400" dirty="0"/>
          </a:p>
        </p:txBody>
      </p:sp>
      <p:sp>
        <p:nvSpPr>
          <p:cNvPr id="4" name="Footer Placeholder 3">
            <a:extLst>
              <a:ext uri="{FF2B5EF4-FFF2-40B4-BE49-F238E27FC236}">
                <a16:creationId xmlns:a16="http://schemas.microsoft.com/office/drawing/2014/main" id="{69A196A5-6CCD-76BE-D348-E4692E1FE973}"/>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19799012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2311C-2327-45BA-8A94-AB7E0F949BF0}"/>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5F0F73F3-0445-4917-8154-FA39514F8269}"/>
              </a:ext>
            </a:extLst>
          </p:cNvPr>
          <p:cNvSpPr>
            <a:spLocks noGrp="1"/>
          </p:cNvSpPr>
          <p:nvPr>
            <p:ph idx="1"/>
          </p:nvPr>
        </p:nvSpPr>
        <p:spPr>
          <a:xfrm>
            <a:off x="457200" y="1869440"/>
            <a:ext cx="8229600" cy="2966720"/>
          </a:xfrm>
        </p:spPr>
        <p:txBody>
          <a:bodyPr/>
          <a:lstStyle/>
          <a:p>
            <a:pPr marL="0" indent="0" algn="ctr">
              <a:buNone/>
            </a:pPr>
            <a:r>
              <a:rPr lang="en-IN" sz="6600" dirty="0">
                <a:solidFill>
                  <a:srgbClr val="002060"/>
                </a:solidFill>
                <a:latin typeface="Times New Roman" panose="02020603050405020304" pitchFamily="18" charset="0"/>
                <a:cs typeface="Times New Roman" panose="02020603050405020304" pitchFamily="18" charset="0"/>
              </a:rPr>
              <a:t>THANK</a:t>
            </a:r>
          </a:p>
          <a:p>
            <a:pPr marL="0" indent="0" algn="ctr">
              <a:buNone/>
            </a:pPr>
            <a:r>
              <a:rPr lang="en-IN" sz="6600" dirty="0">
                <a:solidFill>
                  <a:srgbClr val="002060"/>
                </a:solidFill>
                <a:latin typeface="Times New Roman" panose="02020603050405020304" pitchFamily="18" charset="0"/>
                <a:cs typeface="Times New Roman" panose="02020603050405020304" pitchFamily="18" charset="0"/>
              </a:rPr>
              <a:t>YOU</a:t>
            </a:r>
          </a:p>
        </p:txBody>
      </p:sp>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1000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klu">
  <a:themeElements>
    <a:clrScheme name="Custom 4">
      <a:dk1>
        <a:sysClr val="windowText" lastClr="000000"/>
      </a:dk1>
      <a:lt1>
        <a:sysClr val="window" lastClr="FFFFFF"/>
      </a:lt1>
      <a:dk2>
        <a:srgbClr val="1F497D"/>
      </a:dk2>
      <a:lt2>
        <a:srgbClr val="EEECE1"/>
      </a:lt2>
      <a:accent1>
        <a:srgbClr val="000000"/>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57797</TotalTime>
  <Words>11188</Words>
  <Application>Microsoft Macintosh PowerPoint</Application>
  <PresentationFormat>On-screen Show (4:3)</PresentationFormat>
  <Paragraphs>1611</Paragraphs>
  <Slides>100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100</vt:i4>
      </vt:variant>
    </vt:vector>
  </HeadingPairs>
  <TitlesOfParts>
    <vt:vector size="110" baseType="lpstr">
      <vt:lpstr>Arial</vt:lpstr>
      <vt:lpstr>Calibri</vt:lpstr>
      <vt:lpstr>Calibri,Bold</vt:lpstr>
      <vt:lpstr>Calibri,BoldItalic</vt:lpstr>
      <vt:lpstr>Calibri,Italic</vt:lpstr>
      <vt:lpstr>Cambria</vt:lpstr>
      <vt:lpstr>Cambria,Italic</vt:lpstr>
      <vt:lpstr>Menlo</vt:lpstr>
      <vt:lpstr>Times New Roman</vt:lpstr>
      <vt:lpstr>klu</vt:lpstr>
      <vt:lpstr> </vt:lpstr>
      <vt:lpstr>PowerPoint Presentation</vt:lpstr>
      <vt:lpstr>PowerPoint Presentation</vt:lpstr>
      <vt:lpstr>Classes of AWT</vt:lpstr>
      <vt:lpstr>Frame Class</vt:lpstr>
      <vt:lpstr>Constructors</vt:lpstr>
      <vt:lpstr>Characteristics of the Frame</vt:lpstr>
      <vt:lpstr>PowerPoint Presentation</vt:lpstr>
      <vt:lpstr>CREATION OF FRMAE</vt:lpstr>
      <vt:lpstr>CRATION OF FRAME BY TAKING USER DEFINED CLASS</vt:lpstr>
      <vt:lpstr>display text on the screen</vt:lpstr>
      <vt:lpstr>PowerPoint Presentation</vt:lpstr>
      <vt:lpstr>PowerPoint Presentation</vt:lpstr>
      <vt:lpstr>Preparation of the components</vt:lpstr>
      <vt:lpstr>PowerPoint Presentation</vt:lpstr>
      <vt:lpstr>TextField</vt:lpstr>
      <vt:lpstr>PowerPoint Presentation</vt:lpstr>
      <vt:lpstr>TextArea</vt:lpstr>
      <vt:lpstr>PowerPoint Presentation</vt:lpstr>
      <vt:lpstr>Choice</vt:lpstr>
      <vt:lpstr>PowerPoint Presentation</vt:lpstr>
      <vt:lpstr>PowerPoint Presentation</vt:lpstr>
      <vt:lpstr>List</vt:lpstr>
      <vt:lpstr>PowerPoint Presentation</vt:lpstr>
      <vt:lpstr>PowerPoint Presentation</vt:lpstr>
      <vt:lpstr>Checkbox</vt:lpstr>
      <vt:lpstr>CheckBox Methods</vt:lpstr>
      <vt:lpstr>PowerPoint Presentation</vt:lpstr>
      <vt:lpstr>RADIO BUTTON</vt:lpstr>
      <vt:lpstr>PowerPoint Presentation</vt:lpstr>
      <vt:lpstr>PowerPoint Presentation</vt:lpstr>
      <vt:lpstr>Layout Managers</vt:lpstr>
      <vt:lpstr>Event delegation model</vt:lpstr>
      <vt:lpstr>Event</vt:lpstr>
      <vt:lpstr>PowerPoint Presentation</vt:lpstr>
      <vt:lpstr>PowerPoint Presentation</vt:lpstr>
      <vt:lpstr>PowerPoint Presentation</vt:lpstr>
      <vt:lpstr>PowerPoint Presentation</vt:lpstr>
      <vt:lpstr>ScrollBar</vt:lpstr>
      <vt:lpstr>Appropriate Listeners for Components</vt:lpstr>
      <vt:lpstr>Appropriate Listeners for Components</vt:lpstr>
      <vt:lpstr>PROVIDING CLOSING OPTION TO THE FRAME </vt:lpstr>
      <vt:lpstr>PROVIDING CLOSING OPTION TO THE FRAME </vt:lpstr>
      <vt:lpstr>PROVIDING CLOSING OPTION TO THE FRAME </vt:lpstr>
      <vt:lpstr>PROVIDING CLOSEING OPTION THE FRAME </vt:lpstr>
      <vt:lpstr>PowerPoint Presentation</vt:lpstr>
      <vt:lpstr>PROVIDING CLOSEING OPTION THE FRAME </vt:lpstr>
      <vt:lpstr>WRITE SOME TEXT INTO THE FRAME </vt:lpstr>
      <vt:lpstr>LAYOUT MACHANISUMS- FLOWLAYOUT</vt:lpstr>
      <vt:lpstr>BORDERLAYOUT</vt:lpstr>
      <vt:lpstr>PowerPoint Presentation</vt:lpstr>
      <vt:lpstr>PowerPoint Presentation</vt:lpstr>
      <vt:lpstr>CardLayout</vt:lpstr>
      <vt:lpstr>GridLayout</vt:lpstr>
      <vt:lpstr>PowerPoint Presentation</vt:lpstr>
      <vt:lpstr>PowerPoint Presentation</vt:lpstr>
      <vt:lpstr>BoxLayout with X-AXIS</vt:lpstr>
      <vt:lpstr>BoxLayout with LINE-AXIS</vt:lpstr>
      <vt:lpstr>BoxLayout with PAGE-AXIS</vt:lpstr>
      <vt:lpstr>Login Form</vt:lpstr>
      <vt:lpstr>Login Form</vt:lpstr>
      <vt:lpstr>MENUITEMS </vt:lpstr>
      <vt:lpstr>MENUITEMS </vt:lpstr>
      <vt:lpstr>MENUITEMS </vt:lpstr>
      <vt:lpstr>MENUITEMS </vt:lpstr>
      <vt:lpstr>Event handling</vt:lpstr>
      <vt:lpstr>Applying WindowListener on the Frame </vt:lpstr>
      <vt:lpstr>PowerPoint Presentation</vt:lpstr>
      <vt:lpstr>event handling in anonymous inner class</vt:lpstr>
      <vt:lpstr>ACTIONLISTENER</vt:lpstr>
      <vt:lpstr>PowerPoint Presentation</vt:lpstr>
      <vt:lpstr>Login Form</vt:lpstr>
      <vt:lpstr>Login Form</vt:lpstr>
      <vt:lpstr>Login Form</vt:lpstr>
      <vt:lpstr>MenuItem</vt:lpstr>
      <vt:lpstr>MenuItem</vt:lpstr>
      <vt:lpstr>MouseListener</vt:lpstr>
      <vt:lpstr>MouseListener</vt:lpstr>
      <vt:lpstr>ItemListener</vt:lpstr>
      <vt:lpstr>ItemListener</vt:lpstr>
      <vt:lpstr>ItemListener</vt:lpstr>
      <vt:lpstr>KeyboardListener</vt:lpstr>
      <vt:lpstr>Swings</vt:lpstr>
      <vt:lpstr>AWT vs Swings</vt:lpstr>
      <vt:lpstr>PowerPoint Presentation</vt:lpstr>
      <vt:lpstr>PowerPoint Presentation</vt:lpstr>
      <vt:lpstr>JFrame Demo</vt:lpstr>
      <vt:lpstr>SWING GUI COMPONENTS EXAMPLE </vt:lpstr>
      <vt:lpstr>PowerPoint Presentation</vt:lpstr>
      <vt:lpstr>PowerPoint Presentation</vt:lpstr>
      <vt:lpstr>PowerPoint Presentation</vt:lpstr>
      <vt:lpstr>ImageIcon in Swings</vt:lpstr>
      <vt:lpstr>MessageDialog in Swings</vt:lpstr>
      <vt:lpstr>MessageDialog in Swings</vt:lpstr>
      <vt:lpstr>JTable Demo</vt:lpstr>
      <vt:lpstr>JColorChooser</vt:lpstr>
      <vt:lpstr>JColorChooser</vt:lpstr>
      <vt:lpstr>JFileChooser</vt:lpstr>
      <vt:lpstr>JFileChooser</vt:lpstr>
      <vt:lpstr>                           </vt:lpstr>
    </vt:vector>
  </TitlesOfParts>
  <Company>FAMU-FSU College of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Extended Surfaces/Fins</dc:title>
  <dc:creator>C. Shih</dc:creator>
  <cp:lastModifiedBy>NAVEEN KUMAR</cp:lastModifiedBy>
  <cp:revision>1440</cp:revision>
  <cp:lastPrinted>1999-01-11T10:11:19Z</cp:lastPrinted>
  <dcterms:created xsi:type="dcterms:W3CDTF">1999-01-07T21:51:57Z</dcterms:created>
  <dcterms:modified xsi:type="dcterms:W3CDTF">2024-10-05T03:53:05Z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1</vt:i4>
  </property>
  <property fmtid="{D5CDD505-2E9C-101B-9397-08002B2CF9AE}" pid="7" name="MailAddress">
    <vt:lpwstr/>
  </property>
  <property fmtid="{D5CDD505-2E9C-101B-9397-08002B2CF9AE}" pid="8" name="HomePage">
    <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1</vt:i4>
  </property>
  <property fmtid="{D5CDD505-2E9C-101B-9397-08002B2CF9AE}" pid="19" name="ShowNotes">
    <vt:bool>false</vt:bool>
  </property>
  <property fmtid="{D5CDD505-2E9C-101B-9397-08002B2CF9AE}" pid="20" name="NavBtnPos">
    <vt:i4>1</vt:i4>
  </property>
  <property fmtid="{D5CDD505-2E9C-101B-9397-08002B2CF9AE}" pid="21" name="OutputDir">
    <vt:lpwstr>E:\public_html\eml3016\lecture-notes</vt:lpwstr>
  </property>
</Properties>
</file>