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55"/>
  </p:notesMasterIdLst>
  <p:sldIdLst>
    <p:sldId id="856" r:id="rId2"/>
    <p:sldId id="909" r:id="rId3"/>
    <p:sldId id="958" r:id="rId4"/>
    <p:sldId id="959" r:id="rId5"/>
    <p:sldId id="929" r:id="rId6"/>
    <p:sldId id="930" r:id="rId7"/>
    <p:sldId id="937" r:id="rId8"/>
    <p:sldId id="931" r:id="rId9"/>
    <p:sldId id="951" r:id="rId10"/>
    <p:sldId id="932" r:id="rId11"/>
    <p:sldId id="933" r:id="rId12"/>
    <p:sldId id="934" r:id="rId13"/>
    <p:sldId id="935" r:id="rId14"/>
    <p:sldId id="936" r:id="rId15"/>
    <p:sldId id="938" r:id="rId16"/>
    <p:sldId id="939" r:id="rId17"/>
    <p:sldId id="911" r:id="rId18"/>
    <p:sldId id="940" r:id="rId19"/>
    <p:sldId id="941" r:id="rId20"/>
    <p:sldId id="942" r:id="rId21"/>
    <p:sldId id="943" r:id="rId22"/>
    <p:sldId id="944" r:id="rId23"/>
    <p:sldId id="945" r:id="rId24"/>
    <p:sldId id="946" r:id="rId25"/>
    <p:sldId id="947" r:id="rId26"/>
    <p:sldId id="948" r:id="rId27"/>
    <p:sldId id="949" r:id="rId28"/>
    <p:sldId id="950" r:id="rId29"/>
    <p:sldId id="952" r:id="rId30"/>
    <p:sldId id="953" r:id="rId31"/>
    <p:sldId id="954" r:id="rId32"/>
    <p:sldId id="955" r:id="rId33"/>
    <p:sldId id="956" r:id="rId34"/>
    <p:sldId id="957" r:id="rId35"/>
    <p:sldId id="960" r:id="rId36"/>
    <p:sldId id="961" r:id="rId37"/>
    <p:sldId id="962" r:id="rId38"/>
    <p:sldId id="963" r:id="rId39"/>
    <p:sldId id="964" r:id="rId40"/>
    <p:sldId id="965" r:id="rId41"/>
    <p:sldId id="966" r:id="rId42"/>
    <p:sldId id="967" r:id="rId43"/>
    <p:sldId id="968" r:id="rId44"/>
    <p:sldId id="969" r:id="rId45"/>
    <p:sldId id="970" r:id="rId46"/>
    <p:sldId id="972" r:id="rId47"/>
    <p:sldId id="971" r:id="rId48"/>
    <p:sldId id="973" r:id="rId49"/>
    <p:sldId id="974" r:id="rId50"/>
    <p:sldId id="975" r:id="rId51"/>
    <p:sldId id="976" r:id="rId52"/>
    <p:sldId id="977" r:id="rId53"/>
    <p:sldId id="912" r:id="rId5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4" autoAdjust="0"/>
    <p:restoredTop sz="94660"/>
  </p:normalViewPr>
  <p:slideViewPr>
    <p:cSldViewPr snapToGrid="0">
      <p:cViewPr varScale="1">
        <p:scale>
          <a:sx n="108" d="100"/>
          <a:sy n="108" d="100"/>
        </p:scale>
        <p:origin x="1808" y="1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9/8/24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D47EF12-65BD-7C4F-9F7B-34D4C4081BE4}" type="datetime2">
              <a:rPr lang="en-IN" smtClean="0"/>
              <a:t>Sunday, 8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C2E714-9726-5648-9805-25298B5CD9CE}" type="datetime2">
              <a:rPr lang="en-IN" smtClean="0"/>
              <a:t>Sunday, 8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F9BDA7-1C76-B64C-BFBB-2DD8FC0B0462}" type="datetime2">
              <a:rPr lang="en-IN" smtClean="0"/>
              <a:t>Sunday, 8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98B5F28-82C4-1145-9D91-07DC8A145CD6}" type="datetime2">
              <a:rPr lang="en-IN" smtClean="0"/>
              <a:t>Sunday, 8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269DB47-0C5F-214C-984E-9FA2FDCE5959}" type="datetime2">
              <a:rPr lang="en-IN" smtClean="0"/>
              <a:t>Sunday, 8 September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115A5C6-3EDE-F34D-8A0B-B78A5ED65DBC}" type="datetime2">
              <a:rPr lang="en-IN" smtClean="0"/>
              <a:t>Sunday, 8 September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3E72BB3-4F7C-364E-8373-EEF309789028}" type="datetime2">
              <a:rPr lang="en-IN" smtClean="0"/>
              <a:t>Sunday, 8 September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098D0D7-D7EC-A246-AF20-4745B06F0BA4}" type="datetime2">
              <a:rPr lang="en-IN" smtClean="0"/>
              <a:t>Sunday, 8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A9B953-6580-D14A-A678-2705D9C7652D}" type="datetime2">
              <a:rPr lang="en-IN" smtClean="0"/>
              <a:t>Sunday, 8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3EAFF8-687A-514E-B383-6E43393718A3}" type="datetime2">
              <a:rPr lang="en-IN" smtClean="0"/>
              <a:t>Sunday, 8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74D9C74-6258-E24C-8933-2C029557A4C8}" type="datetime2">
              <a:rPr lang="en-IN" smtClean="0"/>
              <a:t>Sunday, 8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309DFE74-1456-C246-9145-41276736739F}" type="datetime2">
              <a:rPr lang="en-IN" smtClean="0"/>
              <a:t>Sunday, 8 September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java-string-charat-method-example/" TargetMode="External"/><Relationship Id="rId2" Type="http://schemas.openxmlformats.org/officeDocument/2006/relationships/hyperlink" Target="https://www.geeksforgeeks.org/java-string-length-method-with-examples/" TargetMode="External"/><Relationship Id="rId1" Type="http://schemas.openxmlformats.org/officeDocument/2006/relationships/slideLayout" Target="../slideLayouts/slideLayout2.xml"/><Relationship Id="rId5" Type="http://schemas.openxmlformats.org/officeDocument/2006/relationships/hyperlink" Target="https://www.geeksforgeeks.org/java-string-concat-examples/" TargetMode="External"/><Relationship Id="rId4" Type="http://schemas.openxmlformats.org/officeDocument/2006/relationships/hyperlink" Target="https://www.geeksforgeeks.org/substring-in-java/" TargetMode="External"/></Relationships>
</file>

<file path=ppt/slides/_rels/slide39.xml.rels><?xml version="1.0" encoding="UTF-8" standalone="yes"?>
<Relationships xmlns="http://schemas.openxmlformats.org/package/2006/relationships"><Relationship Id="rId2" Type="http://schemas.openxmlformats.org/officeDocument/2006/relationships/hyperlink" Target="https://www.geeksforgeeks.org/java-string-indexo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boolean-equals-method-in-java-with-examples/" TargetMode="External"/><Relationship Id="rId2" Type="http://schemas.openxmlformats.org/officeDocument/2006/relationships/hyperlink" Target="https://www.geeksforgeeks.org/java-lang-string-lastindexof-method/"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geeksforgeeks.org/java-lang-string-compareto/" TargetMode="External"/><Relationship Id="rId2" Type="http://schemas.openxmlformats.org/officeDocument/2006/relationships/hyperlink" Target="https://www.geeksforgeeks.org/equalsignorecase-in-java/"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java-string-tolowercase-examples/" TargetMode="External"/><Relationship Id="rId2" Type="http://schemas.openxmlformats.org/officeDocument/2006/relationships/hyperlink" Target="https://www.geeksforgeeks.org/java-string-compareto-method-with-example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java-string-trim-method-example/" TargetMode="External"/><Relationship Id="rId2" Type="http://schemas.openxmlformats.org/officeDocument/2006/relationships/hyperlink" Target="https://www.geeksforgeeks.org/java-touppercase-example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java-string-contains-method-example/" TargetMode="External"/><Relationship Id="rId2" Type="http://schemas.openxmlformats.org/officeDocument/2006/relationships/hyperlink" Target="https://www.geeksforgeeks.org/java-lang-string-replace-method-jav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string-startswith-method-in-java-with-examples/" TargetMode="External"/><Relationship Id="rId2" Type="http://schemas.openxmlformats.org/officeDocument/2006/relationships/hyperlink" Target="https://www.geeksforgeeks.org/java-string-tochararray-exampl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lnSpc>
                <a:spcPct val="150000"/>
              </a:lnSpc>
              <a:spcBef>
                <a:spcPts val="300"/>
              </a:spcBef>
              <a:spcAft>
                <a:spcPts val="300"/>
              </a:spcAft>
              <a:buNone/>
            </a:pPr>
            <a:r>
              <a:rPr lang="en-IN" sz="2400" dirty="0"/>
              <a:t>                      </a:t>
            </a:r>
          </a:p>
        </p:txBody>
      </p:sp>
      <p:sp>
        <p:nvSpPr>
          <p:cNvPr id="3" name="TextBox 2">
            <a:extLst>
              <a:ext uri="{FF2B5EF4-FFF2-40B4-BE49-F238E27FC236}">
                <a16:creationId xmlns:a16="http://schemas.microsoft.com/office/drawing/2014/main" id="{D7FD7860-D0D8-4767-99A5-DFFBF448064D}"/>
              </a:ext>
            </a:extLst>
          </p:cNvPr>
          <p:cNvSpPr txBox="1"/>
          <p:nvPr/>
        </p:nvSpPr>
        <p:spPr>
          <a:xfrm>
            <a:off x="2418572" y="1685542"/>
            <a:ext cx="4667463" cy="1323439"/>
          </a:xfrm>
          <a:prstGeom prst="rect">
            <a:avLst/>
          </a:prstGeom>
          <a:noFill/>
        </p:spPr>
        <p:txBody>
          <a:bodyPr wrap="square" rtlCol="0">
            <a:spAutoFit/>
          </a:bodyPr>
          <a:lstStyle/>
          <a:p>
            <a:r>
              <a:rPr lang="en-IN" sz="8000" dirty="0">
                <a:solidFill>
                  <a:srgbClr val="C00000"/>
                </a:solidFill>
                <a:ea typeface="Cambria" panose="02040503050406030204" pitchFamily="18" charset="0"/>
                <a:cs typeface="Times New Roman" panose="02020603050405020304" pitchFamily="18" charset="0"/>
              </a:rPr>
              <a:t>Session 14</a:t>
            </a:r>
          </a:p>
        </p:txBody>
      </p:sp>
      <p:sp>
        <p:nvSpPr>
          <p:cNvPr id="6" name="TextBox 5">
            <a:extLst>
              <a:ext uri="{FF2B5EF4-FFF2-40B4-BE49-F238E27FC236}">
                <a16:creationId xmlns:a16="http://schemas.microsoft.com/office/drawing/2014/main" id="{A36DF755-1DE6-424B-B8B9-C195C91D5CC5}"/>
              </a:ext>
            </a:extLst>
          </p:cNvPr>
          <p:cNvSpPr txBox="1"/>
          <p:nvPr/>
        </p:nvSpPr>
        <p:spPr>
          <a:xfrm>
            <a:off x="2418572" y="3235049"/>
            <a:ext cx="4484504" cy="523220"/>
          </a:xfrm>
          <a:prstGeom prst="rect">
            <a:avLst/>
          </a:prstGeom>
          <a:noFill/>
        </p:spPr>
        <p:txBody>
          <a:bodyPr wrap="square" rtlCol="0">
            <a:spAutoFit/>
          </a:bodyPr>
          <a:lstStyle/>
          <a:p>
            <a:pPr algn="ctr"/>
            <a:r>
              <a:rPr lang="en-US" sz="2800" b="1" dirty="0"/>
              <a:t>String Class and Methods</a:t>
            </a:r>
            <a:endParaRPr lang="en-IN" sz="2800" b="1" dirty="0"/>
          </a:p>
        </p:txBody>
      </p:sp>
      <p:sp>
        <p:nvSpPr>
          <p:cNvPr id="7" name="Content Placeholder 4"/>
          <p:cNvSpPr txBox="1">
            <a:spLocks/>
          </p:cNvSpPr>
          <p:nvPr/>
        </p:nvSpPr>
        <p:spPr bwMode="auto">
          <a:xfrm>
            <a:off x="546024" y="4146460"/>
            <a:ext cx="8229600" cy="14944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200"/>
              </a:spcBef>
              <a:spcAft>
                <a:spcPts val="1200"/>
              </a:spcAft>
              <a:buNone/>
            </a:pPr>
            <a:r>
              <a:rPr lang="en-US" sz="2400" b="1" u="sng" dirty="0">
                <a:solidFill>
                  <a:schemeClr val="tx1"/>
                </a:solidFill>
              </a:rPr>
              <a:t>Session Outcome</a:t>
            </a:r>
            <a:endParaRPr lang="en-US" sz="2400" b="1" u="sng" dirty="0">
              <a:solidFill>
                <a:schemeClr val="tx1"/>
              </a:solidFill>
              <a:latin typeface="Times New Roman" pitchFamily="18" charset="0"/>
              <a:cs typeface="Times New Roman" pitchFamily="18" charset="0"/>
            </a:endParaRP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At the end of this session students will be able to understand Strings and use the methods in String class</a:t>
            </a:r>
          </a:p>
        </p:txBody>
      </p:sp>
      <p:sp>
        <p:nvSpPr>
          <p:cNvPr id="4" name="Footer Placeholder 3">
            <a:extLst>
              <a:ext uri="{FF2B5EF4-FFF2-40B4-BE49-F238E27FC236}">
                <a16:creationId xmlns:a16="http://schemas.microsoft.com/office/drawing/2014/main" id="{83E41F89-2F46-263A-7BD5-4B60238E2C9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66266935"/>
      </p:ext>
    </p:extLst>
  </p:cSld>
  <p:clrMapOvr>
    <a:masterClrMapping/>
  </p:clrMapOvr>
  <mc:AlternateContent xmlns:mc="http://schemas.openxmlformats.org/markup-compatibility/2006" xmlns:p14="http://schemas.microsoft.com/office/powerpoint/2010/main">
    <mc:Choice Requires="p14">
      <p:transition spd="slow" p14:dur="2000" advTm="35226"/>
    </mc:Choice>
    <mc:Fallback xmlns="">
      <p:transition spd="slow" advTm="352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Session Content</a:t>
            </a:r>
            <a:endParaRPr lang="en-IN" dirty="0"/>
          </a:p>
        </p:txBody>
      </p:sp>
      <p:sp>
        <p:nvSpPr>
          <p:cNvPr id="15" name="Content Placeholder 4"/>
          <p:cNvSpPr>
            <a:spLocks noGrp="1"/>
          </p:cNvSpPr>
          <p:nvPr>
            <p:ph idx="1"/>
          </p:nvPr>
        </p:nvSpPr>
        <p:spPr>
          <a:xfrm>
            <a:off x="457200" y="1295400"/>
            <a:ext cx="8229600" cy="4950854"/>
          </a:xfrm>
        </p:spPr>
        <p:txBody>
          <a:bodyPr/>
          <a:lstStyle/>
          <a:p>
            <a:pPr algn="just">
              <a:spcBef>
                <a:spcPts val="1200"/>
              </a:spcBef>
              <a:spcAft>
                <a:spcPts val="1200"/>
              </a:spcAft>
            </a:pPr>
            <a:r>
              <a:rPr lang="en-US" sz="2400" dirty="0">
                <a:solidFill>
                  <a:schemeClr val="tx1"/>
                </a:solidFill>
                <a:latin typeface="Times New Roman" pitchFamily="18" charset="0"/>
                <a:cs typeface="Times New Roman" pitchFamily="18" charset="0"/>
              </a:rPr>
              <a:t>String Class</a:t>
            </a:r>
          </a:p>
          <a:p>
            <a:pPr algn="just">
              <a:spcBef>
                <a:spcPts val="1200"/>
              </a:spcBef>
              <a:spcAft>
                <a:spcPts val="1200"/>
              </a:spcAft>
            </a:pPr>
            <a:r>
              <a:rPr lang="en-US" sz="2400" dirty="0">
                <a:solidFill>
                  <a:schemeClr val="tx1"/>
                </a:solidFill>
                <a:latin typeface="Times New Roman" pitchFamily="18" charset="0"/>
                <a:cs typeface="Times New Roman" pitchFamily="18" charset="0"/>
              </a:rPr>
              <a:t>Difference between String and </a:t>
            </a:r>
            <a:r>
              <a:rPr lang="en-US" sz="2400" dirty="0" err="1">
                <a:solidFill>
                  <a:schemeClr val="tx1"/>
                </a:solidFill>
                <a:latin typeface="Times New Roman" pitchFamily="18" charset="0"/>
                <a:cs typeface="Times New Roman" pitchFamily="18" charset="0"/>
              </a:rPr>
              <a:t>StringBuffer</a:t>
            </a:r>
            <a:endParaRPr lang="en-US" sz="2400" dirty="0">
              <a:solidFill>
                <a:schemeClr val="tx1"/>
              </a:solidFill>
              <a:latin typeface="Times New Roman" pitchFamily="18" charset="0"/>
              <a:cs typeface="Times New Roman" pitchFamily="18" charset="0"/>
            </a:endParaRPr>
          </a:p>
          <a:p>
            <a:pPr algn="just">
              <a:spcBef>
                <a:spcPts val="1200"/>
              </a:spcBef>
              <a:spcAft>
                <a:spcPts val="1200"/>
              </a:spcAft>
            </a:pPr>
            <a:r>
              <a:rPr lang="en-US" sz="2400" dirty="0">
                <a:solidFill>
                  <a:schemeClr val="tx1"/>
                </a:solidFill>
                <a:latin typeface="Times New Roman" pitchFamily="18" charset="0"/>
                <a:cs typeface="Times New Roman" pitchFamily="18" charset="0"/>
              </a:rPr>
              <a:t>Methods of creating Strings</a:t>
            </a:r>
          </a:p>
          <a:p>
            <a:pPr algn="just">
              <a:spcBef>
                <a:spcPts val="1200"/>
              </a:spcBef>
              <a:spcAft>
                <a:spcPts val="1200"/>
              </a:spcAft>
            </a:pPr>
            <a:r>
              <a:rPr lang="en-US" sz="2400" dirty="0">
                <a:solidFill>
                  <a:schemeClr val="tx1"/>
                </a:solidFill>
                <a:latin typeface="Times New Roman" pitchFamily="18" charset="0"/>
                <a:cs typeface="Times New Roman" pitchFamily="18" charset="0"/>
              </a:rPr>
              <a:t>Difference in memory for Strings</a:t>
            </a:r>
          </a:p>
          <a:p>
            <a:pPr algn="just">
              <a:spcBef>
                <a:spcPts val="1200"/>
              </a:spcBef>
              <a:spcAft>
                <a:spcPts val="1200"/>
              </a:spcAft>
            </a:pPr>
            <a:r>
              <a:rPr lang="en-US" sz="2400" dirty="0">
                <a:solidFill>
                  <a:schemeClr val="tx1"/>
                </a:solidFill>
                <a:latin typeface="Times New Roman" pitchFamily="18" charset="0"/>
                <a:cs typeface="Times New Roman" pitchFamily="18" charset="0"/>
              </a:rPr>
              <a:t>String Handling Methods</a:t>
            </a:r>
          </a:p>
          <a:p>
            <a:pPr algn="just">
              <a:spcBef>
                <a:spcPts val="1200"/>
              </a:spcBef>
              <a:spcAft>
                <a:spcPts val="1200"/>
              </a:spcAft>
            </a:pPr>
            <a:r>
              <a:rPr lang="en-US" sz="2400" dirty="0">
                <a:solidFill>
                  <a:schemeClr val="tx1"/>
                </a:solidFill>
                <a:latin typeface="Times New Roman" pitchFamily="18" charset="0"/>
                <a:cs typeface="Times New Roman" pitchFamily="18" charset="0"/>
              </a:rPr>
              <a:t>String method based Program</a:t>
            </a:r>
          </a:p>
          <a:p>
            <a:pPr algn="just">
              <a:spcBef>
                <a:spcPts val="1200"/>
              </a:spcBef>
              <a:spcAft>
                <a:spcPts val="1200"/>
              </a:spcAft>
            </a:pPr>
            <a:r>
              <a:rPr lang="en-US" sz="2400" dirty="0">
                <a:solidFill>
                  <a:schemeClr val="tx1"/>
                </a:solidFill>
                <a:latin typeface="Times New Roman" pitchFamily="18" charset="0"/>
                <a:cs typeface="Times New Roman" pitchFamily="18" charset="0"/>
              </a:rPr>
              <a:t>Sorting of names using Java Program</a:t>
            </a:r>
          </a:p>
          <a:p>
            <a:pPr algn="just">
              <a:spcBef>
                <a:spcPts val="1200"/>
              </a:spcBef>
              <a:spcAft>
                <a:spcPts val="1200"/>
              </a:spcAft>
            </a:pPr>
            <a:endParaRPr lang="en-US" sz="2400" dirty="0">
              <a:solidFill>
                <a:schemeClr val="tx1"/>
              </a:solidFill>
              <a:latin typeface="Times New Roman" pitchFamily="18" charset="0"/>
              <a:cs typeface="Times New Roman" pitchFamily="18" charset="0"/>
            </a:endParaRPr>
          </a:p>
          <a:p>
            <a:pPr algn="just">
              <a:spcBef>
                <a:spcPts val="1200"/>
              </a:spcBef>
              <a:spcAft>
                <a:spcPts val="1200"/>
              </a:spcAft>
            </a:pPr>
            <a:endParaRPr lang="en-US" sz="2400" dirty="0">
              <a:solidFill>
                <a:schemeClr val="tx1"/>
              </a:solidFill>
              <a:latin typeface="Times New Roman" pitchFamily="18" charset="0"/>
              <a:cs typeface="Times New Roman" pitchFamily="18" charset="0"/>
            </a:endParaRPr>
          </a:p>
          <a:p>
            <a:pPr algn="just">
              <a:spcBef>
                <a:spcPts val="1200"/>
              </a:spcBef>
              <a:spcAft>
                <a:spcPts val="1200"/>
              </a:spcAft>
            </a:pPr>
            <a:endParaRPr lang="en-US" sz="2400" dirty="0">
              <a:solidFill>
                <a:schemeClr val="tx1"/>
              </a:solidFill>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093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String Class</a:t>
            </a:r>
            <a:endParaRPr lang="en-IN" dirty="0"/>
          </a:p>
        </p:txBody>
      </p:sp>
      <p:sp>
        <p:nvSpPr>
          <p:cNvPr id="15" name="Content Placeholder 4"/>
          <p:cNvSpPr>
            <a:spLocks noGrp="1"/>
          </p:cNvSpPr>
          <p:nvPr>
            <p:ph idx="1"/>
          </p:nvPr>
        </p:nvSpPr>
        <p:spPr>
          <a:xfrm>
            <a:off x="457200" y="1295400"/>
            <a:ext cx="8229600" cy="5029200"/>
          </a:xfrm>
        </p:spPr>
        <p:txBody>
          <a:bodyPr/>
          <a:lstStyle/>
          <a:p>
            <a:pPr algn="just">
              <a:spcBef>
                <a:spcPts val="1200"/>
              </a:spcBef>
              <a:spcAft>
                <a:spcPts val="1200"/>
              </a:spcAft>
            </a:pPr>
            <a:r>
              <a:rPr lang="en-US" sz="2400" dirty="0">
                <a:solidFill>
                  <a:schemeClr val="tx1"/>
                </a:solidFill>
                <a:latin typeface="Times New Roman" pitchFamily="18" charset="0"/>
                <a:cs typeface="Times New Roman" pitchFamily="18" charset="0"/>
              </a:rPr>
              <a:t>String is a group of characters. They are objects of type String.</a:t>
            </a:r>
          </a:p>
          <a:p>
            <a:pPr algn="just">
              <a:spcBef>
                <a:spcPts val="1200"/>
              </a:spcBef>
              <a:spcAft>
                <a:spcPts val="1200"/>
              </a:spcAft>
            </a:pPr>
            <a:r>
              <a:rPr lang="en-US" sz="2400" dirty="0">
                <a:solidFill>
                  <a:schemeClr val="tx1"/>
                </a:solidFill>
                <a:latin typeface="Times New Roman" pitchFamily="18" charset="0"/>
                <a:cs typeface="Times New Roman" pitchFamily="18" charset="0"/>
              </a:rPr>
              <a:t>Once a String object is created it cannot be changed.</a:t>
            </a:r>
          </a:p>
          <a:p>
            <a:pPr algn="just">
              <a:spcBef>
                <a:spcPts val="1200"/>
              </a:spcBef>
              <a:spcAft>
                <a:spcPts val="1200"/>
              </a:spcAft>
            </a:pPr>
            <a:r>
              <a:rPr lang="en-US" sz="2400" dirty="0">
                <a:solidFill>
                  <a:schemeClr val="tx1"/>
                </a:solidFill>
                <a:latin typeface="Times New Roman" pitchFamily="18" charset="0"/>
                <a:cs typeface="Times New Roman" pitchFamily="18" charset="0"/>
              </a:rPr>
              <a:t>Strings are Immutable.</a:t>
            </a:r>
          </a:p>
          <a:p>
            <a:pPr algn="just">
              <a:spcBef>
                <a:spcPts val="1200"/>
              </a:spcBef>
              <a:spcAft>
                <a:spcPts val="1200"/>
              </a:spcAft>
            </a:pPr>
            <a:r>
              <a:rPr lang="en-US" sz="2400" dirty="0">
                <a:solidFill>
                  <a:schemeClr val="tx1"/>
                </a:solidFill>
                <a:latin typeface="Times New Roman" pitchFamily="18" charset="0"/>
                <a:cs typeface="Times New Roman" pitchFamily="18" charset="0"/>
              </a:rPr>
              <a:t>To get changeable strings use the class called </a:t>
            </a:r>
            <a:r>
              <a:rPr lang="en-US" sz="2400" b="1" i="1"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a:t>
            </a:r>
          </a:p>
          <a:p>
            <a:pPr algn="just">
              <a:spcBef>
                <a:spcPts val="1200"/>
              </a:spcBef>
              <a:spcAft>
                <a:spcPts val="1200"/>
              </a:spcAft>
            </a:pPr>
            <a:r>
              <a:rPr lang="en-US" sz="2400" b="1" i="1" dirty="0">
                <a:solidFill>
                  <a:schemeClr val="tx1"/>
                </a:solidFill>
                <a:latin typeface="Times New Roman" pitchFamily="18" charset="0"/>
                <a:cs typeface="Times New Roman" pitchFamily="18" charset="0"/>
              </a:rPr>
              <a:t>String</a:t>
            </a:r>
            <a:r>
              <a:rPr lang="en-US" sz="2400" dirty="0">
                <a:solidFill>
                  <a:schemeClr val="tx1"/>
                </a:solidFill>
                <a:latin typeface="Times New Roman" pitchFamily="18" charset="0"/>
                <a:cs typeface="Times New Roman" pitchFamily="18" charset="0"/>
              </a:rPr>
              <a:t> and </a:t>
            </a:r>
            <a:r>
              <a:rPr lang="en-US" sz="2400" b="1" i="1"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 classes are declared as final, so there cannot be subclasses of these classes.</a:t>
            </a:r>
          </a:p>
          <a:p>
            <a:pPr algn="just">
              <a:spcBef>
                <a:spcPts val="1200"/>
              </a:spcBef>
              <a:spcAft>
                <a:spcPts val="1200"/>
              </a:spcAft>
            </a:pPr>
            <a:r>
              <a:rPr lang="en-US" sz="2400" dirty="0">
                <a:solidFill>
                  <a:schemeClr val="tx1"/>
                </a:solidFill>
                <a:latin typeface="Times New Roman" pitchFamily="18" charset="0"/>
                <a:cs typeface="Times New Roman" pitchFamily="18" charset="0"/>
              </a:rPr>
              <a:t>The default constructor creates an empty string.</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String s = new String( );</a:t>
            </a:r>
            <a:endParaRPr lang="en-IN" sz="2400" b="1" i="1" dirty="0">
              <a:solidFill>
                <a:schemeClr val="tx1"/>
              </a:solidFill>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66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573110" y="231822"/>
            <a:ext cx="7391400" cy="655638"/>
          </a:xfrm>
        </p:spPr>
        <p:txBody>
          <a:bodyPr/>
          <a:lstStyle/>
          <a:p>
            <a:r>
              <a:rPr lang="en-US" dirty="0"/>
              <a:t>Difference between String and </a:t>
            </a:r>
            <a:r>
              <a:rPr lang="en-US" dirty="0" err="1"/>
              <a:t>StringBuffer</a:t>
            </a:r>
            <a:endParaRPr lang="en-IN" dirty="0"/>
          </a:p>
        </p:txBody>
      </p:sp>
      <p:sp>
        <p:nvSpPr>
          <p:cNvPr id="15" name="Content Placeholder 4"/>
          <p:cNvSpPr>
            <a:spLocks noGrp="1"/>
          </p:cNvSpPr>
          <p:nvPr>
            <p:ph idx="1"/>
          </p:nvPr>
        </p:nvSpPr>
        <p:spPr>
          <a:xfrm>
            <a:off x="193183" y="1192366"/>
            <a:ext cx="8860664" cy="5234191"/>
          </a:xfrm>
        </p:spPr>
        <p:txBody>
          <a:bodyPr/>
          <a:lstStyle/>
          <a:p>
            <a:pPr algn="just">
              <a:spcBef>
                <a:spcPts val="1200"/>
              </a:spcBef>
              <a:spcAft>
                <a:spcPts val="1200"/>
              </a:spcAft>
            </a:pPr>
            <a:r>
              <a:rPr lang="en-US" sz="2400"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 class is mutable. A character is easily inserted into </a:t>
            </a:r>
            <a:r>
              <a:rPr lang="en-US" sz="2400"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a:t>
            </a:r>
          </a:p>
          <a:p>
            <a:pPr algn="just">
              <a:spcBef>
                <a:spcPts val="1200"/>
              </a:spcBef>
              <a:spcAft>
                <a:spcPts val="1200"/>
              </a:spcAft>
            </a:pPr>
            <a:r>
              <a:rPr lang="en-US" sz="2400" dirty="0">
                <a:solidFill>
                  <a:schemeClr val="tx1"/>
                </a:solidFill>
                <a:latin typeface="Times New Roman" pitchFamily="18" charset="0"/>
                <a:cs typeface="Times New Roman" pitchFamily="18" charset="0"/>
              </a:rPr>
              <a:t>String is slow and consumes more memory when you </a:t>
            </a:r>
            <a:r>
              <a:rPr lang="en-US" sz="2400" dirty="0" err="1">
                <a:solidFill>
                  <a:schemeClr val="tx1"/>
                </a:solidFill>
                <a:latin typeface="Times New Roman" pitchFamily="18" charset="0"/>
                <a:cs typeface="Times New Roman" pitchFamily="18" charset="0"/>
              </a:rPr>
              <a:t>concat</a:t>
            </a:r>
            <a:r>
              <a:rPr lang="en-US" sz="2400" dirty="0">
                <a:solidFill>
                  <a:schemeClr val="tx1"/>
                </a:solidFill>
                <a:latin typeface="Times New Roman" pitchFamily="18" charset="0"/>
                <a:cs typeface="Times New Roman" pitchFamily="18" charset="0"/>
              </a:rPr>
              <a:t> too many strings because every time it creates new instance.</a:t>
            </a:r>
          </a:p>
          <a:p>
            <a:pPr algn="just">
              <a:spcBef>
                <a:spcPts val="1200"/>
              </a:spcBef>
              <a:spcAft>
                <a:spcPts val="1200"/>
              </a:spcAft>
            </a:pPr>
            <a:r>
              <a:rPr lang="en-US" sz="2400"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 is fast and consumes less memory when you </a:t>
            </a:r>
            <a:r>
              <a:rPr lang="en-US" sz="2400" dirty="0" err="1">
                <a:solidFill>
                  <a:schemeClr val="tx1"/>
                </a:solidFill>
                <a:latin typeface="Times New Roman" pitchFamily="18" charset="0"/>
                <a:cs typeface="Times New Roman" pitchFamily="18" charset="0"/>
              </a:rPr>
              <a:t>concat</a:t>
            </a:r>
            <a:r>
              <a:rPr lang="en-US" sz="2400" dirty="0">
                <a:solidFill>
                  <a:schemeClr val="tx1"/>
                </a:solidFill>
                <a:latin typeface="Times New Roman" pitchFamily="18" charset="0"/>
                <a:cs typeface="Times New Roman" pitchFamily="18" charset="0"/>
              </a:rPr>
              <a:t> strings.</a:t>
            </a:r>
          </a:p>
          <a:p>
            <a:pPr algn="just">
              <a:spcBef>
                <a:spcPts val="1200"/>
              </a:spcBef>
              <a:spcAft>
                <a:spcPts val="1200"/>
              </a:spcAft>
            </a:pPr>
            <a:r>
              <a:rPr lang="en-US" sz="2400" dirty="0">
                <a:solidFill>
                  <a:schemeClr val="tx1"/>
                </a:solidFill>
                <a:latin typeface="Times New Roman" pitchFamily="18" charset="0"/>
                <a:cs typeface="Times New Roman" pitchFamily="18" charset="0"/>
              </a:rPr>
              <a:t>String class overrides the equals( ) method of Object class. So you can compare the contents of two strings by equals() method.</a:t>
            </a:r>
          </a:p>
          <a:p>
            <a:pPr algn="just">
              <a:spcBef>
                <a:spcPts val="1200"/>
              </a:spcBef>
              <a:spcAft>
                <a:spcPts val="1200"/>
              </a:spcAft>
            </a:pPr>
            <a:r>
              <a:rPr lang="en-US" sz="2400" dirty="0" err="1">
                <a:solidFill>
                  <a:schemeClr val="tx1"/>
                </a:solidFill>
                <a:latin typeface="Times New Roman" pitchFamily="18" charset="0"/>
                <a:cs typeface="Times New Roman" pitchFamily="18" charset="0"/>
              </a:rPr>
              <a:t>StringBuffer</a:t>
            </a:r>
            <a:r>
              <a:rPr lang="en-US" sz="2400" dirty="0">
                <a:solidFill>
                  <a:schemeClr val="tx1"/>
                </a:solidFill>
                <a:latin typeface="Times New Roman" pitchFamily="18" charset="0"/>
                <a:cs typeface="Times New Roman" pitchFamily="18" charset="0"/>
              </a:rPr>
              <a:t> class doesn't override the equals() method of Object class.</a:t>
            </a:r>
            <a:endParaRPr lang="en-IN" sz="2400" b="1" i="1" dirty="0">
              <a:solidFill>
                <a:schemeClr val="tx1"/>
              </a:solidFill>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1597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Methods to Create String</a:t>
            </a:r>
            <a:endParaRPr lang="en-IN" dirty="0"/>
          </a:p>
        </p:txBody>
      </p:sp>
      <p:sp>
        <p:nvSpPr>
          <p:cNvPr id="15" name="Content Placeholder 4"/>
          <p:cNvSpPr>
            <a:spLocks noGrp="1"/>
          </p:cNvSpPr>
          <p:nvPr>
            <p:ph idx="1"/>
          </p:nvPr>
        </p:nvSpPr>
        <p:spPr>
          <a:xfrm>
            <a:off x="457200" y="1295400"/>
            <a:ext cx="8229600" cy="5029200"/>
          </a:xfrm>
        </p:spPr>
        <p:txBody>
          <a:bodyPr/>
          <a:lstStyle/>
          <a:p>
            <a:pPr algn="just">
              <a:spcBef>
                <a:spcPts val="1200"/>
              </a:spcBef>
              <a:spcAft>
                <a:spcPts val="1200"/>
              </a:spcAft>
            </a:pPr>
            <a:r>
              <a:rPr lang="en-US" sz="2400" b="1" u="sng" dirty="0">
                <a:solidFill>
                  <a:schemeClr val="tx1"/>
                </a:solidFill>
                <a:latin typeface="Times New Roman" pitchFamily="18" charset="0"/>
                <a:cs typeface="Times New Roman" pitchFamily="18" charset="0"/>
              </a:rPr>
              <a:t>Method 1: </a:t>
            </a:r>
          </a:p>
          <a:p>
            <a:pPr marL="0" indent="0" algn="just">
              <a:spcBef>
                <a:spcPts val="1200"/>
              </a:spcBef>
              <a:spcAft>
                <a:spcPts val="1200"/>
              </a:spcAft>
              <a:buNone/>
            </a:pPr>
            <a:r>
              <a:rPr lang="en-US" sz="2400" b="1"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To Create a String in JAVA is</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String </a:t>
            </a:r>
            <a:r>
              <a:rPr lang="en-US" sz="2400" b="1" i="1" dirty="0" err="1">
                <a:solidFill>
                  <a:schemeClr val="tx1"/>
                </a:solidFill>
                <a:latin typeface="Times New Roman" pitchFamily="18" charset="0"/>
                <a:cs typeface="Times New Roman" pitchFamily="18" charset="0"/>
              </a:rPr>
              <a:t>str</a:t>
            </a:r>
            <a:r>
              <a:rPr lang="en-US" sz="2400" b="1" i="1" dirty="0">
                <a:solidFill>
                  <a:schemeClr val="tx1"/>
                </a:solidFill>
                <a:latin typeface="Times New Roman" pitchFamily="18" charset="0"/>
                <a:cs typeface="Times New Roman" pitchFamily="18" charset="0"/>
              </a:rPr>
              <a:t> = "</a:t>
            </a:r>
            <a:r>
              <a:rPr lang="en-US" sz="2400" b="1" i="1" dirty="0" err="1">
                <a:solidFill>
                  <a:schemeClr val="tx1"/>
                </a:solidFill>
                <a:latin typeface="Times New Roman" pitchFamily="18" charset="0"/>
                <a:cs typeface="Times New Roman" pitchFamily="18" charset="0"/>
              </a:rPr>
              <a:t>abc</a:t>
            </a:r>
            <a:r>
              <a:rPr lang="en-US" sz="2400" b="1" i="1" dirty="0">
                <a:solidFill>
                  <a:schemeClr val="tx1"/>
                </a:solidFill>
                <a:latin typeface="Times New Roman" pitchFamily="18" charset="0"/>
                <a:cs typeface="Times New Roman" pitchFamily="18" charset="0"/>
              </a:rPr>
              <a:t>";</a:t>
            </a:r>
          </a:p>
          <a:p>
            <a:pPr algn="just">
              <a:spcBef>
                <a:spcPts val="1200"/>
              </a:spcBef>
              <a:spcAft>
                <a:spcPts val="1200"/>
              </a:spcAft>
            </a:pPr>
            <a:r>
              <a:rPr lang="en-US" sz="2400" b="1" u="sng" dirty="0">
                <a:solidFill>
                  <a:schemeClr val="tx1"/>
                </a:solidFill>
                <a:latin typeface="Times New Roman" pitchFamily="18" charset="0"/>
                <a:cs typeface="Times New Roman" pitchFamily="18" charset="0"/>
              </a:rPr>
              <a:t>Method 2:</a:t>
            </a:r>
            <a:endParaRPr lang="en-US" sz="2400" dirty="0">
              <a:solidFill>
                <a:schemeClr val="tx1"/>
              </a:solidFill>
              <a:latin typeface="Times New Roman" pitchFamily="18" charset="0"/>
              <a:cs typeface="Times New Roman" pitchFamily="18" charset="0"/>
            </a:endParaRP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char data[] = {'a', 'b', 'c'};</a:t>
            </a:r>
          </a:p>
          <a:p>
            <a:pPr marL="0" indent="0" algn="just">
              <a:spcBef>
                <a:spcPts val="1200"/>
              </a:spcBef>
              <a:spcAft>
                <a:spcPts val="1200"/>
              </a:spcAft>
              <a:buNone/>
            </a:pPr>
            <a:r>
              <a:rPr lang="en-US" sz="2400" b="1" i="1" dirty="0">
                <a:solidFill>
                  <a:schemeClr val="tx1"/>
                </a:solidFill>
                <a:latin typeface="Times New Roman" pitchFamily="18" charset="0"/>
                <a:cs typeface="Times New Roman" pitchFamily="18" charset="0"/>
              </a:rPr>
              <a:t>	String </a:t>
            </a:r>
            <a:r>
              <a:rPr lang="en-US" sz="2400" b="1" i="1" dirty="0" err="1">
                <a:solidFill>
                  <a:schemeClr val="tx1"/>
                </a:solidFill>
                <a:latin typeface="Times New Roman" pitchFamily="18" charset="0"/>
                <a:cs typeface="Times New Roman" pitchFamily="18" charset="0"/>
              </a:rPr>
              <a:t>str</a:t>
            </a:r>
            <a:r>
              <a:rPr lang="en-US" sz="2400" b="1" i="1" dirty="0">
                <a:solidFill>
                  <a:schemeClr val="tx1"/>
                </a:solidFill>
                <a:latin typeface="Times New Roman" pitchFamily="18" charset="0"/>
                <a:cs typeface="Times New Roman" pitchFamily="18" charset="0"/>
              </a:rPr>
              <a:t> = new String(data);</a:t>
            </a:r>
          </a:p>
          <a:p>
            <a:pPr lvl="1" algn="just">
              <a:spcBef>
                <a:spcPts val="1200"/>
              </a:spcBef>
              <a:spcAft>
                <a:spcPts val="1200"/>
              </a:spcAft>
            </a:pPr>
            <a:r>
              <a:rPr lang="en-US" sz="2000" dirty="0">
                <a:solidFill>
                  <a:schemeClr val="tx1"/>
                </a:solidFill>
                <a:latin typeface="Times New Roman" pitchFamily="18" charset="0"/>
                <a:cs typeface="Times New Roman" pitchFamily="18" charset="0"/>
              </a:rPr>
              <a:t>If data array in the above example is modified after the string object </a:t>
            </a:r>
            <a:r>
              <a:rPr lang="en-US" sz="2000" dirty="0" err="1">
                <a:solidFill>
                  <a:schemeClr val="tx1"/>
                </a:solidFill>
                <a:latin typeface="Times New Roman" pitchFamily="18" charset="0"/>
                <a:cs typeface="Times New Roman" pitchFamily="18" charset="0"/>
              </a:rPr>
              <a:t>str</a:t>
            </a:r>
            <a:r>
              <a:rPr lang="en-US" sz="2000" dirty="0">
                <a:solidFill>
                  <a:schemeClr val="tx1"/>
                </a:solidFill>
                <a:latin typeface="Times New Roman" pitchFamily="18" charset="0"/>
                <a:cs typeface="Times New Roman" pitchFamily="18" charset="0"/>
              </a:rPr>
              <a:t> is created, then </a:t>
            </a:r>
            <a:r>
              <a:rPr lang="en-US" sz="2000" dirty="0" err="1">
                <a:solidFill>
                  <a:schemeClr val="tx1"/>
                </a:solidFill>
                <a:latin typeface="Times New Roman" pitchFamily="18" charset="0"/>
                <a:cs typeface="Times New Roman" pitchFamily="18" charset="0"/>
              </a:rPr>
              <a:t>str</a:t>
            </a:r>
            <a:r>
              <a:rPr lang="en-US" sz="2000" dirty="0">
                <a:solidFill>
                  <a:schemeClr val="tx1"/>
                </a:solidFill>
                <a:latin typeface="Times New Roman" pitchFamily="18" charset="0"/>
                <a:cs typeface="Times New Roman" pitchFamily="18" charset="0"/>
              </a:rPr>
              <a:t> remains unchanged.</a:t>
            </a:r>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508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Methods to Create String</a:t>
            </a:r>
            <a:endParaRPr lang="en-IN" dirty="0"/>
          </a:p>
        </p:txBody>
      </p:sp>
      <p:sp>
        <p:nvSpPr>
          <p:cNvPr id="15" name="Content Placeholder 4"/>
          <p:cNvSpPr>
            <a:spLocks noGrp="1"/>
          </p:cNvSpPr>
          <p:nvPr>
            <p:ph idx="1"/>
          </p:nvPr>
        </p:nvSpPr>
        <p:spPr>
          <a:xfrm>
            <a:off x="457200" y="1295400"/>
            <a:ext cx="8229600" cy="5029200"/>
          </a:xfrm>
        </p:spPr>
        <p:txBody>
          <a:bodyPr/>
          <a:lstStyle/>
          <a:p>
            <a:pPr algn="just">
              <a:spcBef>
                <a:spcPts val="1200"/>
              </a:spcBef>
              <a:spcAft>
                <a:spcPts val="1200"/>
              </a:spcAft>
            </a:pPr>
            <a:r>
              <a:rPr lang="en-US" sz="2400" b="1" u="sng" dirty="0">
                <a:solidFill>
                  <a:schemeClr val="tx1"/>
                </a:solidFill>
                <a:latin typeface="Times New Roman" pitchFamily="18" charset="0"/>
                <a:cs typeface="Times New Roman" pitchFamily="18" charset="0"/>
              </a:rPr>
              <a:t>Method 3: </a:t>
            </a:r>
          </a:p>
          <a:p>
            <a:pPr marL="0" indent="0" algn="just">
              <a:spcBef>
                <a:spcPts val="1200"/>
              </a:spcBef>
              <a:spcAft>
                <a:spcPts val="1200"/>
              </a:spcAft>
              <a:buNone/>
            </a:pPr>
            <a:r>
              <a:rPr lang="en-US" sz="2400" b="1"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Construct a string object by passing another string object.</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String str2 = new String(</a:t>
            </a:r>
            <a:r>
              <a:rPr lang="en-US" sz="2400" b="1" i="1" dirty="0" err="1">
                <a:solidFill>
                  <a:schemeClr val="tx1"/>
                </a:solidFill>
                <a:latin typeface="Times New Roman" pitchFamily="18" charset="0"/>
                <a:cs typeface="Times New Roman" pitchFamily="18" charset="0"/>
              </a:rPr>
              <a:t>str</a:t>
            </a:r>
            <a:r>
              <a:rPr lang="en-US" sz="2400" b="1" i="1" dirty="0">
                <a:solidFill>
                  <a:schemeClr val="tx1"/>
                </a:solidFill>
                <a:latin typeface="Times New Roman" pitchFamily="18" charset="0"/>
                <a:cs typeface="Times New Roman" pitchFamily="18" charset="0"/>
              </a:rPr>
              <a:t>);</a:t>
            </a:r>
            <a:endParaRPr lang="en-IN" sz="2400" b="1" i="1" dirty="0">
              <a:solidFill>
                <a:schemeClr val="tx1"/>
              </a:solidFill>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783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5910" y="616151"/>
            <a:ext cx="7920507" cy="655638"/>
          </a:xfrm>
        </p:spPr>
        <p:txBody>
          <a:bodyPr/>
          <a:lstStyle/>
          <a:p>
            <a:r>
              <a:rPr lang="en-US" dirty="0"/>
              <a:t>Difference in memory for String</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300"/>
              </a:spcBef>
              <a:spcAft>
                <a:spcPts val="300"/>
              </a:spcAft>
              <a:buNone/>
            </a:pPr>
            <a:r>
              <a:rPr lang="en-US" sz="2400" dirty="0">
                <a:solidFill>
                  <a:schemeClr val="tx1"/>
                </a:solidFill>
                <a:latin typeface="Times New Roman" pitchFamily="18" charset="0"/>
                <a:cs typeface="Times New Roman" pitchFamily="18" charset="0"/>
              </a:rPr>
              <a:t>	</a:t>
            </a:r>
            <a:r>
              <a:rPr lang="en-US" sz="2000" i="1" dirty="0">
                <a:solidFill>
                  <a:schemeClr val="tx1"/>
                </a:solidFill>
                <a:latin typeface="Times New Roman" pitchFamily="18" charset="0"/>
                <a:cs typeface="Times New Roman" pitchFamily="18" charset="0"/>
              </a:rPr>
              <a:t>String s1 = "Hello";   	</a:t>
            </a:r>
            <a:r>
              <a:rPr lang="en-US" sz="2000" b="1" i="1" dirty="0">
                <a:solidFill>
                  <a:schemeClr val="tx1"/>
                </a:solidFill>
                <a:latin typeface="Times New Roman" pitchFamily="18" charset="0"/>
                <a:cs typeface="Times New Roman" pitchFamily="18" charset="0"/>
              </a:rPr>
              <a:t>// String literal</a:t>
            </a:r>
            <a:r>
              <a:rPr lang="en-US" sz="2000" i="1" dirty="0">
                <a:solidFill>
                  <a:schemeClr val="tx1"/>
                </a:solidFill>
                <a:latin typeface="Times New Roman" pitchFamily="18" charset="0"/>
                <a:cs typeface="Times New Roman" pitchFamily="18" charset="0"/>
              </a:rPr>
              <a:t> </a:t>
            </a:r>
          </a:p>
          <a:p>
            <a:pPr marL="0" indent="0" algn="just">
              <a:spcBef>
                <a:spcPts val="300"/>
              </a:spcBef>
              <a:spcAft>
                <a:spcPts val="300"/>
              </a:spcAft>
              <a:buNone/>
            </a:pPr>
            <a:r>
              <a:rPr lang="en-US" sz="2000" i="1" dirty="0">
                <a:solidFill>
                  <a:schemeClr val="tx1"/>
                </a:solidFill>
                <a:latin typeface="Times New Roman" pitchFamily="18" charset="0"/>
                <a:cs typeface="Times New Roman" pitchFamily="18" charset="0"/>
              </a:rPr>
              <a:t>	String s2 = "Hello"; 	</a:t>
            </a:r>
            <a:r>
              <a:rPr lang="en-US" sz="2000" b="1" i="1" dirty="0">
                <a:solidFill>
                  <a:schemeClr val="tx1"/>
                </a:solidFill>
                <a:latin typeface="Times New Roman" pitchFamily="18" charset="0"/>
                <a:cs typeface="Times New Roman" pitchFamily="18" charset="0"/>
              </a:rPr>
              <a:t>// String literal</a:t>
            </a:r>
            <a:r>
              <a:rPr lang="en-US" sz="2000" i="1" dirty="0">
                <a:solidFill>
                  <a:schemeClr val="tx1"/>
                </a:solidFill>
                <a:latin typeface="Times New Roman" pitchFamily="18" charset="0"/>
                <a:cs typeface="Times New Roman" pitchFamily="18" charset="0"/>
              </a:rPr>
              <a:t> </a:t>
            </a:r>
          </a:p>
          <a:p>
            <a:pPr marL="0" indent="0" algn="just">
              <a:spcBef>
                <a:spcPts val="300"/>
              </a:spcBef>
              <a:spcAft>
                <a:spcPts val="300"/>
              </a:spcAft>
              <a:buNone/>
            </a:pPr>
            <a:r>
              <a:rPr lang="en-US" sz="2000" i="1" dirty="0">
                <a:solidFill>
                  <a:schemeClr val="tx1"/>
                </a:solidFill>
                <a:latin typeface="Times New Roman" pitchFamily="18" charset="0"/>
                <a:cs typeface="Times New Roman" pitchFamily="18" charset="0"/>
              </a:rPr>
              <a:t>	String s3 = s1; 		</a:t>
            </a:r>
            <a:r>
              <a:rPr lang="en-US" sz="2000" b="1" i="1" dirty="0">
                <a:solidFill>
                  <a:schemeClr val="tx1"/>
                </a:solidFill>
                <a:latin typeface="Times New Roman" pitchFamily="18" charset="0"/>
                <a:cs typeface="Times New Roman" pitchFamily="18" charset="0"/>
              </a:rPr>
              <a:t>// same reference</a:t>
            </a:r>
            <a:r>
              <a:rPr lang="en-US" sz="2000" i="1" dirty="0">
                <a:solidFill>
                  <a:schemeClr val="tx1"/>
                </a:solidFill>
                <a:latin typeface="Times New Roman" pitchFamily="18" charset="0"/>
                <a:cs typeface="Times New Roman" pitchFamily="18" charset="0"/>
              </a:rPr>
              <a:t> </a:t>
            </a:r>
          </a:p>
          <a:p>
            <a:pPr marL="0" indent="0" algn="just">
              <a:spcBef>
                <a:spcPts val="300"/>
              </a:spcBef>
              <a:spcAft>
                <a:spcPts val="300"/>
              </a:spcAft>
              <a:buNone/>
            </a:pPr>
            <a:r>
              <a:rPr lang="en-US" sz="2000" i="1" dirty="0">
                <a:solidFill>
                  <a:schemeClr val="tx1"/>
                </a:solidFill>
                <a:latin typeface="Times New Roman" pitchFamily="18" charset="0"/>
                <a:cs typeface="Times New Roman" pitchFamily="18" charset="0"/>
              </a:rPr>
              <a:t>	String s4 = new String("Hello"); </a:t>
            </a:r>
            <a:r>
              <a:rPr lang="en-US" sz="2000" b="1" i="1" dirty="0">
                <a:solidFill>
                  <a:schemeClr val="tx1"/>
                </a:solidFill>
                <a:latin typeface="Times New Roman" pitchFamily="18" charset="0"/>
                <a:cs typeface="Times New Roman" pitchFamily="18" charset="0"/>
              </a:rPr>
              <a:t>// String object </a:t>
            </a:r>
          </a:p>
          <a:p>
            <a:pPr marL="0" indent="0" algn="just">
              <a:spcBef>
                <a:spcPts val="300"/>
              </a:spcBef>
              <a:spcAft>
                <a:spcPts val="300"/>
              </a:spcAft>
              <a:buNone/>
            </a:pPr>
            <a:r>
              <a:rPr lang="en-US" sz="2000" i="1" dirty="0">
                <a:solidFill>
                  <a:schemeClr val="tx1"/>
                </a:solidFill>
                <a:latin typeface="Times New Roman" pitchFamily="18" charset="0"/>
                <a:cs typeface="Times New Roman" pitchFamily="18" charset="0"/>
              </a:rPr>
              <a:t>	String s5 = new String("Hello"); </a:t>
            </a:r>
            <a:r>
              <a:rPr lang="en-US" sz="2000" b="1" i="1" dirty="0">
                <a:solidFill>
                  <a:schemeClr val="tx1"/>
                </a:solidFill>
                <a:latin typeface="Times New Roman" pitchFamily="18" charset="0"/>
                <a:cs typeface="Times New Roman" pitchFamily="18" charset="0"/>
              </a:rPr>
              <a:t>// String object</a:t>
            </a:r>
          </a:p>
          <a:p>
            <a:pPr marL="0" indent="0" algn="just">
              <a:spcBef>
                <a:spcPts val="300"/>
              </a:spcBef>
              <a:spcAft>
                <a:spcPts val="300"/>
              </a:spcAft>
              <a:buNone/>
            </a:pPr>
            <a:endParaRPr lang="en-US" sz="2400" i="1"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endParaRPr lang="en-US" sz="2400" b="1" i="1" dirty="0">
              <a:solidFill>
                <a:schemeClr val="tx1"/>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7836" y="3258355"/>
            <a:ext cx="6268325" cy="3219719"/>
          </a:xfrm>
          <a:prstGeom prst="rect">
            <a:avLst/>
          </a:prstGeom>
        </p:spPr>
      </p:pic>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4932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String Concatenation</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1200"/>
              </a:spcBef>
              <a:spcAft>
                <a:spcPts val="1200"/>
              </a:spcAft>
              <a:buNone/>
            </a:pPr>
            <a:r>
              <a:rPr lang="en-US" sz="2400" b="1" u="sng" dirty="0">
                <a:solidFill>
                  <a:schemeClr val="tx1"/>
                </a:solidFill>
                <a:latin typeface="Times New Roman" pitchFamily="18" charset="0"/>
                <a:cs typeface="Times New Roman" pitchFamily="18" charset="0"/>
              </a:rPr>
              <a:t>+ operator </a:t>
            </a:r>
          </a:p>
          <a:p>
            <a:pPr algn="just">
              <a:spcBef>
                <a:spcPts val="1200"/>
              </a:spcBef>
              <a:spcAft>
                <a:spcPts val="1200"/>
              </a:spcAft>
            </a:pPr>
            <a:r>
              <a:rPr lang="en-US" sz="2400" dirty="0">
                <a:solidFill>
                  <a:schemeClr val="tx1"/>
                </a:solidFill>
                <a:latin typeface="Times New Roman" pitchFamily="18" charset="0"/>
                <a:cs typeface="Times New Roman" pitchFamily="18" charset="0"/>
              </a:rPr>
              <a:t>The + operator is used to concatenate two or more strings.</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myName</a:t>
            </a:r>
            <a:r>
              <a:rPr lang="en-US" sz="2400" i="1" dirty="0">
                <a:solidFill>
                  <a:schemeClr val="tx1"/>
                </a:solidFill>
                <a:latin typeface="Times New Roman" pitchFamily="18" charset="0"/>
                <a:cs typeface="Times New Roman" pitchFamily="18" charset="0"/>
              </a:rPr>
              <a:t> = "</a:t>
            </a:r>
            <a:r>
              <a:rPr lang="en-US" sz="2400" i="1" dirty="0" err="1">
                <a:solidFill>
                  <a:schemeClr val="tx1"/>
                </a:solidFill>
                <a:latin typeface="Times New Roman" pitchFamily="18" charset="0"/>
                <a:cs typeface="Times New Roman" pitchFamily="18" charset="0"/>
              </a:rPr>
              <a:t>Varun</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String s = "My name is" + </a:t>
            </a:r>
            <a:r>
              <a:rPr lang="en-US" sz="2400" i="1" dirty="0" err="1">
                <a:solidFill>
                  <a:schemeClr val="tx1"/>
                </a:solidFill>
                <a:latin typeface="Times New Roman" pitchFamily="18" charset="0"/>
                <a:cs typeface="Times New Roman" pitchFamily="18" charset="0"/>
              </a:rPr>
              <a:t>myName</a:t>
            </a:r>
            <a:r>
              <a:rPr lang="en-US" sz="2400" i="1" dirty="0">
                <a:solidFill>
                  <a:schemeClr val="tx1"/>
                </a:solidFill>
                <a:latin typeface="Times New Roman" pitchFamily="18" charset="0"/>
                <a:cs typeface="Times New Roman" pitchFamily="18" charset="0"/>
              </a:rPr>
              <a:t>+ ".";</a:t>
            </a:r>
          </a:p>
          <a:p>
            <a:pPr algn="just">
              <a:spcBef>
                <a:spcPts val="1200"/>
              </a:spcBef>
              <a:spcAft>
                <a:spcPts val="1200"/>
              </a:spcAft>
            </a:pPr>
            <a:r>
              <a:rPr lang="en-US" sz="2400" dirty="0">
                <a:solidFill>
                  <a:schemeClr val="tx1"/>
                </a:solidFill>
                <a:latin typeface="Times New Roman" pitchFamily="18" charset="0"/>
                <a:cs typeface="Times New Roman" pitchFamily="18" charset="0"/>
              </a:rPr>
              <a:t>Java compiler converts an operand to a String whenever the other operand of the + is a String object.</a:t>
            </a:r>
          </a:p>
          <a:p>
            <a:pPr marL="0" indent="0" algn="just">
              <a:spcBef>
                <a:spcPts val="1200"/>
              </a:spcBef>
              <a:spcAft>
                <a:spcPts val="1200"/>
              </a:spcAft>
              <a:buNone/>
            </a:pPr>
            <a:r>
              <a:rPr lang="en-US" sz="2400" i="1" dirty="0">
                <a:solidFill>
                  <a:schemeClr val="tx1"/>
                </a:solidFill>
                <a:latin typeface="Times New Roman" pitchFamily="18" charset="0"/>
                <a:cs typeface="Times New Roman" pitchFamily="18" charset="0"/>
              </a:rPr>
              <a:t>	String </a:t>
            </a:r>
            <a:r>
              <a:rPr lang="en-US" sz="2400" i="1" dirty="0" err="1">
                <a:solidFill>
                  <a:schemeClr val="tx1"/>
                </a:solidFill>
                <a:latin typeface="Times New Roman" pitchFamily="18" charset="0"/>
                <a:cs typeface="Times New Roman" pitchFamily="18" charset="0"/>
              </a:rPr>
              <a:t>myAge</a:t>
            </a:r>
            <a:r>
              <a:rPr lang="en-US" sz="2400" i="1" dirty="0">
                <a:solidFill>
                  <a:schemeClr val="tx1"/>
                </a:solidFill>
                <a:latin typeface="Times New Roman" pitchFamily="18" charset="0"/>
                <a:cs typeface="Times New Roman" pitchFamily="18" charset="0"/>
              </a:rPr>
              <a:t> = “My age is";</a:t>
            </a:r>
          </a:p>
          <a:p>
            <a:pPr marL="0" indent="0" algn="just">
              <a:spcBef>
                <a:spcPts val="1200"/>
              </a:spcBef>
              <a:spcAft>
                <a:spcPts val="1200"/>
              </a:spcAft>
              <a:buNone/>
            </a:pPr>
            <a:r>
              <a:rPr lang="en-US" sz="2400" i="1" dirty="0">
                <a:solidFill>
                  <a:schemeClr val="tx1"/>
                </a:solidFill>
                <a:latin typeface="Times New Roman" pitchFamily="18" charset="0"/>
                <a:cs typeface="Times New Roman" pitchFamily="18" charset="0"/>
              </a:rPr>
              <a:t>	String s = </a:t>
            </a:r>
            <a:r>
              <a:rPr lang="en-US" sz="2400" i="1" dirty="0" err="1">
                <a:solidFill>
                  <a:schemeClr val="tx1"/>
                </a:solidFill>
                <a:latin typeface="Times New Roman" pitchFamily="18" charset="0"/>
                <a:cs typeface="Times New Roman" pitchFamily="18" charset="0"/>
              </a:rPr>
              <a:t>myAge</a:t>
            </a:r>
            <a:r>
              <a:rPr lang="en-US" sz="2400" i="1" dirty="0">
                <a:solidFill>
                  <a:schemeClr val="tx1"/>
                </a:solidFill>
                <a:latin typeface="Times New Roman" pitchFamily="18" charset="0"/>
                <a:cs typeface="Times New Roman" pitchFamily="18" charset="0"/>
              </a:rPr>
              <a:t> + 24;</a:t>
            </a:r>
            <a:endParaRPr lang="en-IN" sz="2400"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375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String Concatenation</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Concat</a:t>
            </a:r>
            <a:r>
              <a:rPr lang="en-US" sz="2400" b="1" u="sng" dirty="0">
                <a:solidFill>
                  <a:schemeClr val="tx1"/>
                </a:solidFill>
                <a:latin typeface="Times New Roman" pitchFamily="18" charset="0"/>
                <a:cs typeface="Times New Roman" pitchFamily="18" charset="0"/>
              </a:rPr>
              <a:t>( ) method </a:t>
            </a:r>
          </a:p>
          <a:p>
            <a:pPr algn="just">
              <a:spcBef>
                <a:spcPts val="600"/>
              </a:spcBef>
              <a:spcAft>
                <a:spcPts val="600"/>
              </a:spcAft>
            </a:pPr>
            <a:r>
              <a:rPr lang="en-US" sz="2400" dirty="0">
                <a:solidFill>
                  <a:schemeClr val="tx1"/>
                </a:solidFill>
                <a:latin typeface="Times New Roman" pitchFamily="18" charset="0"/>
                <a:cs typeface="Times New Roman" pitchFamily="18" charset="0"/>
              </a:rPr>
              <a:t>This method concatenates one string to the end of another string.</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concat</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anostr</a:t>
            </a:r>
            <a:r>
              <a:rPr lang="en-US" sz="2400" i="1" dirty="0">
                <a:solidFill>
                  <a:schemeClr val="tx1"/>
                </a:solidFill>
                <a:latin typeface="Times New Roman" pitchFamily="18" charset="0"/>
                <a:cs typeface="Times New Roman" pitchFamily="18" charset="0"/>
              </a:rPr>
              <a:t>);</a:t>
            </a:r>
          </a:p>
          <a:p>
            <a:pPr marL="0" indent="0" algn="just">
              <a:spcBef>
                <a:spcPts val="1200"/>
              </a:spcBef>
              <a:spcAft>
                <a:spcPts val="1200"/>
              </a:spcAft>
              <a:buNone/>
            </a:pPr>
            <a:endParaRPr lang="en-IN" sz="2400" i="1" dirty="0">
              <a:solidFill>
                <a:schemeClr val="tx1"/>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249" y="3302352"/>
            <a:ext cx="8214024" cy="2776476"/>
          </a:xfrm>
          <a:prstGeom prst="rect">
            <a:avLst/>
          </a:prstGeom>
        </p:spPr>
      </p:pic>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240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String Length and Character At</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length( )</a:t>
            </a:r>
          </a:p>
          <a:p>
            <a:pPr algn="just">
              <a:spcBef>
                <a:spcPts val="600"/>
              </a:spcBef>
              <a:spcAft>
                <a:spcPts val="600"/>
              </a:spcAft>
            </a:pPr>
            <a:r>
              <a:rPr lang="en-US" sz="2400" dirty="0">
                <a:solidFill>
                  <a:schemeClr val="tx1"/>
                </a:solidFill>
                <a:latin typeface="Times New Roman" pitchFamily="18" charset="0"/>
                <a:cs typeface="Times New Roman" pitchFamily="18" charset="0"/>
              </a:rPr>
              <a:t>The length( ) method returns the length of the string.</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Varun</a:t>
            </a:r>
            <a:r>
              <a:rPr lang="en-US" sz="2400" i="1" dirty="0">
                <a:solidFill>
                  <a:schemeClr val="tx1"/>
                </a:solidFill>
                <a:latin typeface="Times New Roman" pitchFamily="18" charset="0"/>
                <a:cs typeface="Times New Roman" pitchFamily="18" charset="0"/>
              </a:rPr>
              <a:t>".length( ));</a:t>
            </a:r>
          </a:p>
          <a:p>
            <a:pPr marL="0" indent="0" algn="just">
              <a:spcBef>
                <a:spcPts val="600"/>
              </a:spcBef>
              <a:spcAft>
                <a:spcPts val="600"/>
              </a:spcAft>
              <a:buNone/>
            </a:pPr>
            <a:r>
              <a:rPr lang="en-US" sz="2400" b="1" i="1" dirty="0">
                <a:solidFill>
                  <a:schemeClr val="tx1"/>
                </a:solidFill>
                <a:latin typeface="Times New Roman" pitchFamily="18" charset="0"/>
                <a:cs typeface="Times New Roman" pitchFamily="18" charset="0"/>
              </a:rPr>
              <a:t>	output: 5</a:t>
            </a:r>
          </a:p>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charAt</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Method returns the character at the specified index. An index ranges from 0 to length() - 1.</a:t>
            </a:r>
          </a:p>
          <a:p>
            <a:pPr marL="400050" lvl="2" indent="0" algn="just">
              <a:spcBef>
                <a:spcPts val="600"/>
              </a:spcBef>
              <a:spcAft>
                <a:spcPts val="600"/>
              </a:spcAft>
              <a:buNone/>
            </a:pPr>
            <a:r>
              <a:rPr lang="en-US" sz="2000" dirty="0">
                <a:solidFill>
                  <a:schemeClr val="tx1"/>
                </a:solidFill>
                <a:latin typeface="Times New Roman" pitchFamily="18" charset="0"/>
                <a:cs typeface="Times New Roman" pitchFamily="18" charset="0"/>
              </a:rPr>
              <a:t>	</a:t>
            </a:r>
            <a:r>
              <a:rPr lang="en-US" i="1" dirty="0">
                <a:solidFill>
                  <a:schemeClr val="tx1"/>
                </a:solidFill>
                <a:latin typeface="Times New Roman" pitchFamily="18" charset="0"/>
                <a:cs typeface="Times New Roman" pitchFamily="18" charset="0"/>
              </a:rPr>
              <a:t>char c;</a:t>
            </a:r>
          </a:p>
          <a:p>
            <a:pPr marL="400050" lvl="2" indent="0" algn="just">
              <a:spcBef>
                <a:spcPts val="600"/>
              </a:spcBef>
              <a:spcAft>
                <a:spcPts val="600"/>
              </a:spcAft>
              <a:buNone/>
            </a:pPr>
            <a:r>
              <a:rPr lang="en-US" i="1" dirty="0">
                <a:solidFill>
                  <a:schemeClr val="tx1"/>
                </a:solidFill>
                <a:latin typeface="Times New Roman" pitchFamily="18" charset="0"/>
                <a:cs typeface="Times New Roman" pitchFamily="18" charset="0"/>
              </a:rPr>
              <a:t>	c = "</a:t>
            </a:r>
            <a:r>
              <a:rPr lang="en-US" i="1" dirty="0" err="1">
                <a:solidFill>
                  <a:schemeClr val="tx1"/>
                </a:solidFill>
                <a:latin typeface="Times New Roman" pitchFamily="18" charset="0"/>
                <a:cs typeface="Times New Roman" pitchFamily="18" charset="0"/>
              </a:rPr>
              <a:t>abc</a:t>
            </a:r>
            <a:r>
              <a:rPr lang="en-US" i="1" dirty="0">
                <a:solidFill>
                  <a:schemeClr val="tx1"/>
                </a:solidFill>
                <a:latin typeface="Times New Roman" pitchFamily="18" charset="0"/>
                <a:cs typeface="Times New Roman" pitchFamily="18" charset="0"/>
              </a:rPr>
              <a:t>".</a:t>
            </a:r>
            <a:r>
              <a:rPr lang="en-US" i="1" dirty="0" err="1">
                <a:solidFill>
                  <a:schemeClr val="tx1"/>
                </a:solidFill>
                <a:latin typeface="Times New Roman" pitchFamily="18" charset="0"/>
                <a:cs typeface="Times New Roman" pitchFamily="18" charset="0"/>
              </a:rPr>
              <a:t>charAt</a:t>
            </a:r>
            <a:r>
              <a:rPr lang="en-US" i="1" dirty="0">
                <a:solidFill>
                  <a:schemeClr val="tx1"/>
                </a:solidFill>
                <a:latin typeface="Times New Roman" pitchFamily="18" charset="0"/>
                <a:cs typeface="Times New Roman" pitchFamily="18" charset="0"/>
              </a:rPr>
              <a:t>(1); </a:t>
            </a:r>
          </a:p>
          <a:p>
            <a:pPr marL="400050" lvl="2" indent="0" algn="just">
              <a:spcBef>
                <a:spcPts val="600"/>
              </a:spcBef>
              <a:spcAft>
                <a:spcPts val="600"/>
              </a:spcAft>
              <a:buNone/>
            </a:pPr>
            <a:r>
              <a:rPr lang="en-US" i="1" dirty="0">
                <a:solidFill>
                  <a:schemeClr val="tx1"/>
                </a:solidFill>
                <a:latin typeface="Times New Roman" pitchFamily="18" charset="0"/>
                <a:cs typeface="Times New Roman" pitchFamily="18" charset="0"/>
              </a:rPr>
              <a:t>      // c = “b”</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4685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String Equals Method</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equals( )</a:t>
            </a:r>
          </a:p>
          <a:p>
            <a:pPr algn="just">
              <a:spcBef>
                <a:spcPts val="600"/>
              </a:spcBef>
              <a:spcAft>
                <a:spcPts val="600"/>
              </a:spcAft>
            </a:pPr>
            <a:r>
              <a:rPr lang="en-US" sz="2400" dirty="0">
                <a:solidFill>
                  <a:schemeClr val="tx1"/>
                </a:solidFill>
                <a:latin typeface="Times New Roman" pitchFamily="18" charset="0"/>
                <a:cs typeface="Times New Roman" pitchFamily="18" charset="0"/>
              </a:rPr>
              <a:t>The equals( ) method returns true if the invoking object character sequence is same as argument object. </a:t>
            </a:r>
          </a:p>
          <a:p>
            <a:pPr algn="just">
              <a:spcBef>
                <a:spcPts val="600"/>
              </a:spcBef>
              <a:spcAft>
                <a:spcPts val="600"/>
              </a:spcAft>
            </a:pPr>
            <a:r>
              <a:rPr lang="en-US" sz="2400" dirty="0">
                <a:solidFill>
                  <a:schemeClr val="tx1"/>
                </a:solidFill>
                <a:latin typeface="Times New Roman" pitchFamily="18" charset="0"/>
                <a:cs typeface="Times New Roman" pitchFamily="18" charset="0"/>
              </a:rPr>
              <a:t>Provided both the objects are not null.</a:t>
            </a:r>
          </a:p>
          <a:p>
            <a:pPr algn="just">
              <a:spcBef>
                <a:spcPts val="600"/>
              </a:spcBef>
              <a:spcAft>
                <a:spcPts val="600"/>
              </a:spcAft>
            </a:pPr>
            <a:r>
              <a:rPr lang="en-US" sz="2400" dirty="0">
                <a:solidFill>
                  <a:schemeClr val="tx1"/>
                </a:solidFill>
                <a:latin typeface="Times New Roman" pitchFamily="18" charset="0"/>
                <a:cs typeface="Times New Roman" pitchFamily="18" charset="0"/>
              </a:rPr>
              <a:t>Otherwise, returns false. </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err="1">
                <a:solidFill>
                  <a:schemeClr val="tx1"/>
                </a:solidFill>
                <a:latin typeface="Times New Roman" pitchFamily="18" charset="0"/>
                <a:cs typeface="Times New Roman" pitchFamily="18" charset="0"/>
              </a:rPr>
              <a:t>boolean</a:t>
            </a:r>
            <a:r>
              <a:rPr lang="en-US" sz="2400" b="1" i="1"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equals(</a:t>
            </a:r>
            <a:r>
              <a:rPr lang="en-US" sz="2400" b="1" i="1" dirty="0">
                <a:solidFill>
                  <a:schemeClr val="tx1"/>
                </a:solidFill>
                <a:latin typeface="Times New Roman" pitchFamily="18" charset="0"/>
                <a:cs typeface="Times New Roman" pitchFamily="18" charset="0"/>
              </a:rPr>
              <a:t>Object </a:t>
            </a:r>
            <a:r>
              <a:rPr lang="en-US" sz="2400" i="1" dirty="0" err="1">
                <a:solidFill>
                  <a:schemeClr val="tx1"/>
                </a:solidFill>
                <a:latin typeface="Times New Roman" pitchFamily="18" charset="0"/>
                <a:cs typeface="Times New Roman" pitchFamily="18" charset="0"/>
              </a:rPr>
              <a:t>anObject</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b="1" i="1"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String myStr1 = "Hello";</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String myStr2 = "Hello";</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String myStr3 = "Another String";</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endParaRPr lang="en-US" sz="2400" b="1"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007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String Equals Method</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1200"/>
              </a:spcBef>
              <a:spcAft>
                <a:spcPts val="1200"/>
              </a:spcAft>
              <a:buNone/>
            </a:pPr>
            <a:r>
              <a:rPr lang="en-US" sz="2400" b="1" u="sng" dirty="0">
                <a:solidFill>
                  <a:schemeClr val="tx1"/>
                </a:solidFill>
                <a:latin typeface="Times New Roman" pitchFamily="18" charset="0"/>
                <a:cs typeface="Times New Roman" pitchFamily="18" charset="0"/>
              </a:rPr>
              <a:t>equals( )</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(myStr1.equals(myStr2)); </a:t>
            </a:r>
          </a:p>
          <a:p>
            <a:pPr marL="0" indent="0" algn="just">
              <a:spcBef>
                <a:spcPts val="1200"/>
              </a:spcBef>
              <a:spcAft>
                <a:spcPts val="1200"/>
              </a:spcAft>
              <a:buNone/>
            </a:pPr>
            <a:r>
              <a:rPr lang="en-US" sz="2400" b="1" i="1" dirty="0">
                <a:solidFill>
                  <a:schemeClr val="tx1"/>
                </a:solidFill>
                <a:latin typeface="Times New Roman" pitchFamily="18" charset="0"/>
                <a:cs typeface="Times New Roman" pitchFamily="18" charset="0"/>
              </a:rPr>
              <a:t>	Output:</a:t>
            </a:r>
            <a:r>
              <a:rPr lang="en-US" sz="2400" i="1" dirty="0">
                <a:solidFill>
                  <a:schemeClr val="tx1"/>
                </a:solidFill>
                <a:latin typeface="Times New Roman" pitchFamily="18" charset="0"/>
                <a:cs typeface="Times New Roman" pitchFamily="18" charset="0"/>
              </a:rPr>
              <a:t> true</a:t>
            </a:r>
          </a:p>
          <a:p>
            <a:pPr marL="0" indent="0" algn="just">
              <a:spcBef>
                <a:spcPts val="1200"/>
              </a:spcBef>
              <a:spcAft>
                <a:spcPts val="1200"/>
              </a:spcAft>
              <a:buNone/>
            </a:pP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(myStr1.equals(myStr3)); </a:t>
            </a:r>
          </a:p>
          <a:p>
            <a:pPr marL="0" indent="0" algn="just">
              <a:spcBef>
                <a:spcPts val="1200"/>
              </a:spcBef>
              <a:spcAft>
                <a:spcPts val="1200"/>
              </a:spcAft>
              <a:buNone/>
            </a:pPr>
            <a:r>
              <a:rPr lang="en-US" sz="2400" b="1" i="1" dirty="0">
                <a:solidFill>
                  <a:schemeClr val="tx1"/>
                </a:solidFill>
                <a:latin typeface="Times New Roman" pitchFamily="18" charset="0"/>
                <a:cs typeface="Times New Roman" pitchFamily="18" charset="0"/>
              </a:rPr>
              <a:t>	Output:</a:t>
            </a:r>
            <a:r>
              <a:rPr lang="en-US" sz="2400" i="1" dirty="0">
                <a:solidFill>
                  <a:schemeClr val="tx1"/>
                </a:solidFill>
                <a:latin typeface="Times New Roman" pitchFamily="18" charset="0"/>
                <a:cs typeface="Times New Roman" pitchFamily="18" charset="0"/>
              </a:rPr>
              <a:t> false</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endParaRPr lang="en-US" sz="2400" i="1"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endParaRPr lang="en-US" sz="2400" b="1"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3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String Equals Method</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equalsIgnoreCase</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The </a:t>
            </a:r>
            <a:r>
              <a:rPr lang="en-US" sz="2400" dirty="0" err="1">
                <a:solidFill>
                  <a:schemeClr val="tx1"/>
                </a:solidFill>
                <a:latin typeface="Times New Roman" pitchFamily="18" charset="0"/>
                <a:cs typeface="Times New Roman" pitchFamily="18" charset="0"/>
              </a:rPr>
              <a:t>equalsIgnoreCase</a:t>
            </a:r>
            <a:r>
              <a:rPr lang="en-US" sz="2400" dirty="0">
                <a:solidFill>
                  <a:schemeClr val="tx1"/>
                </a:solidFill>
                <a:latin typeface="Times New Roman" pitchFamily="18" charset="0"/>
                <a:cs typeface="Times New Roman" pitchFamily="18" charset="0"/>
              </a:rPr>
              <a:t> ( ) method returns true if the invoking object character sequence is same as argument object. </a:t>
            </a:r>
          </a:p>
          <a:p>
            <a:pPr algn="just">
              <a:spcBef>
                <a:spcPts val="600"/>
              </a:spcBef>
              <a:spcAft>
                <a:spcPts val="600"/>
              </a:spcAft>
            </a:pPr>
            <a:r>
              <a:rPr lang="en-US" sz="2400" dirty="0">
                <a:solidFill>
                  <a:schemeClr val="tx1"/>
                </a:solidFill>
                <a:latin typeface="Times New Roman" pitchFamily="18" charset="0"/>
                <a:cs typeface="Times New Roman" pitchFamily="18" charset="0"/>
              </a:rPr>
              <a:t>Provided both the objects are not null.</a:t>
            </a:r>
          </a:p>
          <a:p>
            <a:pPr algn="just">
              <a:spcBef>
                <a:spcPts val="600"/>
              </a:spcBef>
              <a:spcAft>
                <a:spcPts val="600"/>
              </a:spcAft>
            </a:pPr>
            <a:r>
              <a:rPr lang="en-US" sz="2400" dirty="0">
                <a:solidFill>
                  <a:schemeClr val="tx1"/>
                </a:solidFill>
                <a:latin typeface="Times New Roman" pitchFamily="18" charset="0"/>
                <a:cs typeface="Times New Roman" pitchFamily="18" charset="0"/>
              </a:rPr>
              <a:t>Otherwise, returns false. </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err="1">
                <a:solidFill>
                  <a:schemeClr val="tx1"/>
                </a:solidFill>
                <a:latin typeface="Times New Roman" pitchFamily="18" charset="0"/>
                <a:cs typeface="Times New Roman" pitchFamily="18" charset="0"/>
              </a:rPr>
              <a:t>boolean</a:t>
            </a:r>
            <a:r>
              <a:rPr lang="en-US" sz="2400" b="1"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equalsIgnoreCase</a:t>
            </a:r>
            <a:r>
              <a:rPr lang="en-US" sz="2400" i="1" dirty="0">
                <a:solidFill>
                  <a:schemeClr val="tx1"/>
                </a:solidFill>
                <a:latin typeface="Times New Roman" pitchFamily="18" charset="0"/>
                <a:cs typeface="Times New Roman" pitchFamily="18" charset="0"/>
              </a:rPr>
              <a:t>(</a:t>
            </a:r>
            <a:r>
              <a:rPr lang="en-US" sz="2400" b="1" i="1" dirty="0">
                <a:solidFill>
                  <a:schemeClr val="tx1"/>
                </a:solidFill>
                <a:latin typeface="Times New Roman" pitchFamily="18" charset="0"/>
                <a:cs typeface="Times New Roman" pitchFamily="18" charset="0"/>
              </a:rPr>
              <a:t>Object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anObject</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b="1" i="1"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String myStr1 = “hello";</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String myStr2 = "Hello";</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String myStr3 = "Another String";</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endParaRPr lang="en-US" sz="2400" b="1"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9031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String Equals Method</a:t>
            </a:r>
            <a:endParaRPr lang="en-IN" dirty="0"/>
          </a:p>
        </p:txBody>
      </p:sp>
      <p:sp>
        <p:nvSpPr>
          <p:cNvPr id="15" name="Content Placeholder 4"/>
          <p:cNvSpPr>
            <a:spLocks noGrp="1"/>
          </p:cNvSpPr>
          <p:nvPr>
            <p:ph idx="1"/>
          </p:nvPr>
        </p:nvSpPr>
        <p:spPr>
          <a:xfrm>
            <a:off x="457200" y="1295400"/>
            <a:ext cx="8229600" cy="5029200"/>
          </a:xfrm>
        </p:spPr>
        <p:txBody>
          <a:bodyPr/>
          <a:lstStyle/>
          <a:p>
            <a:pPr marL="0" indent="0" algn="just">
              <a:spcBef>
                <a:spcPts val="1200"/>
              </a:spcBef>
              <a:spcAft>
                <a:spcPts val="1200"/>
              </a:spcAft>
              <a:buNone/>
            </a:pPr>
            <a:r>
              <a:rPr lang="en-US" sz="2400" b="1" u="sng" dirty="0" err="1">
                <a:solidFill>
                  <a:schemeClr val="tx1"/>
                </a:solidFill>
                <a:latin typeface="Times New Roman" pitchFamily="18" charset="0"/>
                <a:cs typeface="Times New Roman" pitchFamily="18" charset="0"/>
              </a:rPr>
              <a:t>equalsIgnoreCase</a:t>
            </a:r>
            <a:r>
              <a:rPr lang="en-US" sz="2400" b="1" u="sng" dirty="0">
                <a:solidFill>
                  <a:schemeClr val="tx1"/>
                </a:solidFill>
                <a:latin typeface="Times New Roman" pitchFamily="18" charset="0"/>
                <a:cs typeface="Times New Roman" pitchFamily="18" charset="0"/>
              </a:rPr>
              <a:t>( )</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(myStr1.equalsIgnoreCase(myStr2)); </a:t>
            </a:r>
          </a:p>
          <a:p>
            <a:pPr marL="0" indent="0" algn="just">
              <a:spcBef>
                <a:spcPts val="1200"/>
              </a:spcBef>
              <a:spcAft>
                <a:spcPts val="1200"/>
              </a:spcAft>
              <a:buNone/>
            </a:pPr>
            <a:r>
              <a:rPr lang="en-US" sz="2400" b="1" i="1" dirty="0">
                <a:solidFill>
                  <a:schemeClr val="tx1"/>
                </a:solidFill>
                <a:latin typeface="Times New Roman" pitchFamily="18" charset="0"/>
                <a:cs typeface="Times New Roman" pitchFamily="18" charset="0"/>
              </a:rPr>
              <a:t>	Output:</a:t>
            </a:r>
            <a:r>
              <a:rPr lang="en-US" sz="2400" i="1" dirty="0">
                <a:solidFill>
                  <a:schemeClr val="tx1"/>
                </a:solidFill>
                <a:latin typeface="Times New Roman" pitchFamily="18" charset="0"/>
                <a:cs typeface="Times New Roman" pitchFamily="18" charset="0"/>
              </a:rPr>
              <a:t> true</a:t>
            </a:r>
          </a:p>
          <a:p>
            <a:pPr marL="0" indent="0" algn="just">
              <a:spcBef>
                <a:spcPts val="1200"/>
              </a:spcBef>
              <a:spcAft>
                <a:spcPts val="1200"/>
              </a:spcAft>
              <a:buNone/>
            </a:pP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(myStr1.equalsIgnoreCase(myStr3)); </a:t>
            </a:r>
          </a:p>
          <a:p>
            <a:pPr marL="0" indent="0" algn="just">
              <a:spcBef>
                <a:spcPts val="1200"/>
              </a:spcBef>
              <a:spcAft>
                <a:spcPts val="1200"/>
              </a:spcAft>
              <a:buNone/>
            </a:pPr>
            <a:r>
              <a:rPr lang="en-US" sz="2400" b="1" i="1" dirty="0">
                <a:solidFill>
                  <a:schemeClr val="tx1"/>
                </a:solidFill>
                <a:latin typeface="Times New Roman" pitchFamily="18" charset="0"/>
                <a:cs typeface="Times New Roman" pitchFamily="18" charset="0"/>
              </a:rPr>
              <a:t>	Output:</a:t>
            </a:r>
            <a:r>
              <a:rPr lang="en-US" sz="2400" i="1" dirty="0">
                <a:solidFill>
                  <a:schemeClr val="tx1"/>
                </a:solidFill>
                <a:latin typeface="Times New Roman" pitchFamily="18" charset="0"/>
                <a:cs typeface="Times New Roman" pitchFamily="18" charset="0"/>
              </a:rPr>
              <a:t> false</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endParaRPr lang="en-US" sz="2400" i="1"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endParaRPr lang="en-US" sz="2400" b="1"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361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296213" y="242664"/>
            <a:ext cx="8899301" cy="655638"/>
          </a:xfrm>
        </p:spPr>
        <p:txBody>
          <a:bodyPr/>
          <a:lstStyle/>
          <a:p>
            <a:r>
              <a:rPr lang="en-US" dirty="0"/>
              <a:t>Comparing Strings using == operator</a:t>
            </a:r>
            <a:endParaRPr lang="en-IN"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83851"/>
            <a:ext cx="8229600" cy="4652298"/>
          </a:xfrm>
        </p:spPr>
      </p:pic>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6362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296213" y="242664"/>
            <a:ext cx="8899301" cy="655638"/>
          </a:xfrm>
        </p:spPr>
        <p:txBody>
          <a:bodyPr/>
          <a:lstStyle/>
          <a:p>
            <a:r>
              <a:rPr lang="en-US" dirty="0"/>
              <a:t>Comparing Strings using equals method</a:t>
            </a:r>
            <a:endParaRPr lang="en-IN"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249250"/>
            <a:ext cx="8229600" cy="5009881"/>
          </a:xfrm>
        </p:spPr>
      </p:pic>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4824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8E3B-F8CA-4CB1-B9BB-05BC4CF4F640}"/>
              </a:ext>
            </a:extLst>
          </p:cNvPr>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spcBef>
                <a:spcPts val="600"/>
              </a:spcBef>
              <a:spcAft>
                <a:spcPts val="600"/>
              </a:spcAft>
              <a:buNone/>
            </a:pPr>
            <a:endParaRPr lang="en-US" i="1"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b="1" i="1" dirty="0">
              <a:solidFill>
                <a:schemeClr val="tx1"/>
              </a:solidFill>
              <a:latin typeface="Times New Roman" pitchFamily="18" charset="0"/>
              <a:cs typeface="Times New Roman" pitchFamily="18" charset="0"/>
            </a:endParaRPr>
          </a:p>
          <a:p>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57" y="1043189"/>
            <a:ext cx="8678486" cy="5353262"/>
          </a:xfrm>
          <a:prstGeom prst="rect">
            <a:avLst/>
          </a:prstGeom>
        </p:spPr>
      </p:pic>
      <p:sp>
        <p:nvSpPr>
          <p:cNvPr id="6" name="Title 13"/>
          <p:cNvSpPr txBox="1">
            <a:spLocks/>
          </p:cNvSpPr>
          <p:nvPr/>
        </p:nvSpPr>
        <p:spPr bwMode="auto">
          <a:xfrm>
            <a:off x="-296213" y="242664"/>
            <a:ext cx="8899301"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IN" dirty="0"/>
              <a:t>Comparing Strings using == operator</a:t>
            </a:r>
          </a:p>
        </p:txBody>
      </p:sp>
      <p:sp>
        <p:nvSpPr>
          <p:cNvPr id="7"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0691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8E3B-F8CA-4CB1-B9BB-05BC4CF4F640}"/>
              </a:ext>
            </a:extLst>
          </p:cNvPr>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spcBef>
                <a:spcPts val="600"/>
              </a:spcBef>
              <a:spcAft>
                <a:spcPts val="600"/>
              </a:spcAft>
              <a:buNone/>
            </a:pPr>
            <a:endParaRPr lang="en-US" i="1"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b="1" i="1" dirty="0">
              <a:solidFill>
                <a:schemeClr val="tx1"/>
              </a:solidFill>
              <a:latin typeface="Times New Roman" pitchFamily="18" charset="0"/>
              <a:cs typeface="Times New Roman" pitchFamily="18" charset="0"/>
            </a:endParaRPr>
          </a:p>
          <a:p>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944" y="1199838"/>
            <a:ext cx="8087931" cy="4878989"/>
          </a:xfrm>
          <a:prstGeom prst="rect">
            <a:avLst/>
          </a:prstGeom>
        </p:spPr>
      </p:pic>
      <p:sp>
        <p:nvSpPr>
          <p:cNvPr id="8" name="Title 13"/>
          <p:cNvSpPr txBox="1">
            <a:spLocks/>
          </p:cNvSpPr>
          <p:nvPr/>
        </p:nvSpPr>
        <p:spPr bwMode="auto">
          <a:xfrm>
            <a:off x="-296213" y="242664"/>
            <a:ext cx="8899301"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a:t>Comparing Strings using equals method</a:t>
            </a:r>
            <a:endParaRPr lang="en-IN" dirty="0"/>
          </a:p>
        </p:txBody>
      </p:sp>
      <p:sp>
        <p:nvSpPr>
          <p:cNvPr id="6"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238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Prefix and Suffix Method</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startsWith</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Tests if this string starts with the specified prefix.</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boolean</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startsWith</a:t>
            </a:r>
            <a:r>
              <a:rPr lang="en-US" sz="2400" i="1" dirty="0">
                <a:solidFill>
                  <a:schemeClr val="tx1"/>
                </a:solidFill>
                <a:latin typeface="Times New Roman" pitchFamily="18" charset="0"/>
                <a:cs typeface="Times New Roman" pitchFamily="18" charset="0"/>
              </a:rPr>
              <a:t>(String prefix)</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("January".</a:t>
            </a:r>
            <a:r>
              <a:rPr lang="en-US" sz="2400" i="1" dirty="0" err="1">
                <a:solidFill>
                  <a:schemeClr val="tx1"/>
                </a:solidFill>
                <a:latin typeface="Times New Roman" pitchFamily="18" charset="0"/>
                <a:cs typeface="Times New Roman" pitchFamily="18" charset="0"/>
              </a:rPr>
              <a:t>startsWith</a:t>
            </a:r>
            <a:r>
              <a:rPr lang="en-US" sz="2400" i="1" dirty="0">
                <a:solidFill>
                  <a:schemeClr val="tx1"/>
                </a:solidFill>
                <a:latin typeface="Times New Roman" pitchFamily="18" charset="0"/>
                <a:cs typeface="Times New Roman" pitchFamily="18" charset="0"/>
              </a:rPr>
              <a:t>("Jan"));</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Output : true</a:t>
            </a:r>
          </a:p>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endsWith</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Tests if this string ends with the specified suffix. </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boolean</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endsWith</a:t>
            </a:r>
            <a:r>
              <a:rPr lang="en-US" sz="2400" i="1" dirty="0">
                <a:solidFill>
                  <a:schemeClr val="tx1"/>
                </a:solidFill>
                <a:latin typeface="Times New Roman" pitchFamily="18" charset="0"/>
                <a:cs typeface="Times New Roman" pitchFamily="18" charset="0"/>
              </a:rPr>
              <a:t>(String prefix)</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System.out.println</a:t>
            </a:r>
            <a:r>
              <a:rPr lang="en-US" sz="2400" i="1" dirty="0">
                <a:solidFill>
                  <a:schemeClr val="tx1"/>
                </a:solidFill>
                <a:latin typeface="Times New Roman" pitchFamily="18" charset="0"/>
                <a:cs typeface="Times New Roman" pitchFamily="18" charset="0"/>
              </a:rPr>
              <a:t>("January".</a:t>
            </a:r>
            <a:r>
              <a:rPr lang="en-US" sz="2400" i="1" dirty="0" err="1">
                <a:solidFill>
                  <a:schemeClr val="tx1"/>
                </a:solidFill>
                <a:latin typeface="Times New Roman" pitchFamily="18" charset="0"/>
                <a:cs typeface="Times New Roman" pitchFamily="18" charset="0"/>
              </a:rPr>
              <a:t>endsWith</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ry</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r>
              <a:rPr lang="en-US" sz="2400" b="1" i="1" dirty="0">
                <a:solidFill>
                  <a:schemeClr val="tx1"/>
                </a:solidFill>
                <a:latin typeface="Times New Roman" pitchFamily="18" charset="0"/>
                <a:cs typeface="Times New Roman" pitchFamily="18" charset="0"/>
              </a:rPr>
              <a:t>Output : true</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8614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Comparing Strings</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compareTo</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Compares two strings and to know which string is bigger or smaller. </a:t>
            </a:r>
          </a:p>
          <a:p>
            <a:pPr marL="400050" lvl="1" indent="0" algn="just">
              <a:spcBef>
                <a:spcPts val="600"/>
              </a:spcBef>
              <a:spcAft>
                <a:spcPts val="600"/>
              </a:spcAft>
              <a:buNone/>
            </a:pPr>
            <a:r>
              <a:rPr lang="en-US" sz="2000" dirty="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We will get a negative integer, if this String object is less than the argument string.</a:t>
            </a:r>
          </a:p>
          <a:p>
            <a:pPr marL="400050" lvl="1" indent="0" algn="just">
              <a:spcBef>
                <a:spcPts val="600"/>
              </a:spcBef>
              <a:spcAft>
                <a:spcPts val="600"/>
              </a:spcAft>
              <a:buNone/>
            </a:pPr>
            <a:r>
              <a:rPr lang="en-US" sz="2400" dirty="0">
                <a:solidFill>
                  <a:schemeClr val="tx1"/>
                </a:solidFill>
                <a:latin typeface="Times New Roman" pitchFamily="18" charset="0"/>
                <a:cs typeface="Times New Roman" pitchFamily="18" charset="0"/>
              </a:rPr>
              <a:t>– We will get a positive integer if this String object is greater than the argument string.</a:t>
            </a:r>
          </a:p>
          <a:p>
            <a:pPr marL="400050" lvl="1" indent="0" algn="just">
              <a:spcBef>
                <a:spcPts val="600"/>
              </a:spcBef>
              <a:spcAft>
                <a:spcPts val="600"/>
              </a:spcAft>
              <a:buNone/>
            </a:pPr>
            <a:r>
              <a:rPr lang="en-US" sz="2400" dirty="0">
                <a:solidFill>
                  <a:schemeClr val="tx1"/>
                </a:solidFill>
                <a:latin typeface="Times New Roman" pitchFamily="18" charset="0"/>
                <a:cs typeface="Times New Roman" pitchFamily="18" charset="0"/>
              </a:rPr>
              <a:t>– We will get a return value 0 (zero), if these strings are equal.</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b="1"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compareTo</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anotherString</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compareToIgnoreCase</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str</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9202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err="1"/>
              <a:t>Indexof</a:t>
            </a:r>
            <a:r>
              <a:rPr lang="en-US" dirty="0"/>
              <a:t> Method</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indexOf</a:t>
            </a:r>
            <a:r>
              <a:rPr lang="en-US" sz="2400" b="1" u="sng" dirty="0">
                <a:solidFill>
                  <a:schemeClr val="tx1"/>
                </a:solidFill>
                <a:latin typeface="Times New Roman" pitchFamily="18" charset="0"/>
                <a:cs typeface="Times New Roman" pitchFamily="18" charset="0"/>
              </a:rPr>
              <a:t>( )</a:t>
            </a:r>
          </a:p>
          <a:p>
            <a:pPr algn="just">
              <a:spcBef>
                <a:spcPts val="1200"/>
              </a:spcBef>
              <a:spcAft>
                <a:spcPts val="1200"/>
              </a:spcAft>
            </a:pPr>
            <a:r>
              <a:rPr lang="en-US" sz="2400" dirty="0">
                <a:solidFill>
                  <a:schemeClr val="tx1"/>
                </a:solidFill>
                <a:latin typeface="Times New Roman" pitchFamily="18" charset="0"/>
                <a:cs typeface="Times New Roman" pitchFamily="18" charset="0"/>
              </a:rPr>
              <a:t>Searches for the first occurrence of a character or substring. Returns -1 if the character does not occur. </a:t>
            </a:r>
          </a:p>
          <a:p>
            <a:pPr marL="0" indent="0" algn="just">
              <a:spcBef>
                <a:spcPts val="1200"/>
              </a:spcBef>
              <a:spcAft>
                <a:spcPts val="1200"/>
              </a:spcAft>
              <a:buNone/>
            </a:pPr>
            <a:r>
              <a:rPr lang="en-US" sz="2400" b="1" u="sng" dirty="0">
                <a:solidFill>
                  <a:schemeClr val="tx1"/>
                </a:solidFill>
                <a:latin typeface="Times New Roman" pitchFamily="18" charset="0"/>
                <a:cs typeface="Times New Roman" pitchFamily="18" charset="0"/>
              </a:rPr>
              <a:t>Method 1</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indexOf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ch</a:t>
            </a:r>
            <a:r>
              <a:rPr lang="en-US" sz="2400" i="1" dirty="0">
                <a:solidFill>
                  <a:schemeClr val="tx1"/>
                </a:solidFill>
                <a:latin typeface="Times New Roman" pitchFamily="18" charset="0"/>
                <a:cs typeface="Times New Roman" pitchFamily="18" charset="0"/>
              </a:rPr>
              <a:t>)</a:t>
            </a:r>
          </a:p>
          <a:p>
            <a:pPr algn="just">
              <a:spcBef>
                <a:spcPts val="1200"/>
              </a:spcBef>
              <a:spcAft>
                <a:spcPts val="1200"/>
              </a:spcAft>
            </a:pPr>
            <a:r>
              <a:rPr lang="en-US" sz="2400" dirty="0">
                <a:solidFill>
                  <a:schemeClr val="tx1"/>
                </a:solidFill>
                <a:latin typeface="Times New Roman" pitchFamily="18" charset="0"/>
                <a:cs typeface="Times New Roman" pitchFamily="18" charset="0"/>
              </a:rPr>
              <a:t>It searches for the character represented by </a:t>
            </a:r>
            <a:r>
              <a:rPr lang="en-US" sz="2400" dirty="0" err="1">
                <a:solidFill>
                  <a:schemeClr val="tx1"/>
                </a:solidFill>
                <a:latin typeface="Times New Roman" pitchFamily="18" charset="0"/>
                <a:cs typeface="Times New Roman" pitchFamily="18" charset="0"/>
              </a:rPr>
              <a:t>ch</a:t>
            </a:r>
            <a:r>
              <a:rPr lang="en-US" sz="2400" dirty="0">
                <a:solidFill>
                  <a:schemeClr val="tx1"/>
                </a:solidFill>
                <a:latin typeface="Times New Roman" pitchFamily="18" charset="0"/>
                <a:cs typeface="Times New Roman" pitchFamily="18" charset="0"/>
              </a:rPr>
              <a:t> within this string and returns the index of first occurrence of this character. </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91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err="1"/>
              <a:t>Indexof</a:t>
            </a:r>
            <a:r>
              <a:rPr lang="en-US" dirty="0"/>
              <a:t> Method</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Method 2</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indexOf</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str</a:t>
            </a:r>
            <a:r>
              <a:rPr lang="en-US" sz="2400" i="1" dirty="0">
                <a:solidFill>
                  <a:schemeClr val="tx1"/>
                </a:solidFill>
                <a:latin typeface="Times New Roman" pitchFamily="18" charset="0"/>
                <a:cs typeface="Times New Roman" pitchFamily="18" charset="0"/>
              </a:rPr>
              <a:t>)</a:t>
            </a:r>
          </a:p>
          <a:p>
            <a:pPr algn="just">
              <a:spcBef>
                <a:spcPts val="600"/>
              </a:spcBef>
              <a:spcAft>
                <a:spcPts val="600"/>
              </a:spcAft>
            </a:pPr>
            <a:r>
              <a:rPr lang="en-US" sz="2400" dirty="0">
                <a:solidFill>
                  <a:schemeClr val="tx1"/>
                </a:solidFill>
                <a:latin typeface="Times New Roman" pitchFamily="18" charset="0"/>
                <a:cs typeface="Times New Roman" pitchFamily="18" charset="0"/>
              </a:rPr>
              <a:t>It searches for the substring specified by </a:t>
            </a:r>
            <a:r>
              <a:rPr lang="en-US" sz="2400" dirty="0" err="1">
                <a:solidFill>
                  <a:schemeClr val="tx1"/>
                </a:solidFill>
                <a:latin typeface="Times New Roman" pitchFamily="18" charset="0"/>
                <a:cs typeface="Times New Roman" pitchFamily="18" charset="0"/>
              </a:rPr>
              <a:t>str</a:t>
            </a:r>
            <a:r>
              <a:rPr lang="en-US" sz="2400" dirty="0">
                <a:solidFill>
                  <a:schemeClr val="tx1"/>
                </a:solidFill>
                <a:latin typeface="Times New Roman" pitchFamily="18" charset="0"/>
                <a:cs typeface="Times New Roman" pitchFamily="18" charset="0"/>
              </a:rPr>
              <a:t> within this string and returns the index of first occurrence of this substring.</a:t>
            </a:r>
          </a:p>
          <a:p>
            <a:pPr marL="0" indent="0" algn="just">
              <a:spcBef>
                <a:spcPts val="1200"/>
              </a:spcBef>
              <a:spcAft>
                <a:spcPts val="1200"/>
              </a:spcAft>
              <a:buNone/>
            </a:pPr>
            <a:r>
              <a:rPr lang="en-US" sz="2400" b="1" u="sng" dirty="0">
                <a:solidFill>
                  <a:schemeClr val="tx1"/>
                </a:solidFill>
                <a:latin typeface="Times New Roman" pitchFamily="18" charset="0"/>
                <a:cs typeface="Times New Roman" pitchFamily="18" charset="0"/>
              </a:rPr>
              <a:t>Method 3</a:t>
            </a:r>
          </a:p>
          <a:p>
            <a:pPr marL="0" indent="0" algn="just">
              <a:spcBef>
                <a:spcPts val="1200"/>
              </a:spcBef>
              <a:spcAft>
                <a:spcPts val="12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indexOf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ch</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fromIndex</a:t>
            </a:r>
            <a:r>
              <a:rPr lang="en-US" sz="2400" i="1" dirty="0">
                <a:solidFill>
                  <a:schemeClr val="tx1"/>
                </a:solidFill>
                <a:latin typeface="Times New Roman" pitchFamily="18" charset="0"/>
                <a:cs typeface="Times New Roman" pitchFamily="18" charset="0"/>
              </a:rPr>
              <a:t>)</a:t>
            </a:r>
          </a:p>
          <a:p>
            <a:pPr algn="just">
              <a:spcBef>
                <a:spcPts val="1200"/>
              </a:spcBef>
              <a:spcAft>
                <a:spcPts val="1200"/>
              </a:spcAft>
            </a:pPr>
            <a:r>
              <a:rPr lang="en-US" sz="2400" dirty="0">
                <a:solidFill>
                  <a:schemeClr val="tx1"/>
                </a:solidFill>
                <a:latin typeface="Times New Roman" pitchFamily="18" charset="0"/>
                <a:cs typeface="Times New Roman" pitchFamily="18" charset="0"/>
              </a:rPr>
              <a:t>It searches for the character represented by </a:t>
            </a:r>
            <a:r>
              <a:rPr lang="en-US" sz="2400" dirty="0" err="1">
                <a:solidFill>
                  <a:schemeClr val="tx1"/>
                </a:solidFill>
                <a:latin typeface="Times New Roman" pitchFamily="18" charset="0"/>
                <a:cs typeface="Times New Roman" pitchFamily="18" charset="0"/>
              </a:rPr>
              <a:t>ch</a:t>
            </a:r>
            <a:r>
              <a:rPr lang="en-US" sz="2400" dirty="0">
                <a:solidFill>
                  <a:schemeClr val="tx1"/>
                </a:solidFill>
                <a:latin typeface="Times New Roman" pitchFamily="18" charset="0"/>
                <a:cs typeface="Times New Roman" pitchFamily="18" charset="0"/>
              </a:rPr>
              <a:t> within this string and returns the index of first occurrence of this character starting from the position specified by </a:t>
            </a:r>
            <a:r>
              <a:rPr lang="en-US" sz="2400" dirty="0" err="1">
                <a:solidFill>
                  <a:schemeClr val="tx1"/>
                </a:solidFill>
                <a:latin typeface="Times New Roman" pitchFamily="18" charset="0"/>
                <a:cs typeface="Times New Roman" pitchFamily="18" charset="0"/>
              </a:rPr>
              <a:t>fromIndex</a:t>
            </a:r>
            <a:r>
              <a:rPr lang="en-US" sz="2400" dirty="0">
                <a:solidFill>
                  <a:schemeClr val="tx1"/>
                </a:solidFill>
                <a:latin typeface="Times New Roman" pitchFamily="18" charset="0"/>
                <a:cs typeface="Times New Roman" pitchFamily="18" charset="0"/>
              </a:rPr>
              <a:t>. </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698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err="1"/>
              <a:t>Indexof</a:t>
            </a:r>
            <a:r>
              <a:rPr lang="en-US" dirty="0"/>
              <a:t> Method</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endParaRPr lang="en-US" sz="2400" b="1" u="sng" dirty="0">
              <a:solidFill>
                <a:schemeClr val="tx1"/>
              </a:solidFill>
              <a:latin typeface="Times New Roman" pitchFamily="18" charset="0"/>
              <a:cs typeface="Times New Roman" pitchFamily="18" charset="0"/>
            </a:endParaRPr>
          </a:p>
          <a:p>
            <a:pPr marL="0" indent="0" algn="just">
              <a:spcBef>
                <a:spcPts val="1800"/>
              </a:spcBef>
              <a:spcAft>
                <a:spcPts val="1800"/>
              </a:spcAft>
              <a:buNone/>
            </a:pPr>
            <a:r>
              <a:rPr lang="en-US" sz="2400" b="1" u="sng" dirty="0">
                <a:solidFill>
                  <a:schemeClr val="tx1"/>
                </a:solidFill>
                <a:latin typeface="Times New Roman" pitchFamily="18" charset="0"/>
                <a:cs typeface="Times New Roman" pitchFamily="18" charset="0"/>
              </a:rPr>
              <a:t>Method 4</a:t>
            </a:r>
          </a:p>
          <a:p>
            <a:pPr marL="0" indent="0" algn="just">
              <a:spcBef>
                <a:spcPts val="1800"/>
              </a:spcBef>
              <a:spcAft>
                <a:spcPts val="18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indexOf</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str</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fromIndex</a:t>
            </a:r>
            <a:r>
              <a:rPr lang="en-US" sz="2400" i="1" dirty="0">
                <a:solidFill>
                  <a:schemeClr val="tx1"/>
                </a:solidFill>
                <a:latin typeface="Times New Roman" pitchFamily="18" charset="0"/>
                <a:cs typeface="Times New Roman" pitchFamily="18" charset="0"/>
              </a:rPr>
              <a:t>)</a:t>
            </a:r>
          </a:p>
          <a:p>
            <a:pPr algn="just">
              <a:spcBef>
                <a:spcPts val="1800"/>
              </a:spcBef>
              <a:spcAft>
                <a:spcPts val="1800"/>
              </a:spcAft>
            </a:pPr>
            <a:r>
              <a:rPr lang="en-US" sz="2400" dirty="0">
                <a:solidFill>
                  <a:schemeClr val="tx1"/>
                </a:solidFill>
                <a:latin typeface="Times New Roman" pitchFamily="18" charset="0"/>
                <a:cs typeface="Times New Roman" pitchFamily="18" charset="0"/>
              </a:rPr>
              <a:t>Returns the index within this string of the first occurrence of the specified substring, starting at the specified index.</a:t>
            </a:r>
          </a:p>
          <a:p>
            <a:pPr marL="0" indent="0" algn="just">
              <a:spcBef>
                <a:spcPts val="1200"/>
              </a:spcBef>
              <a:spcAft>
                <a:spcPts val="1200"/>
              </a:spcAft>
              <a:buNone/>
            </a:pPr>
            <a:endParaRPr lang="en-US" sz="2400"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080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err="1"/>
              <a:t>Indexof</a:t>
            </a:r>
            <a:r>
              <a:rPr lang="en-US" dirty="0"/>
              <a:t> Method Example</a:t>
            </a:r>
            <a:endParaRPr lang="en-IN"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4500" y="1498208"/>
            <a:ext cx="8229600" cy="4889713"/>
          </a:xfrm>
        </p:spPr>
      </p:pic>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629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err="1"/>
              <a:t>lastIndexof</a:t>
            </a:r>
            <a:r>
              <a:rPr lang="en-US" dirty="0"/>
              <a:t> Method</a:t>
            </a:r>
            <a:endParaRPr lang="en-IN" dirty="0"/>
          </a:p>
        </p:txBody>
      </p:sp>
      <p:sp>
        <p:nvSpPr>
          <p:cNvPr id="15" name="Content Placeholder 4"/>
          <p:cNvSpPr>
            <a:spLocks noGrp="1"/>
          </p:cNvSpPr>
          <p:nvPr>
            <p:ph idx="1"/>
          </p:nvPr>
        </p:nvSpPr>
        <p:spPr>
          <a:xfrm>
            <a:off x="444321" y="1012065"/>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lastIndexOf</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This method returns the position of the last occurrence of specified character(s) in a string.</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lastIndexOf</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str</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lastIndexOf</a:t>
            </a:r>
            <a:r>
              <a:rPr lang="en-US" sz="2400" i="1" dirty="0">
                <a:solidFill>
                  <a:schemeClr val="tx1"/>
                </a:solidFill>
                <a:latin typeface="Times New Roman" pitchFamily="18" charset="0"/>
                <a:cs typeface="Times New Roman" pitchFamily="18" charset="0"/>
              </a:rPr>
              <a:t>(String </a:t>
            </a:r>
            <a:r>
              <a:rPr lang="en-US" sz="2400" i="1" dirty="0" err="1">
                <a:solidFill>
                  <a:schemeClr val="tx1"/>
                </a:solidFill>
                <a:latin typeface="Times New Roman" pitchFamily="18" charset="0"/>
                <a:cs typeface="Times New Roman" pitchFamily="18" charset="0"/>
              </a:rPr>
              <a:t>str</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fromIndex</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lastIndexOf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char)</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lastIndexOf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char,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fromIndex</a:t>
            </a:r>
            <a:r>
              <a:rPr lang="en-US" sz="2400" i="1" dirty="0">
                <a:solidFill>
                  <a:schemeClr val="tx1"/>
                </a:solidFill>
                <a:latin typeface="Times New Roman" pitchFamily="18" charset="0"/>
                <a:cs typeface="Times New Roman" pitchFamily="18" charset="0"/>
              </a:rPr>
              <a:t>)</a:t>
            </a:r>
          </a:p>
          <a:p>
            <a:pPr algn="just">
              <a:spcBef>
                <a:spcPts val="1200"/>
              </a:spcBef>
              <a:spcAft>
                <a:spcPts val="1200"/>
              </a:spcAft>
            </a:pPr>
            <a:r>
              <a:rPr lang="en-US" sz="2400" dirty="0" err="1">
                <a:solidFill>
                  <a:schemeClr val="tx1"/>
                </a:solidFill>
                <a:latin typeface="Times New Roman" pitchFamily="18" charset="0"/>
                <a:cs typeface="Times New Roman" pitchFamily="18" charset="0"/>
              </a:rPr>
              <a:t>fromIndex</a:t>
            </a:r>
            <a:r>
              <a:rPr lang="en-US" sz="2400" dirty="0">
                <a:solidFill>
                  <a:schemeClr val="tx1"/>
                </a:solidFill>
                <a:latin typeface="Times New Roman" pitchFamily="18" charset="0"/>
                <a:cs typeface="Times New Roman" pitchFamily="18" charset="0"/>
              </a:rPr>
              <a:t> - An </a:t>
            </a:r>
            <a:r>
              <a:rPr lang="en-US" sz="2400" dirty="0" err="1">
                <a:solidFill>
                  <a:schemeClr val="tx1"/>
                </a:solidFill>
                <a:latin typeface="Times New Roman" pitchFamily="18" charset="0"/>
                <a:cs typeface="Times New Roman" pitchFamily="18" charset="0"/>
              </a:rPr>
              <a:t>int</a:t>
            </a:r>
            <a:r>
              <a:rPr lang="en-US" sz="2400" dirty="0">
                <a:solidFill>
                  <a:schemeClr val="tx1"/>
                </a:solidFill>
                <a:latin typeface="Times New Roman" pitchFamily="18" charset="0"/>
                <a:cs typeface="Times New Roman" pitchFamily="18" charset="0"/>
              </a:rPr>
              <a:t> value, representing the index position to start the search from. If omitted, the default value is the length of the string. </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390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384331"/>
            <a:ext cx="7920507" cy="655638"/>
          </a:xfrm>
        </p:spPr>
        <p:txBody>
          <a:bodyPr/>
          <a:lstStyle/>
          <a:p>
            <a:r>
              <a:rPr lang="en-US" dirty="0"/>
              <a:t>substring Method</a:t>
            </a:r>
            <a:endParaRPr lang="en-IN" dirty="0"/>
          </a:p>
        </p:txBody>
      </p:sp>
      <p:sp>
        <p:nvSpPr>
          <p:cNvPr id="15" name="Content Placeholder 4"/>
          <p:cNvSpPr>
            <a:spLocks noGrp="1"/>
          </p:cNvSpPr>
          <p:nvPr>
            <p:ph idx="1"/>
          </p:nvPr>
        </p:nvSpPr>
        <p:spPr>
          <a:xfrm>
            <a:off x="470079" y="896155"/>
            <a:ext cx="8229600" cy="5029200"/>
          </a:xfrm>
        </p:spPr>
        <p:txBody>
          <a:bodyPr/>
          <a:lstStyle/>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substring( )</a:t>
            </a:r>
          </a:p>
          <a:p>
            <a:pPr algn="just">
              <a:spcBef>
                <a:spcPts val="600"/>
              </a:spcBef>
              <a:spcAft>
                <a:spcPts val="600"/>
              </a:spcAft>
            </a:pPr>
            <a:r>
              <a:rPr lang="en-US" sz="2400" dirty="0">
                <a:solidFill>
                  <a:schemeClr val="tx1"/>
                </a:solidFill>
                <a:latin typeface="Times New Roman" pitchFamily="18" charset="0"/>
                <a:cs typeface="Times New Roman" pitchFamily="18" charset="0"/>
              </a:rPr>
              <a:t>This method returns a new string that is a substring of the string.</a:t>
            </a:r>
          </a:p>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Method-1</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substring(</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begIndex</a:t>
            </a:r>
            <a:r>
              <a:rPr lang="en-US" sz="2400" i="1" dirty="0">
                <a:solidFill>
                  <a:schemeClr val="tx1"/>
                </a:solidFill>
                <a:latin typeface="Times New Roman" pitchFamily="18" charset="0"/>
                <a:cs typeface="Times New Roman" pitchFamily="18" charset="0"/>
              </a:rPr>
              <a:t>)</a:t>
            </a:r>
          </a:p>
          <a:p>
            <a:pPr algn="just">
              <a:spcBef>
                <a:spcPts val="600"/>
              </a:spcBef>
              <a:spcAft>
                <a:spcPts val="600"/>
              </a:spcAft>
            </a:pPr>
            <a:r>
              <a:rPr lang="en-US" sz="2400" dirty="0">
                <a:solidFill>
                  <a:schemeClr val="tx1"/>
                </a:solidFill>
                <a:latin typeface="Times New Roman" pitchFamily="18" charset="0"/>
                <a:cs typeface="Times New Roman" pitchFamily="18" charset="0"/>
              </a:rPr>
              <a:t>The substring begins with the character at the specified index and extends to the end of this string.</a:t>
            </a:r>
          </a:p>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Method-2</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substring(</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begIndex</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endIndex</a:t>
            </a:r>
            <a:r>
              <a:rPr lang="en-US" sz="2400" i="1" dirty="0">
                <a:solidFill>
                  <a:schemeClr val="tx1"/>
                </a:solidFill>
                <a:latin typeface="Times New Roman" pitchFamily="18" charset="0"/>
                <a:cs typeface="Times New Roman" pitchFamily="18" charset="0"/>
              </a:rPr>
              <a:t>)</a:t>
            </a:r>
          </a:p>
          <a:p>
            <a:pPr algn="just">
              <a:spcBef>
                <a:spcPts val="600"/>
              </a:spcBef>
              <a:spcAft>
                <a:spcPts val="600"/>
              </a:spcAft>
            </a:pPr>
            <a:r>
              <a:rPr lang="en-US" sz="2400" dirty="0">
                <a:solidFill>
                  <a:schemeClr val="tx1"/>
                </a:solidFill>
                <a:latin typeface="Times New Roman" pitchFamily="18" charset="0"/>
                <a:cs typeface="Times New Roman" pitchFamily="18" charset="0"/>
              </a:rPr>
              <a:t>The substring begins with the character at the specified index and extends to the end of this string or up to </a:t>
            </a:r>
            <a:r>
              <a:rPr lang="en-US" sz="2400" dirty="0" err="1">
                <a:solidFill>
                  <a:schemeClr val="tx1"/>
                </a:solidFill>
                <a:latin typeface="Times New Roman" pitchFamily="18" charset="0"/>
                <a:cs typeface="Times New Roman" pitchFamily="18" charset="0"/>
              </a:rPr>
              <a:t>endIndex</a:t>
            </a:r>
            <a:r>
              <a:rPr lang="en-US" sz="2400" dirty="0">
                <a:solidFill>
                  <a:schemeClr val="tx1"/>
                </a:solidFill>
                <a:latin typeface="Times New Roman" pitchFamily="18" charset="0"/>
                <a:cs typeface="Times New Roman" pitchFamily="18" charset="0"/>
              </a:rPr>
              <a:t> – 1, if the second argument is given.</a:t>
            </a:r>
            <a:endParaRPr lang="en-US" sz="2400"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481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64393" y="487362"/>
            <a:ext cx="7920507" cy="655638"/>
          </a:xfrm>
        </p:spPr>
        <p:txBody>
          <a:bodyPr/>
          <a:lstStyle/>
          <a:p>
            <a:r>
              <a:rPr lang="en-US" dirty="0"/>
              <a:t>substring Method</a:t>
            </a:r>
            <a:endParaRPr lang="en-IN"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972" y="1498316"/>
            <a:ext cx="8422783" cy="4696421"/>
          </a:xfrm>
        </p:spPr>
      </p:pic>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409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384331"/>
            <a:ext cx="7920507" cy="655638"/>
          </a:xfrm>
        </p:spPr>
        <p:txBody>
          <a:bodyPr/>
          <a:lstStyle/>
          <a:p>
            <a:r>
              <a:rPr lang="en-US" dirty="0"/>
              <a:t>replace Method</a:t>
            </a:r>
            <a:endParaRPr lang="en-IN" dirty="0"/>
          </a:p>
        </p:txBody>
      </p:sp>
      <p:sp>
        <p:nvSpPr>
          <p:cNvPr id="15" name="Content Placeholder 4"/>
          <p:cNvSpPr>
            <a:spLocks noGrp="1"/>
          </p:cNvSpPr>
          <p:nvPr>
            <p:ph idx="1"/>
          </p:nvPr>
        </p:nvSpPr>
        <p:spPr>
          <a:xfrm>
            <a:off x="470079" y="896155"/>
            <a:ext cx="8229600" cy="5029200"/>
          </a:xfrm>
        </p:spPr>
        <p:txBody>
          <a:bodyPr/>
          <a:lstStyle/>
          <a:p>
            <a:pPr marL="0" indent="0" algn="just">
              <a:spcBef>
                <a:spcPts val="600"/>
              </a:spcBef>
              <a:spcAft>
                <a:spcPts val="600"/>
              </a:spcAft>
              <a:buNone/>
            </a:pPr>
            <a:r>
              <a:rPr lang="en-US" sz="2400" b="1" u="sng" dirty="0">
                <a:solidFill>
                  <a:schemeClr val="tx1"/>
                </a:solidFill>
                <a:latin typeface="Times New Roman" pitchFamily="18" charset="0"/>
                <a:cs typeface="Times New Roman" pitchFamily="18" charset="0"/>
              </a:rPr>
              <a:t>replace( )</a:t>
            </a:r>
          </a:p>
          <a:p>
            <a:pPr algn="just">
              <a:spcBef>
                <a:spcPts val="600"/>
              </a:spcBef>
              <a:spcAft>
                <a:spcPts val="600"/>
              </a:spcAft>
            </a:pPr>
            <a:r>
              <a:rPr lang="en-US" sz="2400" dirty="0">
                <a:solidFill>
                  <a:schemeClr val="tx1"/>
                </a:solidFill>
                <a:latin typeface="Times New Roman" pitchFamily="18" charset="0"/>
                <a:cs typeface="Times New Roman" pitchFamily="18" charset="0"/>
              </a:rPr>
              <a:t>This method searches a string for a specified character, and returns a new string with the replaced character.</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replace(char </a:t>
            </a:r>
            <a:r>
              <a:rPr lang="en-US" sz="2400" i="1" dirty="0" err="1">
                <a:solidFill>
                  <a:schemeClr val="tx1"/>
                </a:solidFill>
                <a:latin typeface="Times New Roman" pitchFamily="18" charset="0"/>
                <a:cs typeface="Times New Roman" pitchFamily="18" charset="0"/>
              </a:rPr>
              <a:t>searchChar</a:t>
            </a:r>
            <a:r>
              <a:rPr lang="en-US" sz="2400" i="1" dirty="0">
                <a:solidFill>
                  <a:schemeClr val="tx1"/>
                </a:solidFill>
                <a:latin typeface="Times New Roman" pitchFamily="18" charset="0"/>
                <a:cs typeface="Times New Roman" pitchFamily="18" charset="0"/>
              </a:rPr>
              <a:t>, char </a:t>
            </a:r>
            <a:r>
              <a:rPr lang="en-US" sz="2400" i="1" dirty="0" err="1">
                <a:solidFill>
                  <a:schemeClr val="tx1"/>
                </a:solidFill>
                <a:latin typeface="Times New Roman" pitchFamily="18" charset="0"/>
                <a:cs typeface="Times New Roman" pitchFamily="18" charset="0"/>
              </a:rPr>
              <a:t>newChar</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44" y="2833351"/>
            <a:ext cx="6727387" cy="3284113"/>
          </a:xfrm>
          <a:prstGeom prst="rect">
            <a:avLst/>
          </a:prstGeom>
        </p:spPr>
      </p:pic>
      <p:sp>
        <p:nvSpPr>
          <p:cNvPr id="3" name="Footer Placeholder 2">
            <a:extLst>
              <a:ext uri="{FF2B5EF4-FFF2-40B4-BE49-F238E27FC236}">
                <a16:creationId xmlns:a16="http://schemas.microsoft.com/office/drawing/2014/main" id="{7167FF7A-22AE-5D6E-9C3D-67627E0B5D1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771836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216906"/>
            <a:ext cx="7920507" cy="655638"/>
          </a:xfrm>
        </p:spPr>
        <p:txBody>
          <a:bodyPr/>
          <a:lstStyle/>
          <a:p>
            <a:r>
              <a:rPr lang="en-US" dirty="0"/>
              <a:t>String Case Conversion Method</a:t>
            </a:r>
            <a:endParaRPr lang="en-IN" dirty="0"/>
          </a:p>
        </p:txBody>
      </p:sp>
      <p:sp>
        <p:nvSpPr>
          <p:cNvPr id="15" name="Content Placeholder 4"/>
          <p:cNvSpPr>
            <a:spLocks noGrp="1"/>
          </p:cNvSpPr>
          <p:nvPr>
            <p:ph idx="1"/>
          </p:nvPr>
        </p:nvSpPr>
        <p:spPr>
          <a:xfrm>
            <a:off x="470079" y="896155"/>
            <a:ext cx="8229600" cy="5029200"/>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toLowerCase</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Method converts all of the characters in a String to lower case.</a:t>
            </a:r>
          </a:p>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toUpperCase</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Method converts all of the characters in a String to upper case.</a:t>
            </a: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10767"/>
            <a:ext cx="7335864" cy="3412760"/>
          </a:xfrm>
          <a:prstGeom prst="rect">
            <a:avLst/>
          </a:prstGeom>
        </p:spPr>
      </p:pic>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7064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384331"/>
            <a:ext cx="7920507" cy="655638"/>
          </a:xfrm>
        </p:spPr>
        <p:txBody>
          <a:bodyPr/>
          <a:lstStyle/>
          <a:p>
            <a:r>
              <a:rPr lang="en-US" dirty="0"/>
              <a:t>String Conversion Method</a:t>
            </a:r>
            <a:endParaRPr lang="en-IN" dirty="0"/>
          </a:p>
        </p:txBody>
      </p:sp>
      <p:sp>
        <p:nvSpPr>
          <p:cNvPr id="15" name="Content Placeholder 4"/>
          <p:cNvSpPr>
            <a:spLocks noGrp="1"/>
          </p:cNvSpPr>
          <p:nvPr>
            <p:ph idx="1"/>
          </p:nvPr>
        </p:nvSpPr>
        <p:spPr>
          <a:xfrm>
            <a:off x="470079" y="896155"/>
            <a:ext cx="8229600" cy="5491766"/>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valueOf</a:t>
            </a:r>
            <a:r>
              <a:rPr lang="en-US" sz="2400" b="1" u="sng" dirty="0">
                <a:solidFill>
                  <a:schemeClr val="tx1"/>
                </a:solidFill>
                <a:latin typeface="Times New Roman" pitchFamily="18" charset="0"/>
                <a:cs typeface="Times New Roman" pitchFamily="18" charset="0"/>
              </a:rPr>
              <a:t>( )</a:t>
            </a:r>
          </a:p>
          <a:p>
            <a:pPr algn="just">
              <a:spcBef>
                <a:spcPts val="600"/>
              </a:spcBef>
              <a:spcAft>
                <a:spcPts val="600"/>
              </a:spcAft>
            </a:pPr>
            <a:r>
              <a:rPr lang="en-US" sz="2400" dirty="0">
                <a:solidFill>
                  <a:schemeClr val="tx1"/>
                </a:solidFill>
                <a:latin typeface="Times New Roman" pitchFamily="18" charset="0"/>
                <a:cs typeface="Times New Roman" pitchFamily="18" charset="0"/>
              </a:rPr>
              <a:t>This method returns the string representation of the passed argument.</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boolean</a:t>
            </a:r>
            <a:r>
              <a:rPr lang="en-US" sz="2400" i="1" dirty="0">
                <a:solidFill>
                  <a:schemeClr val="tx1"/>
                </a:solidFill>
                <a:latin typeface="Times New Roman" pitchFamily="18" charset="0"/>
                <a:cs typeface="Times New Roman" pitchFamily="18" charset="0"/>
              </a:rPr>
              <a:t> b)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(char c)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(char[] data)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(double d)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(float f)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i)</a:t>
            </a: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580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384331"/>
            <a:ext cx="7920507" cy="655638"/>
          </a:xfrm>
        </p:spPr>
        <p:txBody>
          <a:bodyPr/>
          <a:lstStyle/>
          <a:p>
            <a:r>
              <a:rPr lang="en-US" dirty="0"/>
              <a:t>String Conversion Method</a:t>
            </a:r>
            <a:endParaRPr lang="en-IN" dirty="0"/>
          </a:p>
        </p:txBody>
      </p:sp>
      <p:sp>
        <p:nvSpPr>
          <p:cNvPr id="15" name="Content Placeholder 4"/>
          <p:cNvSpPr>
            <a:spLocks noGrp="1"/>
          </p:cNvSpPr>
          <p:nvPr>
            <p:ph idx="1"/>
          </p:nvPr>
        </p:nvSpPr>
        <p:spPr>
          <a:xfrm>
            <a:off x="470079" y="896155"/>
            <a:ext cx="8229600" cy="5491766"/>
          </a:xfrm>
        </p:spPr>
        <p:txBody>
          <a:bodyPr/>
          <a:lstStyle/>
          <a:p>
            <a:pPr marL="0" indent="0" algn="just">
              <a:spcBef>
                <a:spcPts val="600"/>
              </a:spcBef>
              <a:spcAft>
                <a:spcPts val="600"/>
              </a:spcAft>
              <a:buNone/>
            </a:pPr>
            <a:r>
              <a:rPr lang="en-US" sz="2400" b="1" u="sng" dirty="0" err="1">
                <a:solidFill>
                  <a:schemeClr val="tx1"/>
                </a:solidFill>
                <a:latin typeface="Times New Roman" pitchFamily="18" charset="0"/>
                <a:cs typeface="Times New Roman" pitchFamily="18" charset="0"/>
              </a:rPr>
              <a:t>valueOf</a:t>
            </a:r>
            <a:r>
              <a:rPr lang="en-US" sz="2400" b="1" u="sng" dirty="0">
                <a:solidFill>
                  <a:schemeClr val="tx1"/>
                </a:solidFill>
                <a:latin typeface="Times New Roman" pitchFamily="18" charset="0"/>
                <a:cs typeface="Times New Roman" pitchFamily="18" charset="0"/>
              </a:rPr>
              <a:t>( )</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(long l)</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(Object </a:t>
            </a:r>
            <a:r>
              <a:rPr lang="en-US" sz="2400" i="1" dirty="0" err="1">
                <a:solidFill>
                  <a:schemeClr val="tx1"/>
                </a:solidFill>
                <a:latin typeface="Times New Roman" pitchFamily="18" charset="0"/>
                <a:cs typeface="Times New Roman" pitchFamily="18" charset="0"/>
              </a:rPr>
              <a:t>obj</a:t>
            </a:r>
            <a:r>
              <a:rPr lang="en-US" sz="2400" i="1" dirty="0">
                <a:solidFill>
                  <a:schemeClr val="tx1"/>
                </a:solidFill>
                <a:latin typeface="Times New Roman" pitchFamily="18" charset="0"/>
                <a:cs typeface="Times New Roman" pitchFamily="18" charset="0"/>
              </a:rPr>
              <a:t>)</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public static </a:t>
            </a:r>
            <a:r>
              <a:rPr lang="en-US" sz="2400" b="1" i="1" dirty="0">
                <a:solidFill>
                  <a:schemeClr val="tx1"/>
                </a:solidFill>
                <a:latin typeface="Times New Roman" pitchFamily="18" charset="0"/>
                <a:cs typeface="Times New Roman" pitchFamily="18" charset="0"/>
              </a:rPr>
              <a:t>String</a:t>
            </a:r>
            <a:r>
              <a:rPr lang="en-US" sz="2400" i="1" dirty="0">
                <a:solidFill>
                  <a:schemeClr val="tx1"/>
                </a:solidFill>
                <a:latin typeface="Times New Roman" pitchFamily="18" charset="0"/>
                <a:cs typeface="Times New Roman" pitchFamily="18" charset="0"/>
              </a:rPr>
              <a:t> </a:t>
            </a:r>
            <a:r>
              <a:rPr lang="en-US" sz="2400" i="1" dirty="0" err="1">
                <a:solidFill>
                  <a:schemeClr val="tx1"/>
                </a:solidFill>
                <a:latin typeface="Times New Roman" pitchFamily="18" charset="0"/>
                <a:cs typeface="Times New Roman" pitchFamily="18" charset="0"/>
              </a:rPr>
              <a:t>valueOf</a:t>
            </a:r>
            <a:r>
              <a:rPr lang="en-US" sz="2400" i="1" dirty="0">
                <a:solidFill>
                  <a:schemeClr val="tx1"/>
                </a:solidFill>
                <a:latin typeface="Times New Roman" pitchFamily="18" charset="0"/>
                <a:cs typeface="Times New Roman" pitchFamily="18" charset="0"/>
              </a:rPr>
              <a:t>(char[] data,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offset, </a:t>
            </a:r>
            <a:r>
              <a:rPr lang="en-US" sz="2400" i="1" dirty="0" err="1">
                <a:solidFill>
                  <a:schemeClr val="tx1"/>
                </a:solidFill>
                <a:latin typeface="Times New Roman" pitchFamily="18" charset="0"/>
                <a:cs typeface="Times New Roman" pitchFamily="18" charset="0"/>
              </a:rPr>
              <a:t>int</a:t>
            </a:r>
            <a:r>
              <a:rPr lang="en-US" sz="2400" i="1" dirty="0">
                <a:solidFill>
                  <a:schemeClr val="tx1"/>
                </a:solidFill>
                <a:latin typeface="Times New Roman" pitchFamily="18" charset="0"/>
                <a:cs typeface="Times New Roman" pitchFamily="18" charset="0"/>
              </a:rPr>
              <a:t> </a:t>
            </a: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count)</a:t>
            </a: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24446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0" y="384331"/>
            <a:ext cx="7920507" cy="655638"/>
          </a:xfrm>
        </p:spPr>
        <p:txBody>
          <a:bodyPr/>
          <a:lstStyle/>
          <a:p>
            <a:r>
              <a:rPr lang="en-US" dirty="0"/>
              <a:t>String Conversion Method</a:t>
            </a:r>
            <a:endParaRPr lang="en-IN" dirty="0"/>
          </a:p>
        </p:txBody>
      </p:sp>
      <p:sp>
        <p:nvSpPr>
          <p:cNvPr id="15" name="Content Placeholder 4"/>
          <p:cNvSpPr>
            <a:spLocks noGrp="1"/>
          </p:cNvSpPr>
          <p:nvPr>
            <p:ph idx="1"/>
          </p:nvPr>
        </p:nvSpPr>
        <p:spPr>
          <a:xfrm>
            <a:off x="470079" y="896155"/>
            <a:ext cx="8229600" cy="5491766"/>
          </a:xfrm>
        </p:spPr>
        <p:txBody>
          <a:bodyPr/>
          <a:lstStyle/>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None/>
            </a:pPr>
            <a:r>
              <a:rPr lang="en-US" sz="2400" i="1" dirty="0">
                <a:solidFill>
                  <a:schemeClr val="tx1"/>
                </a:solidFill>
                <a:latin typeface="Times New Roman" pitchFamily="18" charset="0"/>
                <a:cs typeface="Times New Roman" pitchFamily="18" charset="0"/>
              </a:rPr>
              <a:t>	</a:t>
            </a:r>
          </a:p>
          <a:p>
            <a:pPr marL="0" indent="0" algn="just">
              <a:spcBef>
                <a:spcPts val="600"/>
              </a:spcBef>
              <a:spcAft>
                <a:spcPts val="600"/>
              </a:spcAft>
              <a:buNone/>
            </a:pPr>
            <a:endParaRPr lang="en-US" sz="2400" i="1" dirty="0">
              <a:solidFill>
                <a:schemeClr val="tx1"/>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571" y="1080229"/>
            <a:ext cx="7906853" cy="5114510"/>
          </a:xfrm>
          <a:prstGeom prst="rect">
            <a:avLst/>
          </a:prstGeom>
        </p:spPr>
      </p:pic>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693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079" y="-90152"/>
            <a:ext cx="7391400" cy="655638"/>
          </a:xfrm>
        </p:spPr>
        <p:txBody>
          <a:bodyPr/>
          <a:lstStyle/>
          <a:p>
            <a:r>
              <a:rPr lang="en-US" dirty="0"/>
              <a:t>Program-1</a:t>
            </a:r>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9420" y="888643"/>
            <a:ext cx="5048518" cy="5486400"/>
          </a:xfrm>
        </p:spPr>
      </p:pic>
      <p:sp>
        <p:nvSpPr>
          <p:cNvPr id="6" name="Content Placeholder 4"/>
          <p:cNvSpPr txBox="1">
            <a:spLocks/>
          </p:cNvSpPr>
          <p:nvPr/>
        </p:nvSpPr>
        <p:spPr bwMode="auto">
          <a:xfrm>
            <a:off x="225381" y="548424"/>
            <a:ext cx="3625402" cy="61743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spcAft>
                <a:spcPts val="0"/>
              </a:spcAft>
              <a:buFont typeface="Arial" charset="0"/>
              <a:buNone/>
            </a:pPr>
            <a:r>
              <a:rPr lang="en-US" sz="2400" dirty="0">
                <a:solidFill>
                  <a:schemeClr val="tx1"/>
                </a:solidFill>
                <a:latin typeface="Times New Roman" pitchFamily="18" charset="0"/>
                <a:cs typeface="Times New Roman" pitchFamily="18" charset="0"/>
              </a:rPr>
              <a:t>Write a program to implement the following.</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charAt</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getChars</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toCharArray</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a:solidFill>
                  <a:schemeClr val="tx1"/>
                </a:solidFill>
                <a:latin typeface="Times New Roman" pitchFamily="18" charset="0"/>
                <a:cs typeface="Times New Roman" pitchFamily="18" charset="0"/>
              </a:rPr>
              <a:t>length( )</a:t>
            </a:r>
          </a:p>
          <a:p>
            <a:pPr marL="457200" indent="-457200" algn="just">
              <a:spcBef>
                <a:spcPts val="0"/>
              </a:spcBef>
              <a:spcAft>
                <a:spcPts val="0"/>
              </a:spcAft>
              <a:buFont typeface="Arial" charset="0"/>
              <a:buAutoNum type="arabicParenR"/>
            </a:pPr>
            <a:r>
              <a:rPr lang="en-US" sz="2400" dirty="0">
                <a:solidFill>
                  <a:schemeClr val="tx1"/>
                </a:solidFill>
                <a:latin typeface="Times New Roman" pitchFamily="18" charset="0"/>
                <a:cs typeface="Times New Roman" pitchFamily="18" charset="0"/>
              </a:rPr>
              <a:t>equals( )</a:t>
            </a:r>
          </a:p>
          <a:p>
            <a:pPr marL="457200" indent="-457200" algn="just">
              <a:spcBef>
                <a:spcPts val="0"/>
              </a:spcBef>
              <a:spcAft>
                <a:spcPts val="0"/>
              </a:spcAft>
              <a:buFont typeface="Arial" charset="0"/>
              <a:buAutoNum type="arabicParenR"/>
            </a:pPr>
            <a:r>
              <a:rPr lang="en-US" sz="2400" dirty="0">
                <a:solidFill>
                  <a:schemeClr val="tx1"/>
                </a:solidFill>
                <a:latin typeface="Times New Roman" pitchFamily="18" charset="0"/>
                <a:cs typeface="Times New Roman" pitchFamily="18" charset="0"/>
              </a:rPr>
              <a:t>== operator</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equalsIgnoreCase</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regionMatches</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startsWith</a:t>
            </a:r>
            <a:r>
              <a:rPr lang="en-US" sz="2400" dirty="0">
                <a:solidFill>
                  <a:schemeClr val="tx1"/>
                </a:solidFill>
                <a:latin typeface="Times New Roman" pitchFamily="18" charset="0"/>
                <a:cs typeface="Times New Roman" pitchFamily="18" charset="0"/>
              </a:rPr>
              <a:t>( )</a:t>
            </a:r>
          </a:p>
          <a:p>
            <a:pPr marL="457200" indent="-457200" algn="just">
              <a:spcBef>
                <a:spcPts val="0"/>
              </a:spcBef>
              <a:spcAft>
                <a:spcPts val="0"/>
              </a:spcAft>
              <a:buFont typeface="Arial" charset="0"/>
              <a:buAutoNum type="arabicParenR"/>
            </a:pPr>
            <a:r>
              <a:rPr lang="en-US" sz="2400" dirty="0" err="1">
                <a:solidFill>
                  <a:schemeClr val="tx1"/>
                </a:solidFill>
                <a:latin typeface="Times New Roman" pitchFamily="18" charset="0"/>
                <a:cs typeface="Times New Roman" pitchFamily="18" charset="0"/>
              </a:rPr>
              <a:t>endsWith</a:t>
            </a:r>
            <a:r>
              <a:rPr lang="en-US" sz="2400" dirty="0">
                <a:solidFill>
                  <a:schemeClr val="tx1"/>
                </a:solidFill>
                <a:latin typeface="Times New Roman" pitchFamily="18" charset="0"/>
                <a:cs typeface="Times New Roman" pitchFamily="18" charset="0"/>
              </a:rPr>
              <a:t>( )</a:t>
            </a:r>
          </a:p>
          <a:p>
            <a:pPr marL="0" indent="0" algn="just">
              <a:spcBef>
                <a:spcPts val="600"/>
              </a:spcBef>
              <a:spcAft>
                <a:spcPts val="600"/>
              </a:spcAft>
              <a:buFont typeface="Arial" charset="0"/>
              <a:buNone/>
            </a:pPr>
            <a:r>
              <a:rPr lang="en-US" sz="2400" dirty="0">
                <a:solidFill>
                  <a:schemeClr val="tx1"/>
                </a:solidFill>
                <a:latin typeface="Times New Roman" pitchFamily="18" charset="0"/>
                <a:cs typeface="Times New Roman" pitchFamily="18" charset="0"/>
              </a:rPr>
              <a:t>	</a:t>
            </a:r>
          </a:p>
          <a:p>
            <a:pPr marL="0" indent="0" algn="just">
              <a:spcBef>
                <a:spcPts val="600"/>
              </a:spcBef>
              <a:spcAft>
                <a:spcPts val="600"/>
              </a:spcAft>
              <a:buFont typeface="Arial" charset="0"/>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Font typeface="Arial" charset="0"/>
              <a:buNone/>
            </a:pPr>
            <a:endParaRPr lang="en-US" sz="2400" dirty="0">
              <a:solidFill>
                <a:schemeClr val="tx1"/>
              </a:solidFill>
              <a:latin typeface="Times New Roman" pitchFamily="18" charset="0"/>
              <a:cs typeface="Times New Roman" pitchFamily="18" charset="0"/>
            </a:endParaRPr>
          </a:p>
          <a:p>
            <a:pPr marL="0" indent="0" algn="just">
              <a:spcBef>
                <a:spcPts val="600"/>
              </a:spcBef>
              <a:spcAft>
                <a:spcPts val="600"/>
              </a:spcAft>
              <a:buFont typeface="Arial" charset="0"/>
              <a:buNone/>
            </a:pPr>
            <a:r>
              <a:rPr lang="en-US" sz="2400" dirty="0">
                <a:solidFill>
                  <a:schemeClr val="tx1"/>
                </a:solidFill>
                <a:latin typeface="Times New Roman" pitchFamily="18" charset="0"/>
                <a:cs typeface="Times New Roman" pitchFamily="18" charset="0"/>
              </a:rPr>
              <a:t>	</a:t>
            </a:r>
          </a:p>
          <a:p>
            <a:pPr marL="0" indent="0" algn="just">
              <a:spcBef>
                <a:spcPts val="600"/>
              </a:spcBef>
              <a:spcAft>
                <a:spcPts val="600"/>
              </a:spcAft>
              <a:buFont typeface="Arial" charset="0"/>
              <a:buNone/>
            </a:pPr>
            <a:endParaRPr lang="en-US" sz="2400" dirty="0">
              <a:solidFill>
                <a:schemeClr val="tx1"/>
              </a:solidFill>
              <a:latin typeface="Times New Roman" pitchFamily="18" charset="0"/>
              <a:cs typeface="Times New Roman" pitchFamily="18" charset="0"/>
            </a:endParaRPr>
          </a:p>
        </p:txBody>
      </p:sp>
      <p:sp>
        <p:nvSpPr>
          <p:cNvPr id="7"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962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079" y="-90152"/>
            <a:ext cx="7391400" cy="655638"/>
          </a:xfrm>
        </p:spPr>
        <p:txBody>
          <a:bodyPr/>
          <a:lstStyle/>
          <a:p>
            <a:r>
              <a:rPr lang="en-US" dirty="0"/>
              <a:t>Program-2</a:t>
            </a:r>
            <a:endParaRPr lang="en-IN" dirty="0"/>
          </a:p>
        </p:txBody>
      </p:sp>
      <p:sp>
        <p:nvSpPr>
          <p:cNvPr id="6" name="Content Placeholder 4"/>
          <p:cNvSpPr txBox="1">
            <a:spLocks/>
          </p:cNvSpPr>
          <p:nvPr/>
        </p:nvSpPr>
        <p:spPr bwMode="auto">
          <a:xfrm>
            <a:off x="225381" y="548424"/>
            <a:ext cx="3625402" cy="61743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spcAft>
                <a:spcPts val="0"/>
              </a:spcAft>
              <a:buNone/>
            </a:pPr>
            <a:r>
              <a:rPr lang="en-US" sz="2400" dirty="0">
                <a:solidFill>
                  <a:schemeClr val="tx1"/>
                </a:solidFill>
                <a:latin typeface="Times New Roman" pitchFamily="18" charset="0"/>
                <a:cs typeface="Times New Roman" pitchFamily="18" charset="0"/>
              </a:rPr>
              <a:t>Write a program to read names from the keyboard and sort the names in ascending order using </a:t>
            </a:r>
            <a:r>
              <a:rPr lang="en-US" sz="2400" dirty="0" err="1">
                <a:solidFill>
                  <a:schemeClr val="tx1"/>
                </a:solidFill>
                <a:latin typeface="Times New Roman" pitchFamily="18" charset="0"/>
                <a:cs typeface="Times New Roman" pitchFamily="18" charset="0"/>
              </a:rPr>
              <a:t>compareTo</a:t>
            </a:r>
            <a:r>
              <a:rPr lang="en-US" sz="2400" dirty="0">
                <a:solidFill>
                  <a:schemeClr val="tx1"/>
                </a:solidFill>
                <a:latin typeface="Times New Roman" pitchFamily="18" charset="0"/>
                <a:cs typeface="Times New Roman" pitchFamily="18" charset="0"/>
              </a:rPr>
              <a:t>( ).</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98513" y="965916"/>
            <a:ext cx="4816698" cy="5447764"/>
          </a:xfrm>
        </p:spPr>
      </p:pic>
      <p:sp>
        <p:nvSpPr>
          <p:cNvPr id="8"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715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1AEE-BFA9-6A57-FA2F-43A98CCACB4F}"/>
              </a:ext>
            </a:extLst>
          </p:cNvPr>
          <p:cNvSpPr>
            <a:spLocks noGrp="1"/>
          </p:cNvSpPr>
          <p:nvPr>
            <p:ph type="title"/>
          </p:nvPr>
        </p:nvSpPr>
        <p:spPr/>
        <p:txBody>
          <a:bodyPr/>
          <a:lstStyle/>
          <a:p>
            <a:r>
              <a:rPr lang="en-US" dirty="0"/>
              <a:t>Different Constructors</a:t>
            </a:r>
          </a:p>
        </p:txBody>
      </p:sp>
      <p:sp>
        <p:nvSpPr>
          <p:cNvPr id="3" name="Content Placeholder 2">
            <a:extLst>
              <a:ext uri="{FF2B5EF4-FFF2-40B4-BE49-F238E27FC236}">
                <a16:creationId xmlns:a16="http://schemas.microsoft.com/office/drawing/2014/main" id="{4B52389B-63A1-9D31-C752-D1770A5BDF2E}"/>
              </a:ext>
            </a:extLst>
          </p:cNvPr>
          <p:cNvSpPr>
            <a:spLocks noGrp="1"/>
          </p:cNvSpPr>
          <p:nvPr>
            <p:ph idx="1"/>
          </p:nvPr>
        </p:nvSpPr>
        <p:spPr/>
        <p:txBody>
          <a:bodyPr/>
          <a:lstStyle/>
          <a:p>
            <a:r>
              <a:rPr lang="en-IN" sz="1600" b="1" i="0" dirty="0">
                <a:solidFill>
                  <a:schemeClr val="tx1"/>
                </a:solidFill>
                <a:effectLst/>
                <a:latin typeface="Nunito" pitchFamily="2" charset="77"/>
              </a:rPr>
              <a:t>1. String(byte[] </a:t>
            </a:r>
            <a:r>
              <a:rPr lang="en-IN" sz="1600" b="1" i="0" dirty="0" err="1">
                <a:solidFill>
                  <a:schemeClr val="tx1"/>
                </a:solidFill>
                <a:effectLst/>
                <a:latin typeface="Nunito" pitchFamily="2" charset="77"/>
              </a:rPr>
              <a:t>byte_arr</a:t>
            </a:r>
            <a:r>
              <a:rPr lang="en-IN" sz="1600" b="1" i="0" dirty="0">
                <a:solidFill>
                  <a:schemeClr val="tx1"/>
                </a:solidFill>
                <a:effectLst/>
                <a:latin typeface="Nunito" pitchFamily="2" charset="77"/>
              </a:rPr>
              <a:t>)</a:t>
            </a:r>
          </a:p>
          <a:p>
            <a:r>
              <a:rPr lang="en-IN" sz="1600" dirty="0">
                <a:solidFill>
                  <a:schemeClr val="tx1"/>
                </a:solidFill>
                <a:latin typeface="Nunito" pitchFamily="2" charset="77"/>
              </a:rPr>
              <a:t>Construct a new String by decoding the byte array. It uses the platform’s default character set for decoding.</a:t>
            </a:r>
          </a:p>
          <a:p>
            <a:r>
              <a:rPr lang="en-IN" sz="1600" dirty="0">
                <a:solidFill>
                  <a:schemeClr val="tx1"/>
                </a:solidFill>
                <a:latin typeface="Nunito" pitchFamily="2" charset="77"/>
              </a:rPr>
              <a:t>byte[] </a:t>
            </a:r>
            <a:r>
              <a:rPr lang="en-IN" sz="1600" dirty="0" err="1">
                <a:solidFill>
                  <a:schemeClr val="tx1"/>
                </a:solidFill>
                <a:latin typeface="Nunito" pitchFamily="2" charset="77"/>
              </a:rPr>
              <a:t>b_arr</a:t>
            </a:r>
            <a:r>
              <a:rPr lang="en-IN" sz="1600" dirty="0">
                <a:solidFill>
                  <a:schemeClr val="tx1"/>
                </a:solidFill>
                <a:latin typeface="Nunito" pitchFamily="2" charset="77"/>
              </a:rPr>
              <a:t> = {71, 101, 101, 107, 115};</a:t>
            </a:r>
            <a:br>
              <a:rPr lang="en-IN" sz="1600" dirty="0">
                <a:solidFill>
                  <a:schemeClr val="tx1"/>
                </a:solidFill>
                <a:latin typeface="Nunito" pitchFamily="2" charset="77"/>
              </a:rPr>
            </a:br>
            <a:r>
              <a:rPr lang="en-IN" sz="1600" dirty="0">
                <a:solidFill>
                  <a:schemeClr val="tx1"/>
                </a:solidFill>
                <a:latin typeface="Nunito" pitchFamily="2" charset="77"/>
              </a:rPr>
              <a:t>String </a:t>
            </a:r>
            <a:r>
              <a:rPr lang="en-IN" sz="1600" dirty="0" err="1">
                <a:solidFill>
                  <a:schemeClr val="tx1"/>
                </a:solidFill>
                <a:latin typeface="Nunito" pitchFamily="2" charset="77"/>
              </a:rPr>
              <a:t>s_byte</a:t>
            </a:r>
            <a:r>
              <a:rPr lang="en-IN" sz="1600" dirty="0">
                <a:solidFill>
                  <a:schemeClr val="tx1"/>
                </a:solidFill>
                <a:latin typeface="Nunito" pitchFamily="2" charset="77"/>
              </a:rPr>
              <a:t> =new String(</a:t>
            </a:r>
            <a:r>
              <a:rPr lang="en-IN" sz="1600" dirty="0" err="1">
                <a:solidFill>
                  <a:schemeClr val="tx1"/>
                </a:solidFill>
                <a:latin typeface="Nunito" pitchFamily="2" charset="77"/>
              </a:rPr>
              <a:t>b_arr</a:t>
            </a:r>
            <a:r>
              <a:rPr lang="en-IN" sz="1600" dirty="0">
                <a:solidFill>
                  <a:schemeClr val="tx1"/>
                </a:solidFill>
                <a:latin typeface="Nunito" pitchFamily="2" charset="77"/>
              </a:rPr>
              <a:t>); //Geeks</a:t>
            </a:r>
          </a:p>
          <a:p>
            <a:endParaRPr lang="en-IN" sz="1600" dirty="0">
              <a:solidFill>
                <a:schemeClr val="tx1"/>
              </a:solidFill>
              <a:latin typeface="Nunito" pitchFamily="2" charset="77"/>
            </a:endParaRPr>
          </a:p>
          <a:p>
            <a:r>
              <a:rPr lang="en-IN" sz="1600" b="1" dirty="0">
                <a:solidFill>
                  <a:schemeClr val="tx1"/>
                </a:solidFill>
                <a:latin typeface="Nunito" pitchFamily="2" charset="77"/>
              </a:rPr>
              <a:t>2. String(byte[] </a:t>
            </a:r>
            <a:r>
              <a:rPr lang="en-IN" sz="1600" b="1" dirty="0" err="1">
                <a:solidFill>
                  <a:schemeClr val="tx1"/>
                </a:solidFill>
                <a:latin typeface="Nunito" pitchFamily="2" charset="77"/>
              </a:rPr>
              <a:t>byte_arr</a:t>
            </a:r>
            <a:r>
              <a:rPr lang="en-IN" sz="1600" b="1" dirty="0">
                <a:solidFill>
                  <a:schemeClr val="tx1"/>
                </a:solidFill>
                <a:latin typeface="Nunito" pitchFamily="2" charset="77"/>
              </a:rPr>
              <a:t>, Charset </a:t>
            </a:r>
            <a:r>
              <a:rPr lang="en-IN" sz="1600" b="1" dirty="0" err="1">
                <a:solidFill>
                  <a:schemeClr val="tx1"/>
                </a:solidFill>
                <a:latin typeface="Nunito" pitchFamily="2" charset="77"/>
              </a:rPr>
              <a:t>char_set</a:t>
            </a:r>
            <a:r>
              <a:rPr lang="en-IN" sz="1600" b="1" dirty="0">
                <a:solidFill>
                  <a:schemeClr val="tx1"/>
                </a:solidFill>
                <a:latin typeface="Nunito" pitchFamily="2" charset="77"/>
              </a:rPr>
              <a:t>)</a:t>
            </a:r>
          </a:p>
          <a:p>
            <a:r>
              <a:rPr lang="en-IN" sz="1600" dirty="0">
                <a:solidFill>
                  <a:schemeClr val="tx1"/>
                </a:solidFill>
                <a:latin typeface="Nunito" pitchFamily="2" charset="77"/>
              </a:rPr>
              <a:t>Construct a new String by decoding the byte array. It uses the </a:t>
            </a:r>
            <a:r>
              <a:rPr lang="en-IN" sz="1600" dirty="0" err="1">
                <a:solidFill>
                  <a:schemeClr val="tx1"/>
                </a:solidFill>
                <a:latin typeface="Nunito" pitchFamily="2" charset="77"/>
              </a:rPr>
              <a:t>char_set</a:t>
            </a:r>
            <a:r>
              <a:rPr lang="en-IN" sz="1600" dirty="0">
                <a:solidFill>
                  <a:schemeClr val="tx1"/>
                </a:solidFill>
                <a:latin typeface="Nunito" pitchFamily="2" charset="77"/>
              </a:rPr>
              <a:t> for decoding.</a:t>
            </a:r>
          </a:p>
          <a:p>
            <a:r>
              <a:rPr lang="en-IN" sz="1600" dirty="0">
                <a:solidFill>
                  <a:schemeClr val="tx1"/>
                </a:solidFill>
                <a:latin typeface="Nunito" pitchFamily="2" charset="77"/>
              </a:rPr>
              <a:t>byte[] </a:t>
            </a:r>
            <a:r>
              <a:rPr lang="en-IN" sz="1600" dirty="0" err="1">
                <a:solidFill>
                  <a:schemeClr val="tx1"/>
                </a:solidFill>
                <a:latin typeface="Nunito" pitchFamily="2" charset="77"/>
              </a:rPr>
              <a:t>b_arr</a:t>
            </a:r>
            <a:r>
              <a:rPr lang="en-IN" sz="1600" dirty="0">
                <a:solidFill>
                  <a:schemeClr val="tx1"/>
                </a:solidFill>
                <a:latin typeface="Nunito" pitchFamily="2" charset="77"/>
              </a:rPr>
              <a:t> = {71, 101, 101, 107, 115};</a:t>
            </a:r>
            <a:br>
              <a:rPr lang="en-IN" sz="1600" dirty="0">
                <a:solidFill>
                  <a:schemeClr val="tx1"/>
                </a:solidFill>
                <a:latin typeface="Nunito" pitchFamily="2" charset="77"/>
              </a:rPr>
            </a:br>
            <a:r>
              <a:rPr lang="en-IN" sz="1600" dirty="0">
                <a:solidFill>
                  <a:schemeClr val="tx1"/>
                </a:solidFill>
                <a:latin typeface="Nunito" pitchFamily="2" charset="77"/>
              </a:rPr>
              <a:t>Charset cs = </a:t>
            </a:r>
            <a:r>
              <a:rPr lang="en-IN" sz="1600" dirty="0" err="1">
                <a:solidFill>
                  <a:schemeClr val="tx1"/>
                </a:solidFill>
                <a:latin typeface="Nunito" pitchFamily="2" charset="77"/>
              </a:rPr>
              <a:t>Charset.defaultCharset</a:t>
            </a:r>
            <a:r>
              <a:rPr lang="en-IN" sz="1600" dirty="0">
                <a:solidFill>
                  <a:schemeClr val="tx1"/>
                </a:solidFill>
                <a:latin typeface="Nunito" pitchFamily="2" charset="77"/>
              </a:rPr>
              <a:t>();</a:t>
            </a:r>
            <a:br>
              <a:rPr lang="en-IN" sz="1600" dirty="0">
                <a:solidFill>
                  <a:schemeClr val="tx1"/>
                </a:solidFill>
                <a:latin typeface="Nunito" pitchFamily="2" charset="77"/>
              </a:rPr>
            </a:br>
            <a:r>
              <a:rPr lang="en-IN" sz="1600" dirty="0">
                <a:solidFill>
                  <a:schemeClr val="tx1"/>
                </a:solidFill>
                <a:latin typeface="Nunito" pitchFamily="2" charset="77"/>
              </a:rPr>
              <a:t>String </a:t>
            </a:r>
            <a:r>
              <a:rPr lang="en-IN" sz="1600" dirty="0" err="1">
                <a:solidFill>
                  <a:schemeClr val="tx1"/>
                </a:solidFill>
                <a:latin typeface="Nunito" pitchFamily="2" charset="77"/>
              </a:rPr>
              <a:t>s_byte_char</a:t>
            </a:r>
            <a:r>
              <a:rPr lang="en-IN" sz="1600" dirty="0">
                <a:solidFill>
                  <a:schemeClr val="tx1"/>
                </a:solidFill>
                <a:latin typeface="Nunito" pitchFamily="2" charset="77"/>
              </a:rPr>
              <a:t> = new String(</a:t>
            </a:r>
            <a:r>
              <a:rPr lang="en-IN" sz="1600" dirty="0" err="1">
                <a:solidFill>
                  <a:schemeClr val="tx1"/>
                </a:solidFill>
                <a:latin typeface="Nunito" pitchFamily="2" charset="77"/>
              </a:rPr>
              <a:t>b_arr</a:t>
            </a:r>
            <a:r>
              <a:rPr lang="en-IN" sz="1600" dirty="0">
                <a:solidFill>
                  <a:schemeClr val="tx1"/>
                </a:solidFill>
                <a:latin typeface="Nunito" pitchFamily="2" charset="77"/>
              </a:rPr>
              <a:t>, cs); //Geeks</a:t>
            </a:r>
          </a:p>
          <a:p>
            <a:endParaRPr lang="en-IN" sz="1600" dirty="0">
              <a:solidFill>
                <a:schemeClr val="tx1"/>
              </a:solidFill>
              <a:latin typeface="Nunito" pitchFamily="2" charset="77"/>
            </a:endParaRPr>
          </a:p>
          <a:p>
            <a:r>
              <a:rPr lang="en-IN" sz="1600" b="1" dirty="0">
                <a:solidFill>
                  <a:schemeClr val="tx1"/>
                </a:solidFill>
                <a:latin typeface="Nunito" pitchFamily="2" charset="77"/>
              </a:rPr>
              <a:t>3. String(byte[] </a:t>
            </a:r>
            <a:r>
              <a:rPr lang="en-IN" sz="1600" b="1" dirty="0" err="1">
                <a:solidFill>
                  <a:schemeClr val="tx1"/>
                </a:solidFill>
                <a:latin typeface="Nunito" pitchFamily="2" charset="77"/>
              </a:rPr>
              <a:t>byte_arr</a:t>
            </a:r>
            <a:r>
              <a:rPr lang="en-IN" sz="1600" b="1" dirty="0">
                <a:solidFill>
                  <a:schemeClr val="tx1"/>
                </a:solidFill>
                <a:latin typeface="Nunito" pitchFamily="2" charset="77"/>
              </a:rPr>
              <a:t>, String </a:t>
            </a:r>
            <a:r>
              <a:rPr lang="en-IN" sz="1600" b="1" dirty="0" err="1">
                <a:solidFill>
                  <a:schemeClr val="tx1"/>
                </a:solidFill>
                <a:latin typeface="Nunito" pitchFamily="2" charset="77"/>
              </a:rPr>
              <a:t>char_set_name</a:t>
            </a:r>
            <a:r>
              <a:rPr lang="en-IN" sz="1600" b="1" dirty="0">
                <a:solidFill>
                  <a:schemeClr val="tx1"/>
                </a:solidFill>
                <a:latin typeface="Nunito" pitchFamily="2" charset="77"/>
              </a:rPr>
              <a:t>)</a:t>
            </a:r>
          </a:p>
          <a:p>
            <a:r>
              <a:rPr lang="en-IN" sz="1600" dirty="0">
                <a:solidFill>
                  <a:schemeClr val="tx1"/>
                </a:solidFill>
                <a:latin typeface="Nunito" pitchFamily="2" charset="77"/>
              </a:rPr>
              <a:t>Construct a new String by decoding the byte array. It uses the </a:t>
            </a:r>
            <a:r>
              <a:rPr lang="en-IN" sz="1600" dirty="0" err="1">
                <a:solidFill>
                  <a:schemeClr val="tx1"/>
                </a:solidFill>
                <a:latin typeface="Nunito" pitchFamily="2" charset="77"/>
              </a:rPr>
              <a:t>char_set_name</a:t>
            </a:r>
            <a:r>
              <a:rPr lang="en-IN" sz="1600" dirty="0">
                <a:solidFill>
                  <a:schemeClr val="tx1"/>
                </a:solidFill>
                <a:latin typeface="Nunito" pitchFamily="2" charset="77"/>
              </a:rPr>
              <a:t> for decoding. It looks similar to the above constructs and they appear before similar functions but it takes the String(which contains </a:t>
            </a:r>
            <a:r>
              <a:rPr lang="en-IN" sz="1600" dirty="0" err="1">
                <a:solidFill>
                  <a:schemeClr val="tx1"/>
                </a:solidFill>
                <a:latin typeface="Nunito" pitchFamily="2" charset="77"/>
              </a:rPr>
              <a:t>char_set_name</a:t>
            </a:r>
            <a:r>
              <a:rPr lang="en-IN" sz="1600" dirty="0">
                <a:solidFill>
                  <a:schemeClr val="tx1"/>
                </a:solidFill>
                <a:latin typeface="Nunito" pitchFamily="2" charset="77"/>
              </a:rPr>
              <a:t>) as parameter while the above constructor takes </a:t>
            </a:r>
            <a:r>
              <a:rPr lang="en-IN" sz="1600" dirty="0" err="1">
                <a:solidFill>
                  <a:schemeClr val="tx1"/>
                </a:solidFill>
                <a:latin typeface="Nunito" pitchFamily="2" charset="77"/>
              </a:rPr>
              <a:t>CharSet</a:t>
            </a:r>
            <a:r>
              <a:rPr lang="en-IN" sz="1600" dirty="0">
                <a:solidFill>
                  <a:schemeClr val="tx1"/>
                </a:solidFill>
                <a:latin typeface="Nunito" pitchFamily="2" charset="77"/>
              </a:rPr>
              <a:t>.</a:t>
            </a:r>
          </a:p>
          <a:p>
            <a:r>
              <a:rPr lang="en-IN" sz="1600" dirty="0">
                <a:solidFill>
                  <a:schemeClr val="tx1"/>
                </a:solidFill>
                <a:latin typeface="Nunito" pitchFamily="2" charset="77"/>
              </a:rPr>
              <a:t>byte[] </a:t>
            </a:r>
            <a:r>
              <a:rPr lang="en-IN" sz="1600" dirty="0" err="1">
                <a:solidFill>
                  <a:schemeClr val="tx1"/>
                </a:solidFill>
                <a:latin typeface="Nunito" pitchFamily="2" charset="77"/>
              </a:rPr>
              <a:t>b_arr</a:t>
            </a:r>
            <a:r>
              <a:rPr lang="en-IN" sz="1600" dirty="0">
                <a:solidFill>
                  <a:schemeClr val="tx1"/>
                </a:solidFill>
                <a:latin typeface="Nunito" pitchFamily="2" charset="77"/>
              </a:rPr>
              <a:t> = {71, 101, 101, 107, 115};</a:t>
            </a:r>
            <a:br>
              <a:rPr lang="en-IN" sz="1600" dirty="0">
                <a:solidFill>
                  <a:schemeClr val="tx1"/>
                </a:solidFill>
                <a:latin typeface="Nunito" pitchFamily="2" charset="77"/>
              </a:rPr>
            </a:br>
            <a:r>
              <a:rPr lang="en-IN" sz="1600" dirty="0">
                <a:solidFill>
                  <a:schemeClr val="tx1"/>
                </a:solidFill>
                <a:latin typeface="Nunito" pitchFamily="2" charset="77"/>
              </a:rPr>
              <a:t>String s = new String(</a:t>
            </a:r>
            <a:r>
              <a:rPr lang="en-IN" sz="1600" dirty="0" err="1">
                <a:solidFill>
                  <a:schemeClr val="tx1"/>
                </a:solidFill>
                <a:latin typeface="Nunito" pitchFamily="2" charset="77"/>
              </a:rPr>
              <a:t>b_arr</a:t>
            </a:r>
            <a:r>
              <a:rPr lang="en-IN" sz="1600" dirty="0">
                <a:solidFill>
                  <a:schemeClr val="tx1"/>
                </a:solidFill>
                <a:latin typeface="Nunito" pitchFamily="2" charset="77"/>
              </a:rPr>
              <a:t>, "US-ASCII"); //Geeks</a:t>
            </a:r>
            <a:endParaRPr lang="en-US" sz="1600" dirty="0">
              <a:solidFill>
                <a:schemeClr val="tx1"/>
              </a:solidFill>
              <a:latin typeface="Nunito" pitchFamily="2" charset="77"/>
            </a:endParaRPr>
          </a:p>
        </p:txBody>
      </p:sp>
      <p:sp>
        <p:nvSpPr>
          <p:cNvPr id="4" name="Footer Placeholder 3">
            <a:extLst>
              <a:ext uri="{FF2B5EF4-FFF2-40B4-BE49-F238E27FC236}">
                <a16:creationId xmlns:a16="http://schemas.microsoft.com/office/drawing/2014/main" id="{9A26D714-CE6C-8898-E3E9-316BFCF4CC3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53572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1AEE-BFA9-6A57-FA2F-43A98CCACB4F}"/>
              </a:ext>
            </a:extLst>
          </p:cNvPr>
          <p:cNvSpPr>
            <a:spLocks noGrp="1"/>
          </p:cNvSpPr>
          <p:nvPr>
            <p:ph type="title"/>
          </p:nvPr>
        </p:nvSpPr>
        <p:spPr/>
        <p:txBody>
          <a:bodyPr/>
          <a:lstStyle/>
          <a:p>
            <a:r>
              <a:rPr lang="en-US" dirty="0"/>
              <a:t>Different Constructors</a:t>
            </a:r>
          </a:p>
        </p:txBody>
      </p:sp>
      <p:sp>
        <p:nvSpPr>
          <p:cNvPr id="3" name="Content Placeholder 2">
            <a:extLst>
              <a:ext uri="{FF2B5EF4-FFF2-40B4-BE49-F238E27FC236}">
                <a16:creationId xmlns:a16="http://schemas.microsoft.com/office/drawing/2014/main" id="{4B52389B-63A1-9D31-C752-D1770A5BDF2E}"/>
              </a:ext>
            </a:extLst>
          </p:cNvPr>
          <p:cNvSpPr>
            <a:spLocks noGrp="1"/>
          </p:cNvSpPr>
          <p:nvPr>
            <p:ph idx="1"/>
          </p:nvPr>
        </p:nvSpPr>
        <p:spPr/>
        <p:txBody>
          <a:bodyPr/>
          <a:lstStyle/>
          <a:p>
            <a:pPr algn="l" fontAlgn="base"/>
            <a:r>
              <a:rPr lang="en-IN" sz="1400" b="1" i="0" dirty="0">
                <a:solidFill>
                  <a:schemeClr val="tx1"/>
                </a:solidFill>
                <a:effectLst/>
                <a:latin typeface="Nunito" pitchFamily="2" charset="77"/>
              </a:rPr>
              <a:t>4. String(byte[] </a:t>
            </a:r>
            <a:r>
              <a:rPr lang="en-IN" sz="1400" b="1" i="0" dirty="0" err="1">
                <a:solidFill>
                  <a:schemeClr val="tx1"/>
                </a:solidFill>
                <a:effectLst/>
                <a:latin typeface="Nunito" pitchFamily="2" charset="77"/>
              </a:rPr>
              <a:t>byte_arr</a:t>
            </a:r>
            <a:r>
              <a:rPr lang="en-IN" sz="1400" b="1" i="0" dirty="0">
                <a:solidFill>
                  <a:schemeClr val="tx1"/>
                </a:solidFill>
                <a:effectLst/>
                <a:latin typeface="Nunito" pitchFamily="2" charset="77"/>
              </a:rPr>
              <a:t>, int </a:t>
            </a:r>
            <a:r>
              <a:rPr lang="en-IN" sz="1400" b="1" i="0" dirty="0" err="1">
                <a:solidFill>
                  <a:schemeClr val="tx1"/>
                </a:solidFill>
                <a:effectLst/>
                <a:latin typeface="Nunito" pitchFamily="2" charset="77"/>
              </a:rPr>
              <a:t>start_index</a:t>
            </a:r>
            <a:r>
              <a:rPr lang="en-IN" sz="1400" b="1" i="0" dirty="0">
                <a:solidFill>
                  <a:schemeClr val="tx1"/>
                </a:solidFill>
                <a:effectLst/>
                <a:latin typeface="Nunito" pitchFamily="2" charset="77"/>
              </a:rPr>
              <a:t>, int length)</a:t>
            </a:r>
          </a:p>
          <a:p>
            <a:pPr algn="l" rtl="0" fontAlgn="base"/>
            <a:r>
              <a:rPr lang="en-IN" sz="1400" b="0" i="0" dirty="0">
                <a:solidFill>
                  <a:schemeClr val="tx1"/>
                </a:solidFill>
                <a:effectLst/>
                <a:latin typeface="Nunito" pitchFamily="2" charset="77"/>
              </a:rPr>
              <a:t>Construct a new string from the </a:t>
            </a:r>
            <a:r>
              <a:rPr lang="en-IN" sz="1400" b="0" i="1" dirty="0">
                <a:solidFill>
                  <a:schemeClr val="tx1"/>
                </a:solidFill>
                <a:effectLst/>
                <a:latin typeface="Nunito" pitchFamily="2" charset="77"/>
              </a:rPr>
              <a:t>bytes array</a:t>
            </a:r>
            <a:r>
              <a:rPr lang="en-IN" sz="1400" b="0" i="0" dirty="0">
                <a:solidFill>
                  <a:schemeClr val="tx1"/>
                </a:solidFill>
                <a:effectLst/>
                <a:latin typeface="Nunito" pitchFamily="2" charset="77"/>
              </a:rPr>
              <a:t> depending on the </a:t>
            </a:r>
            <a:r>
              <a:rPr lang="en-IN" sz="1400" b="0" i="1" dirty="0" err="1">
                <a:solidFill>
                  <a:schemeClr val="tx1"/>
                </a:solidFill>
                <a:effectLst/>
                <a:latin typeface="Nunito" pitchFamily="2" charset="77"/>
              </a:rPr>
              <a:t>start_index</a:t>
            </a:r>
            <a:r>
              <a:rPr lang="en-IN" sz="1400" b="0" i="1" dirty="0">
                <a:solidFill>
                  <a:schemeClr val="tx1"/>
                </a:solidFill>
                <a:effectLst/>
                <a:latin typeface="Nunito" pitchFamily="2" charset="77"/>
              </a:rPr>
              <a:t>(Starting location)</a:t>
            </a:r>
            <a:r>
              <a:rPr lang="en-IN" sz="1400" b="0" i="0" dirty="0">
                <a:solidFill>
                  <a:schemeClr val="tx1"/>
                </a:solidFill>
                <a:effectLst/>
                <a:latin typeface="Nunito" pitchFamily="2" charset="77"/>
              </a:rPr>
              <a:t> and </a:t>
            </a:r>
            <a:r>
              <a:rPr lang="en-IN" sz="1400" b="0" i="1" dirty="0">
                <a:solidFill>
                  <a:schemeClr val="tx1"/>
                </a:solidFill>
                <a:effectLst/>
                <a:latin typeface="Nunito" pitchFamily="2" charset="77"/>
              </a:rPr>
              <a:t>length(number of characters from starting location).</a:t>
            </a:r>
            <a:endParaRPr lang="en-IN" sz="1400" b="0" i="0" dirty="0">
              <a:solidFill>
                <a:schemeClr val="tx1"/>
              </a:solidFill>
              <a:effectLst/>
              <a:latin typeface="Nunito" pitchFamily="2" charset="77"/>
            </a:endParaRPr>
          </a:p>
          <a:p>
            <a:pPr algn="l" fontAlgn="base"/>
            <a:r>
              <a:rPr lang="en-IN" sz="1400" dirty="0">
                <a:solidFill>
                  <a:schemeClr val="tx1"/>
                </a:solidFill>
                <a:effectLst/>
              </a:rPr>
              <a:t>byte[] </a:t>
            </a:r>
            <a:r>
              <a:rPr lang="en-IN" sz="1400" dirty="0" err="1">
                <a:solidFill>
                  <a:schemeClr val="tx1"/>
                </a:solidFill>
                <a:effectLst/>
              </a:rPr>
              <a:t>b_arr</a:t>
            </a:r>
            <a:r>
              <a:rPr lang="en-IN" sz="1400" dirty="0">
                <a:solidFill>
                  <a:schemeClr val="tx1"/>
                </a:solidFill>
                <a:effectLst/>
              </a:rPr>
              <a:t> = {71, 101, 101, 107, 115};</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b_arr</a:t>
            </a:r>
            <a:r>
              <a:rPr lang="en-IN" sz="1400" dirty="0">
                <a:solidFill>
                  <a:schemeClr val="tx1"/>
                </a:solidFill>
                <a:effectLst/>
              </a:rPr>
              <a:t>, 1, 3); // eek</a:t>
            </a:r>
          </a:p>
          <a:p>
            <a:pPr algn="l" fontAlgn="base"/>
            <a:br>
              <a:rPr lang="en-IN" sz="1400" dirty="0">
                <a:solidFill>
                  <a:schemeClr val="tx1"/>
                </a:solidFill>
              </a:rPr>
            </a:br>
            <a:r>
              <a:rPr lang="en-IN" sz="1400" b="1" i="0" dirty="0">
                <a:solidFill>
                  <a:schemeClr val="tx1"/>
                </a:solidFill>
                <a:effectLst/>
                <a:latin typeface="Nunito" pitchFamily="2" charset="77"/>
              </a:rPr>
              <a:t>5. String(byte[] </a:t>
            </a:r>
            <a:r>
              <a:rPr lang="en-IN" sz="1400" b="1" i="0" dirty="0" err="1">
                <a:solidFill>
                  <a:schemeClr val="tx1"/>
                </a:solidFill>
                <a:effectLst/>
                <a:latin typeface="Nunito" pitchFamily="2" charset="77"/>
              </a:rPr>
              <a:t>byte_arr</a:t>
            </a:r>
            <a:r>
              <a:rPr lang="en-IN" sz="1400" b="1" i="0" dirty="0">
                <a:solidFill>
                  <a:schemeClr val="tx1"/>
                </a:solidFill>
                <a:effectLst/>
                <a:latin typeface="Nunito" pitchFamily="2" charset="77"/>
              </a:rPr>
              <a:t>, int </a:t>
            </a:r>
            <a:r>
              <a:rPr lang="en-IN" sz="1400" b="1" i="0" dirty="0" err="1">
                <a:solidFill>
                  <a:schemeClr val="tx1"/>
                </a:solidFill>
                <a:effectLst/>
                <a:latin typeface="Nunito" pitchFamily="2" charset="77"/>
              </a:rPr>
              <a:t>start_index</a:t>
            </a:r>
            <a:r>
              <a:rPr lang="en-IN" sz="1400" b="1" i="0" dirty="0">
                <a:solidFill>
                  <a:schemeClr val="tx1"/>
                </a:solidFill>
                <a:effectLst/>
                <a:latin typeface="Nunito" pitchFamily="2" charset="77"/>
              </a:rPr>
              <a:t>, int length, Charset </a:t>
            </a:r>
            <a:r>
              <a:rPr lang="en-IN" sz="1400" b="1" i="0" dirty="0" err="1">
                <a:solidFill>
                  <a:schemeClr val="tx1"/>
                </a:solidFill>
                <a:effectLst/>
                <a:latin typeface="Nunito" pitchFamily="2" charset="77"/>
              </a:rPr>
              <a:t>char_set</a:t>
            </a:r>
            <a:r>
              <a:rPr lang="en-IN" sz="1400" b="1" i="0" dirty="0">
                <a:solidFill>
                  <a:schemeClr val="tx1"/>
                </a:solidFill>
                <a:effectLst/>
                <a:latin typeface="Nunito" pitchFamily="2" charset="77"/>
              </a:rPr>
              <a:t>)</a:t>
            </a:r>
          </a:p>
          <a:p>
            <a:pPr algn="l" rtl="0" fontAlgn="base"/>
            <a:r>
              <a:rPr lang="en-IN" sz="1400" b="0" i="0" dirty="0">
                <a:solidFill>
                  <a:schemeClr val="tx1"/>
                </a:solidFill>
                <a:effectLst/>
                <a:latin typeface="Nunito" pitchFamily="2" charset="77"/>
              </a:rPr>
              <a:t>Construct a new string from the </a:t>
            </a:r>
            <a:r>
              <a:rPr lang="en-IN" sz="1400" b="0" i="1" dirty="0">
                <a:solidFill>
                  <a:schemeClr val="tx1"/>
                </a:solidFill>
                <a:effectLst/>
                <a:latin typeface="Nunito" pitchFamily="2" charset="77"/>
              </a:rPr>
              <a:t>bytes array</a:t>
            </a:r>
            <a:r>
              <a:rPr lang="en-IN" sz="1400" b="0" i="0" dirty="0">
                <a:solidFill>
                  <a:schemeClr val="tx1"/>
                </a:solidFill>
                <a:effectLst/>
                <a:latin typeface="Nunito" pitchFamily="2" charset="77"/>
              </a:rPr>
              <a:t> depending on the </a:t>
            </a:r>
            <a:r>
              <a:rPr lang="en-IN" sz="1400" b="0" i="1" dirty="0" err="1">
                <a:solidFill>
                  <a:schemeClr val="tx1"/>
                </a:solidFill>
                <a:effectLst/>
                <a:latin typeface="Nunito" pitchFamily="2" charset="77"/>
              </a:rPr>
              <a:t>start_index</a:t>
            </a:r>
            <a:r>
              <a:rPr lang="en-IN" sz="1400" b="0" i="1" dirty="0">
                <a:solidFill>
                  <a:schemeClr val="tx1"/>
                </a:solidFill>
                <a:effectLst/>
                <a:latin typeface="Nunito" pitchFamily="2" charset="77"/>
              </a:rPr>
              <a:t>(Starting location)</a:t>
            </a:r>
            <a:r>
              <a:rPr lang="en-IN" sz="1400" b="0" i="0" dirty="0">
                <a:solidFill>
                  <a:schemeClr val="tx1"/>
                </a:solidFill>
                <a:effectLst/>
                <a:latin typeface="Nunito" pitchFamily="2" charset="77"/>
              </a:rPr>
              <a:t> and </a:t>
            </a:r>
            <a:r>
              <a:rPr lang="en-IN" sz="1400" b="0" i="1" dirty="0">
                <a:solidFill>
                  <a:schemeClr val="tx1"/>
                </a:solidFill>
                <a:effectLst/>
                <a:latin typeface="Nunito" pitchFamily="2" charset="77"/>
              </a:rPr>
              <a:t>length(number of characters from starting location)</a:t>
            </a:r>
            <a:r>
              <a:rPr lang="en-IN" sz="1400" b="0" i="0" dirty="0">
                <a:solidFill>
                  <a:schemeClr val="tx1"/>
                </a:solidFill>
                <a:effectLst/>
                <a:latin typeface="Nunito" pitchFamily="2" charset="77"/>
              </a:rPr>
              <a:t>.Uses </a:t>
            </a:r>
            <a:r>
              <a:rPr lang="en-IN" sz="1400" b="0" i="1" dirty="0" err="1">
                <a:solidFill>
                  <a:schemeClr val="tx1"/>
                </a:solidFill>
                <a:effectLst/>
                <a:latin typeface="Nunito" pitchFamily="2" charset="77"/>
              </a:rPr>
              <a:t>char_set</a:t>
            </a:r>
            <a:r>
              <a:rPr lang="en-IN" sz="1400" b="0" i="0" dirty="0">
                <a:solidFill>
                  <a:schemeClr val="tx1"/>
                </a:solidFill>
                <a:effectLst/>
                <a:latin typeface="Nunito" pitchFamily="2" charset="77"/>
              </a:rPr>
              <a:t> for decoding.</a:t>
            </a:r>
          </a:p>
          <a:p>
            <a:pPr algn="l" fontAlgn="base"/>
            <a:r>
              <a:rPr lang="en-IN" sz="1400" dirty="0">
                <a:solidFill>
                  <a:schemeClr val="tx1"/>
                </a:solidFill>
                <a:effectLst/>
              </a:rPr>
              <a:t>byte[] </a:t>
            </a:r>
            <a:r>
              <a:rPr lang="en-IN" sz="1400" dirty="0" err="1">
                <a:solidFill>
                  <a:schemeClr val="tx1"/>
                </a:solidFill>
                <a:effectLst/>
              </a:rPr>
              <a:t>b_arr</a:t>
            </a:r>
            <a:r>
              <a:rPr lang="en-IN" sz="1400" dirty="0">
                <a:solidFill>
                  <a:schemeClr val="tx1"/>
                </a:solidFill>
                <a:effectLst/>
              </a:rPr>
              <a:t> = {71, 101, 101, 107, 115};</a:t>
            </a:r>
            <a:br>
              <a:rPr lang="en-IN" sz="1400" dirty="0">
                <a:solidFill>
                  <a:schemeClr val="tx1"/>
                </a:solidFill>
              </a:rPr>
            </a:br>
            <a:r>
              <a:rPr lang="en-IN" sz="1400" dirty="0">
                <a:solidFill>
                  <a:schemeClr val="tx1"/>
                </a:solidFill>
                <a:effectLst/>
              </a:rPr>
              <a:t>Charset cs = </a:t>
            </a:r>
            <a:r>
              <a:rPr lang="en-IN" sz="1400" dirty="0" err="1">
                <a:solidFill>
                  <a:schemeClr val="tx1"/>
                </a:solidFill>
                <a:effectLst/>
              </a:rPr>
              <a:t>Charset.defaultCharset</a:t>
            </a:r>
            <a:r>
              <a:rPr lang="en-IN" sz="1400" dirty="0">
                <a:solidFill>
                  <a:schemeClr val="tx1"/>
                </a:solidFill>
                <a:effectLst/>
              </a:rPr>
              <a:t>();</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b_arr</a:t>
            </a:r>
            <a:r>
              <a:rPr lang="en-IN" sz="1400" dirty="0">
                <a:solidFill>
                  <a:schemeClr val="tx1"/>
                </a:solidFill>
                <a:effectLst/>
              </a:rPr>
              <a:t>, 1, 3, cs); // eek</a:t>
            </a:r>
          </a:p>
          <a:p>
            <a:pPr algn="l" fontAlgn="base"/>
            <a:br>
              <a:rPr lang="en-IN" sz="1400" dirty="0">
                <a:solidFill>
                  <a:schemeClr val="tx1"/>
                </a:solidFill>
              </a:rPr>
            </a:br>
            <a:r>
              <a:rPr lang="en-IN" sz="1400" b="1" i="0" dirty="0">
                <a:solidFill>
                  <a:schemeClr val="tx1"/>
                </a:solidFill>
                <a:effectLst/>
                <a:latin typeface="Nunito" pitchFamily="2" charset="77"/>
              </a:rPr>
              <a:t>6. String(byte[] </a:t>
            </a:r>
            <a:r>
              <a:rPr lang="en-IN" sz="1400" b="1" i="0" dirty="0" err="1">
                <a:solidFill>
                  <a:schemeClr val="tx1"/>
                </a:solidFill>
                <a:effectLst/>
                <a:latin typeface="Nunito" pitchFamily="2" charset="77"/>
              </a:rPr>
              <a:t>byte_arr</a:t>
            </a:r>
            <a:r>
              <a:rPr lang="en-IN" sz="1400" b="1" i="0" dirty="0">
                <a:solidFill>
                  <a:schemeClr val="tx1"/>
                </a:solidFill>
                <a:effectLst/>
                <a:latin typeface="Nunito" pitchFamily="2" charset="77"/>
              </a:rPr>
              <a:t>, int </a:t>
            </a:r>
            <a:r>
              <a:rPr lang="en-IN" sz="1400" b="1" i="0" dirty="0" err="1">
                <a:solidFill>
                  <a:schemeClr val="tx1"/>
                </a:solidFill>
                <a:effectLst/>
                <a:latin typeface="Nunito" pitchFamily="2" charset="77"/>
              </a:rPr>
              <a:t>start_index</a:t>
            </a:r>
            <a:r>
              <a:rPr lang="en-IN" sz="1400" b="1" i="0" dirty="0">
                <a:solidFill>
                  <a:schemeClr val="tx1"/>
                </a:solidFill>
                <a:effectLst/>
                <a:latin typeface="Nunito" pitchFamily="2" charset="77"/>
              </a:rPr>
              <a:t>, int length, String </a:t>
            </a:r>
            <a:r>
              <a:rPr lang="en-IN" sz="1400" b="1" i="0" dirty="0" err="1">
                <a:solidFill>
                  <a:schemeClr val="tx1"/>
                </a:solidFill>
                <a:effectLst/>
                <a:latin typeface="Nunito" pitchFamily="2" charset="77"/>
              </a:rPr>
              <a:t>char_set_name</a:t>
            </a:r>
            <a:r>
              <a:rPr lang="en-IN" sz="1400" b="1" i="0" dirty="0">
                <a:solidFill>
                  <a:schemeClr val="tx1"/>
                </a:solidFill>
                <a:effectLst/>
                <a:latin typeface="Nunito" pitchFamily="2" charset="77"/>
              </a:rPr>
              <a:t>)</a:t>
            </a:r>
          </a:p>
          <a:p>
            <a:pPr algn="l" rtl="0" fontAlgn="base"/>
            <a:r>
              <a:rPr lang="en-IN" sz="1400" b="0" i="0" dirty="0">
                <a:solidFill>
                  <a:schemeClr val="tx1"/>
                </a:solidFill>
                <a:effectLst/>
                <a:latin typeface="Nunito" pitchFamily="2" charset="77"/>
              </a:rPr>
              <a:t>Construct a new string from the</a:t>
            </a:r>
            <a:r>
              <a:rPr lang="en-IN" sz="1400" b="0" i="1" dirty="0">
                <a:solidFill>
                  <a:schemeClr val="tx1"/>
                </a:solidFill>
                <a:effectLst/>
                <a:latin typeface="Nunito" pitchFamily="2" charset="77"/>
              </a:rPr>
              <a:t> bytes array</a:t>
            </a:r>
            <a:r>
              <a:rPr lang="en-IN" sz="1400" b="0" i="0" dirty="0">
                <a:solidFill>
                  <a:schemeClr val="tx1"/>
                </a:solidFill>
                <a:effectLst/>
                <a:latin typeface="Nunito" pitchFamily="2" charset="77"/>
              </a:rPr>
              <a:t> depending on the </a:t>
            </a:r>
            <a:r>
              <a:rPr lang="en-IN" sz="1400" b="0" i="1" dirty="0" err="1">
                <a:solidFill>
                  <a:schemeClr val="tx1"/>
                </a:solidFill>
                <a:effectLst/>
                <a:latin typeface="Nunito" pitchFamily="2" charset="77"/>
              </a:rPr>
              <a:t>start_index</a:t>
            </a:r>
            <a:r>
              <a:rPr lang="en-IN" sz="1400" b="0" i="1" dirty="0">
                <a:solidFill>
                  <a:schemeClr val="tx1"/>
                </a:solidFill>
                <a:effectLst/>
                <a:latin typeface="Nunito" pitchFamily="2" charset="77"/>
              </a:rPr>
              <a:t>(Starting location)</a:t>
            </a:r>
            <a:r>
              <a:rPr lang="en-IN" sz="1400" b="0" i="0" dirty="0">
                <a:solidFill>
                  <a:schemeClr val="tx1"/>
                </a:solidFill>
                <a:effectLst/>
                <a:latin typeface="Nunito" pitchFamily="2" charset="77"/>
              </a:rPr>
              <a:t> and </a:t>
            </a:r>
            <a:r>
              <a:rPr lang="en-IN" sz="1400" b="0" i="1" dirty="0">
                <a:solidFill>
                  <a:schemeClr val="tx1"/>
                </a:solidFill>
                <a:effectLst/>
                <a:latin typeface="Nunito" pitchFamily="2" charset="77"/>
              </a:rPr>
              <a:t>length(number of characters from starting location)</a:t>
            </a:r>
            <a:r>
              <a:rPr lang="en-IN" sz="1400" b="0" i="0" dirty="0">
                <a:solidFill>
                  <a:schemeClr val="tx1"/>
                </a:solidFill>
                <a:effectLst/>
                <a:latin typeface="Nunito" pitchFamily="2" charset="77"/>
              </a:rPr>
              <a:t>.Uses </a:t>
            </a:r>
            <a:r>
              <a:rPr lang="en-IN" sz="1400" b="0" i="1" dirty="0" err="1">
                <a:solidFill>
                  <a:schemeClr val="tx1"/>
                </a:solidFill>
                <a:effectLst/>
                <a:latin typeface="Nunito" pitchFamily="2" charset="77"/>
              </a:rPr>
              <a:t>char_set_name</a:t>
            </a:r>
            <a:r>
              <a:rPr lang="en-IN" sz="1400" b="0" i="0" dirty="0">
                <a:solidFill>
                  <a:schemeClr val="tx1"/>
                </a:solidFill>
                <a:effectLst/>
                <a:latin typeface="Nunito" pitchFamily="2" charset="77"/>
              </a:rPr>
              <a:t> for decoding.</a:t>
            </a:r>
          </a:p>
          <a:p>
            <a:pPr algn="l" fontAlgn="base"/>
            <a:r>
              <a:rPr lang="en-IN" sz="1400" dirty="0">
                <a:solidFill>
                  <a:schemeClr val="tx1"/>
                </a:solidFill>
                <a:effectLst/>
              </a:rPr>
              <a:t>byte[] </a:t>
            </a:r>
            <a:r>
              <a:rPr lang="en-IN" sz="1400" dirty="0" err="1">
                <a:solidFill>
                  <a:schemeClr val="tx1"/>
                </a:solidFill>
                <a:effectLst/>
              </a:rPr>
              <a:t>b_arr</a:t>
            </a:r>
            <a:r>
              <a:rPr lang="en-IN" sz="1400" dirty="0">
                <a:solidFill>
                  <a:schemeClr val="tx1"/>
                </a:solidFill>
                <a:effectLst/>
              </a:rPr>
              <a:t> = {71, 101, 101, 107, 115};</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b_arr</a:t>
            </a:r>
            <a:r>
              <a:rPr lang="en-IN" sz="1400" dirty="0">
                <a:solidFill>
                  <a:schemeClr val="tx1"/>
                </a:solidFill>
                <a:effectLst/>
              </a:rPr>
              <a:t>, 1, 4, "US-ASCII"); // eeks</a:t>
            </a:r>
            <a:br>
              <a:rPr lang="en-IN" sz="1400" dirty="0">
                <a:solidFill>
                  <a:schemeClr val="tx1"/>
                </a:solidFill>
              </a:rPr>
            </a:br>
            <a:endParaRPr lang="en-IN" sz="1400" dirty="0">
              <a:solidFill>
                <a:schemeClr val="tx1"/>
              </a:solidFill>
            </a:endParaRPr>
          </a:p>
        </p:txBody>
      </p:sp>
      <p:sp>
        <p:nvSpPr>
          <p:cNvPr id="4" name="Footer Placeholder 3">
            <a:extLst>
              <a:ext uri="{FF2B5EF4-FFF2-40B4-BE49-F238E27FC236}">
                <a16:creationId xmlns:a16="http://schemas.microsoft.com/office/drawing/2014/main" id="{9A26D714-CE6C-8898-E3E9-316BFCF4CC3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210514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1AEE-BFA9-6A57-FA2F-43A98CCACB4F}"/>
              </a:ext>
            </a:extLst>
          </p:cNvPr>
          <p:cNvSpPr>
            <a:spLocks noGrp="1"/>
          </p:cNvSpPr>
          <p:nvPr>
            <p:ph type="title"/>
          </p:nvPr>
        </p:nvSpPr>
        <p:spPr/>
        <p:txBody>
          <a:bodyPr/>
          <a:lstStyle/>
          <a:p>
            <a:r>
              <a:rPr lang="en-US" dirty="0"/>
              <a:t>Different Constructors</a:t>
            </a:r>
          </a:p>
        </p:txBody>
      </p:sp>
      <p:sp>
        <p:nvSpPr>
          <p:cNvPr id="3" name="Content Placeholder 2">
            <a:extLst>
              <a:ext uri="{FF2B5EF4-FFF2-40B4-BE49-F238E27FC236}">
                <a16:creationId xmlns:a16="http://schemas.microsoft.com/office/drawing/2014/main" id="{4B52389B-63A1-9D31-C752-D1770A5BDF2E}"/>
              </a:ext>
            </a:extLst>
          </p:cNvPr>
          <p:cNvSpPr>
            <a:spLocks noGrp="1"/>
          </p:cNvSpPr>
          <p:nvPr>
            <p:ph idx="1"/>
          </p:nvPr>
        </p:nvSpPr>
        <p:spPr/>
        <p:txBody>
          <a:bodyPr/>
          <a:lstStyle/>
          <a:p>
            <a:pPr algn="l" fontAlgn="base"/>
            <a:r>
              <a:rPr lang="en-IN" sz="1400" b="1" i="0" dirty="0">
                <a:solidFill>
                  <a:schemeClr val="tx1"/>
                </a:solidFill>
                <a:effectLst/>
                <a:latin typeface="Nunito" pitchFamily="2" charset="77"/>
              </a:rPr>
              <a:t>7. String(char[] </a:t>
            </a:r>
            <a:r>
              <a:rPr lang="en-IN" sz="1400" b="1" i="0" dirty="0" err="1">
                <a:solidFill>
                  <a:schemeClr val="tx1"/>
                </a:solidFill>
                <a:effectLst/>
                <a:latin typeface="Nunito" pitchFamily="2" charset="77"/>
              </a:rPr>
              <a:t>char_arr</a:t>
            </a:r>
            <a:r>
              <a:rPr lang="en-IN" sz="1400" b="1" i="0" dirty="0">
                <a:solidFill>
                  <a:schemeClr val="tx1"/>
                </a:solidFill>
                <a:effectLst/>
                <a:latin typeface="Nunito" pitchFamily="2" charset="77"/>
              </a:rPr>
              <a:t>)</a:t>
            </a:r>
          </a:p>
          <a:p>
            <a:pPr algn="l" rtl="0" fontAlgn="base"/>
            <a:r>
              <a:rPr lang="en-IN" sz="1400" b="0" i="0" dirty="0">
                <a:solidFill>
                  <a:schemeClr val="tx1"/>
                </a:solidFill>
                <a:effectLst/>
                <a:latin typeface="Nunito" pitchFamily="2" charset="77"/>
              </a:rPr>
              <a:t>Allocates a new String from the given </a:t>
            </a:r>
            <a:r>
              <a:rPr lang="en-IN" sz="1400" b="0" i="1" dirty="0">
                <a:solidFill>
                  <a:schemeClr val="tx1"/>
                </a:solidFill>
                <a:effectLst/>
                <a:latin typeface="Nunito" pitchFamily="2" charset="77"/>
              </a:rPr>
              <a:t>Character array</a:t>
            </a:r>
            <a:endParaRPr lang="en-IN" sz="1400" b="0" i="0" dirty="0">
              <a:solidFill>
                <a:schemeClr val="tx1"/>
              </a:solidFill>
              <a:effectLst/>
              <a:latin typeface="Nunito" pitchFamily="2" charset="77"/>
            </a:endParaRPr>
          </a:p>
          <a:p>
            <a:pPr algn="l" fontAlgn="base"/>
            <a:r>
              <a:rPr lang="en-IN" sz="1400" dirty="0">
                <a:solidFill>
                  <a:schemeClr val="tx1"/>
                </a:solidFill>
                <a:effectLst/>
              </a:rPr>
              <a:t>char </a:t>
            </a:r>
            <a:r>
              <a:rPr lang="en-IN" sz="1400" dirty="0" err="1">
                <a:solidFill>
                  <a:schemeClr val="tx1"/>
                </a:solidFill>
                <a:effectLst/>
              </a:rPr>
              <a:t>char_arr</a:t>
            </a:r>
            <a:r>
              <a:rPr lang="en-IN" sz="1400" dirty="0">
                <a:solidFill>
                  <a:schemeClr val="tx1"/>
                </a:solidFill>
                <a:effectLst/>
              </a:rPr>
              <a:t>[] = {'G', 'e', 'e', 'k', 's'};</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char_arr</a:t>
            </a:r>
            <a:r>
              <a:rPr lang="en-IN" sz="1400" dirty="0">
                <a:solidFill>
                  <a:schemeClr val="tx1"/>
                </a:solidFill>
                <a:effectLst/>
              </a:rPr>
              <a:t>); //Geeks</a:t>
            </a:r>
            <a:br>
              <a:rPr lang="en-IN" sz="1400" dirty="0">
                <a:solidFill>
                  <a:schemeClr val="tx1"/>
                </a:solidFill>
              </a:rPr>
            </a:br>
            <a:r>
              <a:rPr lang="en-IN" sz="1400" b="1" i="0" dirty="0">
                <a:solidFill>
                  <a:schemeClr val="tx1"/>
                </a:solidFill>
                <a:effectLst/>
                <a:latin typeface="Nunito" pitchFamily="2" charset="77"/>
              </a:rPr>
              <a:t>8. String(char[] </a:t>
            </a:r>
            <a:r>
              <a:rPr lang="en-IN" sz="1400" b="1" i="0" dirty="0" err="1">
                <a:solidFill>
                  <a:schemeClr val="tx1"/>
                </a:solidFill>
                <a:effectLst/>
                <a:latin typeface="Nunito" pitchFamily="2" charset="77"/>
              </a:rPr>
              <a:t>char_array</a:t>
            </a:r>
            <a:r>
              <a:rPr lang="en-IN" sz="1400" b="1" i="0" dirty="0">
                <a:solidFill>
                  <a:schemeClr val="tx1"/>
                </a:solidFill>
                <a:effectLst/>
                <a:latin typeface="Nunito" pitchFamily="2" charset="77"/>
              </a:rPr>
              <a:t>, int </a:t>
            </a:r>
            <a:r>
              <a:rPr lang="en-IN" sz="1400" b="1" i="0" dirty="0" err="1">
                <a:solidFill>
                  <a:schemeClr val="tx1"/>
                </a:solidFill>
                <a:effectLst/>
                <a:latin typeface="Nunito" pitchFamily="2" charset="77"/>
              </a:rPr>
              <a:t>start_index</a:t>
            </a:r>
            <a:r>
              <a:rPr lang="en-IN" sz="1400" b="1" i="0" dirty="0">
                <a:solidFill>
                  <a:schemeClr val="tx1"/>
                </a:solidFill>
                <a:effectLst/>
                <a:latin typeface="Nunito" pitchFamily="2" charset="77"/>
              </a:rPr>
              <a:t>, int count)</a:t>
            </a:r>
          </a:p>
          <a:p>
            <a:pPr algn="l" rtl="0" fontAlgn="base"/>
            <a:r>
              <a:rPr lang="en-IN" sz="1400" b="0" i="0" dirty="0">
                <a:solidFill>
                  <a:schemeClr val="tx1"/>
                </a:solidFill>
                <a:effectLst/>
                <a:latin typeface="Nunito" pitchFamily="2" charset="77"/>
              </a:rPr>
              <a:t>Allocates a String from a given </a:t>
            </a:r>
            <a:r>
              <a:rPr lang="en-IN" sz="1400" b="0" i="1" dirty="0">
                <a:solidFill>
                  <a:schemeClr val="tx1"/>
                </a:solidFill>
                <a:effectLst/>
                <a:latin typeface="Nunito" pitchFamily="2" charset="77"/>
              </a:rPr>
              <a:t>character array</a:t>
            </a:r>
            <a:r>
              <a:rPr lang="en-IN" sz="1400" b="0" i="0" dirty="0">
                <a:solidFill>
                  <a:schemeClr val="tx1"/>
                </a:solidFill>
                <a:effectLst/>
                <a:latin typeface="Nunito" pitchFamily="2" charset="77"/>
              </a:rPr>
              <a:t> but choose </a:t>
            </a:r>
            <a:r>
              <a:rPr lang="en-IN" sz="1400" b="0" i="1" dirty="0">
                <a:solidFill>
                  <a:schemeClr val="tx1"/>
                </a:solidFill>
                <a:effectLst/>
                <a:latin typeface="Nunito" pitchFamily="2" charset="77"/>
              </a:rPr>
              <a:t>count</a:t>
            </a:r>
            <a:r>
              <a:rPr lang="en-IN" sz="1400" b="0" i="0" dirty="0">
                <a:solidFill>
                  <a:schemeClr val="tx1"/>
                </a:solidFill>
                <a:effectLst/>
                <a:latin typeface="Nunito" pitchFamily="2" charset="77"/>
              </a:rPr>
              <a:t> characters from the </a:t>
            </a:r>
            <a:r>
              <a:rPr lang="en-IN" sz="1400" b="0" i="1" dirty="0" err="1">
                <a:solidFill>
                  <a:schemeClr val="tx1"/>
                </a:solidFill>
                <a:effectLst/>
                <a:latin typeface="Nunito" pitchFamily="2" charset="77"/>
              </a:rPr>
              <a:t>start_index</a:t>
            </a:r>
            <a:r>
              <a:rPr lang="en-IN" sz="1400" b="0" i="0" dirty="0">
                <a:solidFill>
                  <a:schemeClr val="tx1"/>
                </a:solidFill>
                <a:effectLst/>
                <a:latin typeface="Nunito" pitchFamily="2" charset="77"/>
              </a:rPr>
              <a:t>.</a:t>
            </a:r>
          </a:p>
          <a:p>
            <a:pPr algn="l" fontAlgn="base"/>
            <a:r>
              <a:rPr lang="en-IN" sz="1400" dirty="0">
                <a:solidFill>
                  <a:schemeClr val="tx1"/>
                </a:solidFill>
                <a:effectLst/>
              </a:rPr>
              <a:t>char </a:t>
            </a:r>
            <a:r>
              <a:rPr lang="en-IN" sz="1400" dirty="0" err="1">
                <a:solidFill>
                  <a:schemeClr val="tx1"/>
                </a:solidFill>
                <a:effectLst/>
              </a:rPr>
              <a:t>char_arr</a:t>
            </a:r>
            <a:r>
              <a:rPr lang="en-IN" sz="1400" dirty="0">
                <a:solidFill>
                  <a:schemeClr val="tx1"/>
                </a:solidFill>
                <a:effectLst/>
              </a:rPr>
              <a:t>[] = {'G', 'e', 'e', 'k', 's'};</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char_arr</a:t>
            </a:r>
            <a:r>
              <a:rPr lang="en-IN" sz="1400" dirty="0">
                <a:solidFill>
                  <a:schemeClr val="tx1"/>
                </a:solidFill>
                <a:effectLst/>
              </a:rPr>
              <a:t> , 1, 3); //eek</a:t>
            </a:r>
            <a:br>
              <a:rPr lang="en-IN" sz="1400" dirty="0">
                <a:solidFill>
                  <a:schemeClr val="tx1"/>
                </a:solidFill>
              </a:rPr>
            </a:br>
            <a:r>
              <a:rPr lang="en-IN" sz="1400" b="1" i="0" dirty="0">
                <a:solidFill>
                  <a:schemeClr val="tx1"/>
                </a:solidFill>
                <a:effectLst/>
                <a:latin typeface="Nunito" pitchFamily="2" charset="77"/>
              </a:rPr>
              <a:t>9. String(int[] </a:t>
            </a:r>
            <a:r>
              <a:rPr lang="en-IN" sz="1400" b="1" i="0" dirty="0" err="1">
                <a:solidFill>
                  <a:schemeClr val="tx1"/>
                </a:solidFill>
                <a:effectLst/>
                <a:latin typeface="Nunito" pitchFamily="2" charset="77"/>
              </a:rPr>
              <a:t>uni_code_points</a:t>
            </a:r>
            <a:r>
              <a:rPr lang="en-IN" sz="1400" b="1" i="0" dirty="0">
                <a:solidFill>
                  <a:schemeClr val="tx1"/>
                </a:solidFill>
                <a:effectLst/>
                <a:latin typeface="Nunito" pitchFamily="2" charset="77"/>
              </a:rPr>
              <a:t>, int offset, int count)</a:t>
            </a:r>
          </a:p>
          <a:p>
            <a:pPr algn="l" rtl="0" fontAlgn="base"/>
            <a:r>
              <a:rPr lang="en-IN" sz="1400" b="0" i="0" dirty="0">
                <a:solidFill>
                  <a:schemeClr val="tx1"/>
                </a:solidFill>
                <a:effectLst/>
                <a:latin typeface="Nunito" pitchFamily="2" charset="77"/>
              </a:rPr>
              <a:t>Allocates a String from a </a:t>
            </a:r>
            <a:r>
              <a:rPr lang="en-IN" sz="1400" b="0" i="1" dirty="0" err="1">
                <a:solidFill>
                  <a:schemeClr val="tx1"/>
                </a:solidFill>
                <a:effectLst/>
                <a:latin typeface="Nunito" pitchFamily="2" charset="77"/>
              </a:rPr>
              <a:t>uni_code_array</a:t>
            </a:r>
            <a:r>
              <a:rPr lang="en-IN" sz="1400" b="0" i="0" dirty="0">
                <a:solidFill>
                  <a:schemeClr val="tx1"/>
                </a:solidFill>
                <a:effectLst/>
                <a:latin typeface="Nunito" pitchFamily="2" charset="77"/>
              </a:rPr>
              <a:t> but choose </a:t>
            </a:r>
            <a:r>
              <a:rPr lang="en-IN" sz="1400" b="0" i="1" dirty="0">
                <a:solidFill>
                  <a:schemeClr val="tx1"/>
                </a:solidFill>
                <a:effectLst/>
                <a:latin typeface="Nunito" pitchFamily="2" charset="77"/>
              </a:rPr>
              <a:t>count</a:t>
            </a:r>
            <a:r>
              <a:rPr lang="en-IN" sz="1400" b="0" i="0" dirty="0">
                <a:solidFill>
                  <a:schemeClr val="tx1"/>
                </a:solidFill>
                <a:effectLst/>
                <a:latin typeface="Nunito" pitchFamily="2" charset="77"/>
              </a:rPr>
              <a:t> characters from the </a:t>
            </a:r>
            <a:r>
              <a:rPr lang="en-IN" sz="1400" b="0" i="1" dirty="0" err="1">
                <a:solidFill>
                  <a:schemeClr val="tx1"/>
                </a:solidFill>
                <a:effectLst/>
                <a:latin typeface="Nunito" pitchFamily="2" charset="77"/>
              </a:rPr>
              <a:t>start_index</a:t>
            </a:r>
            <a:r>
              <a:rPr lang="en-IN" sz="1400" b="0" i="0" dirty="0">
                <a:solidFill>
                  <a:schemeClr val="tx1"/>
                </a:solidFill>
                <a:effectLst/>
                <a:latin typeface="Nunito" pitchFamily="2" charset="77"/>
              </a:rPr>
              <a:t>.</a:t>
            </a:r>
          </a:p>
          <a:p>
            <a:pPr algn="l" fontAlgn="base"/>
            <a:r>
              <a:rPr lang="en-IN" sz="1400" dirty="0">
                <a:solidFill>
                  <a:schemeClr val="tx1"/>
                </a:solidFill>
                <a:effectLst/>
              </a:rPr>
              <a:t>int[] </a:t>
            </a:r>
            <a:r>
              <a:rPr lang="en-IN" sz="1400" dirty="0" err="1">
                <a:solidFill>
                  <a:schemeClr val="tx1"/>
                </a:solidFill>
                <a:effectLst/>
              </a:rPr>
              <a:t>uni_code</a:t>
            </a:r>
            <a:r>
              <a:rPr lang="en-IN" sz="1400" dirty="0">
                <a:solidFill>
                  <a:schemeClr val="tx1"/>
                </a:solidFill>
                <a:effectLst/>
              </a:rPr>
              <a:t> = {71, 101, 101, 107, 115};</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uni_code</a:t>
            </a:r>
            <a:r>
              <a:rPr lang="en-IN" sz="1400" dirty="0">
                <a:solidFill>
                  <a:schemeClr val="tx1"/>
                </a:solidFill>
                <a:effectLst/>
              </a:rPr>
              <a:t>, 1, 3); //eek</a:t>
            </a:r>
            <a:br>
              <a:rPr lang="en-IN" sz="1400" dirty="0">
                <a:solidFill>
                  <a:schemeClr val="tx1"/>
                </a:solidFill>
              </a:rPr>
            </a:br>
            <a:r>
              <a:rPr lang="en-IN" sz="1400" b="1" i="0" dirty="0">
                <a:solidFill>
                  <a:schemeClr val="tx1"/>
                </a:solidFill>
                <a:effectLst/>
                <a:latin typeface="Nunito" pitchFamily="2" charset="77"/>
              </a:rPr>
              <a:t>10. String(</a:t>
            </a:r>
            <a:r>
              <a:rPr lang="en-IN" sz="1400" b="1" i="0" dirty="0" err="1">
                <a:solidFill>
                  <a:schemeClr val="tx1"/>
                </a:solidFill>
                <a:effectLst/>
                <a:latin typeface="Nunito" pitchFamily="2" charset="77"/>
              </a:rPr>
              <a:t>StringBuffer</a:t>
            </a:r>
            <a:r>
              <a:rPr lang="en-IN" sz="1400" b="1" i="0" dirty="0">
                <a:solidFill>
                  <a:schemeClr val="tx1"/>
                </a:solidFill>
                <a:effectLst/>
                <a:latin typeface="Nunito" pitchFamily="2" charset="77"/>
              </a:rPr>
              <a:t> </a:t>
            </a:r>
            <a:r>
              <a:rPr lang="en-IN" sz="1400" b="1" i="0" dirty="0" err="1">
                <a:solidFill>
                  <a:schemeClr val="tx1"/>
                </a:solidFill>
                <a:effectLst/>
                <a:latin typeface="Nunito" pitchFamily="2" charset="77"/>
              </a:rPr>
              <a:t>s_buffer</a:t>
            </a:r>
            <a:r>
              <a:rPr lang="en-IN" sz="1400" b="1" i="0" dirty="0">
                <a:solidFill>
                  <a:schemeClr val="tx1"/>
                </a:solidFill>
                <a:effectLst/>
                <a:latin typeface="Nunito" pitchFamily="2" charset="77"/>
              </a:rPr>
              <a:t>)</a:t>
            </a:r>
          </a:p>
          <a:p>
            <a:pPr algn="l" rtl="0" fontAlgn="base"/>
            <a:r>
              <a:rPr lang="en-IN" sz="1400" b="0" i="0" dirty="0">
                <a:solidFill>
                  <a:schemeClr val="tx1"/>
                </a:solidFill>
                <a:effectLst/>
                <a:latin typeface="Nunito" pitchFamily="2" charset="77"/>
              </a:rPr>
              <a:t>Allocates a new string from the string in </a:t>
            </a:r>
            <a:r>
              <a:rPr lang="en-IN" sz="1400" b="0" i="1" dirty="0" err="1">
                <a:solidFill>
                  <a:schemeClr val="tx1"/>
                </a:solidFill>
                <a:effectLst/>
                <a:latin typeface="Nunito" pitchFamily="2" charset="77"/>
              </a:rPr>
              <a:t>s_buffer</a:t>
            </a:r>
            <a:endParaRPr lang="en-IN" sz="1400" b="0" i="0" dirty="0">
              <a:solidFill>
                <a:schemeClr val="tx1"/>
              </a:solidFill>
              <a:effectLst/>
              <a:latin typeface="Nunito" pitchFamily="2" charset="77"/>
            </a:endParaRPr>
          </a:p>
          <a:p>
            <a:pPr algn="l" fontAlgn="base"/>
            <a:r>
              <a:rPr lang="en-IN" sz="1400" dirty="0" err="1">
                <a:solidFill>
                  <a:schemeClr val="tx1"/>
                </a:solidFill>
                <a:effectLst/>
              </a:rPr>
              <a:t>StringBuffer</a:t>
            </a:r>
            <a:r>
              <a:rPr lang="en-IN" sz="1400" dirty="0">
                <a:solidFill>
                  <a:schemeClr val="tx1"/>
                </a:solidFill>
                <a:effectLst/>
              </a:rPr>
              <a:t> </a:t>
            </a:r>
            <a:r>
              <a:rPr lang="en-IN" sz="1400" dirty="0" err="1">
                <a:solidFill>
                  <a:schemeClr val="tx1"/>
                </a:solidFill>
                <a:effectLst/>
              </a:rPr>
              <a:t>s_buffer</a:t>
            </a:r>
            <a:r>
              <a:rPr lang="en-IN" sz="1400" dirty="0">
                <a:solidFill>
                  <a:schemeClr val="tx1"/>
                </a:solidFill>
                <a:effectLst/>
              </a:rPr>
              <a:t> = new </a:t>
            </a:r>
            <a:r>
              <a:rPr lang="en-IN" sz="1400" dirty="0" err="1">
                <a:solidFill>
                  <a:schemeClr val="tx1"/>
                </a:solidFill>
                <a:effectLst/>
              </a:rPr>
              <a:t>StringBuffer</a:t>
            </a:r>
            <a:r>
              <a:rPr lang="en-IN" sz="1400" dirty="0">
                <a:solidFill>
                  <a:schemeClr val="tx1"/>
                </a:solidFill>
                <a:effectLst/>
              </a:rPr>
              <a:t>("Geeks");</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s_buffer</a:t>
            </a:r>
            <a:r>
              <a:rPr lang="en-IN" sz="1400" dirty="0">
                <a:solidFill>
                  <a:schemeClr val="tx1"/>
                </a:solidFill>
                <a:effectLst/>
              </a:rPr>
              <a:t>); //Geeks</a:t>
            </a:r>
            <a:br>
              <a:rPr lang="en-IN" sz="1400" dirty="0">
                <a:solidFill>
                  <a:schemeClr val="tx1"/>
                </a:solidFill>
              </a:rPr>
            </a:br>
            <a:r>
              <a:rPr lang="en-IN" sz="1400" b="1" i="0" dirty="0">
                <a:solidFill>
                  <a:schemeClr val="tx1"/>
                </a:solidFill>
                <a:effectLst/>
                <a:latin typeface="Nunito" pitchFamily="2" charset="77"/>
              </a:rPr>
              <a:t>11. String(StringBuilder </a:t>
            </a:r>
            <a:r>
              <a:rPr lang="en-IN" sz="1400" b="1" i="0" dirty="0" err="1">
                <a:solidFill>
                  <a:schemeClr val="tx1"/>
                </a:solidFill>
                <a:effectLst/>
                <a:latin typeface="Nunito" pitchFamily="2" charset="77"/>
              </a:rPr>
              <a:t>s_builder</a:t>
            </a:r>
            <a:r>
              <a:rPr lang="en-IN" sz="1400" b="1" i="0" dirty="0">
                <a:solidFill>
                  <a:schemeClr val="tx1"/>
                </a:solidFill>
                <a:effectLst/>
                <a:latin typeface="Nunito" pitchFamily="2" charset="77"/>
              </a:rPr>
              <a:t>)</a:t>
            </a:r>
          </a:p>
          <a:p>
            <a:pPr algn="l" rtl="0" fontAlgn="base"/>
            <a:r>
              <a:rPr lang="en-IN" sz="1400" b="0" i="0" dirty="0">
                <a:solidFill>
                  <a:schemeClr val="tx1"/>
                </a:solidFill>
                <a:effectLst/>
                <a:latin typeface="Nunito" pitchFamily="2" charset="77"/>
              </a:rPr>
              <a:t>Allocates a new string from the string in </a:t>
            </a:r>
            <a:r>
              <a:rPr lang="en-IN" sz="1400" b="0" i="1" dirty="0" err="1">
                <a:solidFill>
                  <a:schemeClr val="tx1"/>
                </a:solidFill>
                <a:effectLst/>
                <a:latin typeface="Nunito" pitchFamily="2" charset="77"/>
              </a:rPr>
              <a:t>s_builder</a:t>
            </a:r>
            <a:endParaRPr lang="en-IN" sz="1400" b="0" i="0" dirty="0">
              <a:solidFill>
                <a:schemeClr val="tx1"/>
              </a:solidFill>
              <a:effectLst/>
              <a:latin typeface="Nunito" pitchFamily="2" charset="77"/>
            </a:endParaRPr>
          </a:p>
          <a:p>
            <a:r>
              <a:rPr lang="en-IN" sz="1400" dirty="0">
                <a:solidFill>
                  <a:schemeClr val="tx1"/>
                </a:solidFill>
                <a:effectLst/>
              </a:rPr>
              <a:t>StringBuilder </a:t>
            </a:r>
            <a:r>
              <a:rPr lang="en-IN" sz="1400" dirty="0" err="1">
                <a:solidFill>
                  <a:schemeClr val="tx1"/>
                </a:solidFill>
                <a:effectLst/>
              </a:rPr>
              <a:t>s_builder</a:t>
            </a:r>
            <a:r>
              <a:rPr lang="en-IN" sz="1400" dirty="0">
                <a:solidFill>
                  <a:schemeClr val="tx1"/>
                </a:solidFill>
                <a:effectLst/>
              </a:rPr>
              <a:t> = new StringBuilder("Geeks");</a:t>
            </a:r>
            <a:br>
              <a:rPr lang="en-IN" sz="1400" dirty="0">
                <a:solidFill>
                  <a:schemeClr val="tx1"/>
                </a:solidFill>
              </a:rPr>
            </a:br>
            <a:r>
              <a:rPr lang="en-IN" sz="1400" dirty="0">
                <a:solidFill>
                  <a:schemeClr val="tx1"/>
                </a:solidFill>
                <a:effectLst/>
              </a:rPr>
              <a:t>String s = new String(</a:t>
            </a:r>
            <a:r>
              <a:rPr lang="en-IN" sz="1400" dirty="0" err="1">
                <a:solidFill>
                  <a:schemeClr val="tx1"/>
                </a:solidFill>
                <a:effectLst/>
              </a:rPr>
              <a:t>s_builder</a:t>
            </a:r>
            <a:r>
              <a:rPr lang="en-IN" sz="1400" dirty="0">
                <a:solidFill>
                  <a:schemeClr val="tx1"/>
                </a:solidFill>
                <a:effectLst/>
              </a:rPr>
              <a:t>); //Geeks</a:t>
            </a:r>
            <a:endParaRPr lang="en-US" sz="2400" dirty="0">
              <a:solidFill>
                <a:schemeClr val="tx1"/>
              </a:solidFill>
              <a:latin typeface="Nunito" pitchFamily="2" charset="77"/>
            </a:endParaRPr>
          </a:p>
        </p:txBody>
      </p:sp>
      <p:sp>
        <p:nvSpPr>
          <p:cNvPr id="4" name="Footer Placeholder 3">
            <a:extLst>
              <a:ext uri="{FF2B5EF4-FFF2-40B4-BE49-F238E27FC236}">
                <a16:creationId xmlns:a16="http://schemas.microsoft.com/office/drawing/2014/main" id="{9A26D714-CE6C-8898-E3E9-316BFCF4CC3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252701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1800" b="1" i="0" dirty="0">
                <a:solidFill>
                  <a:schemeClr val="tx1"/>
                </a:solidFill>
                <a:effectLst/>
                <a:latin typeface="Nunito" pitchFamily="2" charset="77"/>
              </a:rPr>
              <a:t>1.</a:t>
            </a:r>
            <a:r>
              <a:rPr lang="en-IN" sz="18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 int length()</a:t>
            </a:r>
            <a:endParaRPr lang="en-IN" sz="1800" b="1" i="0" dirty="0">
              <a:solidFill>
                <a:schemeClr val="tx1"/>
              </a:solidFill>
              <a:effectLst/>
              <a:latin typeface="Nunito" pitchFamily="2" charset="77"/>
            </a:endParaRPr>
          </a:p>
          <a:p>
            <a:pPr algn="l" rtl="0" fontAlgn="base"/>
            <a:r>
              <a:rPr lang="en-IN" sz="1800" b="0" i="0" dirty="0">
                <a:solidFill>
                  <a:schemeClr val="tx1"/>
                </a:solidFill>
                <a:effectLst/>
                <a:latin typeface="Nunito" pitchFamily="2" charset="77"/>
              </a:rPr>
              <a:t>Returns the number of characters in the String.</a:t>
            </a:r>
          </a:p>
          <a:p>
            <a:pPr algn="l" fontAlgn="base"/>
            <a:r>
              <a:rPr lang="en-IN" sz="1800" dirty="0">
                <a:solidFill>
                  <a:schemeClr val="tx1"/>
                </a:solidFill>
                <a:effectLst/>
              </a:rPr>
              <a:t>"</a:t>
            </a:r>
            <a:r>
              <a:rPr lang="en-IN" sz="1800" dirty="0" err="1">
                <a:solidFill>
                  <a:schemeClr val="tx1"/>
                </a:solidFill>
                <a:effectLst/>
              </a:rPr>
              <a:t>GeeksforGeeks</a:t>
            </a:r>
            <a:r>
              <a:rPr lang="en-IN" sz="1800" dirty="0">
                <a:solidFill>
                  <a:schemeClr val="tx1"/>
                </a:solidFill>
                <a:effectLst/>
              </a:rPr>
              <a:t>".length();  // returns 13</a:t>
            </a:r>
            <a:br>
              <a:rPr lang="en-IN" sz="1800" dirty="0">
                <a:solidFill>
                  <a:schemeClr val="tx1"/>
                </a:solidFill>
              </a:rPr>
            </a:br>
            <a:r>
              <a:rPr lang="en-IN" sz="1800" b="1" i="0" dirty="0">
                <a:solidFill>
                  <a:schemeClr val="tx1"/>
                </a:solidFill>
                <a:effectLst/>
                <a:latin typeface="Nunito" pitchFamily="2" charset="77"/>
              </a:rPr>
              <a:t>2. </a:t>
            </a:r>
            <a:r>
              <a:rPr lang="en-IN" sz="18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Char charAt(int i)</a:t>
            </a:r>
            <a:endParaRPr lang="en-IN" sz="1800" b="1" i="0" dirty="0">
              <a:solidFill>
                <a:schemeClr val="tx1"/>
              </a:solidFill>
              <a:effectLst/>
              <a:latin typeface="Nunito" pitchFamily="2" charset="77"/>
            </a:endParaRPr>
          </a:p>
          <a:p>
            <a:pPr algn="l" rtl="0" fontAlgn="base"/>
            <a:r>
              <a:rPr lang="en-IN" sz="1800" b="0" i="0" dirty="0">
                <a:solidFill>
                  <a:schemeClr val="tx1"/>
                </a:solidFill>
                <a:effectLst/>
                <a:latin typeface="Nunito" pitchFamily="2" charset="77"/>
              </a:rPr>
              <a:t>Returns the character at </a:t>
            </a:r>
            <a:r>
              <a:rPr lang="en-IN" sz="1800" b="0" i="0" dirty="0" err="1">
                <a:solidFill>
                  <a:schemeClr val="tx1"/>
                </a:solidFill>
                <a:effectLst/>
                <a:latin typeface="Nunito" pitchFamily="2" charset="77"/>
              </a:rPr>
              <a:t>i</a:t>
            </a:r>
            <a:r>
              <a:rPr lang="en-IN" sz="1800" b="0" i="0" baseline="30000" dirty="0" err="1">
                <a:solidFill>
                  <a:schemeClr val="tx1"/>
                </a:solidFill>
                <a:effectLst/>
                <a:latin typeface="Nunito" pitchFamily="2" charset="77"/>
              </a:rPr>
              <a:t>th</a:t>
            </a:r>
            <a:r>
              <a:rPr lang="en-IN" sz="1800" b="0" i="0" dirty="0">
                <a:solidFill>
                  <a:schemeClr val="tx1"/>
                </a:solidFill>
                <a:effectLst/>
                <a:latin typeface="Nunito" pitchFamily="2" charset="77"/>
              </a:rPr>
              <a:t> index.</a:t>
            </a:r>
          </a:p>
          <a:p>
            <a:pPr algn="l" fontAlgn="base"/>
            <a:r>
              <a:rPr lang="en-IN" sz="1800" dirty="0">
                <a:solidFill>
                  <a:schemeClr val="tx1"/>
                </a:solidFill>
                <a:effectLst/>
              </a:rPr>
              <a:t>"</a:t>
            </a:r>
            <a:r>
              <a:rPr lang="en-IN" sz="1800" dirty="0" err="1">
                <a:solidFill>
                  <a:schemeClr val="tx1"/>
                </a:solidFill>
                <a:effectLst/>
              </a:rPr>
              <a:t>GeeksforGeeks</a:t>
            </a:r>
            <a:r>
              <a:rPr lang="en-IN" sz="1800" dirty="0">
                <a:solidFill>
                  <a:schemeClr val="tx1"/>
                </a:solidFill>
                <a:effectLst/>
              </a:rPr>
              <a:t>".</a:t>
            </a:r>
            <a:r>
              <a:rPr lang="en-IN" sz="1800" dirty="0" err="1">
                <a:solidFill>
                  <a:schemeClr val="tx1"/>
                </a:solidFill>
                <a:effectLst/>
              </a:rPr>
              <a:t>charAt</a:t>
            </a:r>
            <a:r>
              <a:rPr lang="en-IN" sz="1800" dirty="0">
                <a:solidFill>
                  <a:schemeClr val="tx1"/>
                </a:solidFill>
                <a:effectLst/>
              </a:rPr>
              <a:t>(3); // returns  ‘k’</a:t>
            </a:r>
            <a:br>
              <a:rPr lang="en-IN" sz="1800" dirty="0">
                <a:solidFill>
                  <a:schemeClr val="tx1"/>
                </a:solidFill>
              </a:rPr>
            </a:br>
            <a:r>
              <a:rPr lang="en-IN" sz="1800" b="1" i="0" dirty="0">
                <a:solidFill>
                  <a:schemeClr val="tx1"/>
                </a:solidFill>
                <a:effectLst/>
                <a:latin typeface="Nunito" pitchFamily="2" charset="77"/>
              </a:rPr>
              <a:t>3. </a:t>
            </a:r>
            <a:r>
              <a:rPr lang="en-IN" sz="1800" b="1" i="0" u="sng" dirty="0">
                <a:solidFill>
                  <a:schemeClr val="tx1"/>
                </a:solidFill>
                <a:effectLst/>
                <a:latin typeface="Nunito" pitchFamily="2" charset="77"/>
                <a:hlinkClick r:id="rId4">
                  <a:extLst>
                    <a:ext uri="{A12FA001-AC4F-418D-AE19-62706E023703}">
                      <ahyp:hlinkClr xmlns:ahyp="http://schemas.microsoft.com/office/drawing/2018/hyperlinkcolor" val="tx"/>
                    </a:ext>
                  </a:extLst>
                </a:hlinkClick>
              </a:rPr>
              <a:t>String substring (int i)</a:t>
            </a:r>
            <a:endParaRPr lang="en-IN" sz="1800" b="1" i="0" dirty="0">
              <a:solidFill>
                <a:schemeClr val="tx1"/>
              </a:solidFill>
              <a:effectLst/>
              <a:latin typeface="Nunito" pitchFamily="2" charset="77"/>
            </a:endParaRPr>
          </a:p>
          <a:p>
            <a:pPr algn="l" rtl="0" fontAlgn="base"/>
            <a:r>
              <a:rPr lang="en-IN" sz="1800" b="0" i="0" dirty="0">
                <a:solidFill>
                  <a:schemeClr val="tx1"/>
                </a:solidFill>
                <a:effectLst/>
                <a:latin typeface="Nunito" pitchFamily="2" charset="77"/>
              </a:rPr>
              <a:t>Return the substring from the </a:t>
            </a:r>
            <a:r>
              <a:rPr lang="en-IN" sz="1800" b="0" i="0" dirty="0" err="1">
                <a:solidFill>
                  <a:schemeClr val="tx1"/>
                </a:solidFill>
                <a:effectLst/>
                <a:latin typeface="Nunito" pitchFamily="2" charset="77"/>
              </a:rPr>
              <a:t>i</a:t>
            </a:r>
            <a:r>
              <a:rPr lang="en-IN" sz="1800" b="0" i="0" baseline="30000" dirty="0" err="1">
                <a:solidFill>
                  <a:schemeClr val="tx1"/>
                </a:solidFill>
                <a:effectLst/>
                <a:latin typeface="Nunito" pitchFamily="2" charset="77"/>
              </a:rPr>
              <a:t>th</a:t>
            </a:r>
            <a:r>
              <a:rPr lang="en-IN" sz="1800" b="0" i="0" baseline="30000" dirty="0">
                <a:solidFill>
                  <a:schemeClr val="tx1"/>
                </a:solidFill>
                <a:effectLst/>
                <a:latin typeface="Nunito" pitchFamily="2" charset="77"/>
              </a:rPr>
              <a:t> </a:t>
            </a:r>
            <a:r>
              <a:rPr lang="en-IN" sz="1800" b="0" i="0" dirty="0">
                <a:solidFill>
                  <a:schemeClr val="tx1"/>
                </a:solidFill>
                <a:effectLst/>
                <a:latin typeface="Nunito" pitchFamily="2" charset="77"/>
              </a:rPr>
              <a:t> index character to end.</a:t>
            </a:r>
          </a:p>
          <a:p>
            <a:pPr algn="l" fontAlgn="base"/>
            <a:r>
              <a:rPr lang="en-IN" sz="1800" dirty="0">
                <a:solidFill>
                  <a:schemeClr val="tx1"/>
                </a:solidFill>
                <a:effectLst/>
              </a:rPr>
              <a:t>"</a:t>
            </a:r>
            <a:r>
              <a:rPr lang="en-IN" sz="1800" dirty="0" err="1">
                <a:solidFill>
                  <a:schemeClr val="tx1"/>
                </a:solidFill>
                <a:effectLst/>
              </a:rPr>
              <a:t>GeeksforGeeks</a:t>
            </a:r>
            <a:r>
              <a:rPr lang="en-IN" sz="1800" dirty="0">
                <a:solidFill>
                  <a:schemeClr val="tx1"/>
                </a:solidFill>
                <a:effectLst/>
              </a:rPr>
              <a:t>".substring(3); // returns “</a:t>
            </a:r>
            <a:r>
              <a:rPr lang="en-IN" sz="1800" dirty="0" err="1">
                <a:solidFill>
                  <a:schemeClr val="tx1"/>
                </a:solidFill>
                <a:effectLst/>
              </a:rPr>
              <a:t>ksforGeeks</a:t>
            </a:r>
            <a:r>
              <a:rPr lang="en-IN" sz="1800" dirty="0">
                <a:solidFill>
                  <a:schemeClr val="tx1"/>
                </a:solidFill>
                <a:effectLst/>
              </a:rPr>
              <a:t>”</a:t>
            </a:r>
            <a:br>
              <a:rPr lang="en-IN" sz="1800" dirty="0">
                <a:solidFill>
                  <a:schemeClr val="tx1"/>
                </a:solidFill>
              </a:rPr>
            </a:br>
            <a:r>
              <a:rPr lang="en-IN" sz="1800" b="1" i="0" dirty="0">
                <a:solidFill>
                  <a:schemeClr val="tx1"/>
                </a:solidFill>
                <a:effectLst/>
                <a:latin typeface="Nunito" pitchFamily="2" charset="77"/>
              </a:rPr>
              <a:t>4. </a:t>
            </a:r>
            <a:r>
              <a:rPr lang="en-IN" sz="1800" b="1" i="0" u="sng" dirty="0">
                <a:solidFill>
                  <a:schemeClr val="tx1"/>
                </a:solidFill>
                <a:effectLst/>
                <a:latin typeface="Nunito" pitchFamily="2" charset="77"/>
                <a:hlinkClick r:id="rId4">
                  <a:extLst>
                    <a:ext uri="{A12FA001-AC4F-418D-AE19-62706E023703}">
                      <ahyp:hlinkClr xmlns:ahyp="http://schemas.microsoft.com/office/drawing/2018/hyperlinkcolor" val="tx"/>
                    </a:ext>
                  </a:extLst>
                </a:hlinkClick>
              </a:rPr>
              <a:t>String substring (int i, int j)</a:t>
            </a:r>
            <a:endParaRPr lang="en-IN" sz="1800" b="1" i="0" dirty="0">
              <a:solidFill>
                <a:schemeClr val="tx1"/>
              </a:solidFill>
              <a:effectLst/>
              <a:latin typeface="Nunito" pitchFamily="2" charset="77"/>
            </a:endParaRPr>
          </a:p>
          <a:p>
            <a:pPr algn="l" rtl="0" fontAlgn="base"/>
            <a:r>
              <a:rPr lang="en-IN" sz="1800" b="0" i="0" dirty="0">
                <a:solidFill>
                  <a:schemeClr val="tx1"/>
                </a:solidFill>
                <a:effectLst/>
                <a:latin typeface="Nunito" pitchFamily="2" charset="77"/>
              </a:rPr>
              <a:t>Returns the substring from </a:t>
            </a:r>
            <a:r>
              <a:rPr lang="en-IN" sz="1800" b="0" i="0" dirty="0" err="1">
                <a:solidFill>
                  <a:schemeClr val="tx1"/>
                </a:solidFill>
                <a:effectLst/>
                <a:latin typeface="Nunito" pitchFamily="2" charset="77"/>
              </a:rPr>
              <a:t>i</a:t>
            </a:r>
            <a:r>
              <a:rPr lang="en-IN" sz="1800" b="0" i="0" dirty="0">
                <a:solidFill>
                  <a:schemeClr val="tx1"/>
                </a:solidFill>
                <a:effectLst/>
                <a:latin typeface="Nunito" pitchFamily="2" charset="77"/>
              </a:rPr>
              <a:t> to j-1 index.</a:t>
            </a:r>
          </a:p>
          <a:p>
            <a:pPr algn="l" fontAlgn="base"/>
            <a:r>
              <a:rPr lang="en-IN" sz="1800" dirty="0">
                <a:solidFill>
                  <a:schemeClr val="tx1"/>
                </a:solidFill>
                <a:effectLst/>
              </a:rPr>
              <a:t>"</a:t>
            </a:r>
            <a:r>
              <a:rPr lang="en-IN" sz="1800" dirty="0" err="1">
                <a:solidFill>
                  <a:schemeClr val="tx1"/>
                </a:solidFill>
                <a:effectLst/>
              </a:rPr>
              <a:t>GeeksforGeeks</a:t>
            </a:r>
            <a:r>
              <a:rPr lang="en-IN" sz="1800" dirty="0">
                <a:solidFill>
                  <a:schemeClr val="tx1"/>
                </a:solidFill>
                <a:effectLst/>
              </a:rPr>
              <a:t>".substring(2, 5); // returns “</a:t>
            </a:r>
            <a:r>
              <a:rPr lang="en-IN" sz="1800" dirty="0" err="1">
                <a:solidFill>
                  <a:schemeClr val="tx1"/>
                </a:solidFill>
                <a:effectLst/>
              </a:rPr>
              <a:t>eks</a:t>
            </a:r>
            <a:r>
              <a:rPr lang="en-IN" sz="1800" dirty="0">
                <a:solidFill>
                  <a:schemeClr val="tx1"/>
                </a:solidFill>
                <a:effectLst/>
              </a:rPr>
              <a:t>”</a:t>
            </a:r>
            <a:br>
              <a:rPr lang="en-IN" sz="1800" dirty="0">
                <a:solidFill>
                  <a:schemeClr val="tx1"/>
                </a:solidFill>
              </a:rPr>
            </a:br>
            <a:r>
              <a:rPr lang="en-IN" sz="1800" b="1" i="0" dirty="0">
                <a:solidFill>
                  <a:schemeClr val="tx1"/>
                </a:solidFill>
                <a:effectLst/>
                <a:latin typeface="Nunito" pitchFamily="2" charset="77"/>
              </a:rPr>
              <a:t>5. </a:t>
            </a:r>
            <a:r>
              <a:rPr lang="en-IN" sz="1800" b="1" i="0" u="sng" dirty="0">
                <a:solidFill>
                  <a:schemeClr val="tx1"/>
                </a:solidFill>
                <a:effectLst/>
                <a:latin typeface="Nunito" pitchFamily="2" charset="77"/>
                <a:hlinkClick r:id="rId5">
                  <a:extLst>
                    <a:ext uri="{A12FA001-AC4F-418D-AE19-62706E023703}">
                      <ahyp:hlinkClr xmlns:ahyp="http://schemas.microsoft.com/office/drawing/2018/hyperlinkcolor" val="tx"/>
                    </a:ext>
                  </a:extLst>
                </a:hlinkClick>
              </a:rPr>
              <a:t>String concat( String str)</a:t>
            </a:r>
            <a:endParaRPr lang="en-IN" sz="1800" b="1" i="0" dirty="0">
              <a:solidFill>
                <a:schemeClr val="tx1"/>
              </a:solidFill>
              <a:effectLst/>
              <a:latin typeface="Nunito" pitchFamily="2" charset="77"/>
            </a:endParaRPr>
          </a:p>
          <a:p>
            <a:pPr algn="l" rtl="0" fontAlgn="base"/>
            <a:r>
              <a:rPr lang="en-IN" sz="1800" b="0" i="0" dirty="0">
                <a:solidFill>
                  <a:schemeClr val="tx1"/>
                </a:solidFill>
                <a:effectLst/>
                <a:latin typeface="Nunito" pitchFamily="2" charset="77"/>
              </a:rPr>
              <a:t>Concatenates specified string to the end of this string.</a:t>
            </a:r>
          </a:p>
          <a:p>
            <a:pPr algn="l" fontAlgn="base"/>
            <a:r>
              <a:rPr lang="en-IN" sz="1800" dirty="0">
                <a:solidFill>
                  <a:schemeClr val="tx1"/>
                </a:solidFill>
                <a:effectLst/>
              </a:rPr>
              <a:t>String s1 = ”Geeks”;</a:t>
            </a:r>
            <a:br>
              <a:rPr lang="en-IN" sz="1800" dirty="0">
                <a:solidFill>
                  <a:schemeClr val="tx1"/>
                </a:solidFill>
              </a:rPr>
            </a:br>
            <a:r>
              <a:rPr lang="en-IN" sz="1800" dirty="0">
                <a:solidFill>
                  <a:schemeClr val="tx1"/>
                </a:solidFill>
                <a:effectLst/>
              </a:rPr>
              <a:t>String s2 = ”</a:t>
            </a:r>
            <a:r>
              <a:rPr lang="en-IN" sz="1800" dirty="0" err="1">
                <a:solidFill>
                  <a:schemeClr val="tx1"/>
                </a:solidFill>
                <a:effectLst/>
              </a:rPr>
              <a:t>forGeeks</a:t>
            </a:r>
            <a:r>
              <a:rPr lang="en-IN" sz="1800" dirty="0">
                <a:solidFill>
                  <a:schemeClr val="tx1"/>
                </a:solidFill>
                <a:effectLst/>
              </a:rPr>
              <a:t>”;</a:t>
            </a:r>
            <a:br>
              <a:rPr lang="en-IN" sz="1800" dirty="0">
                <a:solidFill>
                  <a:schemeClr val="tx1"/>
                </a:solidFill>
              </a:rPr>
            </a:br>
            <a:r>
              <a:rPr lang="en-IN" sz="1800" dirty="0">
                <a:solidFill>
                  <a:schemeClr val="tx1"/>
                </a:solidFill>
                <a:effectLst/>
              </a:rPr>
              <a:t>String output = s1.concat(s2); // returns “</a:t>
            </a:r>
            <a:r>
              <a:rPr lang="en-IN" sz="1800" dirty="0" err="1">
                <a:solidFill>
                  <a:schemeClr val="tx1"/>
                </a:solidFill>
                <a:effectLst/>
              </a:rPr>
              <a:t>GeeksforGeeks</a:t>
            </a:r>
            <a:r>
              <a:rPr lang="en-IN" sz="1800" dirty="0">
                <a:solidFill>
                  <a:schemeClr val="tx1"/>
                </a:solidFill>
                <a:effectLst/>
              </a:rPr>
              <a:t>”</a:t>
            </a:r>
            <a:br>
              <a:rPr lang="en-IN" sz="1800" dirty="0">
                <a:solidFill>
                  <a:schemeClr val="tx1"/>
                </a:solidFill>
              </a:rPr>
            </a:br>
            <a:endParaRPr lang="en-US" sz="18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18169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6. </a:t>
            </a:r>
            <a:r>
              <a:rPr lang="en-IN" sz="20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int indexOf (String s)</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Returns the index within the string of the first occurrence of the specified string.</a:t>
            </a:r>
          </a:p>
          <a:p>
            <a:pPr algn="l" rtl="0" fontAlgn="base"/>
            <a:r>
              <a:rPr lang="en-IN" sz="2000" b="0" i="0" dirty="0">
                <a:solidFill>
                  <a:schemeClr val="tx1"/>
                </a:solidFill>
                <a:effectLst/>
                <a:latin typeface="Nunito" pitchFamily="2" charset="77"/>
              </a:rPr>
              <a:t>If String s is not present in input string then -1 is returned as the default value.</a:t>
            </a:r>
          </a:p>
          <a:p>
            <a:pPr algn="l" fontAlgn="base"/>
            <a:r>
              <a:rPr lang="en-IN" sz="2000" dirty="0">
                <a:solidFill>
                  <a:schemeClr val="tx1"/>
                </a:solidFill>
                <a:effectLst/>
              </a:rPr>
              <a:t>1. String s = ”Learn Share Learn”;</a:t>
            </a:r>
            <a:br>
              <a:rPr lang="en-IN" sz="2000" dirty="0">
                <a:solidFill>
                  <a:schemeClr val="tx1"/>
                </a:solidFill>
              </a:rPr>
            </a:br>
            <a:r>
              <a:rPr lang="en-IN" sz="2000" dirty="0">
                <a:solidFill>
                  <a:schemeClr val="tx1"/>
                </a:solidFill>
                <a:effectLst/>
              </a:rPr>
              <a:t>int output = </a:t>
            </a:r>
            <a:r>
              <a:rPr lang="en-IN" sz="2000" dirty="0" err="1">
                <a:solidFill>
                  <a:schemeClr val="tx1"/>
                </a:solidFill>
                <a:effectLst/>
              </a:rPr>
              <a:t>s.indexOf</a:t>
            </a:r>
            <a:r>
              <a:rPr lang="en-IN" sz="2000" dirty="0">
                <a:solidFill>
                  <a:schemeClr val="tx1"/>
                </a:solidFill>
                <a:effectLst/>
              </a:rPr>
              <a:t>(“Share”); // returns 6</a:t>
            </a:r>
            <a:br>
              <a:rPr lang="en-IN" sz="2000" dirty="0">
                <a:solidFill>
                  <a:schemeClr val="tx1"/>
                </a:solidFill>
              </a:rPr>
            </a:br>
            <a:r>
              <a:rPr lang="en-IN" sz="2000" dirty="0">
                <a:solidFill>
                  <a:schemeClr val="tx1"/>
                </a:solidFill>
                <a:effectLst/>
              </a:rPr>
              <a:t>2. String s = "Learn Share Learn"</a:t>
            </a:r>
            <a:br>
              <a:rPr lang="en-IN" sz="2000" dirty="0">
                <a:solidFill>
                  <a:schemeClr val="tx1"/>
                </a:solidFill>
              </a:rPr>
            </a:br>
            <a:r>
              <a:rPr lang="en-IN" sz="2000" dirty="0">
                <a:solidFill>
                  <a:schemeClr val="tx1"/>
                </a:solidFill>
                <a:effectLst/>
              </a:rPr>
              <a:t>int output = </a:t>
            </a:r>
            <a:r>
              <a:rPr lang="en-IN" sz="2000" dirty="0" err="1">
                <a:solidFill>
                  <a:schemeClr val="tx1"/>
                </a:solidFill>
                <a:effectLst/>
              </a:rPr>
              <a:t>s.indexOf</a:t>
            </a:r>
            <a:r>
              <a:rPr lang="en-IN" sz="2000" dirty="0">
                <a:solidFill>
                  <a:schemeClr val="tx1"/>
                </a:solidFill>
                <a:effectLst/>
              </a:rPr>
              <a:t>(“Play”); // return -1</a:t>
            </a:r>
          </a:p>
          <a:p>
            <a:pPr algn="l" fontAlgn="base"/>
            <a:r>
              <a:rPr lang="en-IN" sz="2000" b="1" i="0" dirty="0">
                <a:solidFill>
                  <a:schemeClr val="tx1"/>
                </a:solidFill>
                <a:effectLst/>
                <a:latin typeface="Nunito" pitchFamily="2" charset="77"/>
              </a:rPr>
              <a:t>7. </a:t>
            </a:r>
            <a:r>
              <a:rPr lang="en-IN" sz="20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int indexOf (String s, int i)</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Returns the index within the string of the first occurrence of the specified string, starting at the specified index.</a:t>
            </a:r>
          </a:p>
          <a:p>
            <a:pPr algn="l" fontAlgn="base"/>
            <a:r>
              <a:rPr lang="en-IN" sz="2000" dirty="0">
                <a:solidFill>
                  <a:schemeClr val="tx1"/>
                </a:solidFill>
                <a:effectLst/>
              </a:rPr>
              <a:t>String s = ”Learn Share Learn”;</a:t>
            </a:r>
            <a:br>
              <a:rPr lang="en-IN" sz="2000" dirty="0">
                <a:solidFill>
                  <a:schemeClr val="tx1"/>
                </a:solidFill>
              </a:rPr>
            </a:br>
            <a:r>
              <a:rPr lang="en-IN" sz="2000" dirty="0">
                <a:solidFill>
                  <a:schemeClr val="tx1"/>
                </a:solidFill>
                <a:effectLst/>
              </a:rPr>
              <a:t>int output = </a:t>
            </a:r>
            <a:r>
              <a:rPr lang="en-IN" sz="2000" dirty="0" err="1">
                <a:solidFill>
                  <a:schemeClr val="tx1"/>
                </a:solidFill>
                <a:effectLst/>
              </a:rPr>
              <a:t>s.indexOf</a:t>
            </a:r>
            <a:r>
              <a:rPr lang="en-IN" sz="2000" dirty="0">
                <a:solidFill>
                  <a:schemeClr val="tx1"/>
                </a:solidFill>
                <a:effectLst/>
              </a:rPr>
              <a:t>("ea",3);// returns 13</a:t>
            </a:r>
            <a:endParaRPr lang="en-IN" sz="20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09992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8. </a:t>
            </a:r>
            <a:r>
              <a:rPr lang="en-IN" sz="20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Int lastIndexOf( String s)</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Returns the index within the string of the last occurrence of the specified string.</a:t>
            </a:r>
          </a:p>
          <a:p>
            <a:pPr algn="l" rtl="0" fontAlgn="base"/>
            <a:r>
              <a:rPr lang="en-IN" sz="2000" b="0" i="0" dirty="0">
                <a:solidFill>
                  <a:schemeClr val="tx1"/>
                </a:solidFill>
                <a:effectLst/>
                <a:latin typeface="Nunito" pitchFamily="2" charset="77"/>
              </a:rPr>
              <a:t>If String s is not present in input string then -1 is returned as the default value.</a:t>
            </a:r>
          </a:p>
          <a:p>
            <a:pPr algn="l" fontAlgn="base"/>
            <a:r>
              <a:rPr lang="en-IN" sz="2000" dirty="0">
                <a:solidFill>
                  <a:schemeClr val="tx1"/>
                </a:solidFill>
                <a:effectLst/>
              </a:rPr>
              <a:t>1. String s = ”Learn Share Learn”;</a:t>
            </a:r>
            <a:br>
              <a:rPr lang="en-IN" sz="2000" dirty="0">
                <a:solidFill>
                  <a:schemeClr val="tx1"/>
                </a:solidFill>
              </a:rPr>
            </a:br>
            <a:r>
              <a:rPr lang="en-IN" sz="2000" dirty="0">
                <a:solidFill>
                  <a:schemeClr val="tx1"/>
                </a:solidFill>
                <a:effectLst/>
              </a:rPr>
              <a:t>int output = </a:t>
            </a:r>
            <a:r>
              <a:rPr lang="en-IN" sz="2000" dirty="0" err="1">
                <a:solidFill>
                  <a:schemeClr val="tx1"/>
                </a:solidFill>
                <a:effectLst/>
              </a:rPr>
              <a:t>s.lastIndexOf</a:t>
            </a:r>
            <a:r>
              <a:rPr lang="en-IN" sz="2000" dirty="0">
                <a:solidFill>
                  <a:schemeClr val="tx1"/>
                </a:solidFill>
                <a:effectLst/>
              </a:rPr>
              <a:t>("a"); // returns 14</a:t>
            </a:r>
            <a:br>
              <a:rPr lang="en-IN" sz="2000" dirty="0">
                <a:solidFill>
                  <a:schemeClr val="tx1"/>
                </a:solidFill>
              </a:rPr>
            </a:br>
            <a:r>
              <a:rPr lang="en-IN" sz="2000" dirty="0">
                <a:solidFill>
                  <a:schemeClr val="tx1"/>
                </a:solidFill>
                <a:effectLst/>
              </a:rPr>
              <a:t>2. String s = "Learn Share Learn"</a:t>
            </a:r>
            <a:br>
              <a:rPr lang="en-IN" sz="2000" dirty="0">
                <a:solidFill>
                  <a:schemeClr val="tx1"/>
                </a:solidFill>
              </a:rPr>
            </a:br>
            <a:r>
              <a:rPr lang="en-IN" sz="2000" dirty="0">
                <a:solidFill>
                  <a:schemeClr val="tx1"/>
                </a:solidFill>
                <a:effectLst/>
              </a:rPr>
              <a:t>int output = </a:t>
            </a:r>
            <a:r>
              <a:rPr lang="en-IN" sz="2000" dirty="0" err="1">
                <a:solidFill>
                  <a:schemeClr val="tx1"/>
                </a:solidFill>
                <a:effectLst/>
              </a:rPr>
              <a:t>s.indexOf</a:t>
            </a:r>
            <a:r>
              <a:rPr lang="en-IN" sz="2000" dirty="0">
                <a:solidFill>
                  <a:schemeClr val="tx1"/>
                </a:solidFill>
                <a:effectLst/>
              </a:rPr>
              <a:t>(“Play”); // return -1</a:t>
            </a:r>
          </a:p>
          <a:p>
            <a:pPr algn="l" fontAlgn="base"/>
            <a:endParaRPr lang="en-IN" sz="2000" dirty="0">
              <a:solidFill>
                <a:schemeClr val="tx1"/>
              </a:solidFill>
              <a:effectLst/>
            </a:endParaRPr>
          </a:p>
          <a:p>
            <a:pPr algn="l" fontAlgn="base"/>
            <a:r>
              <a:rPr lang="en-IN" sz="2000" b="1" i="0" dirty="0">
                <a:solidFill>
                  <a:schemeClr val="tx1"/>
                </a:solidFill>
                <a:effectLst/>
                <a:latin typeface="Nunito" pitchFamily="2" charset="77"/>
              </a:rPr>
              <a:t>9. </a:t>
            </a:r>
            <a:r>
              <a:rPr lang="en-IN" sz="20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boolean equals( Object otherObj)</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Compares this string to the specified object.</a:t>
            </a:r>
          </a:p>
          <a:p>
            <a:pPr algn="l" fontAlgn="base"/>
            <a:r>
              <a:rPr lang="en-IN" sz="2000" dirty="0">
                <a:solidFill>
                  <a:schemeClr val="tx1"/>
                </a:solidFill>
                <a:effectLst/>
              </a:rPr>
              <a:t>Boolean out = “</a:t>
            </a:r>
            <a:r>
              <a:rPr lang="en-IN" sz="2000" dirty="0" err="1">
                <a:solidFill>
                  <a:schemeClr val="tx1"/>
                </a:solidFill>
                <a:effectLst/>
              </a:rPr>
              <a:t>Geeks”.equals</a:t>
            </a:r>
            <a:r>
              <a:rPr lang="en-IN" sz="2000" dirty="0">
                <a:solidFill>
                  <a:schemeClr val="tx1"/>
                </a:solidFill>
                <a:effectLst/>
              </a:rPr>
              <a:t>(“Geeks”); // returns true</a:t>
            </a:r>
            <a:br>
              <a:rPr lang="en-IN" sz="2000" dirty="0">
                <a:solidFill>
                  <a:schemeClr val="tx1"/>
                </a:solidFill>
              </a:rPr>
            </a:br>
            <a:r>
              <a:rPr lang="en-IN" sz="2000" dirty="0">
                <a:solidFill>
                  <a:schemeClr val="tx1"/>
                </a:solidFill>
                <a:effectLst/>
              </a:rPr>
              <a:t>Boolean out = “</a:t>
            </a:r>
            <a:r>
              <a:rPr lang="en-IN" sz="2000" dirty="0" err="1">
                <a:solidFill>
                  <a:schemeClr val="tx1"/>
                </a:solidFill>
                <a:effectLst/>
              </a:rPr>
              <a:t>Geeks”.equals</a:t>
            </a:r>
            <a:r>
              <a:rPr lang="en-IN" sz="2000" dirty="0">
                <a:solidFill>
                  <a:schemeClr val="tx1"/>
                </a:solidFill>
                <a:effectLst/>
              </a:rPr>
              <a:t>(“geeks”); // returns false</a:t>
            </a:r>
            <a:br>
              <a:rPr lang="en-IN" sz="2000" dirty="0">
                <a:solidFill>
                  <a:schemeClr val="tx1"/>
                </a:solidFill>
              </a:rPr>
            </a:br>
            <a:endParaRPr lang="en-US" sz="20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722640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10. </a:t>
            </a:r>
            <a:r>
              <a:rPr lang="en-IN" sz="20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boolean  equalsIgnoreCase (String anotherString)</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Compares string to another string, ignoring case considerations.</a:t>
            </a:r>
          </a:p>
          <a:p>
            <a:pPr algn="l" fontAlgn="base"/>
            <a:r>
              <a:rPr lang="en-IN" sz="2000" dirty="0">
                <a:solidFill>
                  <a:schemeClr val="tx1"/>
                </a:solidFill>
                <a:effectLst/>
              </a:rPr>
              <a:t>Boolean out= “Geeks”.</a:t>
            </a:r>
            <a:r>
              <a:rPr lang="en-IN" sz="2000" dirty="0" err="1">
                <a:solidFill>
                  <a:schemeClr val="tx1"/>
                </a:solidFill>
                <a:effectLst/>
              </a:rPr>
              <a:t>equalsIgnoreCase</a:t>
            </a:r>
            <a:r>
              <a:rPr lang="en-IN" sz="2000" dirty="0">
                <a:solidFill>
                  <a:schemeClr val="tx1"/>
                </a:solidFill>
                <a:effectLst/>
              </a:rPr>
              <a:t>(“Geeks”); // returns true</a:t>
            </a:r>
            <a:br>
              <a:rPr lang="en-IN" sz="2000" dirty="0">
                <a:solidFill>
                  <a:schemeClr val="tx1"/>
                </a:solidFill>
              </a:rPr>
            </a:br>
            <a:r>
              <a:rPr lang="en-IN" sz="2000" dirty="0">
                <a:solidFill>
                  <a:schemeClr val="tx1"/>
                </a:solidFill>
                <a:effectLst/>
              </a:rPr>
              <a:t>Boolean out = “Geeks”.</a:t>
            </a:r>
            <a:r>
              <a:rPr lang="en-IN" sz="2000" dirty="0" err="1">
                <a:solidFill>
                  <a:schemeClr val="tx1"/>
                </a:solidFill>
                <a:effectLst/>
              </a:rPr>
              <a:t>equalsIgnoreCase</a:t>
            </a:r>
            <a:r>
              <a:rPr lang="en-IN" sz="2000" dirty="0">
                <a:solidFill>
                  <a:schemeClr val="tx1"/>
                </a:solidFill>
                <a:effectLst/>
              </a:rPr>
              <a:t>(“geeks”); // returns true</a:t>
            </a:r>
            <a:br>
              <a:rPr lang="en-IN" sz="2000" dirty="0">
                <a:solidFill>
                  <a:schemeClr val="tx1"/>
                </a:solidFill>
              </a:rPr>
            </a:br>
            <a:endParaRPr lang="en-IN" sz="2000" dirty="0">
              <a:solidFill>
                <a:schemeClr val="tx1"/>
              </a:solidFill>
            </a:endParaRPr>
          </a:p>
          <a:p>
            <a:pPr algn="l" fontAlgn="base"/>
            <a:r>
              <a:rPr lang="en-IN" sz="20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11. int compareTo( String anotherString)</a:t>
            </a:r>
            <a:r>
              <a:rPr lang="en-IN" sz="2000" b="1" i="0" dirty="0">
                <a:solidFill>
                  <a:schemeClr val="tx1"/>
                </a:solidFill>
                <a:effectLst/>
                <a:latin typeface="Nunito" pitchFamily="2" charset="77"/>
              </a:rPr>
              <a:t> </a:t>
            </a:r>
          </a:p>
          <a:p>
            <a:pPr algn="l" rtl="0" fontAlgn="base"/>
            <a:r>
              <a:rPr lang="en-IN" sz="2000" b="0" i="0" dirty="0">
                <a:solidFill>
                  <a:schemeClr val="tx1"/>
                </a:solidFill>
                <a:effectLst/>
                <a:latin typeface="Nunito" pitchFamily="2" charset="77"/>
              </a:rPr>
              <a:t>Compares two string lexicographically.</a:t>
            </a:r>
          </a:p>
          <a:p>
            <a:pPr algn="l" fontAlgn="base"/>
            <a:r>
              <a:rPr lang="en-IN" sz="2000" dirty="0">
                <a:solidFill>
                  <a:schemeClr val="tx1"/>
                </a:solidFill>
                <a:effectLst/>
              </a:rPr>
              <a:t>int out = s1.compareTo(s2);  </a:t>
            </a:r>
            <a:br>
              <a:rPr lang="en-IN" sz="2000" dirty="0">
                <a:solidFill>
                  <a:schemeClr val="tx1"/>
                </a:solidFill>
              </a:rPr>
            </a:br>
            <a:r>
              <a:rPr lang="en-IN" sz="2000" dirty="0">
                <a:solidFill>
                  <a:schemeClr val="tx1"/>
                </a:solidFill>
                <a:effectLst/>
              </a:rPr>
              <a:t>// where s1 and s2 are</a:t>
            </a:r>
            <a:br>
              <a:rPr lang="en-IN" sz="2000" dirty="0">
                <a:solidFill>
                  <a:schemeClr val="tx1"/>
                </a:solidFill>
              </a:rPr>
            </a:br>
            <a:r>
              <a:rPr lang="en-IN" sz="2000" dirty="0">
                <a:solidFill>
                  <a:schemeClr val="tx1"/>
                </a:solidFill>
                <a:effectLst/>
              </a:rPr>
              <a:t>// strings to be compared</a:t>
            </a:r>
            <a:br>
              <a:rPr lang="en-IN" sz="2000" dirty="0">
                <a:solidFill>
                  <a:schemeClr val="tx1"/>
                </a:solidFill>
              </a:rPr>
            </a:br>
            <a:r>
              <a:rPr lang="en-IN" sz="2000" dirty="0">
                <a:solidFill>
                  <a:schemeClr val="tx1"/>
                </a:solidFill>
                <a:effectLst/>
              </a:rPr>
              <a:t>This returns difference s1-s2. If :</a:t>
            </a:r>
            <a:br>
              <a:rPr lang="en-IN" sz="2000" dirty="0">
                <a:solidFill>
                  <a:schemeClr val="tx1"/>
                </a:solidFill>
              </a:rPr>
            </a:br>
            <a:r>
              <a:rPr lang="en-IN" sz="2000" dirty="0">
                <a:solidFill>
                  <a:schemeClr val="tx1"/>
                </a:solidFill>
                <a:effectLst/>
              </a:rPr>
              <a:t>out &lt; 0 // s1 comes before s2</a:t>
            </a:r>
            <a:br>
              <a:rPr lang="en-IN" sz="2000" dirty="0">
                <a:solidFill>
                  <a:schemeClr val="tx1"/>
                </a:solidFill>
              </a:rPr>
            </a:br>
            <a:r>
              <a:rPr lang="en-IN" sz="2000" dirty="0">
                <a:solidFill>
                  <a:schemeClr val="tx1"/>
                </a:solidFill>
                <a:effectLst/>
              </a:rPr>
              <a:t>out = 0 // s1 and s2 are equal.</a:t>
            </a:r>
            <a:br>
              <a:rPr lang="en-IN" sz="2000" dirty="0">
                <a:solidFill>
                  <a:schemeClr val="tx1"/>
                </a:solidFill>
              </a:rPr>
            </a:br>
            <a:r>
              <a:rPr lang="en-IN" sz="2000" dirty="0">
                <a:solidFill>
                  <a:schemeClr val="tx1"/>
                </a:solidFill>
                <a:effectLst/>
              </a:rPr>
              <a:t>out &gt; 0 // s1 comes after s2.</a:t>
            </a:r>
            <a:endParaRPr lang="en-IN" sz="20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576707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12. </a:t>
            </a:r>
            <a:r>
              <a:rPr lang="en-IN" sz="20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int compareToIgnoreCase( String anotherString) </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Compares two string lexicographically, ignoring case considerations.</a:t>
            </a:r>
          </a:p>
          <a:p>
            <a:pPr rtl="0" fontAlgn="base"/>
            <a:r>
              <a:rPr lang="en-IN" sz="2000" dirty="0">
                <a:solidFill>
                  <a:schemeClr val="tx1"/>
                </a:solidFill>
                <a:effectLst/>
              </a:rPr>
              <a:t>int out = s1.compareToIgnoreCase(s2);  </a:t>
            </a:r>
            <a:br>
              <a:rPr lang="en-IN" sz="2000" dirty="0">
                <a:solidFill>
                  <a:schemeClr val="tx1"/>
                </a:solidFill>
              </a:rPr>
            </a:br>
            <a:r>
              <a:rPr lang="en-IN" sz="2000" dirty="0">
                <a:solidFill>
                  <a:schemeClr val="tx1"/>
                </a:solidFill>
                <a:effectLst/>
              </a:rPr>
              <a:t>// where s1 and s2 are </a:t>
            </a:r>
            <a:br>
              <a:rPr lang="en-IN" sz="2000" dirty="0">
                <a:solidFill>
                  <a:schemeClr val="tx1"/>
                </a:solidFill>
              </a:rPr>
            </a:br>
            <a:r>
              <a:rPr lang="en-IN" sz="2000" dirty="0">
                <a:solidFill>
                  <a:schemeClr val="tx1"/>
                </a:solidFill>
                <a:effectLst/>
              </a:rPr>
              <a:t>// strings to be compared</a:t>
            </a:r>
            <a:br>
              <a:rPr lang="en-IN" sz="2000" dirty="0">
                <a:solidFill>
                  <a:schemeClr val="tx1"/>
                </a:solidFill>
              </a:rPr>
            </a:br>
            <a:r>
              <a:rPr lang="en-IN" sz="2000" dirty="0">
                <a:solidFill>
                  <a:schemeClr val="tx1"/>
                </a:solidFill>
                <a:effectLst/>
              </a:rPr>
              <a:t>This returns difference s1-s2. If :</a:t>
            </a:r>
            <a:br>
              <a:rPr lang="en-IN" sz="2000" dirty="0">
                <a:solidFill>
                  <a:schemeClr val="tx1"/>
                </a:solidFill>
              </a:rPr>
            </a:br>
            <a:r>
              <a:rPr lang="en-IN" sz="2000" dirty="0">
                <a:solidFill>
                  <a:schemeClr val="tx1"/>
                </a:solidFill>
                <a:effectLst/>
              </a:rPr>
              <a:t>out &lt; 0 // s1 comes before s2</a:t>
            </a:r>
            <a:br>
              <a:rPr lang="en-IN" sz="2000" dirty="0">
                <a:solidFill>
                  <a:schemeClr val="tx1"/>
                </a:solidFill>
              </a:rPr>
            </a:br>
            <a:r>
              <a:rPr lang="en-IN" sz="2000" dirty="0">
                <a:solidFill>
                  <a:schemeClr val="tx1"/>
                </a:solidFill>
                <a:effectLst/>
              </a:rPr>
              <a:t>out = 0 // s1 and s2 are equal.</a:t>
            </a:r>
            <a:br>
              <a:rPr lang="en-IN" sz="2000" dirty="0">
                <a:solidFill>
                  <a:schemeClr val="tx1"/>
                </a:solidFill>
              </a:rPr>
            </a:br>
            <a:r>
              <a:rPr lang="en-IN" sz="2000" dirty="0">
                <a:solidFill>
                  <a:schemeClr val="tx1"/>
                </a:solidFill>
                <a:effectLst/>
              </a:rPr>
              <a:t>out &gt; 0 // s1 comes after s2.</a:t>
            </a:r>
            <a:br>
              <a:rPr lang="en-IN" sz="2000" dirty="0">
                <a:solidFill>
                  <a:schemeClr val="tx1"/>
                </a:solidFill>
              </a:rPr>
            </a:br>
            <a:r>
              <a:rPr lang="en-IN" sz="2000" b="1" i="1" dirty="0">
                <a:solidFill>
                  <a:schemeClr val="tx1"/>
                </a:solidFill>
                <a:effectLst/>
              </a:rPr>
              <a:t>Note:</a:t>
            </a:r>
            <a:r>
              <a:rPr lang="en-IN" sz="2000" i="1" dirty="0">
                <a:solidFill>
                  <a:schemeClr val="tx1"/>
                </a:solidFill>
                <a:effectLst/>
              </a:rPr>
              <a:t> In this case, it will not consider case of a letter (it will ignore whether it is uppercase or lowercase).</a:t>
            </a:r>
            <a:endParaRPr lang="en-IN" sz="2000" dirty="0">
              <a:solidFill>
                <a:schemeClr val="tx1"/>
              </a:solidFill>
              <a:effectLst/>
            </a:endParaRPr>
          </a:p>
          <a:p>
            <a:pPr algn="l" fontAlgn="base"/>
            <a:r>
              <a:rPr lang="en-IN" sz="2000" b="1" i="0" dirty="0">
                <a:solidFill>
                  <a:schemeClr val="tx1"/>
                </a:solidFill>
                <a:effectLst/>
                <a:latin typeface="Nunito" pitchFamily="2" charset="77"/>
              </a:rPr>
              <a:t>13. </a:t>
            </a:r>
            <a:r>
              <a:rPr lang="en-IN" sz="20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String toLowerCase()</a:t>
            </a:r>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Converts all the characters in the String to lower case.</a:t>
            </a:r>
          </a:p>
          <a:p>
            <a:pPr algn="l" fontAlgn="base"/>
            <a:r>
              <a:rPr lang="en-IN" sz="2000" dirty="0">
                <a:solidFill>
                  <a:schemeClr val="tx1"/>
                </a:solidFill>
                <a:effectLst/>
              </a:rPr>
              <a:t>String word1 = “</a:t>
            </a:r>
            <a:r>
              <a:rPr lang="en-IN" sz="2000" dirty="0" err="1">
                <a:solidFill>
                  <a:schemeClr val="tx1"/>
                </a:solidFill>
                <a:effectLst/>
              </a:rPr>
              <a:t>HeLLo</a:t>
            </a:r>
            <a:r>
              <a:rPr lang="en-IN" sz="2000" dirty="0">
                <a:solidFill>
                  <a:schemeClr val="tx1"/>
                </a:solidFill>
                <a:effectLst/>
              </a:rPr>
              <a:t>”;</a:t>
            </a:r>
            <a:br>
              <a:rPr lang="en-IN" sz="2000" dirty="0">
                <a:solidFill>
                  <a:schemeClr val="tx1"/>
                </a:solidFill>
              </a:rPr>
            </a:br>
            <a:r>
              <a:rPr lang="en-IN" sz="2000" dirty="0">
                <a:solidFill>
                  <a:schemeClr val="tx1"/>
                </a:solidFill>
                <a:effectLst/>
              </a:rPr>
              <a:t>String word3 = word1.toLowerCase(); // returns “hello"</a:t>
            </a:r>
            <a:br>
              <a:rPr lang="en-IN" sz="2000" dirty="0">
                <a:solidFill>
                  <a:schemeClr val="tx1"/>
                </a:solidFill>
              </a:rPr>
            </a:br>
            <a:endParaRPr lang="en-US" sz="20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604012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400" b="1" i="0" dirty="0">
                <a:solidFill>
                  <a:schemeClr val="tx1"/>
                </a:solidFill>
                <a:effectLst/>
                <a:latin typeface="Nunito" pitchFamily="2" charset="77"/>
              </a:rPr>
              <a:t>14. </a:t>
            </a:r>
            <a:r>
              <a:rPr lang="en-IN" sz="24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String toUpperCase()</a:t>
            </a:r>
            <a:endParaRPr lang="en-IN" sz="2400" b="1" i="0" dirty="0">
              <a:solidFill>
                <a:schemeClr val="tx1"/>
              </a:solidFill>
              <a:effectLst/>
              <a:latin typeface="Nunito" pitchFamily="2" charset="77"/>
            </a:endParaRPr>
          </a:p>
          <a:p>
            <a:pPr algn="l" rtl="0" fontAlgn="base"/>
            <a:r>
              <a:rPr lang="en-IN" sz="2400" b="0" i="0" dirty="0">
                <a:solidFill>
                  <a:schemeClr val="tx1"/>
                </a:solidFill>
                <a:effectLst/>
                <a:latin typeface="Nunito" pitchFamily="2" charset="77"/>
              </a:rPr>
              <a:t>Converts all the characters in the String to upper case.</a:t>
            </a:r>
          </a:p>
          <a:p>
            <a:pPr algn="l" fontAlgn="base"/>
            <a:r>
              <a:rPr lang="en-IN" sz="2400" dirty="0">
                <a:solidFill>
                  <a:schemeClr val="tx1"/>
                </a:solidFill>
                <a:effectLst/>
              </a:rPr>
              <a:t>String word1 = “</a:t>
            </a:r>
            <a:r>
              <a:rPr lang="en-IN" sz="2400" dirty="0" err="1">
                <a:solidFill>
                  <a:schemeClr val="tx1"/>
                </a:solidFill>
                <a:effectLst/>
              </a:rPr>
              <a:t>HeLLo</a:t>
            </a:r>
            <a:r>
              <a:rPr lang="en-IN" sz="2400" dirty="0">
                <a:solidFill>
                  <a:schemeClr val="tx1"/>
                </a:solidFill>
                <a:effectLst/>
              </a:rPr>
              <a:t>”;</a:t>
            </a:r>
            <a:br>
              <a:rPr lang="en-IN" sz="2400" dirty="0">
                <a:solidFill>
                  <a:schemeClr val="tx1"/>
                </a:solidFill>
              </a:rPr>
            </a:br>
            <a:r>
              <a:rPr lang="en-IN" sz="2400" dirty="0">
                <a:solidFill>
                  <a:schemeClr val="tx1"/>
                </a:solidFill>
                <a:effectLst/>
              </a:rPr>
              <a:t>String word2 = word1.toUpperCase(); // returns “HELLO”</a:t>
            </a:r>
            <a:br>
              <a:rPr lang="en-IN" sz="2400" dirty="0">
                <a:solidFill>
                  <a:schemeClr val="tx1"/>
                </a:solidFill>
              </a:rPr>
            </a:br>
            <a:endParaRPr lang="en-IN" sz="2400" dirty="0">
              <a:solidFill>
                <a:schemeClr val="tx1"/>
              </a:solidFill>
            </a:endParaRPr>
          </a:p>
          <a:p>
            <a:pPr algn="l" fontAlgn="base"/>
            <a:r>
              <a:rPr lang="en-IN" sz="2400" b="1" i="0" dirty="0">
                <a:solidFill>
                  <a:schemeClr val="tx1"/>
                </a:solidFill>
                <a:effectLst/>
                <a:latin typeface="Nunito" pitchFamily="2" charset="77"/>
              </a:rPr>
              <a:t>15. </a:t>
            </a:r>
            <a:r>
              <a:rPr lang="en-IN" sz="24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String trim()</a:t>
            </a:r>
            <a:endParaRPr lang="en-IN" sz="2400" b="1" i="0" dirty="0">
              <a:solidFill>
                <a:schemeClr val="tx1"/>
              </a:solidFill>
              <a:effectLst/>
              <a:latin typeface="Nunito" pitchFamily="2" charset="77"/>
            </a:endParaRPr>
          </a:p>
          <a:p>
            <a:pPr algn="l" rtl="0" fontAlgn="base"/>
            <a:r>
              <a:rPr lang="en-IN" sz="2400" b="0" i="0" dirty="0">
                <a:solidFill>
                  <a:schemeClr val="tx1"/>
                </a:solidFill>
                <a:effectLst/>
                <a:latin typeface="Nunito" pitchFamily="2" charset="77"/>
              </a:rPr>
              <a:t>Returns the copy of the String, by removing whitespaces at both ends. It does not affect whitespaces in the middle.</a:t>
            </a:r>
          </a:p>
          <a:p>
            <a:pPr algn="l" fontAlgn="base"/>
            <a:r>
              <a:rPr lang="en-IN" sz="2400" dirty="0">
                <a:solidFill>
                  <a:schemeClr val="tx1"/>
                </a:solidFill>
                <a:effectLst/>
              </a:rPr>
              <a:t>String word1 = “ Learn Share Learn “;</a:t>
            </a:r>
            <a:br>
              <a:rPr lang="en-IN" sz="2400" dirty="0">
                <a:solidFill>
                  <a:schemeClr val="tx1"/>
                </a:solidFill>
              </a:rPr>
            </a:br>
            <a:r>
              <a:rPr lang="en-IN" sz="2400" dirty="0">
                <a:solidFill>
                  <a:schemeClr val="tx1"/>
                </a:solidFill>
                <a:effectLst/>
              </a:rPr>
              <a:t>String word2 = word1.trim(); // returns “Learn Share Learn”</a:t>
            </a:r>
            <a:endParaRPr lang="en-IN" sz="24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14517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400" b="1" i="0" dirty="0">
                <a:solidFill>
                  <a:schemeClr val="tx1"/>
                </a:solidFill>
                <a:effectLst/>
                <a:latin typeface="Nunito" pitchFamily="2" charset="77"/>
              </a:rPr>
              <a:t>16.</a:t>
            </a:r>
            <a:r>
              <a:rPr lang="en-IN" sz="2400" b="1"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 String replace (char oldChar, char newChar)</a:t>
            </a:r>
            <a:endParaRPr lang="en-IN" sz="2400" b="1" i="0" dirty="0">
              <a:solidFill>
                <a:schemeClr val="tx1"/>
              </a:solidFill>
              <a:effectLst/>
              <a:latin typeface="Nunito" pitchFamily="2" charset="77"/>
            </a:endParaRPr>
          </a:p>
          <a:p>
            <a:pPr algn="l" rtl="0" fontAlgn="base"/>
            <a:r>
              <a:rPr lang="en-IN" sz="2400" b="0" i="0" dirty="0">
                <a:solidFill>
                  <a:schemeClr val="tx1"/>
                </a:solidFill>
                <a:effectLst/>
                <a:latin typeface="Nunito" pitchFamily="2" charset="77"/>
              </a:rPr>
              <a:t>Returns new string by replacing all occurrences of </a:t>
            </a:r>
            <a:r>
              <a:rPr lang="en-IN" sz="2400" b="0" i="1" dirty="0" err="1">
                <a:solidFill>
                  <a:schemeClr val="tx1"/>
                </a:solidFill>
                <a:effectLst/>
                <a:latin typeface="Nunito" pitchFamily="2" charset="77"/>
              </a:rPr>
              <a:t>oldChar</a:t>
            </a:r>
            <a:r>
              <a:rPr lang="en-IN" sz="2400" b="0" i="1" dirty="0">
                <a:solidFill>
                  <a:schemeClr val="tx1"/>
                </a:solidFill>
                <a:effectLst/>
                <a:latin typeface="Nunito" pitchFamily="2" charset="77"/>
              </a:rPr>
              <a:t> </a:t>
            </a:r>
            <a:r>
              <a:rPr lang="en-IN" sz="2400" b="0" i="0" dirty="0">
                <a:solidFill>
                  <a:schemeClr val="tx1"/>
                </a:solidFill>
                <a:effectLst/>
                <a:latin typeface="Nunito" pitchFamily="2" charset="77"/>
              </a:rPr>
              <a:t>with </a:t>
            </a:r>
            <a:r>
              <a:rPr lang="en-IN" sz="2400" b="0" i="1" dirty="0" err="1">
                <a:solidFill>
                  <a:schemeClr val="tx1"/>
                </a:solidFill>
                <a:effectLst/>
                <a:latin typeface="Nunito" pitchFamily="2" charset="77"/>
              </a:rPr>
              <a:t>newChar</a:t>
            </a:r>
            <a:r>
              <a:rPr lang="en-IN" sz="2400" b="0" i="1" dirty="0">
                <a:solidFill>
                  <a:schemeClr val="tx1"/>
                </a:solidFill>
                <a:effectLst/>
                <a:latin typeface="Nunito" pitchFamily="2" charset="77"/>
              </a:rPr>
              <a:t>.</a:t>
            </a:r>
            <a:endParaRPr lang="en-IN" sz="2400" b="0" i="0" dirty="0">
              <a:solidFill>
                <a:schemeClr val="tx1"/>
              </a:solidFill>
              <a:effectLst/>
              <a:latin typeface="Nunito" pitchFamily="2" charset="77"/>
            </a:endParaRPr>
          </a:p>
          <a:p>
            <a:pPr rtl="0" fontAlgn="base"/>
            <a:r>
              <a:rPr lang="en-IN" sz="2400" dirty="0">
                <a:solidFill>
                  <a:schemeClr val="tx1"/>
                </a:solidFill>
                <a:effectLst/>
              </a:rPr>
              <a:t>String s1 = “</a:t>
            </a:r>
            <a:r>
              <a:rPr lang="en-IN" sz="2400" dirty="0" err="1">
                <a:solidFill>
                  <a:schemeClr val="tx1"/>
                </a:solidFill>
                <a:effectLst/>
              </a:rPr>
              <a:t>feeksforfeeks</a:t>
            </a:r>
            <a:r>
              <a:rPr lang="en-IN" sz="2400" dirty="0">
                <a:solidFill>
                  <a:schemeClr val="tx1"/>
                </a:solidFill>
                <a:effectLst/>
              </a:rPr>
              <a:t>“;</a:t>
            </a:r>
            <a:br>
              <a:rPr lang="en-IN" sz="2400" dirty="0">
                <a:solidFill>
                  <a:schemeClr val="tx1"/>
                </a:solidFill>
              </a:rPr>
            </a:br>
            <a:r>
              <a:rPr lang="en-IN" sz="2400" dirty="0">
                <a:solidFill>
                  <a:schemeClr val="tx1"/>
                </a:solidFill>
                <a:effectLst/>
              </a:rPr>
              <a:t>String s2 = “</a:t>
            </a:r>
            <a:r>
              <a:rPr lang="en-IN" sz="2400" dirty="0" err="1">
                <a:solidFill>
                  <a:schemeClr val="tx1"/>
                </a:solidFill>
                <a:effectLst/>
              </a:rPr>
              <a:t>feeksforfeeks</a:t>
            </a:r>
            <a:r>
              <a:rPr lang="en-IN" sz="2400" dirty="0">
                <a:solidFill>
                  <a:schemeClr val="tx1"/>
                </a:solidFill>
                <a:effectLst/>
              </a:rPr>
              <a:t>”.replace(‘f’ ,’g’); // return “</a:t>
            </a:r>
            <a:r>
              <a:rPr lang="en-IN" sz="2400" dirty="0" err="1">
                <a:solidFill>
                  <a:schemeClr val="tx1"/>
                </a:solidFill>
                <a:effectLst/>
              </a:rPr>
              <a:t>geeksforgeeks</a:t>
            </a:r>
            <a:r>
              <a:rPr lang="en-IN" sz="2400" dirty="0">
                <a:solidFill>
                  <a:schemeClr val="tx1"/>
                </a:solidFill>
                <a:effectLst/>
              </a:rPr>
              <a:t>”</a:t>
            </a:r>
            <a:br>
              <a:rPr lang="en-IN" sz="2400" dirty="0">
                <a:solidFill>
                  <a:schemeClr val="tx1"/>
                </a:solidFill>
              </a:rPr>
            </a:br>
            <a:r>
              <a:rPr lang="en-IN" sz="2400" b="1" i="1" dirty="0">
                <a:solidFill>
                  <a:schemeClr val="tx1"/>
                </a:solidFill>
                <a:effectLst/>
              </a:rPr>
              <a:t>Note:</a:t>
            </a:r>
            <a:r>
              <a:rPr lang="en-IN" sz="2400" i="1" dirty="0">
                <a:solidFill>
                  <a:schemeClr val="tx1"/>
                </a:solidFill>
                <a:effectLst/>
              </a:rPr>
              <a:t> s1 is still </a:t>
            </a:r>
            <a:r>
              <a:rPr lang="en-IN" sz="2400" i="1" dirty="0" err="1">
                <a:solidFill>
                  <a:schemeClr val="tx1"/>
                </a:solidFill>
                <a:effectLst/>
              </a:rPr>
              <a:t>feeksforfeeks</a:t>
            </a:r>
            <a:r>
              <a:rPr lang="en-IN" sz="2400" i="1" dirty="0">
                <a:solidFill>
                  <a:schemeClr val="tx1"/>
                </a:solidFill>
                <a:effectLst/>
              </a:rPr>
              <a:t> and s2 is </a:t>
            </a:r>
            <a:r>
              <a:rPr lang="en-IN" sz="2400" i="1" dirty="0" err="1">
                <a:solidFill>
                  <a:schemeClr val="tx1"/>
                </a:solidFill>
                <a:effectLst/>
              </a:rPr>
              <a:t>geeksgorgeeks</a:t>
            </a:r>
            <a:endParaRPr lang="en-IN" sz="2400" dirty="0">
              <a:solidFill>
                <a:schemeClr val="tx1"/>
              </a:solidFill>
              <a:effectLst/>
            </a:endParaRPr>
          </a:p>
          <a:p>
            <a:pPr algn="l" fontAlgn="base"/>
            <a:r>
              <a:rPr lang="en-IN" sz="2400" b="1" i="0" dirty="0">
                <a:solidFill>
                  <a:schemeClr val="tx1"/>
                </a:solidFill>
                <a:effectLst/>
                <a:latin typeface="Nunito" pitchFamily="2" charset="77"/>
              </a:rPr>
              <a:t>17. </a:t>
            </a:r>
            <a:r>
              <a:rPr lang="en-IN" sz="2400" b="1"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boolean contains(CharSequence sequence)</a:t>
            </a:r>
            <a:endParaRPr lang="en-IN" sz="2400" b="1" i="0" dirty="0">
              <a:solidFill>
                <a:schemeClr val="tx1"/>
              </a:solidFill>
              <a:effectLst/>
              <a:latin typeface="Nunito" pitchFamily="2" charset="77"/>
            </a:endParaRPr>
          </a:p>
          <a:p>
            <a:pPr algn="l" fontAlgn="base"/>
            <a:r>
              <a:rPr lang="en-IN" sz="2400" b="1" i="0" dirty="0">
                <a:solidFill>
                  <a:schemeClr val="tx1"/>
                </a:solidFill>
                <a:effectLst/>
                <a:latin typeface="Nunito" pitchFamily="2" charset="77"/>
              </a:rPr>
              <a:t>Returns true if string contains contains the given string</a:t>
            </a:r>
          </a:p>
          <a:p>
            <a:pPr algn="l" fontAlgn="base"/>
            <a:r>
              <a:rPr lang="en-IN" sz="2400" dirty="0">
                <a:solidFill>
                  <a:schemeClr val="tx1"/>
                </a:solidFill>
                <a:effectLst/>
              </a:rPr>
              <a:t>String s1="</a:t>
            </a:r>
            <a:r>
              <a:rPr lang="en-IN" sz="2400" dirty="0" err="1">
                <a:solidFill>
                  <a:schemeClr val="tx1"/>
                </a:solidFill>
                <a:effectLst/>
              </a:rPr>
              <a:t>geeksforgeeks</a:t>
            </a:r>
            <a:r>
              <a:rPr lang="en-IN" sz="2400" dirty="0">
                <a:solidFill>
                  <a:schemeClr val="tx1"/>
                </a:solidFill>
                <a:effectLst/>
              </a:rPr>
              <a:t>";</a:t>
            </a:r>
            <a:br>
              <a:rPr lang="en-IN" sz="2400" dirty="0">
                <a:solidFill>
                  <a:schemeClr val="tx1"/>
                </a:solidFill>
              </a:rPr>
            </a:br>
            <a:r>
              <a:rPr lang="en-IN" sz="2400" dirty="0">
                <a:solidFill>
                  <a:schemeClr val="tx1"/>
                </a:solidFill>
                <a:effectLst/>
              </a:rPr>
              <a:t>String s2="geeks";</a:t>
            </a:r>
            <a:br>
              <a:rPr lang="en-IN" sz="2400" dirty="0">
                <a:solidFill>
                  <a:schemeClr val="tx1"/>
                </a:solidFill>
              </a:rPr>
            </a:br>
            <a:r>
              <a:rPr lang="en-IN" sz="2400" dirty="0">
                <a:solidFill>
                  <a:schemeClr val="tx1"/>
                </a:solidFill>
                <a:effectLst/>
              </a:rPr>
              <a:t>s1.contains(s2) // return true</a:t>
            </a:r>
            <a:endParaRPr lang="en-US" sz="24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20294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C45A-426A-8DDA-1413-C9DCDD4621FD}"/>
              </a:ext>
            </a:extLst>
          </p:cNvPr>
          <p:cNvSpPr>
            <a:spLocks noGrp="1"/>
          </p:cNvSpPr>
          <p:nvPr>
            <p:ph type="title"/>
          </p:nvPr>
        </p:nvSpPr>
        <p:spPr/>
        <p:txBody>
          <a:bodyPr/>
          <a:lstStyle/>
          <a:p>
            <a:r>
              <a:rPr lang="en-US" dirty="0"/>
              <a:t>Different Methods in String</a:t>
            </a:r>
          </a:p>
        </p:txBody>
      </p:sp>
      <p:sp>
        <p:nvSpPr>
          <p:cNvPr id="3" name="Content Placeholder 2">
            <a:extLst>
              <a:ext uri="{FF2B5EF4-FFF2-40B4-BE49-F238E27FC236}">
                <a16:creationId xmlns:a16="http://schemas.microsoft.com/office/drawing/2014/main" id="{56174495-9F9F-392F-322B-9A790D38B2F0}"/>
              </a:ext>
            </a:extLst>
          </p:cNvPr>
          <p:cNvSpPr>
            <a:spLocks noGrp="1"/>
          </p:cNvSpPr>
          <p:nvPr>
            <p:ph idx="1"/>
          </p:nvPr>
        </p:nvSpPr>
        <p:spPr/>
        <p:txBody>
          <a:bodyPr/>
          <a:lstStyle/>
          <a:p>
            <a:pPr algn="l" fontAlgn="base"/>
            <a:r>
              <a:rPr lang="en-IN" sz="2800" b="1" i="0" dirty="0">
                <a:solidFill>
                  <a:schemeClr val="tx1"/>
                </a:solidFill>
                <a:effectLst/>
                <a:latin typeface="Nunito" pitchFamily="2" charset="77"/>
              </a:rPr>
              <a:t>18. </a:t>
            </a:r>
            <a:r>
              <a:rPr lang="en-IN" sz="2800" b="0" i="0" u="sng"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Char[] toCharArray():</a:t>
            </a:r>
            <a:endParaRPr lang="en-IN" sz="2800" b="1" i="0" dirty="0">
              <a:solidFill>
                <a:schemeClr val="tx1"/>
              </a:solidFill>
              <a:effectLst/>
              <a:latin typeface="Nunito" pitchFamily="2" charset="77"/>
            </a:endParaRPr>
          </a:p>
          <a:p>
            <a:pPr algn="l" rtl="0" fontAlgn="base"/>
            <a:r>
              <a:rPr lang="en-IN" sz="2800" b="0" i="0" dirty="0">
                <a:solidFill>
                  <a:schemeClr val="tx1"/>
                </a:solidFill>
                <a:effectLst/>
                <a:latin typeface="Nunito" pitchFamily="2" charset="77"/>
              </a:rPr>
              <a:t>Converts this String to a new character array.</a:t>
            </a:r>
          </a:p>
          <a:p>
            <a:pPr algn="l" fontAlgn="base"/>
            <a:r>
              <a:rPr lang="en-IN" sz="2800" dirty="0">
                <a:solidFill>
                  <a:schemeClr val="tx1"/>
                </a:solidFill>
                <a:effectLst/>
              </a:rPr>
              <a:t>String s1="</a:t>
            </a:r>
            <a:r>
              <a:rPr lang="en-IN" sz="2800" dirty="0" err="1">
                <a:solidFill>
                  <a:schemeClr val="tx1"/>
                </a:solidFill>
                <a:effectLst/>
              </a:rPr>
              <a:t>geeksforgeeks</a:t>
            </a:r>
            <a:r>
              <a:rPr lang="en-IN" sz="2800" dirty="0">
                <a:solidFill>
                  <a:schemeClr val="tx1"/>
                </a:solidFill>
                <a:effectLst/>
              </a:rPr>
              <a:t>";</a:t>
            </a:r>
            <a:br>
              <a:rPr lang="en-IN" sz="2800" dirty="0">
                <a:solidFill>
                  <a:schemeClr val="tx1"/>
                </a:solidFill>
              </a:rPr>
            </a:br>
            <a:r>
              <a:rPr lang="en-IN" sz="2800" dirty="0">
                <a:solidFill>
                  <a:schemeClr val="tx1"/>
                </a:solidFill>
                <a:effectLst/>
              </a:rPr>
              <a:t>char []</a:t>
            </a:r>
            <a:r>
              <a:rPr lang="en-IN" sz="2800" dirty="0" err="1">
                <a:solidFill>
                  <a:schemeClr val="tx1"/>
                </a:solidFill>
                <a:effectLst/>
              </a:rPr>
              <a:t>ch</a:t>
            </a:r>
            <a:r>
              <a:rPr lang="en-IN" sz="2800" dirty="0">
                <a:solidFill>
                  <a:schemeClr val="tx1"/>
                </a:solidFill>
                <a:effectLst/>
              </a:rPr>
              <a:t>=s1.toCharArray(); // returns [ 'g', 'e' , 'e' , 'k' , 's' , 'f', 'o', 'r' , 'g' , 'e' , 'e' , 'k' ,'s' ]</a:t>
            </a:r>
            <a:br>
              <a:rPr lang="en-IN" sz="2800" dirty="0">
                <a:solidFill>
                  <a:schemeClr val="tx1"/>
                </a:solidFill>
              </a:rPr>
            </a:br>
            <a:r>
              <a:rPr lang="en-IN" sz="2800" b="1" i="0" dirty="0">
                <a:solidFill>
                  <a:schemeClr val="tx1"/>
                </a:solidFill>
                <a:effectLst/>
                <a:latin typeface="Nunito" pitchFamily="2" charset="77"/>
              </a:rPr>
              <a:t>19.</a:t>
            </a:r>
            <a:r>
              <a:rPr lang="en-IN" sz="2800" b="0" i="0" u="sng" dirty="0">
                <a:solidFill>
                  <a:schemeClr val="tx1"/>
                </a:solidFill>
                <a:effectLst/>
                <a:latin typeface="Nunito" pitchFamily="2" charset="77"/>
                <a:hlinkClick r:id="rId3">
                  <a:extLst>
                    <a:ext uri="{A12FA001-AC4F-418D-AE19-62706E023703}">
                      <ahyp:hlinkClr xmlns:ahyp="http://schemas.microsoft.com/office/drawing/2018/hyperlinkcolor" val="tx"/>
                    </a:ext>
                  </a:extLst>
                </a:hlinkClick>
              </a:rPr>
              <a:t> boolean startsWith(String prefix)</a:t>
            </a:r>
            <a:endParaRPr lang="en-IN" sz="2800" b="1" i="0" dirty="0">
              <a:solidFill>
                <a:schemeClr val="tx1"/>
              </a:solidFill>
              <a:effectLst/>
              <a:latin typeface="Nunito" pitchFamily="2" charset="77"/>
            </a:endParaRPr>
          </a:p>
          <a:p>
            <a:pPr algn="l" rtl="0" fontAlgn="base"/>
            <a:r>
              <a:rPr lang="en-IN" sz="2800" b="0" i="0" dirty="0">
                <a:solidFill>
                  <a:schemeClr val="tx1"/>
                </a:solidFill>
                <a:effectLst/>
                <a:latin typeface="Nunito" pitchFamily="2" charset="77"/>
              </a:rPr>
              <a:t>Return true if string starts with this prefix.</a:t>
            </a:r>
          </a:p>
          <a:p>
            <a:r>
              <a:rPr lang="en-IN" sz="2800" dirty="0">
                <a:solidFill>
                  <a:schemeClr val="tx1"/>
                </a:solidFill>
                <a:effectLst/>
              </a:rPr>
              <a:t>String s1="</a:t>
            </a:r>
            <a:r>
              <a:rPr lang="en-IN" sz="2800" dirty="0" err="1">
                <a:solidFill>
                  <a:schemeClr val="tx1"/>
                </a:solidFill>
                <a:effectLst/>
              </a:rPr>
              <a:t>geeksforgeeks</a:t>
            </a:r>
            <a:r>
              <a:rPr lang="en-IN" sz="2800" dirty="0">
                <a:solidFill>
                  <a:schemeClr val="tx1"/>
                </a:solidFill>
                <a:effectLst/>
              </a:rPr>
              <a:t>";</a:t>
            </a:r>
            <a:br>
              <a:rPr lang="en-IN" sz="2800" dirty="0">
                <a:solidFill>
                  <a:schemeClr val="tx1"/>
                </a:solidFill>
              </a:rPr>
            </a:br>
            <a:r>
              <a:rPr lang="en-IN" sz="2800" dirty="0">
                <a:solidFill>
                  <a:schemeClr val="tx1"/>
                </a:solidFill>
                <a:effectLst/>
              </a:rPr>
              <a:t>String s2="geeks";</a:t>
            </a:r>
            <a:br>
              <a:rPr lang="en-IN" sz="2800" dirty="0">
                <a:solidFill>
                  <a:schemeClr val="tx1"/>
                </a:solidFill>
              </a:rPr>
            </a:br>
            <a:r>
              <a:rPr lang="en-IN" sz="2800" dirty="0">
                <a:solidFill>
                  <a:schemeClr val="tx1"/>
                </a:solidFill>
                <a:effectLst/>
              </a:rPr>
              <a:t>s1.startsWith(s2) // return true</a:t>
            </a:r>
            <a:endParaRPr lang="en-US" sz="2800" dirty="0">
              <a:solidFill>
                <a:schemeClr val="tx1"/>
              </a:solidFill>
            </a:endParaRPr>
          </a:p>
        </p:txBody>
      </p:sp>
      <p:sp>
        <p:nvSpPr>
          <p:cNvPr id="4" name="Footer Placeholder 3">
            <a:extLst>
              <a:ext uri="{FF2B5EF4-FFF2-40B4-BE49-F238E27FC236}">
                <a16:creationId xmlns:a16="http://schemas.microsoft.com/office/drawing/2014/main" id="{F7D4A843-2829-19F6-B1AE-DADCC9F795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79885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0C9B2-F161-7112-6D43-EDC305AEF4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240765-AE26-6F02-95C6-0BBC52D55EE7}"/>
              </a:ext>
            </a:extLst>
          </p:cNvPr>
          <p:cNvSpPr>
            <a:spLocks noGrp="1"/>
          </p:cNvSpPr>
          <p:nvPr>
            <p:ph idx="1"/>
          </p:nvPr>
        </p:nvSpPr>
        <p:spPr/>
        <p:txBody>
          <a:bodyPr/>
          <a:lstStyle/>
          <a:p>
            <a:pPr algn="l" fontAlgn="base">
              <a:buFont typeface="Arial" panose="020B0604020202020204" pitchFamily="34" charset="0"/>
              <a:buChar char="•"/>
            </a:pPr>
            <a:r>
              <a:rPr lang="en-IN" sz="2400" b="0" i="0" dirty="0" err="1">
                <a:solidFill>
                  <a:schemeClr val="tx1"/>
                </a:solidFill>
                <a:effectLst/>
                <a:latin typeface="Nunito" pitchFamily="2" charset="77"/>
              </a:rPr>
              <a:t>StringBuffer</a:t>
            </a:r>
            <a:r>
              <a:rPr lang="en-IN" sz="2400" b="0" i="0" dirty="0">
                <a:solidFill>
                  <a:schemeClr val="tx1"/>
                </a:solidFill>
                <a:effectLst/>
                <a:latin typeface="Nunito" pitchFamily="2" charset="77"/>
              </a:rPr>
              <a:t> objects are mutable, meaning that you can change the contents of the buffer without creating a new object.</a:t>
            </a:r>
          </a:p>
          <a:p>
            <a:pPr algn="l" fontAlgn="base">
              <a:buFont typeface="Arial" panose="020B0604020202020204" pitchFamily="34" charset="0"/>
              <a:buChar char="•"/>
            </a:pPr>
            <a:r>
              <a:rPr lang="en-IN" sz="2400" b="0" i="0" dirty="0">
                <a:solidFill>
                  <a:schemeClr val="tx1"/>
                </a:solidFill>
                <a:effectLst/>
                <a:latin typeface="Nunito" pitchFamily="2" charset="77"/>
              </a:rPr>
              <a:t>The initial capacity of a </a:t>
            </a:r>
            <a:r>
              <a:rPr lang="en-IN" sz="2400" b="0" i="0" dirty="0" err="1">
                <a:solidFill>
                  <a:schemeClr val="tx1"/>
                </a:solidFill>
                <a:effectLst/>
                <a:latin typeface="Nunito" pitchFamily="2" charset="77"/>
              </a:rPr>
              <a:t>StringBuffer</a:t>
            </a:r>
            <a:r>
              <a:rPr lang="en-IN" sz="2400" b="0" i="0" dirty="0">
                <a:solidFill>
                  <a:schemeClr val="tx1"/>
                </a:solidFill>
                <a:effectLst/>
                <a:latin typeface="Nunito" pitchFamily="2" charset="77"/>
              </a:rPr>
              <a:t> can be specified when it is created, or it can be set later with the </a:t>
            </a:r>
            <a:r>
              <a:rPr lang="en-IN" sz="2400" b="0" i="0" dirty="0" err="1">
                <a:solidFill>
                  <a:schemeClr val="tx1"/>
                </a:solidFill>
                <a:effectLst/>
                <a:latin typeface="Nunito" pitchFamily="2" charset="77"/>
              </a:rPr>
              <a:t>ensureCapacity</a:t>
            </a:r>
            <a:r>
              <a:rPr lang="en-IN" sz="2400" b="0" i="0" dirty="0">
                <a:solidFill>
                  <a:schemeClr val="tx1"/>
                </a:solidFill>
                <a:effectLst/>
                <a:latin typeface="Nunito" pitchFamily="2" charset="77"/>
              </a:rPr>
              <a:t>() method.</a:t>
            </a:r>
          </a:p>
          <a:p>
            <a:pPr algn="l" fontAlgn="base">
              <a:buFont typeface="Arial" panose="020B0604020202020204" pitchFamily="34" charset="0"/>
              <a:buChar char="•"/>
            </a:pPr>
            <a:r>
              <a:rPr lang="en-IN" sz="2400" b="0" i="0" dirty="0">
                <a:solidFill>
                  <a:schemeClr val="tx1"/>
                </a:solidFill>
                <a:effectLst/>
                <a:latin typeface="Nunito" pitchFamily="2" charset="77"/>
              </a:rPr>
              <a:t>The append() method is used to add characters, strings, or other objects to the end of the buffer.</a:t>
            </a:r>
          </a:p>
          <a:p>
            <a:pPr algn="l" fontAlgn="base">
              <a:buFont typeface="Arial" panose="020B0604020202020204" pitchFamily="34" charset="0"/>
              <a:buChar char="•"/>
            </a:pPr>
            <a:r>
              <a:rPr lang="en-IN" sz="2400" b="0" i="0" dirty="0">
                <a:solidFill>
                  <a:schemeClr val="tx1"/>
                </a:solidFill>
                <a:effectLst/>
                <a:latin typeface="Nunito" pitchFamily="2" charset="77"/>
              </a:rPr>
              <a:t>The insert() method is used to insert characters, strings, or other objects at a specified position in the buffer.</a:t>
            </a:r>
          </a:p>
          <a:p>
            <a:pPr algn="l" fontAlgn="base">
              <a:buFont typeface="Arial" panose="020B0604020202020204" pitchFamily="34" charset="0"/>
              <a:buChar char="•"/>
            </a:pPr>
            <a:r>
              <a:rPr lang="en-IN" sz="2400" b="0" i="0" dirty="0">
                <a:solidFill>
                  <a:schemeClr val="tx1"/>
                </a:solidFill>
                <a:effectLst/>
                <a:latin typeface="Nunito" pitchFamily="2" charset="77"/>
              </a:rPr>
              <a:t>The delete() method is used to remove characters from the buffer.</a:t>
            </a:r>
          </a:p>
          <a:p>
            <a:pPr algn="l" fontAlgn="base">
              <a:buFont typeface="Arial" panose="020B0604020202020204" pitchFamily="34" charset="0"/>
              <a:buChar char="•"/>
            </a:pPr>
            <a:r>
              <a:rPr lang="en-IN" sz="2400" b="0" i="0" dirty="0">
                <a:solidFill>
                  <a:schemeClr val="tx1"/>
                </a:solidFill>
                <a:effectLst/>
                <a:latin typeface="Nunito" pitchFamily="2" charset="77"/>
              </a:rPr>
              <a:t>The reverse() method is used to reverse the order of the characters in the buffer.</a:t>
            </a:r>
          </a:p>
        </p:txBody>
      </p:sp>
      <p:sp>
        <p:nvSpPr>
          <p:cNvPr id="4" name="Footer Placeholder 3">
            <a:extLst>
              <a:ext uri="{FF2B5EF4-FFF2-40B4-BE49-F238E27FC236}">
                <a16:creationId xmlns:a16="http://schemas.microsoft.com/office/drawing/2014/main" id="{AD3DEEED-368E-E523-E71E-639D1A78A0E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98575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9F300-F0B6-78AD-9FA1-2C64D8E0BB58}"/>
              </a:ext>
            </a:extLst>
          </p:cNvPr>
          <p:cNvSpPr>
            <a:spLocks noGrp="1"/>
          </p:cNvSpPr>
          <p:nvPr>
            <p:ph type="title"/>
          </p:nvPr>
        </p:nvSpPr>
        <p:spPr/>
        <p:txBody>
          <a:bodyPr/>
          <a:lstStyle/>
          <a:p>
            <a:r>
              <a:rPr lang="en-US" dirty="0"/>
              <a:t>Constructor of StringBuilder</a:t>
            </a:r>
          </a:p>
        </p:txBody>
      </p:sp>
      <p:sp>
        <p:nvSpPr>
          <p:cNvPr id="3" name="Content Placeholder 2">
            <a:extLst>
              <a:ext uri="{FF2B5EF4-FFF2-40B4-BE49-F238E27FC236}">
                <a16:creationId xmlns:a16="http://schemas.microsoft.com/office/drawing/2014/main" id="{2DC910F1-08E7-D8B6-894A-AC5F4C54F315}"/>
              </a:ext>
            </a:extLst>
          </p:cNvPr>
          <p:cNvSpPr>
            <a:spLocks noGrp="1"/>
          </p:cNvSpPr>
          <p:nvPr>
            <p:ph idx="1"/>
          </p:nvPr>
        </p:nvSpPr>
        <p:spPr/>
        <p:txBody>
          <a:bodyPr/>
          <a:lstStyle/>
          <a:p>
            <a:pPr algn="l" fontAlgn="base">
              <a:buFont typeface="Arial" panose="020B0604020202020204" pitchFamily="34" charset="0"/>
              <a:buChar char="•"/>
            </a:pPr>
            <a:r>
              <a:rPr lang="en-IN" sz="2400" b="1" i="0" dirty="0" err="1">
                <a:solidFill>
                  <a:schemeClr val="tx1"/>
                </a:solidFill>
                <a:effectLst/>
                <a:latin typeface="Nunito" pitchFamily="2" charset="77"/>
              </a:rPr>
              <a:t>StringBuffer</a:t>
            </a:r>
            <a:r>
              <a:rPr lang="en-IN" sz="2400" b="1" i="0" dirty="0">
                <a:solidFill>
                  <a:schemeClr val="tx1"/>
                </a:solidFill>
                <a:effectLst/>
                <a:latin typeface="Nunito" pitchFamily="2" charset="77"/>
              </a:rPr>
              <a:t>()</a:t>
            </a:r>
            <a:r>
              <a:rPr lang="en-IN" sz="2400" b="0" i="0" dirty="0">
                <a:solidFill>
                  <a:schemeClr val="tx1"/>
                </a:solidFill>
                <a:effectLst/>
                <a:latin typeface="Nunito" pitchFamily="2" charset="77"/>
              </a:rPr>
              <a:t>: creates an empty string buffer with an initial capacity of 16.</a:t>
            </a:r>
          </a:p>
          <a:p>
            <a:pPr algn="l" fontAlgn="base">
              <a:buFont typeface="Arial" panose="020B0604020202020204" pitchFamily="34" charset="0"/>
              <a:buChar char="•"/>
            </a:pPr>
            <a:endParaRPr lang="en-IN" sz="2400" b="1" i="0" dirty="0">
              <a:solidFill>
                <a:schemeClr val="tx1"/>
              </a:solidFill>
              <a:effectLst/>
              <a:latin typeface="Nunito" pitchFamily="2" charset="77"/>
            </a:endParaRPr>
          </a:p>
          <a:p>
            <a:pPr algn="l" fontAlgn="base">
              <a:buFont typeface="Arial" panose="020B0604020202020204" pitchFamily="34" charset="0"/>
              <a:buChar char="•"/>
            </a:pPr>
            <a:r>
              <a:rPr lang="en-IN" sz="2400" b="1" i="0" dirty="0" err="1">
                <a:solidFill>
                  <a:schemeClr val="tx1"/>
                </a:solidFill>
                <a:effectLst/>
                <a:latin typeface="Nunito" pitchFamily="2" charset="77"/>
              </a:rPr>
              <a:t>StringBuffer</a:t>
            </a:r>
            <a:r>
              <a:rPr lang="en-IN" sz="2400" b="1" i="0" dirty="0">
                <a:solidFill>
                  <a:schemeClr val="tx1"/>
                </a:solidFill>
                <a:effectLst/>
                <a:latin typeface="Nunito" pitchFamily="2" charset="77"/>
              </a:rPr>
              <a:t>(String str)</a:t>
            </a:r>
            <a:r>
              <a:rPr lang="en-IN" sz="2400" b="0" i="0" dirty="0">
                <a:solidFill>
                  <a:schemeClr val="tx1"/>
                </a:solidFill>
                <a:effectLst/>
                <a:latin typeface="Nunito" pitchFamily="2" charset="77"/>
              </a:rPr>
              <a:t>: creates a string buffer with the specified string.</a:t>
            </a:r>
          </a:p>
          <a:p>
            <a:pPr algn="l" fontAlgn="base">
              <a:buFont typeface="Arial" panose="020B0604020202020204" pitchFamily="34" charset="0"/>
              <a:buChar char="•"/>
            </a:pPr>
            <a:endParaRPr lang="en-IN" sz="2400" b="1" i="0" dirty="0">
              <a:solidFill>
                <a:schemeClr val="tx1"/>
              </a:solidFill>
              <a:effectLst/>
              <a:latin typeface="Nunito" pitchFamily="2" charset="77"/>
            </a:endParaRPr>
          </a:p>
          <a:p>
            <a:pPr algn="l" fontAlgn="base">
              <a:buFont typeface="Arial" panose="020B0604020202020204" pitchFamily="34" charset="0"/>
              <a:buChar char="•"/>
            </a:pPr>
            <a:r>
              <a:rPr lang="en-IN" sz="2400" b="1" i="0" dirty="0" err="1">
                <a:solidFill>
                  <a:schemeClr val="tx1"/>
                </a:solidFill>
                <a:effectLst/>
                <a:latin typeface="Nunito" pitchFamily="2" charset="77"/>
              </a:rPr>
              <a:t>StringBuffer</a:t>
            </a:r>
            <a:r>
              <a:rPr lang="en-IN" sz="2400" b="1" i="0" dirty="0">
                <a:solidFill>
                  <a:schemeClr val="tx1"/>
                </a:solidFill>
                <a:effectLst/>
                <a:latin typeface="Nunito" pitchFamily="2" charset="77"/>
              </a:rPr>
              <a:t>(int capacity)</a:t>
            </a:r>
            <a:r>
              <a:rPr lang="en-IN" sz="2400" b="0" i="0" dirty="0">
                <a:solidFill>
                  <a:schemeClr val="tx1"/>
                </a:solidFill>
                <a:effectLst/>
                <a:latin typeface="Nunito" pitchFamily="2" charset="77"/>
              </a:rPr>
              <a:t>: creates an empty string buffer with the specified capacity as length.</a:t>
            </a:r>
          </a:p>
          <a:p>
            <a:endParaRPr lang="en-US" sz="2400" dirty="0">
              <a:solidFill>
                <a:schemeClr val="tx1"/>
              </a:solidFill>
            </a:endParaRPr>
          </a:p>
        </p:txBody>
      </p:sp>
      <p:sp>
        <p:nvSpPr>
          <p:cNvPr id="4" name="Footer Placeholder 3">
            <a:extLst>
              <a:ext uri="{FF2B5EF4-FFF2-40B4-BE49-F238E27FC236}">
                <a16:creationId xmlns:a16="http://schemas.microsoft.com/office/drawing/2014/main" id="{6D20BF9C-7F91-BD57-B4F4-7A930751EF1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652742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84D85-A360-1997-CC43-4766D6848918}"/>
              </a:ext>
            </a:extLst>
          </p:cNvPr>
          <p:cNvSpPr>
            <a:spLocks noGrp="1"/>
          </p:cNvSpPr>
          <p:nvPr>
            <p:ph type="title"/>
          </p:nvPr>
        </p:nvSpPr>
        <p:spPr/>
        <p:txBody>
          <a:bodyPr/>
          <a:lstStyle/>
          <a:p>
            <a:r>
              <a:rPr lang="en-US" dirty="0" err="1"/>
              <a:t>StringBuffer</a:t>
            </a:r>
            <a:r>
              <a:rPr lang="en-US" dirty="0"/>
              <a:t> Methods</a:t>
            </a:r>
          </a:p>
        </p:txBody>
      </p:sp>
      <p:sp>
        <p:nvSpPr>
          <p:cNvPr id="3" name="Content Placeholder 2">
            <a:extLst>
              <a:ext uri="{FF2B5EF4-FFF2-40B4-BE49-F238E27FC236}">
                <a16:creationId xmlns:a16="http://schemas.microsoft.com/office/drawing/2014/main" id="{546CB681-62DE-159B-7426-CE45C5D11558}"/>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1. append() method</a:t>
            </a:r>
          </a:p>
          <a:p>
            <a:pPr algn="l" rtl="0" fontAlgn="base"/>
            <a:r>
              <a:rPr lang="en-IN" sz="2000" b="0" i="0" dirty="0">
                <a:solidFill>
                  <a:schemeClr val="tx1"/>
                </a:solidFill>
                <a:effectLst/>
                <a:latin typeface="Nunito" pitchFamily="2" charset="77"/>
              </a:rPr>
              <a:t>The append() method concatenates the given argument with this string.</a:t>
            </a:r>
          </a:p>
          <a:p>
            <a:r>
              <a:rPr lang="en-IN" sz="2000" dirty="0" err="1">
                <a:solidFill>
                  <a:schemeClr val="tx1"/>
                </a:solidFill>
                <a:effectLst/>
              </a:rPr>
              <a:t>StringBuffer</a:t>
            </a:r>
            <a:r>
              <a:rPr lang="en-IN" sz="2000" dirty="0">
                <a:solidFill>
                  <a:schemeClr val="tx1"/>
                </a:solidFill>
                <a:effectLst/>
              </a:rPr>
              <a:t> </a:t>
            </a:r>
            <a:r>
              <a:rPr lang="en-IN" sz="2000" dirty="0" err="1">
                <a:solidFill>
                  <a:schemeClr val="tx1"/>
                </a:solidFill>
                <a:effectLst/>
              </a:rPr>
              <a:t>sb</a:t>
            </a:r>
            <a:r>
              <a:rPr lang="en-IN" sz="2000" dirty="0">
                <a:solidFill>
                  <a:schemeClr val="tx1"/>
                </a:solidFill>
                <a:effectLst/>
              </a:rPr>
              <a:t> = </a:t>
            </a:r>
            <a:r>
              <a:rPr lang="en-IN" sz="2000" b="1" dirty="0">
                <a:solidFill>
                  <a:schemeClr val="tx1"/>
                </a:solidFill>
                <a:effectLst/>
              </a:rPr>
              <a:t>new</a:t>
            </a:r>
            <a:r>
              <a:rPr lang="en-IN" sz="2000" dirty="0">
                <a:solidFill>
                  <a:schemeClr val="tx1"/>
                </a:solidFill>
                <a:effectLst/>
              </a:rPr>
              <a:t> </a:t>
            </a:r>
            <a:r>
              <a:rPr lang="en-IN" sz="2000" dirty="0" err="1">
                <a:solidFill>
                  <a:schemeClr val="tx1"/>
                </a:solidFill>
                <a:effectLst/>
              </a:rPr>
              <a:t>StringBuffer</a:t>
            </a:r>
            <a:r>
              <a:rPr lang="en-IN" sz="2000" dirty="0">
                <a:solidFill>
                  <a:schemeClr val="tx1"/>
                </a:solidFill>
                <a:effectLst/>
              </a:rPr>
              <a:t>("Hello ");</a:t>
            </a:r>
            <a:r>
              <a:rPr lang="en-IN" sz="2000" dirty="0">
                <a:solidFill>
                  <a:schemeClr val="tx1"/>
                </a:solidFill>
              </a:rPr>
              <a:t> </a:t>
            </a:r>
          </a:p>
          <a:p>
            <a:r>
              <a:rPr lang="en-IN" sz="2000" dirty="0" err="1">
                <a:solidFill>
                  <a:schemeClr val="tx1"/>
                </a:solidFill>
                <a:effectLst/>
              </a:rPr>
              <a:t>sb.append</a:t>
            </a:r>
            <a:r>
              <a:rPr lang="en-IN" sz="2000" dirty="0">
                <a:solidFill>
                  <a:schemeClr val="tx1"/>
                </a:solidFill>
                <a:effectLst/>
              </a:rPr>
              <a:t>("Java"); </a:t>
            </a:r>
            <a:r>
              <a:rPr lang="en-IN" sz="2000" i="1" dirty="0">
                <a:solidFill>
                  <a:schemeClr val="tx1"/>
                </a:solidFill>
                <a:effectLst/>
              </a:rPr>
              <a:t>// now original string is changed</a:t>
            </a:r>
            <a:r>
              <a:rPr lang="en-IN" sz="2000" dirty="0">
                <a:solidFill>
                  <a:schemeClr val="tx1"/>
                </a:solidFill>
              </a:rPr>
              <a:t> </a:t>
            </a:r>
          </a:p>
          <a:p>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a:t>
            </a:r>
            <a:r>
              <a:rPr lang="en-IN" sz="2000" dirty="0">
                <a:solidFill>
                  <a:schemeClr val="tx1"/>
                </a:solidFill>
                <a:effectLst/>
              </a:rPr>
              <a:t>);</a:t>
            </a:r>
          </a:p>
          <a:p>
            <a:pPr algn="l" fontAlgn="base"/>
            <a:r>
              <a:rPr lang="en-IN" sz="2000" b="1" i="0" dirty="0">
                <a:solidFill>
                  <a:schemeClr val="tx1"/>
                </a:solidFill>
                <a:effectLst/>
                <a:latin typeface="Nunito" pitchFamily="2" charset="77"/>
              </a:rPr>
              <a:t>2. insert() method</a:t>
            </a:r>
          </a:p>
          <a:p>
            <a:pPr algn="l" rtl="0" fontAlgn="base"/>
            <a:r>
              <a:rPr lang="en-IN" sz="2000" b="0" i="0" dirty="0">
                <a:solidFill>
                  <a:schemeClr val="tx1"/>
                </a:solidFill>
                <a:effectLst/>
                <a:latin typeface="Nunito" pitchFamily="2" charset="77"/>
              </a:rPr>
              <a:t>The insert() method inserts the given string with this string at the given position. </a:t>
            </a:r>
          </a:p>
          <a:p>
            <a:pPr algn="l" rtl="0" fontAlgn="base"/>
            <a:r>
              <a:rPr lang="en-IN" sz="2000" dirty="0" err="1">
                <a:solidFill>
                  <a:schemeClr val="tx1"/>
                </a:solidFill>
                <a:effectLst/>
              </a:rPr>
              <a:t>StringBuffer</a:t>
            </a:r>
            <a:r>
              <a:rPr lang="en-IN" sz="2000" dirty="0">
                <a:solidFill>
                  <a:schemeClr val="tx1"/>
                </a:solidFill>
                <a:effectLst/>
              </a:rPr>
              <a:t> </a:t>
            </a:r>
            <a:r>
              <a:rPr lang="en-IN" sz="2000" dirty="0" err="1">
                <a:solidFill>
                  <a:schemeClr val="tx1"/>
                </a:solidFill>
                <a:effectLst/>
              </a:rPr>
              <a:t>sb</a:t>
            </a:r>
            <a:r>
              <a:rPr lang="en-IN" sz="2000" dirty="0">
                <a:solidFill>
                  <a:schemeClr val="tx1"/>
                </a:solidFill>
                <a:effectLst/>
              </a:rPr>
              <a:t> = </a:t>
            </a:r>
            <a:r>
              <a:rPr lang="en-IN" sz="2000" b="1" dirty="0">
                <a:solidFill>
                  <a:schemeClr val="tx1"/>
                </a:solidFill>
                <a:effectLst/>
              </a:rPr>
              <a:t>new</a:t>
            </a:r>
            <a:r>
              <a:rPr lang="en-IN" sz="2000" dirty="0">
                <a:solidFill>
                  <a:schemeClr val="tx1"/>
                </a:solidFill>
                <a:effectLst/>
              </a:rPr>
              <a:t> </a:t>
            </a:r>
            <a:r>
              <a:rPr lang="en-IN" sz="2000" dirty="0" err="1">
                <a:solidFill>
                  <a:schemeClr val="tx1"/>
                </a:solidFill>
                <a:effectLst/>
              </a:rPr>
              <a:t>StringBuffer</a:t>
            </a:r>
            <a:r>
              <a:rPr lang="en-IN" sz="2000" dirty="0">
                <a:solidFill>
                  <a:schemeClr val="tx1"/>
                </a:solidFill>
                <a:effectLst/>
              </a:rPr>
              <a:t>("Hello ");</a:t>
            </a:r>
            <a:r>
              <a:rPr lang="en-IN" sz="2000" dirty="0">
                <a:solidFill>
                  <a:schemeClr val="tx1"/>
                </a:solidFill>
              </a:rPr>
              <a:t> </a:t>
            </a:r>
            <a:r>
              <a:rPr lang="en-IN" sz="2000" dirty="0" err="1">
                <a:solidFill>
                  <a:schemeClr val="tx1"/>
                </a:solidFill>
                <a:effectLst/>
              </a:rPr>
              <a:t>sb.insert</a:t>
            </a:r>
            <a:r>
              <a:rPr lang="en-IN" sz="2000" dirty="0">
                <a:solidFill>
                  <a:schemeClr val="tx1"/>
                </a:solidFill>
                <a:effectLst/>
              </a:rPr>
              <a:t>(1, "Java");</a:t>
            </a:r>
            <a:r>
              <a:rPr lang="en-IN" sz="2000" dirty="0">
                <a:solidFill>
                  <a:schemeClr val="tx1"/>
                </a:solidFill>
              </a:rPr>
              <a:t> </a:t>
            </a:r>
            <a:r>
              <a:rPr lang="en-IN" sz="2000" i="1" dirty="0">
                <a:solidFill>
                  <a:schemeClr val="tx1"/>
                </a:solidFill>
                <a:effectLst/>
              </a:rPr>
              <a:t>// Now original string is changed</a:t>
            </a:r>
            <a:r>
              <a:rPr lang="en-IN" sz="2000" dirty="0">
                <a:solidFill>
                  <a:schemeClr val="tx1"/>
                </a:solidFill>
              </a:rPr>
              <a:t> </a:t>
            </a:r>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a:t>
            </a:r>
            <a:r>
              <a:rPr lang="en-IN" sz="2000" dirty="0">
                <a:solidFill>
                  <a:schemeClr val="tx1"/>
                </a:solidFill>
                <a:effectLst/>
              </a:rPr>
              <a:t>);</a:t>
            </a:r>
            <a:endParaRPr lang="en-IN" sz="2000" b="0" i="0" dirty="0">
              <a:solidFill>
                <a:schemeClr val="tx1"/>
              </a:solidFill>
              <a:effectLst/>
              <a:latin typeface="Nunito" pitchFamily="2" charset="77"/>
            </a:endParaRPr>
          </a:p>
          <a:p>
            <a:endParaRPr lang="en-US" sz="2000" dirty="0">
              <a:solidFill>
                <a:schemeClr val="tx1"/>
              </a:solidFill>
            </a:endParaRPr>
          </a:p>
        </p:txBody>
      </p:sp>
      <p:sp>
        <p:nvSpPr>
          <p:cNvPr id="4" name="Footer Placeholder 3">
            <a:extLst>
              <a:ext uri="{FF2B5EF4-FFF2-40B4-BE49-F238E27FC236}">
                <a16:creationId xmlns:a16="http://schemas.microsoft.com/office/drawing/2014/main" id="{309DEFF0-4AEA-6238-50E0-13461953283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70388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0D52-8A8D-EF36-871B-EFC7F4754EDF}"/>
              </a:ext>
            </a:extLst>
          </p:cNvPr>
          <p:cNvSpPr>
            <a:spLocks noGrp="1"/>
          </p:cNvSpPr>
          <p:nvPr>
            <p:ph type="title"/>
          </p:nvPr>
        </p:nvSpPr>
        <p:spPr/>
        <p:txBody>
          <a:bodyPr/>
          <a:lstStyle/>
          <a:p>
            <a:r>
              <a:rPr lang="en-US" dirty="0" err="1"/>
              <a:t>StringBuffer</a:t>
            </a:r>
            <a:r>
              <a:rPr lang="en-US" dirty="0"/>
              <a:t> Methods</a:t>
            </a:r>
          </a:p>
        </p:txBody>
      </p:sp>
      <p:sp>
        <p:nvSpPr>
          <p:cNvPr id="3" name="Content Placeholder 2">
            <a:extLst>
              <a:ext uri="{FF2B5EF4-FFF2-40B4-BE49-F238E27FC236}">
                <a16:creationId xmlns:a16="http://schemas.microsoft.com/office/drawing/2014/main" id="{6395208C-FA63-2825-335B-0A964C73591D}"/>
              </a:ext>
            </a:extLst>
          </p:cNvPr>
          <p:cNvSpPr>
            <a:spLocks noGrp="1"/>
          </p:cNvSpPr>
          <p:nvPr>
            <p:ph idx="1"/>
          </p:nvPr>
        </p:nvSpPr>
        <p:spPr/>
        <p:txBody>
          <a:bodyPr/>
          <a:lstStyle/>
          <a:p>
            <a:pPr algn="l" fontAlgn="base"/>
            <a:r>
              <a:rPr lang="en-IN" sz="2400" b="1" i="0" dirty="0">
                <a:solidFill>
                  <a:schemeClr val="tx1"/>
                </a:solidFill>
                <a:effectLst/>
                <a:latin typeface="Nunito" pitchFamily="2" charset="77"/>
              </a:rPr>
              <a:t>3. replace() method</a:t>
            </a:r>
          </a:p>
          <a:p>
            <a:pPr algn="l" rtl="0" fontAlgn="base"/>
            <a:r>
              <a:rPr lang="en-IN" sz="2400" b="0" i="0" dirty="0">
                <a:solidFill>
                  <a:schemeClr val="tx1"/>
                </a:solidFill>
                <a:effectLst/>
                <a:latin typeface="Nunito" pitchFamily="2" charset="77"/>
              </a:rPr>
              <a:t>The replace() method replaces the given string from the specified </a:t>
            </a:r>
            <a:r>
              <a:rPr lang="en-IN" sz="2400" b="0" i="0" dirty="0" err="1">
                <a:solidFill>
                  <a:schemeClr val="tx1"/>
                </a:solidFill>
                <a:effectLst/>
                <a:latin typeface="Nunito" pitchFamily="2" charset="77"/>
              </a:rPr>
              <a:t>beginIndex</a:t>
            </a:r>
            <a:r>
              <a:rPr lang="en-IN" sz="2400" b="0" i="0" dirty="0">
                <a:solidFill>
                  <a:schemeClr val="tx1"/>
                </a:solidFill>
                <a:effectLst/>
                <a:latin typeface="Nunito" pitchFamily="2" charset="77"/>
              </a:rPr>
              <a:t> and endIndex-1.</a:t>
            </a:r>
          </a:p>
          <a:p>
            <a:r>
              <a:rPr lang="en-IN" sz="2400" dirty="0" err="1">
                <a:solidFill>
                  <a:schemeClr val="tx1"/>
                </a:solidFill>
                <a:effectLst/>
              </a:rPr>
              <a:t>StringBuffer</a:t>
            </a:r>
            <a:r>
              <a:rPr lang="en-IN" sz="2400" dirty="0">
                <a:solidFill>
                  <a:schemeClr val="tx1"/>
                </a:solidFill>
                <a:effectLst/>
              </a:rPr>
              <a:t> </a:t>
            </a:r>
            <a:r>
              <a:rPr lang="en-IN" sz="2400" dirty="0" err="1">
                <a:solidFill>
                  <a:schemeClr val="tx1"/>
                </a:solidFill>
                <a:effectLst/>
              </a:rPr>
              <a:t>sb</a:t>
            </a:r>
            <a:r>
              <a:rPr lang="en-IN" sz="2400" dirty="0">
                <a:solidFill>
                  <a:schemeClr val="tx1"/>
                </a:solidFill>
                <a:effectLst/>
              </a:rPr>
              <a:t> = </a:t>
            </a:r>
            <a:r>
              <a:rPr lang="en-IN" sz="2400" b="1" dirty="0">
                <a:solidFill>
                  <a:schemeClr val="tx1"/>
                </a:solidFill>
                <a:effectLst/>
              </a:rPr>
              <a:t>new</a:t>
            </a:r>
            <a:r>
              <a:rPr lang="en-IN" sz="2400" dirty="0">
                <a:solidFill>
                  <a:schemeClr val="tx1"/>
                </a:solidFill>
                <a:effectLst/>
              </a:rPr>
              <a:t> </a:t>
            </a:r>
            <a:r>
              <a:rPr lang="en-IN" sz="2400" dirty="0" err="1">
                <a:solidFill>
                  <a:schemeClr val="tx1"/>
                </a:solidFill>
                <a:effectLst/>
              </a:rPr>
              <a:t>StringBuffer</a:t>
            </a:r>
            <a:r>
              <a:rPr lang="en-IN" sz="2400" dirty="0">
                <a:solidFill>
                  <a:schemeClr val="tx1"/>
                </a:solidFill>
                <a:effectLst/>
              </a:rPr>
              <a:t>("Hello");</a:t>
            </a:r>
            <a:r>
              <a:rPr lang="en-IN" sz="2400" dirty="0">
                <a:solidFill>
                  <a:schemeClr val="tx1"/>
                </a:solidFill>
              </a:rPr>
              <a:t> </a:t>
            </a:r>
            <a:r>
              <a:rPr lang="en-IN" sz="2400" dirty="0" err="1">
                <a:solidFill>
                  <a:schemeClr val="tx1"/>
                </a:solidFill>
                <a:effectLst/>
              </a:rPr>
              <a:t>sb.replace</a:t>
            </a:r>
            <a:r>
              <a:rPr lang="en-IN" sz="2400" dirty="0">
                <a:solidFill>
                  <a:schemeClr val="tx1"/>
                </a:solidFill>
                <a:effectLst/>
              </a:rPr>
              <a:t>(1, 3, "Java");</a:t>
            </a:r>
            <a:r>
              <a:rPr lang="en-IN" sz="2400" dirty="0">
                <a:solidFill>
                  <a:schemeClr val="tx1"/>
                </a:solidFill>
              </a:rPr>
              <a:t> </a:t>
            </a:r>
            <a:r>
              <a:rPr lang="en-IN" sz="2400" dirty="0" err="1">
                <a:solidFill>
                  <a:schemeClr val="tx1"/>
                </a:solidFill>
                <a:effectLst/>
              </a:rPr>
              <a:t>System.out.println</a:t>
            </a:r>
            <a:r>
              <a:rPr lang="en-IN" sz="2400" dirty="0">
                <a:solidFill>
                  <a:schemeClr val="tx1"/>
                </a:solidFill>
                <a:effectLst/>
              </a:rPr>
              <a:t>(</a:t>
            </a:r>
            <a:r>
              <a:rPr lang="en-IN" sz="2400" dirty="0" err="1">
                <a:solidFill>
                  <a:schemeClr val="tx1"/>
                </a:solidFill>
                <a:effectLst/>
              </a:rPr>
              <a:t>sb</a:t>
            </a:r>
            <a:r>
              <a:rPr lang="en-IN" sz="2400" dirty="0">
                <a:solidFill>
                  <a:schemeClr val="tx1"/>
                </a:solidFill>
                <a:effectLst/>
              </a:rPr>
              <a:t>);</a:t>
            </a:r>
          </a:p>
          <a:p>
            <a:pPr algn="l" fontAlgn="base"/>
            <a:endParaRPr lang="en-IN" sz="2400" b="1" i="0" dirty="0">
              <a:solidFill>
                <a:schemeClr val="tx1"/>
              </a:solidFill>
              <a:effectLst/>
              <a:latin typeface="Nunito" pitchFamily="2" charset="77"/>
            </a:endParaRPr>
          </a:p>
          <a:p>
            <a:pPr algn="l" fontAlgn="base"/>
            <a:r>
              <a:rPr lang="en-IN" sz="2400" b="1" i="0" dirty="0">
                <a:solidFill>
                  <a:schemeClr val="tx1"/>
                </a:solidFill>
                <a:effectLst/>
                <a:latin typeface="Nunito" pitchFamily="2" charset="77"/>
              </a:rPr>
              <a:t>4. delete() method</a:t>
            </a:r>
          </a:p>
          <a:p>
            <a:pPr algn="l" rtl="0" fontAlgn="base"/>
            <a:r>
              <a:rPr lang="en-IN" sz="2400" b="0" i="0" dirty="0">
                <a:solidFill>
                  <a:schemeClr val="tx1"/>
                </a:solidFill>
                <a:effectLst/>
                <a:latin typeface="Nunito" pitchFamily="2" charset="77"/>
              </a:rPr>
              <a:t>The delete() method of the </a:t>
            </a:r>
            <a:r>
              <a:rPr lang="en-IN" sz="2400" b="0" i="0" dirty="0" err="1">
                <a:solidFill>
                  <a:schemeClr val="tx1"/>
                </a:solidFill>
                <a:effectLst/>
                <a:latin typeface="Nunito" pitchFamily="2" charset="77"/>
              </a:rPr>
              <a:t>StringBuffer</a:t>
            </a:r>
            <a:r>
              <a:rPr lang="en-IN" sz="2400" b="0" i="0" dirty="0">
                <a:solidFill>
                  <a:schemeClr val="tx1"/>
                </a:solidFill>
                <a:effectLst/>
                <a:latin typeface="Nunito" pitchFamily="2" charset="77"/>
              </a:rPr>
              <a:t> class deletes the string from the specified </a:t>
            </a:r>
            <a:r>
              <a:rPr lang="en-IN" sz="2400" b="0" i="0" dirty="0" err="1">
                <a:solidFill>
                  <a:schemeClr val="tx1"/>
                </a:solidFill>
                <a:effectLst/>
                <a:latin typeface="Nunito" pitchFamily="2" charset="77"/>
              </a:rPr>
              <a:t>beginIndex</a:t>
            </a:r>
            <a:r>
              <a:rPr lang="en-IN" sz="2400" b="0" i="0" dirty="0">
                <a:solidFill>
                  <a:schemeClr val="tx1"/>
                </a:solidFill>
                <a:effectLst/>
                <a:latin typeface="Nunito" pitchFamily="2" charset="77"/>
              </a:rPr>
              <a:t> to endIndex-1.</a:t>
            </a:r>
          </a:p>
          <a:p>
            <a:r>
              <a:rPr lang="en-IN" sz="2400" dirty="0" err="1">
                <a:solidFill>
                  <a:schemeClr val="tx1"/>
                </a:solidFill>
                <a:effectLst/>
              </a:rPr>
              <a:t>StringBuffer</a:t>
            </a:r>
            <a:r>
              <a:rPr lang="en-IN" sz="2400" dirty="0">
                <a:solidFill>
                  <a:schemeClr val="tx1"/>
                </a:solidFill>
                <a:effectLst/>
              </a:rPr>
              <a:t> </a:t>
            </a:r>
            <a:r>
              <a:rPr lang="en-IN" sz="2400" dirty="0" err="1">
                <a:solidFill>
                  <a:schemeClr val="tx1"/>
                </a:solidFill>
                <a:effectLst/>
              </a:rPr>
              <a:t>sb</a:t>
            </a:r>
            <a:r>
              <a:rPr lang="en-IN" sz="2400" dirty="0">
                <a:solidFill>
                  <a:schemeClr val="tx1"/>
                </a:solidFill>
                <a:effectLst/>
              </a:rPr>
              <a:t> = </a:t>
            </a:r>
            <a:r>
              <a:rPr lang="en-IN" sz="2400" b="1" dirty="0">
                <a:solidFill>
                  <a:schemeClr val="tx1"/>
                </a:solidFill>
                <a:effectLst/>
              </a:rPr>
              <a:t>new</a:t>
            </a:r>
            <a:r>
              <a:rPr lang="en-IN" sz="2400" dirty="0">
                <a:solidFill>
                  <a:schemeClr val="tx1"/>
                </a:solidFill>
                <a:effectLst/>
              </a:rPr>
              <a:t> </a:t>
            </a:r>
            <a:r>
              <a:rPr lang="en-IN" sz="2400" dirty="0" err="1">
                <a:solidFill>
                  <a:schemeClr val="tx1"/>
                </a:solidFill>
                <a:effectLst/>
              </a:rPr>
              <a:t>StringBuffer</a:t>
            </a:r>
            <a:r>
              <a:rPr lang="en-IN" sz="2400" dirty="0">
                <a:solidFill>
                  <a:schemeClr val="tx1"/>
                </a:solidFill>
                <a:effectLst/>
              </a:rPr>
              <a:t>("Hello");</a:t>
            </a:r>
            <a:r>
              <a:rPr lang="en-IN" sz="2400" dirty="0">
                <a:solidFill>
                  <a:schemeClr val="tx1"/>
                </a:solidFill>
              </a:rPr>
              <a:t> </a:t>
            </a:r>
            <a:r>
              <a:rPr lang="en-IN" sz="2400" dirty="0" err="1">
                <a:solidFill>
                  <a:schemeClr val="tx1"/>
                </a:solidFill>
                <a:effectLst/>
              </a:rPr>
              <a:t>sb.delete</a:t>
            </a:r>
            <a:r>
              <a:rPr lang="en-IN" sz="2400" dirty="0">
                <a:solidFill>
                  <a:schemeClr val="tx1"/>
                </a:solidFill>
                <a:effectLst/>
              </a:rPr>
              <a:t>(1, 3);</a:t>
            </a:r>
            <a:r>
              <a:rPr lang="en-IN" sz="2400" dirty="0">
                <a:solidFill>
                  <a:schemeClr val="tx1"/>
                </a:solidFill>
              </a:rPr>
              <a:t> </a:t>
            </a:r>
            <a:r>
              <a:rPr lang="en-IN" sz="2400" dirty="0" err="1">
                <a:solidFill>
                  <a:schemeClr val="tx1"/>
                </a:solidFill>
                <a:effectLst/>
              </a:rPr>
              <a:t>System.out.println</a:t>
            </a:r>
            <a:r>
              <a:rPr lang="en-IN" sz="2400" dirty="0">
                <a:solidFill>
                  <a:schemeClr val="tx1"/>
                </a:solidFill>
                <a:effectLst/>
              </a:rPr>
              <a:t>(</a:t>
            </a:r>
            <a:r>
              <a:rPr lang="en-IN" sz="2400" dirty="0" err="1">
                <a:solidFill>
                  <a:schemeClr val="tx1"/>
                </a:solidFill>
                <a:effectLst/>
              </a:rPr>
              <a:t>sb</a:t>
            </a:r>
            <a:r>
              <a:rPr lang="en-IN" sz="2400" dirty="0">
                <a:solidFill>
                  <a:schemeClr val="tx1"/>
                </a:solidFill>
                <a:effectLst/>
              </a:rPr>
              <a:t>);</a:t>
            </a:r>
            <a:endParaRPr lang="en-US" sz="2400" dirty="0">
              <a:solidFill>
                <a:schemeClr val="tx1"/>
              </a:solidFill>
            </a:endParaRPr>
          </a:p>
        </p:txBody>
      </p:sp>
      <p:sp>
        <p:nvSpPr>
          <p:cNvPr id="4" name="Footer Placeholder 3">
            <a:extLst>
              <a:ext uri="{FF2B5EF4-FFF2-40B4-BE49-F238E27FC236}">
                <a16:creationId xmlns:a16="http://schemas.microsoft.com/office/drawing/2014/main" id="{2273D03E-53A4-E034-06F2-054C133E592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31340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6A55-08C3-BF6B-E34C-1BB06319B64B}"/>
              </a:ext>
            </a:extLst>
          </p:cNvPr>
          <p:cNvSpPr>
            <a:spLocks noGrp="1"/>
          </p:cNvSpPr>
          <p:nvPr>
            <p:ph type="title"/>
          </p:nvPr>
        </p:nvSpPr>
        <p:spPr/>
        <p:txBody>
          <a:bodyPr/>
          <a:lstStyle/>
          <a:p>
            <a:r>
              <a:rPr lang="en-US" dirty="0" err="1"/>
              <a:t>StringBuffer</a:t>
            </a:r>
            <a:r>
              <a:rPr lang="en-US" dirty="0"/>
              <a:t> Methods</a:t>
            </a:r>
          </a:p>
        </p:txBody>
      </p:sp>
      <p:sp>
        <p:nvSpPr>
          <p:cNvPr id="3" name="Content Placeholder 2">
            <a:extLst>
              <a:ext uri="{FF2B5EF4-FFF2-40B4-BE49-F238E27FC236}">
                <a16:creationId xmlns:a16="http://schemas.microsoft.com/office/drawing/2014/main" id="{C7FE9866-5C40-4AD6-2D4E-E7DBD8AC64CB}"/>
              </a:ext>
            </a:extLst>
          </p:cNvPr>
          <p:cNvSpPr>
            <a:spLocks noGrp="1"/>
          </p:cNvSpPr>
          <p:nvPr>
            <p:ph idx="1"/>
          </p:nvPr>
        </p:nvSpPr>
        <p:spPr/>
        <p:txBody>
          <a:bodyPr/>
          <a:lstStyle/>
          <a:p>
            <a:pPr algn="l" fontAlgn="base"/>
            <a:r>
              <a:rPr lang="en-IN" sz="2000" b="1" i="0" dirty="0">
                <a:solidFill>
                  <a:schemeClr val="tx1"/>
                </a:solidFill>
                <a:effectLst/>
                <a:latin typeface="Nunito" pitchFamily="2" charset="77"/>
              </a:rPr>
              <a:t> 5. reverse() method</a:t>
            </a:r>
          </a:p>
          <a:p>
            <a:pPr algn="l" rtl="0" fontAlgn="base"/>
            <a:r>
              <a:rPr lang="en-IN" sz="2000" b="0" i="0" dirty="0">
                <a:solidFill>
                  <a:schemeClr val="tx1"/>
                </a:solidFill>
                <a:effectLst/>
                <a:latin typeface="Nunito" pitchFamily="2" charset="77"/>
              </a:rPr>
              <a:t>The reverse() method of the StringBuilder class reverses the current string. </a:t>
            </a:r>
          </a:p>
          <a:p>
            <a:r>
              <a:rPr lang="en-IN" sz="2000" dirty="0" err="1">
                <a:solidFill>
                  <a:schemeClr val="tx1"/>
                </a:solidFill>
                <a:effectLst/>
              </a:rPr>
              <a:t>StringBuffer</a:t>
            </a:r>
            <a:r>
              <a:rPr lang="en-IN" sz="2000" dirty="0">
                <a:solidFill>
                  <a:schemeClr val="tx1"/>
                </a:solidFill>
                <a:effectLst/>
              </a:rPr>
              <a:t> </a:t>
            </a:r>
            <a:r>
              <a:rPr lang="en-IN" sz="2000" dirty="0" err="1">
                <a:solidFill>
                  <a:schemeClr val="tx1"/>
                </a:solidFill>
                <a:effectLst/>
              </a:rPr>
              <a:t>sb</a:t>
            </a:r>
            <a:r>
              <a:rPr lang="en-IN" sz="2000" dirty="0">
                <a:solidFill>
                  <a:schemeClr val="tx1"/>
                </a:solidFill>
                <a:effectLst/>
              </a:rPr>
              <a:t> = </a:t>
            </a:r>
            <a:r>
              <a:rPr lang="en-IN" sz="2000" b="1" dirty="0">
                <a:solidFill>
                  <a:schemeClr val="tx1"/>
                </a:solidFill>
                <a:effectLst/>
              </a:rPr>
              <a:t>new</a:t>
            </a:r>
            <a:r>
              <a:rPr lang="en-IN" sz="2000" dirty="0">
                <a:solidFill>
                  <a:schemeClr val="tx1"/>
                </a:solidFill>
                <a:effectLst/>
              </a:rPr>
              <a:t> </a:t>
            </a:r>
            <a:r>
              <a:rPr lang="en-IN" sz="2000" dirty="0" err="1">
                <a:solidFill>
                  <a:schemeClr val="tx1"/>
                </a:solidFill>
                <a:effectLst/>
              </a:rPr>
              <a:t>StringBuffer</a:t>
            </a:r>
            <a:r>
              <a:rPr lang="en-IN" sz="2000" dirty="0">
                <a:solidFill>
                  <a:schemeClr val="tx1"/>
                </a:solidFill>
                <a:effectLst/>
              </a:rPr>
              <a:t>("Hello");</a:t>
            </a:r>
            <a:r>
              <a:rPr lang="en-IN" sz="2000" dirty="0">
                <a:solidFill>
                  <a:schemeClr val="tx1"/>
                </a:solidFill>
              </a:rPr>
              <a:t> </a:t>
            </a:r>
            <a:r>
              <a:rPr lang="en-IN" sz="2000" dirty="0" err="1">
                <a:solidFill>
                  <a:schemeClr val="tx1"/>
                </a:solidFill>
                <a:effectLst/>
              </a:rPr>
              <a:t>sb.reverse</a:t>
            </a:r>
            <a:r>
              <a:rPr lang="en-IN" sz="2000" dirty="0">
                <a:solidFill>
                  <a:schemeClr val="tx1"/>
                </a:solidFill>
                <a:effectLst/>
              </a:rPr>
              <a:t>();</a:t>
            </a:r>
            <a:r>
              <a:rPr lang="en-IN" sz="2000" dirty="0">
                <a:solidFill>
                  <a:schemeClr val="tx1"/>
                </a:solidFill>
              </a:rPr>
              <a:t> </a:t>
            </a:r>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a:t>
            </a:r>
            <a:r>
              <a:rPr lang="en-IN" sz="2000" dirty="0">
                <a:solidFill>
                  <a:schemeClr val="tx1"/>
                </a:solidFill>
                <a:effectLst/>
              </a:rPr>
              <a:t>);</a:t>
            </a:r>
          </a:p>
          <a:p>
            <a:pPr algn="l" fontAlgn="base"/>
            <a:r>
              <a:rPr lang="en-IN" sz="2000" b="1" i="0" dirty="0">
                <a:solidFill>
                  <a:schemeClr val="tx1"/>
                </a:solidFill>
                <a:effectLst/>
                <a:latin typeface="Nunito" pitchFamily="2" charset="77"/>
              </a:rPr>
              <a:t>6. capacity() method</a:t>
            </a:r>
          </a:p>
          <a:p>
            <a:pPr algn="l" fontAlgn="base">
              <a:buFont typeface="Arial" panose="020B0604020202020204" pitchFamily="34" charset="0"/>
              <a:buChar char="•"/>
            </a:pPr>
            <a:r>
              <a:rPr lang="en-IN" sz="2000" b="0" i="0" dirty="0">
                <a:solidFill>
                  <a:schemeClr val="tx1"/>
                </a:solidFill>
                <a:effectLst/>
                <a:latin typeface="Nunito" pitchFamily="2" charset="77"/>
              </a:rPr>
              <a:t>The capacity() method of the </a:t>
            </a:r>
            <a:r>
              <a:rPr lang="en-IN" sz="2000" b="0" i="0" dirty="0" err="1">
                <a:solidFill>
                  <a:schemeClr val="tx1"/>
                </a:solidFill>
                <a:effectLst/>
                <a:latin typeface="Nunito" pitchFamily="2" charset="77"/>
              </a:rPr>
              <a:t>StringBuffer</a:t>
            </a:r>
            <a:r>
              <a:rPr lang="en-IN" sz="2000" b="0" i="0" dirty="0">
                <a:solidFill>
                  <a:schemeClr val="tx1"/>
                </a:solidFill>
                <a:effectLst/>
                <a:latin typeface="Nunito" pitchFamily="2" charset="77"/>
              </a:rPr>
              <a:t> class returns the current capacity of the buffer. The default capacity of the buffer is 16. If the number of characters increases from its current capacity, it increases the capacity by (</a:t>
            </a:r>
            <a:r>
              <a:rPr lang="en-IN" sz="2000" b="0" i="0" dirty="0" err="1">
                <a:solidFill>
                  <a:schemeClr val="tx1"/>
                </a:solidFill>
                <a:effectLst/>
                <a:latin typeface="Nunito" pitchFamily="2" charset="77"/>
              </a:rPr>
              <a:t>oldcapacity</a:t>
            </a:r>
            <a:r>
              <a:rPr lang="en-IN" sz="2000" b="0" i="0" dirty="0">
                <a:solidFill>
                  <a:schemeClr val="tx1"/>
                </a:solidFill>
                <a:effectLst/>
                <a:latin typeface="Nunito" pitchFamily="2" charset="77"/>
              </a:rPr>
              <a:t>*2)+2.</a:t>
            </a:r>
          </a:p>
          <a:p>
            <a:pPr algn="l" fontAlgn="base">
              <a:buFont typeface="Arial" panose="020B0604020202020204" pitchFamily="34" charset="0"/>
              <a:buChar char="•"/>
            </a:pPr>
            <a:r>
              <a:rPr lang="en-IN" sz="2000" b="0" i="0" dirty="0">
                <a:solidFill>
                  <a:schemeClr val="tx1"/>
                </a:solidFill>
                <a:effectLst/>
                <a:latin typeface="Nunito" pitchFamily="2" charset="77"/>
              </a:rPr>
              <a:t>For instance, if your current capacity is 16, it will be (16*2)+2=34.</a:t>
            </a:r>
          </a:p>
          <a:p>
            <a:r>
              <a:rPr lang="en-IN" sz="2000" dirty="0" err="1">
                <a:solidFill>
                  <a:schemeClr val="tx1"/>
                </a:solidFill>
                <a:effectLst/>
              </a:rPr>
              <a:t>StringBuffer</a:t>
            </a:r>
            <a:r>
              <a:rPr lang="en-IN" sz="2000" dirty="0">
                <a:solidFill>
                  <a:schemeClr val="tx1"/>
                </a:solidFill>
                <a:effectLst/>
              </a:rPr>
              <a:t> </a:t>
            </a:r>
            <a:r>
              <a:rPr lang="en-IN" sz="2000" dirty="0" err="1">
                <a:solidFill>
                  <a:schemeClr val="tx1"/>
                </a:solidFill>
                <a:effectLst/>
              </a:rPr>
              <a:t>sb</a:t>
            </a:r>
            <a:r>
              <a:rPr lang="en-IN" sz="2000" dirty="0">
                <a:solidFill>
                  <a:schemeClr val="tx1"/>
                </a:solidFill>
                <a:effectLst/>
              </a:rPr>
              <a:t> = </a:t>
            </a:r>
            <a:r>
              <a:rPr lang="en-IN" sz="2000" b="1" dirty="0">
                <a:solidFill>
                  <a:schemeClr val="tx1"/>
                </a:solidFill>
                <a:effectLst/>
              </a:rPr>
              <a:t>new</a:t>
            </a:r>
            <a:r>
              <a:rPr lang="en-IN" sz="2000" dirty="0">
                <a:solidFill>
                  <a:schemeClr val="tx1"/>
                </a:solidFill>
                <a:effectLst/>
              </a:rPr>
              <a:t> </a:t>
            </a:r>
            <a:r>
              <a:rPr lang="en-IN" sz="2000" dirty="0" err="1">
                <a:solidFill>
                  <a:schemeClr val="tx1"/>
                </a:solidFill>
                <a:effectLst/>
              </a:rPr>
              <a:t>StringBuffer</a:t>
            </a:r>
            <a:r>
              <a:rPr lang="en-IN" sz="2000" dirty="0">
                <a:solidFill>
                  <a:schemeClr val="tx1"/>
                </a:solidFill>
                <a:effectLst/>
              </a:rPr>
              <a:t>(); </a:t>
            </a:r>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sb.capacity</a:t>
            </a:r>
            <a:r>
              <a:rPr lang="en-IN" sz="2000" dirty="0">
                <a:solidFill>
                  <a:schemeClr val="tx1"/>
                </a:solidFill>
                <a:effectLst/>
              </a:rPr>
              <a:t>()); </a:t>
            </a:r>
            <a:r>
              <a:rPr lang="en-IN" sz="2000" i="1" dirty="0">
                <a:solidFill>
                  <a:schemeClr val="tx1"/>
                </a:solidFill>
                <a:effectLst/>
              </a:rPr>
              <a:t>// default 16</a:t>
            </a:r>
            <a:r>
              <a:rPr lang="en-IN" sz="2000" dirty="0">
                <a:solidFill>
                  <a:schemeClr val="tx1"/>
                </a:solidFill>
                <a:effectLst/>
              </a:rPr>
              <a:t> </a:t>
            </a:r>
            <a:r>
              <a:rPr lang="en-IN" sz="2000" dirty="0" err="1">
                <a:solidFill>
                  <a:schemeClr val="tx1"/>
                </a:solidFill>
                <a:effectLst/>
              </a:rPr>
              <a:t>sb.append</a:t>
            </a:r>
            <a:r>
              <a:rPr lang="en-IN" sz="2000" dirty="0">
                <a:solidFill>
                  <a:schemeClr val="tx1"/>
                </a:solidFill>
                <a:effectLst/>
              </a:rPr>
              <a:t>("Hello"); </a:t>
            </a:r>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sb.capacity</a:t>
            </a:r>
            <a:r>
              <a:rPr lang="en-IN" sz="2000" dirty="0">
                <a:solidFill>
                  <a:schemeClr val="tx1"/>
                </a:solidFill>
                <a:effectLst/>
              </a:rPr>
              <a:t>()); </a:t>
            </a:r>
            <a:r>
              <a:rPr lang="en-IN" sz="2000" i="1" dirty="0">
                <a:solidFill>
                  <a:schemeClr val="tx1"/>
                </a:solidFill>
                <a:effectLst/>
              </a:rPr>
              <a:t>// now 16</a:t>
            </a:r>
            <a:r>
              <a:rPr lang="en-IN" sz="2000" dirty="0">
                <a:solidFill>
                  <a:schemeClr val="tx1"/>
                </a:solidFill>
                <a:effectLst/>
              </a:rPr>
              <a:t> </a:t>
            </a:r>
            <a:r>
              <a:rPr lang="en-IN" sz="2000" dirty="0" err="1">
                <a:solidFill>
                  <a:schemeClr val="tx1"/>
                </a:solidFill>
                <a:effectLst/>
              </a:rPr>
              <a:t>sb.append</a:t>
            </a:r>
            <a:r>
              <a:rPr lang="en-IN" sz="2000" dirty="0">
                <a:solidFill>
                  <a:schemeClr val="tx1"/>
                </a:solidFill>
                <a:effectLst/>
              </a:rPr>
              <a:t>("java is my favourite language"); </a:t>
            </a:r>
            <a:r>
              <a:rPr lang="en-IN" sz="2000" dirty="0" err="1">
                <a:solidFill>
                  <a:schemeClr val="tx1"/>
                </a:solidFill>
                <a:effectLst/>
              </a:rPr>
              <a:t>System.out.println</a:t>
            </a:r>
            <a:r>
              <a:rPr lang="en-IN" sz="2000" dirty="0">
                <a:solidFill>
                  <a:schemeClr val="tx1"/>
                </a:solidFill>
                <a:effectLst/>
              </a:rPr>
              <a:t>(</a:t>
            </a:r>
            <a:r>
              <a:rPr lang="en-IN" sz="2000" dirty="0" err="1">
                <a:solidFill>
                  <a:schemeClr val="tx1"/>
                </a:solidFill>
                <a:effectLst/>
              </a:rPr>
              <a:t>sb.capacity</a:t>
            </a:r>
            <a:r>
              <a:rPr lang="en-IN" sz="2000" dirty="0">
                <a:solidFill>
                  <a:schemeClr val="tx1"/>
                </a:solidFill>
                <a:effectLst/>
              </a:rPr>
              <a:t>()); </a:t>
            </a:r>
            <a:r>
              <a:rPr lang="en-IN" sz="2000" i="1" dirty="0">
                <a:solidFill>
                  <a:schemeClr val="tx1"/>
                </a:solidFill>
                <a:effectLst/>
              </a:rPr>
              <a:t>// Now (16*2)+2=34 </a:t>
            </a:r>
            <a:r>
              <a:rPr lang="en-IN" sz="2000" i="1" dirty="0" err="1">
                <a:solidFill>
                  <a:schemeClr val="tx1"/>
                </a:solidFill>
                <a:effectLst/>
              </a:rPr>
              <a:t>i.e</a:t>
            </a:r>
            <a:r>
              <a:rPr lang="en-IN" sz="2000" i="1" dirty="0">
                <a:solidFill>
                  <a:schemeClr val="tx1"/>
                </a:solidFill>
                <a:effectLst/>
              </a:rPr>
              <a:t> (</a:t>
            </a:r>
            <a:r>
              <a:rPr lang="en-IN" sz="2000" i="1" dirty="0" err="1">
                <a:solidFill>
                  <a:schemeClr val="tx1"/>
                </a:solidFill>
                <a:effectLst/>
              </a:rPr>
              <a:t>oldcapacity</a:t>
            </a:r>
            <a:r>
              <a:rPr lang="en-IN" sz="2000" i="1" dirty="0">
                <a:solidFill>
                  <a:schemeClr val="tx1"/>
                </a:solidFill>
                <a:effectLst/>
              </a:rPr>
              <a:t>*2)+2</a:t>
            </a:r>
            <a:endParaRPr lang="en-US" sz="2000" dirty="0">
              <a:solidFill>
                <a:schemeClr val="tx1"/>
              </a:solidFill>
            </a:endParaRPr>
          </a:p>
        </p:txBody>
      </p:sp>
      <p:sp>
        <p:nvSpPr>
          <p:cNvPr id="4" name="Footer Placeholder 3">
            <a:extLst>
              <a:ext uri="{FF2B5EF4-FFF2-40B4-BE49-F238E27FC236}">
                <a16:creationId xmlns:a16="http://schemas.microsoft.com/office/drawing/2014/main" id="{17C4AD1F-2234-48E0-6567-4F1402B0F85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747734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6A55-08C3-BF6B-E34C-1BB06319B64B}"/>
              </a:ext>
            </a:extLst>
          </p:cNvPr>
          <p:cNvSpPr>
            <a:spLocks noGrp="1"/>
          </p:cNvSpPr>
          <p:nvPr>
            <p:ph type="title"/>
          </p:nvPr>
        </p:nvSpPr>
        <p:spPr/>
        <p:txBody>
          <a:bodyPr/>
          <a:lstStyle/>
          <a:p>
            <a:r>
              <a:rPr lang="en-US" dirty="0"/>
              <a:t>StringBuilder Constructors</a:t>
            </a:r>
          </a:p>
        </p:txBody>
      </p:sp>
      <p:sp>
        <p:nvSpPr>
          <p:cNvPr id="3" name="Content Placeholder 2">
            <a:extLst>
              <a:ext uri="{FF2B5EF4-FFF2-40B4-BE49-F238E27FC236}">
                <a16:creationId xmlns:a16="http://schemas.microsoft.com/office/drawing/2014/main" id="{C7FE9866-5C40-4AD6-2D4E-E7DBD8AC64CB}"/>
              </a:ext>
            </a:extLst>
          </p:cNvPr>
          <p:cNvSpPr>
            <a:spLocks noGrp="1"/>
          </p:cNvSpPr>
          <p:nvPr>
            <p:ph idx="1"/>
          </p:nvPr>
        </p:nvSpPr>
        <p:spPr/>
        <p:txBody>
          <a:bodyPr/>
          <a:lstStyle/>
          <a:p>
            <a:pPr algn="l" fontAlgn="base">
              <a:buFont typeface="Arial" panose="020B0604020202020204" pitchFamily="34" charset="0"/>
              <a:buChar char="•"/>
            </a:pPr>
            <a:r>
              <a:rPr lang="en-IN" sz="2000" b="1" i="0" dirty="0">
                <a:solidFill>
                  <a:schemeClr val="tx1"/>
                </a:solidFill>
                <a:effectLst/>
                <a:latin typeface="Nunito" pitchFamily="2" charset="77"/>
              </a:rPr>
              <a:t>StringBuilder():</a:t>
            </a:r>
            <a:r>
              <a:rPr lang="en-IN" sz="2000" b="0" i="0" dirty="0">
                <a:solidFill>
                  <a:schemeClr val="tx1"/>
                </a:solidFill>
                <a:effectLst/>
                <a:latin typeface="Nunito" pitchFamily="2" charset="77"/>
              </a:rPr>
              <a:t> Constructs a string builder with no characters in it and an initial capacity of 16 characters.</a:t>
            </a:r>
          </a:p>
          <a:p>
            <a:pPr algn="l" fontAlgn="base">
              <a:buFont typeface="Arial" panose="020B0604020202020204" pitchFamily="34" charset="0"/>
              <a:buChar char="•"/>
            </a:pPr>
            <a:endParaRPr lang="en-IN" sz="2000" b="0" i="0" dirty="0">
              <a:solidFill>
                <a:schemeClr val="tx1"/>
              </a:solidFill>
              <a:effectLst/>
              <a:latin typeface="Nunito" pitchFamily="2" charset="77"/>
            </a:endParaRPr>
          </a:p>
          <a:p>
            <a:pPr algn="l" fontAlgn="base">
              <a:buFont typeface="Arial" panose="020B0604020202020204" pitchFamily="34" charset="0"/>
              <a:buChar char="•"/>
            </a:pPr>
            <a:r>
              <a:rPr lang="en-IN" sz="2000" b="1" i="0" dirty="0">
                <a:solidFill>
                  <a:schemeClr val="tx1"/>
                </a:solidFill>
                <a:effectLst/>
                <a:latin typeface="Nunito" pitchFamily="2" charset="77"/>
              </a:rPr>
              <a:t>StringBuilder(int capacity):</a:t>
            </a:r>
            <a:r>
              <a:rPr lang="en-IN" sz="2000" b="0" i="0" dirty="0">
                <a:solidFill>
                  <a:schemeClr val="tx1"/>
                </a:solidFill>
                <a:effectLst/>
                <a:latin typeface="Nunito" pitchFamily="2" charset="77"/>
              </a:rPr>
              <a:t> Constructs a string builder with no characters in it and an initial capacity specified by the capacity argument.</a:t>
            </a:r>
          </a:p>
          <a:p>
            <a:pPr algn="l" fontAlgn="base">
              <a:buFont typeface="Arial" panose="020B0604020202020204" pitchFamily="34" charset="0"/>
              <a:buChar char="•"/>
            </a:pPr>
            <a:endParaRPr lang="en-IN" sz="2000" b="0" i="0" dirty="0">
              <a:solidFill>
                <a:schemeClr val="tx1"/>
              </a:solidFill>
              <a:effectLst/>
              <a:latin typeface="Nunito" pitchFamily="2" charset="77"/>
            </a:endParaRPr>
          </a:p>
          <a:p>
            <a:pPr algn="l" fontAlgn="base">
              <a:buFont typeface="Arial" panose="020B0604020202020204" pitchFamily="34" charset="0"/>
              <a:buChar char="•"/>
            </a:pPr>
            <a:r>
              <a:rPr lang="en-IN" sz="2000" b="1" i="0" dirty="0">
                <a:solidFill>
                  <a:schemeClr val="tx1"/>
                </a:solidFill>
                <a:effectLst/>
                <a:latin typeface="Nunito" pitchFamily="2" charset="77"/>
              </a:rPr>
              <a:t>StringBuilder(</a:t>
            </a:r>
            <a:r>
              <a:rPr lang="en-IN" sz="2000" b="1" i="0" dirty="0" err="1">
                <a:solidFill>
                  <a:schemeClr val="tx1"/>
                </a:solidFill>
                <a:effectLst/>
                <a:latin typeface="Nunito" pitchFamily="2" charset="77"/>
              </a:rPr>
              <a:t>CharSequence</a:t>
            </a:r>
            <a:r>
              <a:rPr lang="en-IN" sz="2000" b="1" i="0" dirty="0">
                <a:solidFill>
                  <a:schemeClr val="tx1"/>
                </a:solidFill>
                <a:effectLst/>
                <a:latin typeface="Nunito" pitchFamily="2" charset="77"/>
              </a:rPr>
              <a:t> </a:t>
            </a:r>
            <a:r>
              <a:rPr lang="en-IN" sz="2000" b="1" i="0" dirty="0" err="1">
                <a:solidFill>
                  <a:schemeClr val="tx1"/>
                </a:solidFill>
                <a:effectLst/>
                <a:latin typeface="Nunito" pitchFamily="2" charset="77"/>
              </a:rPr>
              <a:t>seq</a:t>
            </a:r>
            <a:r>
              <a:rPr lang="en-IN" sz="2000" b="1" i="0" dirty="0">
                <a:solidFill>
                  <a:schemeClr val="tx1"/>
                </a:solidFill>
                <a:effectLst/>
                <a:latin typeface="Nunito" pitchFamily="2" charset="77"/>
              </a:rPr>
              <a:t>):</a:t>
            </a:r>
            <a:r>
              <a:rPr lang="en-IN" sz="2000" b="0" i="0" dirty="0">
                <a:solidFill>
                  <a:schemeClr val="tx1"/>
                </a:solidFill>
                <a:effectLst/>
                <a:latin typeface="Nunito" pitchFamily="2" charset="77"/>
              </a:rPr>
              <a:t> Constructs a string builder that contains the same characters as the specified </a:t>
            </a:r>
            <a:r>
              <a:rPr lang="en-IN" sz="2000" b="0" i="0" dirty="0" err="1">
                <a:solidFill>
                  <a:schemeClr val="tx1"/>
                </a:solidFill>
                <a:effectLst/>
                <a:latin typeface="Nunito" pitchFamily="2" charset="77"/>
              </a:rPr>
              <a:t>CharSequence</a:t>
            </a:r>
            <a:r>
              <a:rPr lang="en-IN" sz="2000" b="0" i="0" dirty="0">
                <a:solidFill>
                  <a:schemeClr val="tx1"/>
                </a:solidFill>
                <a:effectLst/>
                <a:latin typeface="Nunito" pitchFamily="2" charset="77"/>
              </a:rPr>
              <a:t>.</a:t>
            </a:r>
          </a:p>
          <a:p>
            <a:pPr algn="l" fontAlgn="base">
              <a:buFont typeface="Arial" panose="020B0604020202020204" pitchFamily="34" charset="0"/>
              <a:buChar char="•"/>
            </a:pPr>
            <a:endParaRPr lang="en-IN" sz="2000" b="0" i="0" dirty="0">
              <a:solidFill>
                <a:schemeClr val="tx1"/>
              </a:solidFill>
              <a:effectLst/>
              <a:latin typeface="Nunito" pitchFamily="2" charset="77"/>
            </a:endParaRPr>
          </a:p>
          <a:p>
            <a:pPr algn="l" fontAlgn="base">
              <a:buFont typeface="Arial" panose="020B0604020202020204" pitchFamily="34" charset="0"/>
              <a:buChar char="•"/>
            </a:pPr>
            <a:r>
              <a:rPr lang="en-IN" sz="2000" b="1" i="0" dirty="0">
                <a:solidFill>
                  <a:schemeClr val="tx1"/>
                </a:solidFill>
                <a:effectLst/>
                <a:latin typeface="Nunito" pitchFamily="2" charset="77"/>
              </a:rPr>
              <a:t>StringBuilder(String str):</a:t>
            </a:r>
            <a:r>
              <a:rPr lang="en-IN" sz="2000" b="0" i="0" dirty="0">
                <a:solidFill>
                  <a:schemeClr val="tx1"/>
                </a:solidFill>
                <a:effectLst/>
                <a:latin typeface="Nunito" pitchFamily="2" charset="77"/>
              </a:rPr>
              <a:t> Constructs a string builder initialized to the contents of the specified string. </a:t>
            </a:r>
          </a:p>
          <a:p>
            <a:pPr algn="l" fontAlgn="base"/>
            <a:endParaRPr lang="en-US" sz="3600" dirty="0">
              <a:solidFill>
                <a:schemeClr val="tx1"/>
              </a:solidFill>
            </a:endParaRPr>
          </a:p>
        </p:txBody>
      </p:sp>
      <p:sp>
        <p:nvSpPr>
          <p:cNvPr id="4" name="Footer Placeholder 3">
            <a:extLst>
              <a:ext uri="{FF2B5EF4-FFF2-40B4-BE49-F238E27FC236}">
                <a16:creationId xmlns:a16="http://schemas.microsoft.com/office/drawing/2014/main" id="{17C4AD1F-2234-48E0-6567-4F1402B0F85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88728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4ED96-B89A-2288-E3E1-6E2B33507E63}"/>
              </a:ext>
            </a:extLst>
          </p:cNvPr>
          <p:cNvSpPr>
            <a:spLocks noGrp="1"/>
          </p:cNvSpPr>
          <p:nvPr>
            <p:ph type="title"/>
          </p:nvPr>
        </p:nvSpPr>
        <p:spPr/>
        <p:txBody>
          <a:bodyPr/>
          <a:lstStyle/>
          <a:p>
            <a:r>
              <a:rPr lang="en-US" dirty="0"/>
              <a:t>StringBuilder Methods</a:t>
            </a:r>
          </a:p>
        </p:txBody>
      </p:sp>
      <p:sp>
        <p:nvSpPr>
          <p:cNvPr id="3" name="Content Placeholder 2">
            <a:extLst>
              <a:ext uri="{FF2B5EF4-FFF2-40B4-BE49-F238E27FC236}">
                <a16:creationId xmlns:a16="http://schemas.microsoft.com/office/drawing/2014/main" id="{A51D84B1-DAA1-80F3-B1DD-8C029F673F7E}"/>
              </a:ext>
            </a:extLst>
          </p:cNvPr>
          <p:cNvSpPr>
            <a:spLocks noGrp="1"/>
          </p:cNvSpPr>
          <p:nvPr>
            <p:ph idx="1"/>
          </p:nvPr>
        </p:nvSpPr>
        <p:spPr/>
        <p:txBody>
          <a:bodyPr/>
          <a:lstStyle/>
          <a:p>
            <a:r>
              <a:rPr lang="en-US"/>
              <a:t>Home Assignment</a:t>
            </a:r>
          </a:p>
        </p:txBody>
      </p:sp>
      <p:sp>
        <p:nvSpPr>
          <p:cNvPr id="4" name="Footer Placeholder 3">
            <a:extLst>
              <a:ext uri="{FF2B5EF4-FFF2-40B4-BE49-F238E27FC236}">
                <a16:creationId xmlns:a16="http://schemas.microsoft.com/office/drawing/2014/main" id="{EB7F60B2-7360-9333-6EE2-C516FD3DDA2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7341706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311C-2327-45BA-8A94-AB7E0F949BF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5F0F73F3-0445-4917-8154-FA39514F8269}"/>
              </a:ext>
            </a:extLst>
          </p:cNvPr>
          <p:cNvSpPr>
            <a:spLocks noGrp="1"/>
          </p:cNvSpPr>
          <p:nvPr>
            <p:ph idx="1"/>
          </p:nvPr>
        </p:nvSpPr>
        <p:spPr>
          <a:xfrm>
            <a:off x="457200" y="1869440"/>
            <a:ext cx="8229600" cy="2966720"/>
          </a:xfrm>
        </p:spPr>
        <p:txBody>
          <a:bodyPr/>
          <a:lstStyle/>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THANK</a:t>
            </a:r>
          </a:p>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YOU</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00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53472</TotalTime>
  <Words>4653</Words>
  <Application>Microsoft Macintosh PowerPoint</Application>
  <PresentationFormat>On-screen Show (4:3)</PresentationFormat>
  <Paragraphs>429</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Cambria</vt:lpstr>
      <vt:lpstr>Nunito</vt:lpstr>
      <vt:lpstr>Times New Roman</vt:lpstr>
      <vt:lpstr>klu</vt:lpstr>
      <vt:lpstr> </vt:lpstr>
      <vt:lpstr>Session Content</vt:lpstr>
      <vt:lpstr>String Class</vt:lpstr>
      <vt:lpstr>Difference between String and StringBuffer</vt:lpstr>
      <vt:lpstr>Methods to Create String</vt:lpstr>
      <vt:lpstr>Methods to Create String</vt:lpstr>
      <vt:lpstr>Difference in memory for String</vt:lpstr>
      <vt:lpstr>String Concatenation</vt:lpstr>
      <vt:lpstr>String Concatenation</vt:lpstr>
      <vt:lpstr>String Length and Character At</vt:lpstr>
      <vt:lpstr>String Equals Method</vt:lpstr>
      <vt:lpstr>String Equals Method</vt:lpstr>
      <vt:lpstr>String Equals Method</vt:lpstr>
      <vt:lpstr>String Equals Method</vt:lpstr>
      <vt:lpstr>Comparing Strings using == operator</vt:lpstr>
      <vt:lpstr>Comparing Strings using equals method</vt:lpstr>
      <vt:lpstr>                                   </vt:lpstr>
      <vt:lpstr>                                   </vt:lpstr>
      <vt:lpstr>Prefix and Suffix Method</vt:lpstr>
      <vt:lpstr>Comparing Strings</vt:lpstr>
      <vt:lpstr>Indexof Method</vt:lpstr>
      <vt:lpstr>Indexof Method</vt:lpstr>
      <vt:lpstr>Indexof Method</vt:lpstr>
      <vt:lpstr>Indexof Method Example</vt:lpstr>
      <vt:lpstr>lastIndexof Method</vt:lpstr>
      <vt:lpstr>substring Method</vt:lpstr>
      <vt:lpstr>substring Method</vt:lpstr>
      <vt:lpstr>replace Method</vt:lpstr>
      <vt:lpstr>String Case Conversion Method</vt:lpstr>
      <vt:lpstr>String Conversion Method</vt:lpstr>
      <vt:lpstr>String Conversion Method</vt:lpstr>
      <vt:lpstr>String Conversion Method</vt:lpstr>
      <vt:lpstr>Program-1</vt:lpstr>
      <vt:lpstr>Program-2</vt:lpstr>
      <vt:lpstr>Different Constructors</vt:lpstr>
      <vt:lpstr>Different Constructors</vt:lpstr>
      <vt:lpstr>Different Constructors</vt:lpstr>
      <vt:lpstr>Different Methods in String</vt:lpstr>
      <vt:lpstr>Different Methods in String</vt:lpstr>
      <vt:lpstr>Different Methods in String</vt:lpstr>
      <vt:lpstr>Different Methods in String</vt:lpstr>
      <vt:lpstr>Different Methods in String</vt:lpstr>
      <vt:lpstr>Different Methods in String</vt:lpstr>
      <vt:lpstr>Different Methods in String</vt:lpstr>
      <vt:lpstr>Different Methods in String</vt:lpstr>
      <vt:lpstr>PowerPoint Presentation</vt:lpstr>
      <vt:lpstr>Constructor of StringBuilder</vt:lpstr>
      <vt:lpstr>StringBuffer Methods</vt:lpstr>
      <vt:lpstr>StringBuffer Methods</vt:lpstr>
      <vt:lpstr>StringBuffer Methods</vt:lpstr>
      <vt:lpstr>StringBuilder Constructors</vt:lpstr>
      <vt:lpstr>StringBuilder Methods</vt:lpstr>
      <vt:lpstr>                           </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1163</cp:revision>
  <cp:lastPrinted>1999-01-11T10:11:19Z</cp:lastPrinted>
  <dcterms:created xsi:type="dcterms:W3CDTF">1999-01-07T21:51:57Z</dcterms:created>
  <dcterms:modified xsi:type="dcterms:W3CDTF">2024-09-08T17:47:02Z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