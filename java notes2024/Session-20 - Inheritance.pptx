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60" r:id="rId1"/>
  </p:sldMasterIdLst>
  <p:notesMasterIdLst>
    <p:notesMasterId r:id="rId79"/>
  </p:notesMasterIdLst>
  <p:sldIdLst>
    <p:sldId id="856" r:id="rId2"/>
    <p:sldId id="919" r:id="rId3"/>
    <p:sldId id="920" r:id="rId4"/>
    <p:sldId id="921" r:id="rId5"/>
    <p:sldId id="922" r:id="rId6"/>
    <p:sldId id="923" r:id="rId7"/>
    <p:sldId id="924" r:id="rId8"/>
    <p:sldId id="909" r:id="rId9"/>
    <p:sldId id="913" r:id="rId10"/>
    <p:sldId id="914" r:id="rId11"/>
    <p:sldId id="915" r:id="rId12"/>
    <p:sldId id="916" r:id="rId13"/>
    <p:sldId id="917" r:id="rId14"/>
    <p:sldId id="918" r:id="rId15"/>
    <p:sldId id="925" r:id="rId16"/>
    <p:sldId id="926" r:id="rId17"/>
    <p:sldId id="927" r:id="rId18"/>
    <p:sldId id="928" r:id="rId19"/>
    <p:sldId id="929" r:id="rId20"/>
    <p:sldId id="930" r:id="rId21"/>
    <p:sldId id="931" r:id="rId22"/>
    <p:sldId id="932" r:id="rId23"/>
    <p:sldId id="933" r:id="rId24"/>
    <p:sldId id="934" r:id="rId25"/>
    <p:sldId id="935" r:id="rId26"/>
    <p:sldId id="936" r:id="rId27"/>
    <p:sldId id="937" r:id="rId28"/>
    <p:sldId id="938" r:id="rId29"/>
    <p:sldId id="939" r:id="rId30"/>
    <p:sldId id="940" r:id="rId31"/>
    <p:sldId id="941" r:id="rId32"/>
    <p:sldId id="942" r:id="rId33"/>
    <p:sldId id="943" r:id="rId34"/>
    <p:sldId id="944" r:id="rId35"/>
    <p:sldId id="945" r:id="rId36"/>
    <p:sldId id="946" r:id="rId37"/>
    <p:sldId id="947" r:id="rId38"/>
    <p:sldId id="948" r:id="rId39"/>
    <p:sldId id="949" r:id="rId40"/>
    <p:sldId id="950" r:id="rId41"/>
    <p:sldId id="951" r:id="rId42"/>
    <p:sldId id="952" r:id="rId43"/>
    <p:sldId id="953" r:id="rId44"/>
    <p:sldId id="954" r:id="rId45"/>
    <p:sldId id="955" r:id="rId46"/>
    <p:sldId id="956" r:id="rId47"/>
    <p:sldId id="957" r:id="rId48"/>
    <p:sldId id="958" r:id="rId49"/>
    <p:sldId id="959" r:id="rId50"/>
    <p:sldId id="961" r:id="rId51"/>
    <p:sldId id="960" r:id="rId52"/>
    <p:sldId id="962" r:id="rId53"/>
    <p:sldId id="963" r:id="rId54"/>
    <p:sldId id="964" r:id="rId55"/>
    <p:sldId id="983" r:id="rId56"/>
    <p:sldId id="984" r:id="rId57"/>
    <p:sldId id="985" r:id="rId58"/>
    <p:sldId id="965" r:id="rId59"/>
    <p:sldId id="966" r:id="rId60"/>
    <p:sldId id="967" r:id="rId61"/>
    <p:sldId id="968" r:id="rId62"/>
    <p:sldId id="969" r:id="rId63"/>
    <p:sldId id="970" r:id="rId64"/>
    <p:sldId id="971" r:id="rId65"/>
    <p:sldId id="972" r:id="rId66"/>
    <p:sldId id="973" r:id="rId67"/>
    <p:sldId id="974" r:id="rId68"/>
    <p:sldId id="975" r:id="rId69"/>
    <p:sldId id="976" r:id="rId70"/>
    <p:sldId id="977" r:id="rId71"/>
    <p:sldId id="978" r:id="rId72"/>
    <p:sldId id="979" r:id="rId73"/>
    <p:sldId id="980" r:id="rId74"/>
    <p:sldId id="981" r:id="rId75"/>
    <p:sldId id="982" r:id="rId76"/>
    <p:sldId id="986" r:id="rId77"/>
    <p:sldId id="912" r:id="rId78"/>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37" autoAdjust="0"/>
    <p:restoredTop sz="94677"/>
  </p:normalViewPr>
  <p:slideViewPr>
    <p:cSldViewPr snapToGrid="0">
      <p:cViewPr varScale="1">
        <p:scale>
          <a:sx n="101" d="100"/>
          <a:sy n="101" d="100"/>
        </p:scale>
        <p:origin x="1928" y="184"/>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3C08F098-34A8-4532-9C69-38DECEB33B3C}" type="datetimeFigureOut">
              <a:rPr lang="en-US"/>
              <a:pPr>
                <a:defRPr/>
              </a:pPr>
              <a:t>9/25/24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331F2AAD-F00E-4B2B-A58E-1BBB4854317A}" type="slidenum">
              <a:rPr lang="en-US"/>
              <a:pPr>
                <a:defRPr/>
              </a:pPr>
              <a:t>‹#›</a:t>
            </a:fld>
            <a:endParaRPr lang="en-US"/>
          </a:p>
        </p:txBody>
      </p:sp>
    </p:spTree>
    <p:extLst>
      <p:ext uri="{BB962C8B-B14F-4D97-AF65-F5344CB8AC3E}">
        <p14:creationId xmlns:p14="http://schemas.microsoft.com/office/powerpoint/2010/main" val="141091851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D47EF12-65BD-7C4F-9F7B-34D4C4081BE4}" type="datetime2">
              <a:rPr lang="en-IN" smtClean="0"/>
              <a:t>Wednesday, 25 September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48B129DB-8D41-4066-AA93-1DAF03F26EAE}"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87362"/>
            <a:ext cx="7391400" cy="655638"/>
          </a:xfrm>
        </p:spPr>
        <p:txBody>
          <a:bodyPr/>
          <a:lstStyle/>
          <a:p>
            <a:r>
              <a:rPr lang="en-US"/>
              <a:t>Click to edit Master title style</a:t>
            </a:r>
          </a:p>
        </p:txBody>
      </p:sp>
      <p:sp>
        <p:nvSpPr>
          <p:cNvPr id="3" name="Content Placeholder 2"/>
          <p:cNvSpPr>
            <a:spLocks noGrp="1"/>
          </p:cNvSpPr>
          <p:nvPr>
            <p:ph idx="1"/>
          </p:nvPr>
        </p:nvSpPr>
        <p:spPr>
          <a:xfrm>
            <a:off x="457200" y="1295400"/>
            <a:ext cx="82296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1C2E714-9726-5648-9805-25298B5CD9CE}" type="datetime2">
              <a:rPr lang="en-IN" smtClean="0"/>
              <a:t>Wednesday, 25 September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78BFD8EC-3A04-483A-AD2E-8D598A4DA8CA}"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C8F9BDA7-1C76-B64C-BFBB-2DD8FC0B0462}" type="datetime2">
              <a:rPr lang="en-IN" smtClean="0"/>
              <a:t>Wednesday, 25 September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86589411-C56C-40F4-B66E-D512662E7E6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391400" cy="6096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98B5F28-82C4-1145-9D91-07DC8A145CD6}" type="datetime2">
              <a:rPr lang="en-IN" smtClean="0"/>
              <a:t>Wednesday, 25 September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6E29E7CF-FAD9-49DF-99E0-EAA77C32AE73}"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487362"/>
            <a:ext cx="7391400" cy="655638"/>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95400"/>
            <a:ext cx="4040188" cy="879475"/>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4"/>
            <a:ext cx="4040188" cy="41497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295400"/>
            <a:ext cx="4041775" cy="879475"/>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4"/>
            <a:ext cx="4041775" cy="41497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269DB47-0C5F-214C-984E-9FA2FDCE5959}" type="datetime2">
              <a:rPr lang="en-IN" smtClean="0"/>
              <a:t>Wednesday, 25 September 2024</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9" name="Slide Number Placeholder 5"/>
          <p:cNvSpPr>
            <a:spLocks noGrp="1"/>
          </p:cNvSpPr>
          <p:nvPr>
            <p:ph type="sldNum" sz="quarter" idx="12"/>
          </p:nvPr>
        </p:nvSpPr>
        <p:spPr/>
        <p:txBody>
          <a:bodyPr/>
          <a:lstStyle>
            <a:lvl1pPr>
              <a:defRPr/>
            </a:lvl1pPr>
          </a:lstStyle>
          <a:p>
            <a:pPr>
              <a:defRPr/>
            </a:pPr>
            <a:fld id="{9167AD7C-0654-469F-AEFA-E806C2E84189}"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391400" cy="655638"/>
          </a:xfrm>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7115A5C6-3EDE-F34D-8A0B-B78A5ED65DBC}" type="datetime2">
              <a:rPr lang="en-IN" smtClean="0"/>
              <a:t>Wednesday, 25 September 2024</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5" name="Slide Number Placeholder 5"/>
          <p:cNvSpPr>
            <a:spLocks noGrp="1"/>
          </p:cNvSpPr>
          <p:nvPr>
            <p:ph type="sldNum" sz="quarter" idx="12"/>
          </p:nvPr>
        </p:nvSpPr>
        <p:spPr/>
        <p:txBody>
          <a:bodyPr/>
          <a:lstStyle>
            <a:lvl1pPr>
              <a:defRPr/>
            </a:lvl1pPr>
          </a:lstStyle>
          <a:p>
            <a:pPr>
              <a:defRPr/>
            </a:pPr>
            <a:fld id="{947A0E5E-4093-4CD3-BA7B-F97E5E4A519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3E72BB3-4F7C-364E-8373-EEF309789028}" type="datetime2">
              <a:rPr lang="en-IN" smtClean="0"/>
              <a:t>Wednesday, 25 September 2024</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4" name="Slide Number Placeholder 5"/>
          <p:cNvSpPr>
            <a:spLocks noGrp="1"/>
          </p:cNvSpPr>
          <p:nvPr>
            <p:ph type="sldNum" sz="quarter" idx="12"/>
          </p:nvPr>
        </p:nvSpPr>
        <p:spPr/>
        <p:txBody>
          <a:bodyPr/>
          <a:lstStyle>
            <a:lvl1pPr>
              <a:defRPr/>
            </a:lvl1pPr>
          </a:lstStyle>
          <a:p>
            <a:pPr>
              <a:defRPr/>
            </a:pPr>
            <a:fld id="{0EB6A58B-23FE-4F42-857E-74F19373BE9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3008313" cy="6731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914400"/>
            <a:ext cx="5111750" cy="543222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889500"/>
          </a:xfrm>
        </p:spPr>
        <p:txBody>
          <a:bodyPr/>
          <a:lstStyle>
            <a:lvl1pPr marL="0" indent="0">
              <a:buNone/>
              <a:defRPr sz="1400">
                <a:solidFill>
                  <a:srgbClr val="00B0F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098D0D7-D7EC-A246-AF20-4745B06F0BA4}" type="datetime2">
              <a:rPr lang="en-IN" smtClean="0"/>
              <a:t>Wednesday, 25 September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86C1302C-7341-4EFD-A7BE-94A6EA3ED814}"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BA9B953-6580-D14A-A678-2705D9C7652D}" type="datetime2">
              <a:rPr lang="en-IN" smtClean="0"/>
              <a:t>Wednesday, 25 September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C7BEE4BA-9FC8-42B3-9170-29EB1644726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391400" cy="655638"/>
          </a:xfrm>
        </p:spPr>
        <p:txBody>
          <a:bodyPr/>
          <a:lstStyle/>
          <a:p>
            <a:r>
              <a:rPr lang="en-US"/>
              <a:t>Click to edit Master title style</a:t>
            </a:r>
          </a:p>
        </p:txBody>
      </p:sp>
      <p:sp>
        <p:nvSpPr>
          <p:cNvPr id="3" name="Vertical Text Placeholder 2"/>
          <p:cNvSpPr>
            <a:spLocks noGrp="1"/>
          </p:cNvSpPr>
          <p:nvPr>
            <p:ph type="body" orient="vert" idx="1"/>
          </p:nvPr>
        </p:nvSpPr>
        <p:spPr>
          <a:xfrm>
            <a:off x="457200" y="1295400"/>
            <a:ext cx="8229600" cy="5029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63EAFF8-687A-514E-B383-6E43393718A3}" type="datetime2">
              <a:rPr lang="en-IN" smtClean="0"/>
              <a:t>Wednesday, 25 September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16A11CB4-3CE4-427D-9B5B-DA68271F1FF7}"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66800"/>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85800"/>
            <a:ext cx="6019800" cy="5592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74D9C74-6258-E24C-8933-2C029557A4C8}" type="datetime2">
              <a:rPr lang="en-IN" smtClean="0"/>
              <a:t>Wednesday, 25 September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D04C8231-EDB7-4A03-BDA6-FF052D201C2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457200"/>
            <a:ext cx="7391400" cy="6556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295400"/>
            <a:ext cx="82296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416675"/>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bg1">
                    <a:lumMod val="50000"/>
                  </a:schemeClr>
                </a:solidFill>
                <a:latin typeface="+mn-lt"/>
              </a:defRPr>
            </a:lvl1pPr>
          </a:lstStyle>
          <a:p>
            <a:pPr>
              <a:defRPr/>
            </a:pPr>
            <a:fld id="{309DFE74-1456-C246-9145-41276736739F}" type="datetime2">
              <a:rPr lang="en-IN" smtClean="0"/>
              <a:t>Wednesday, 25 September 2024</a:t>
            </a:fld>
            <a:endParaRPr lang="en-US"/>
          </a:p>
        </p:txBody>
      </p:sp>
      <p:sp>
        <p:nvSpPr>
          <p:cNvPr id="5" name="Footer Placeholder 4"/>
          <p:cNvSpPr>
            <a:spLocks noGrp="1"/>
          </p:cNvSpPr>
          <p:nvPr>
            <p:ph type="ftr" sz="quarter" idx="3"/>
          </p:nvPr>
        </p:nvSpPr>
        <p:spPr>
          <a:xfrm>
            <a:off x="3124200" y="6416675"/>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lumMod val="50000"/>
                  </a:schemeClr>
                </a:solidFill>
                <a:latin typeface="+mn-lt"/>
              </a:defRPr>
            </a:lvl1pPr>
          </a:lstStyle>
          <a:p>
            <a:pPr>
              <a:defRPr/>
            </a:pPr>
            <a:r>
              <a:rPr lang="en-US"/>
              <a:t>Dr. Naveen Kumar, Associate Professor, AIIT, AUP</a:t>
            </a:r>
          </a:p>
        </p:txBody>
      </p:sp>
      <p:sp>
        <p:nvSpPr>
          <p:cNvPr id="6" name="Slide Number Placeholder 5"/>
          <p:cNvSpPr>
            <a:spLocks noGrp="1"/>
          </p:cNvSpPr>
          <p:nvPr>
            <p:ph type="sldNum" sz="quarter" idx="4"/>
          </p:nvPr>
        </p:nvSpPr>
        <p:spPr>
          <a:xfrm>
            <a:off x="6553200" y="6416675"/>
            <a:ext cx="2133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lumMod val="50000"/>
                  </a:schemeClr>
                </a:solidFill>
                <a:latin typeface="+mn-lt"/>
              </a:defRPr>
            </a:lvl1pPr>
          </a:lstStyle>
          <a:p>
            <a:pPr>
              <a:defRPr/>
            </a:pPr>
            <a:fld id="{F27807A9-12E1-47F0-9E96-6DDF5CA19C2D}" type="slidenum">
              <a:rPr lang="en-US"/>
              <a:pPr>
                <a:defRPr/>
              </a:pPr>
              <a:t>‹#›</a:t>
            </a:fld>
            <a:endParaRPr lang="en-US"/>
          </a:p>
        </p:txBody>
      </p:sp>
      <p:cxnSp>
        <p:nvCxnSpPr>
          <p:cNvPr id="15" name="Straight Connector 14"/>
          <p:cNvCxnSpPr/>
          <p:nvPr/>
        </p:nvCxnSpPr>
        <p:spPr>
          <a:xfrm>
            <a:off x="7981950" y="977900"/>
            <a:ext cx="1143000" cy="0"/>
          </a:xfrm>
          <a:prstGeom prst="line">
            <a:avLst/>
          </a:prstGeom>
        </p:spPr>
        <p:style>
          <a:lnRef idx="3">
            <a:schemeClr val="accent2"/>
          </a:lnRef>
          <a:fillRef idx="0">
            <a:schemeClr val="accent2"/>
          </a:fillRef>
          <a:effectRef idx="2">
            <a:schemeClr val="accent2"/>
          </a:effectRef>
          <a:fontRef idx="minor">
            <a:schemeClr val="tx1"/>
          </a:fontRef>
        </p:style>
      </p:cxnSp>
      <p:sp>
        <p:nvSpPr>
          <p:cNvPr id="16" name="Arc 15"/>
          <p:cNvSpPr/>
          <p:nvPr/>
        </p:nvSpPr>
        <p:spPr>
          <a:xfrm>
            <a:off x="7010400" y="444500"/>
            <a:ext cx="990600" cy="1066800"/>
          </a:xfrm>
          <a:prstGeom prst="arc">
            <a:avLst/>
          </a:prstGeom>
        </p:spPr>
        <p:style>
          <a:lnRef idx="3">
            <a:schemeClr val="accent2"/>
          </a:lnRef>
          <a:fillRef idx="0">
            <a:schemeClr val="accent2"/>
          </a:fillRef>
          <a:effectRef idx="2">
            <a:schemeClr val="accent2"/>
          </a:effectRef>
          <a:fontRef idx="minor">
            <a:schemeClr val="tx1"/>
          </a:fontRef>
        </p:style>
        <p:txBody>
          <a:bodyPr anchor="ctr"/>
          <a:lstStyle/>
          <a:p>
            <a:pPr fontAlgn="auto">
              <a:spcBef>
                <a:spcPts val="0"/>
              </a:spcBef>
              <a:spcAft>
                <a:spcPts val="0"/>
              </a:spcAft>
              <a:defRPr/>
            </a:pPr>
            <a:endParaRPr lang="en-US"/>
          </a:p>
        </p:txBody>
      </p:sp>
      <p:cxnSp>
        <p:nvCxnSpPr>
          <p:cNvPr id="17" name="Straight Connector 16"/>
          <p:cNvCxnSpPr>
            <a:stCxn id="16" idx="0"/>
          </p:cNvCxnSpPr>
          <p:nvPr/>
        </p:nvCxnSpPr>
        <p:spPr>
          <a:xfrm flipH="1">
            <a:off x="228600" y="444500"/>
            <a:ext cx="7277100" cy="0"/>
          </a:xfrm>
          <a:prstGeom prst="line">
            <a:avLst/>
          </a:prstGeom>
        </p:spPr>
        <p:style>
          <a:lnRef idx="3">
            <a:schemeClr val="accent2"/>
          </a:lnRef>
          <a:fillRef idx="0">
            <a:schemeClr val="accent2"/>
          </a:fillRef>
          <a:effectRef idx="2">
            <a:schemeClr val="accent2"/>
          </a:effectRef>
          <a:fontRef idx="minor">
            <a:schemeClr val="tx1"/>
          </a:fontRef>
        </p:style>
      </p:cxn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ctr" rtl="0" eaLnBrk="0" fontAlgn="base" hangingPunct="0">
        <a:spcBef>
          <a:spcPct val="0"/>
        </a:spcBef>
        <a:spcAft>
          <a:spcPct val="0"/>
        </a:spcAft>
        <a:defRPr sz="4400" kern="1200">
          <a:solidFill>
            <a:srgbClr val="E46C0A"/>
          </a:solidFill>
          <a:latin typeface="+mj-lt"/>
          <a:ea typeface="+mj-ea"/>
          <a:cs typeface="+mj-cs"/>
        </a:defRPr>
      </a:lvl1pPr>
      <a:lvl2pPr algn="ctr" rtl="0" eaLnBrk="0" fontAlgn="base" hangingPunct="0">
        <a:spcBef>
          <a:spcPct val="0"/>
        </a:spcBef>
        <a:spcAft>
          <a:spcPct val="0"/>
        </a:spcAft>
        <a:defRPr sz="4400">
          <a:solidFill>
            <a:srgbClr val="E46C0A"/>
          </a:solidFill>
          <a:latin typeface="Arial" charset="0"/>
        </a:defRPr>
      </a:lvl2pPr>
      <a:lvl3pPr algn="ctr" rtl="0" eaLnBrk="0" fontAlgn="base" hangingPunct="0">
        <a:spcBef>
          <a:spcPct val="0"/>
        </a:spcBef>
        <a:spcAft>
          <a:spcPct val="0"/>
        </a:spcAft>
        <a:defRPr sz="4400">
          <a:solidFill>
            <a:srgbClr val="E46C0A"/>
          </a:solidFill>
          <a:latin typeface="Arial" charset="0"/>
        </a:defRPr>
      </a:lvl3pPr>
      <a:lvl4pPr algn="ctr" rtl="0" eaLnBrk="0" fontAlgn="base" hangingPunct="0">
        <a:spcBef>
          <a:spcPct val="0"/>
        </a:spcBef>
        <a:spcAft>
          <a:spcPct val="0"/>
        </a:spcAft>
        <a:defRPr sz="4400">
          <a:solidFill>
            <a:srgbClr val="E46C0A"/>
          </a:solidFill>
          <a:latin typeface="Arial" charset="0"/>
        </a:defRPr>
      </a:lvl4pPr>
      <a:lvl5pPr algn="ctr" rtl="0" eaLnBrk="0" fontAlgn="base" hangingPunct="0">
        <a:spcBef>
          <a:spcPct val="0"/>
        </a:spcBef>
        <a:spcAft>
          <a:spcPct val="0"/>
        </a:spcAft>
        <a:defRPr sz="4400">
          <a:solidFill>
            <a:srgbClr val="E46C0A"/>
          </a:solidFill>
          <a:latin typeface="Arial" charset="0"/>
        </a:defRPr>
      </a:lvl5pPr>
      <a:lvl6pPr marL="457200" algn="ctr" rtl="0" eaLnBrk="1" fontAlgn="base" hangingPunct="1">
        <a:spcBef>
          <a:spcPct val="0"/>
        </a:spcBef>
        <a:spcAft>
          <a:spcPct val="0"/>
        </a:spcAft>
        <a:defRPr sz="4400">
          <a:solidFill>
            <a:srgbClr val="E46C0A"/>
          </a:solidFill>
          <a:latin typeface="Arial" charset="0"/>
        </a:defRPr>
      </a:lvl6pPr>
      <a:lvl7pPr marL="914400" algn="ctr" rtl="0" eaLnBrk="1" fontAlgn="base" hangingPunct="1">
        <a:spcBef>
          <a:spcPct val="0"/>
        </a:spcBef>
        <a:spcAft>
          <a:spcPct val="0"/>
        </a:spcAft>
        <a:defRPr sz="4400">
          <a:solidFill>
            <a:srgbClr val="E46C0A"/>
          </a:solidFill>
          <a:latin typeface="Arial" charset="0"/>
        </a:defRPr>
      </a:lvl7pPr>
      <a:lvl8pPr marL="1371600" algn="ctr" rtl="0" eaLnBrk="1" fontAlgn="base" hangingPunct="1">
        <a:spcBef>
          <a:spcPct val="0"/>
        </a:spcBef>
        <a:spcAft>
          <a:spcPct val="0"/>
        </a:spcAft>
        <a:defRPr sz="4400">
          <a:solidFill>
            <a:srgbClr val="E46C0A"/>
          </a:solidFill>
          <a:latin typeface="Arial" charset="0"/>
        </a:defRPr>
      </a:lvl8pPr>
      <a:lvl9pPr marL="1828800" algn="ctr" rtl="0" eaLnBrk="1" fontAlgn="base" hangingPunct="1">
        <a:spcBef>
          <a:spcPct val="0"/>
        </a:spcBef>
        <a:spcAft>
          <a:spcPct val="0"/>
        </a:spcAft>
        <a:defRPr sz="4400">
          <a:solidFill>
            <a:srgbClr val="E46C0A"/>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rgbClr val="595959"/>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rgbClr val="595959"/>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rgbClr val="595959"/>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www.geeksforgeeks.org/abstraction-in-java-2"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s://www.geeksforgeeks.org/super-keyword/#use-of-super-keyword-in-java" TargetMode="External"/><Relationship Id="rId7" Type="http://schemas.openxmlformats.org/officeDocument/2006/relationships/hyperlink" Target="https://www.geeksforgeeks.org/super-keyword/#advantages-of-using-java-super-keyword" TargetMode="External"/><Relationship Id="rId2" Type="http://schemas.openxmlformats.org/officeDocument/2006/relationships/hyperlink" Target="https://www.geeksforgeeks.org/super-keyword/#characteristics-of-super-keyword-in-java" TargetMode="External"/><Relationship Id="rId1" Type="http://schemas.openxmlformats.org/officeDocument/2006/relationships/slideLayout" Target="../slideLayouts/slideLayout2.xml"/><Relationship Id="rId6" Type="http://schemas.openxmlformats.org/officeDocument/2006/relationships/hyperlink" Target="https://www.geeksforgeeks.org/super-keyword/#3-use-of-super-with-constructors" TargetMode="External"/><Relationship Id="rId5" Type="http://schemas.openxmlformats.org/officeDocument/2006/relationships/hyperlink" Target="https://www.geeksforgeeks.org/super-keyword/#2-use-of-super-with-methods" TargetMode="External"/><Relationship Id="rId4" Type="http://schemas.openxmlformats.org/officeDocument/2006/relationships/hyperlink" Target="https://www.geeksforgeeks.org/super-keyword/#1-use-of-super-with-variables"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a:t>
            </a:r>
          </a:p>
        </p:txBody>
      </p:sp>
      <p:sp>
        <p:nvSpPr>
          <p:cNvPr id="5" name="Content Placeholder 4"/>
          <p:cNvSpPr>
            <a:spLocks noGrp="1"/>
          </p:cNvSpPr>
          <p:nvPr>
            <p:ph idx="1"/>
          </p:nvPr>
        </p:nvSpPr>
        <p:spPr/>
        <p:txBody>
          <a:bodyPr/>
          <a:lstStyle/>
          <a:p>
            <a:pPr marL="0" indent="0" algn="just">
              <a:lnSpc>
                <a:spcPct val="150000"/>
              </a:lnSpc>
              <a:spcBef>
                <a:spcPts val="300"/>
              </a:spcBef>
              <a:spcAft>
                <a:spcPts val="300"/>
              </a:spcAft>
              <a:buNone/>
            </a:pPr>
            <a:r>
              <a:rPr lang="en-IN" sz="2400" dirty="0"/>
              <a:t>                      </a:t>
            </a:r>
          </a:p>
        </p:txBody>
      </p:sp>
      <p:sp>
        <p:nvSpPr>
          <p:cNvPr id="3" name="TextBox 2">
            <a:extLst>
              <a:ext uri="{FF2B5EF4-FFF2-40B4-BE49-F238E27FC236}">
                <a16:creationId xmlns:a16="http://schemas.microsoft.com/office/drawing/2014/main" id="{D7FD7860-D0D8-4767-99A5-DFFBF448064D}"/>
              </a:ext>
            </a:extLst>
          </p:cNvPr>
          <p:cNvSpPr txBox="1"/>
          <p:nvPr/>
        </p:nvSpPr>
        <p:spPr>
          <a:xfrm>
            <a:off x="457200" y="1685542"/>
            <a:ext cx="8229600" cy="1107996"/>
          </a:xfrm>
          <a:prstGeom prst="rect">
            <a:avLst/>
          </a:prstGeom>
          <a:noFill/>
        </p:spPr>
        <p:txBody>
          <a:bodyPr wrap="square" rtlCol="0">
            <a:spAutoFit/>
          </a:bodyPr>
          <a:lstStyle/>
          <a:p>
            <a:r>
              <a:rPr lang="en-IN" sz="6600" dirty="0">
                <a:solidFill>
                  <a:srgbClr val="C00000"/>
                </a:solidFill>
                <a:ea typeface="Cambria" panose="02040503050406030204" pitchFamily="18" charset="0"/>
                <a:cs typeface="Times New Roman" panose="02020603050405020304" pitchFamily="18" charset="0"/>
              </a:rPr>
              <a:t>Session 20 Inheritance</a:t>
            </a:r>
          </a:p>
        </p:txBody>
      </p:sp>
      <p:sp>
        <p:nvSpPr>
          <p:cNvPr id="6" name="TextBox 5">
            <a:extLst>
              <a:ext uri="{FF2B5EF4-FFF2-40B4-BE49-F238E27FC236}">
                <a16:creationId xmlns:a16="http://schemas.microsoft.com/office/drawing/2014/main" id="{A36DF755-1DE6-424B-B8B9-C195C91D5CC5}"/>
              </a:ext>
            </a:extLst>
          </p:cNvPr>
          <p:cNvSpPr txBox="1"/>
          <p:nvPr/>
        </p:nvSpPr>
        <p:spPr>
          <a:xfrm>
            <a:off x="739036" y="3235049"/>
            <a:ext cx="7540668" cy="1323439"/>
          </a:xfrm>
          <a:prstGeom prst="rect">
            <a:avLst/>
          </a:prstGeom>
          <a:noFill/>
        </p:spPr>
        <p:txBody>
          <a:bodyPr wrap="square" rtlCol="0">
            <a:spAutoFit/>
          </a:bodyPr>
          <a:lstStyle/>
          <a:p>
            <a:pPr algn="ctr"/>
            <a:r>
              <a:rPr lang="en-US" sz="2000" b="1" dirty="0"/>
              <a:t>Dr. Naveen Kumar</a:t>
            </a:r>
          </a:p>
          <a:p>
            <a:pPr algn="ctr"/>
            <a:r>
              <a:rPr lang="en-US" sz="2000" b="1" dirty="0"/>
              <a:t>Associate Professor</a:t>
            </a:r>
          </a:p>
          <a:p>
            <a:pPr algn="ctr"/>
            <a:r>
              <a:rPr lang="en-US" sz="2000" b="1" dirty="0"/>
              <a:t>Amity Institute of Information Technology</a:t>
            </a:r>
          </a:p>
          <a:p>
            <a:pPr algn="ctr"/>
            <a:r>
              <a:rPr lang="en-US" sz="2000" b="1" dirty="0"/>
              <a:t>Amity University Patna</a:t>
            </a:r>
            <a:endParaRPr lang="en-IN" sz="2000" b="1" dirty="0"/>
          </a:p>
        </p:txBody>
      </p:sp>
      <p:sp>
        <p:nvSpPr>
          <p:cNvPr id="4" name="Footer Placeholder 3">
            <a:extLst>
              <a:ext uri="{FF2B5EF4-FFF2-40B4-BE49-F238E27FC236}">
                <a16:creationId xmlns:a16="http://schemas.microsoft.com/office/drawing/2014/main" id="{83E41F89-2F46-263A-7BD5-4B60238E2C9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366266935"/>
      </p:ext>
    </p:extLst>
  </p:cSld>
  <p:clrMapOvr>
    <a:masterClrMapping/>
  </p:clrMapOvr>
  <mc:AlternateContent xmlns:mc="http://schemas.openxmlformats.org/markup-compatibility/2006" xmlns:p14="http://schemas.microsoft.com/office/powerpoint/2010/main">
    <mc:Choice Requires="p14">
      <p:transition spd="slow" p14:dur="2000" advTm="35226"/>
    </mc:Choice>
    <mc:Fallback xmlns="">
      <p:transition spd="slow" advTm="3522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97E20-CA7C-BA5F-A09A-A47A222CFE67}"/>
              </a:ext>
            </a:extLst>
          </p:cNvPr>
          <p:cNvSpPr>
            <a:spLocks noGrp="1"/>
          </p:cNvSpPr>
          <p:nvPr>
            <p:ph type="title"/>
          </p:nvPr>
        </p:nvSpPr>
        <p:spPr/>
        <p:txBody>
          <a:bodyPr/>
          <a:lstStyle/>
          <a:p>
            <a:r>
              <a:rPr lang="en-US" dirty="0"/>
              <a:t>Data </a:t>
            </a:r>
            <a:r>
              <a:rPr lang="en-US" dirty="0" err="1"/>
              <a:t>Hinding</a:t>
            </a:r>
            <a:endParaRPr lang="en-US" dirty="0"/>
          </a:p>
        </p:txBody>
      </p:sp>
      <p:sp>
        <p:nvSpPr>
          <p:cNvPr id="3" name="Content Placeholder 2">
            <a:extLst>
              <a:ext uri="{FF2B5EF4-FFF2-40B4-BE49-F238E27FC236}">
                <a16:creationId xmlns:a16="http://schemas.microsoft.com/office/drawing/2014/main" id="{FD002132-26DA-2FC4-B33B-521882C7D821}"/>
              </a:ext>
            </a:extLst>
          </p:cNvPr>
          <p:cNvSpPr>
            <a:spLocks noGrp="1"/>
          </p:cNvSpPr>
          <p:nvPr>
            <p:ph idx="1"/>
          </p:nvPr>
        </p:nvSpPr>
        <p:spPr/>
        <p:txBody>
          <a:bodyPr/>
          <a:lstStyle/>
          <a:p>
            <a:pPr>
              <a:buFont typeface="Arial" panose="020B0604020202020204" pitchFamily="34" charset="0"/>
              <a:buChar char="•"/>
            </a:pPr>
            <a:r>
              <a:rPr lang="en-IN" sz="1800" b="1" dirty="0">
                <a:effectLst/>
                <a:latin typeface="TimesNewRomanPS"/>
              </a:rPr>
              <a:t>Data members (Internal data) should not be accesses outside directly that is outside person can't access our internal data directly. </a:t>
            </a:r>
            <a:endParaRPr lang="en-IN" dirty="0">
              <a:effectLst/>
            </a:endParaRPr>
          </a:p>
          <a:p>
            <a:pPr>
              <a:buFont typeface="Arial" panose="020B0604020202020204" pitchFamily="34" charset="0"/>
              <a:buChar char="•"/>
            </a:pPr>
            <a:r>
              <a:rPr lang="en-IN" sz="1800" b="1" dirty="0">
                <a:effectLst/>
                <a:latin typeface="TimesNewRomanPS"/>
              </a:rPr>
              <a:t>By using private modifier we can implement </a:t>
            </a:r>
            <a:r>
              <a:rPr lang="en-IN" sz="1800" dirty="0">
                <a:effectLst/>
                <a:latin typeface="TimesNewRomanPS"/>
              </a:rPr>
              <a:t>data hiding</a:t>
            </a:r>
            <a:r>
              <a:rPr lang="en-IN" sz="1800" b="1" dirty="0">
                <a:effectLst/>
                <a:latin typeface="TimesNewRomanPS"/>
              </a:rPr>
              <a:t>. </a:t>
            </a:r>
            <a:endParaRPr lang="en-IN" dirty="0">
              <a:effectLst/>
            </a:endParaRPr>
          </a:p>
          <a:p>
            <a:pPr marL="0" indent="0">
              <a:buNone/>
            </a:pPr>
            <a:r>
              <a:rPr lang="en-IN" sz="1800" b="1" dirty="0">
                <a:effectLst/>
                <a:latin typeface="CourierNewPS"/>
              </a:rPr>
              <a:t>Example: </a:t>
            </a:r>
          </a:p>
          <a:p>
            <a:pPr marL="0" indent="0">
              <a:buNone/>
            </a:pPr>
            <a:r>
              <a:rPr lang="en-IN" sz="1800" b="1" dirty="0">
                <a:effectLst/>
                <a:latin typeface="CourierNewPS"/>
              </a:rPr>
              <a:t>class Account { </a:t>
            </a:r>
          </a:p>
          <a:p>
            <a:pPr marL="0" indent="0">
              <a:buNone/>
            </a:pPr>
            <a:r>
              <a:rPr lang="en-IN" sz="1800" b="1" dirty="0">
                <a:effectLst/>
                <a:latin typeface="CourierNewPS"/>
              </a:rPr>
              <a:t>private double balance; </a:t>
            </a:r>
          </a:p>
          <a:p>
            <a:pPr marL="0" indent="0">
              <a:buNone/>
            </a:pPr>
            <a:r>
              <a:rPr lang="en-IN" sz="1800" b="1" dirty="0">
                <a:effectLst/>
                <a:latin typeface="CourierNewPS"/>
              </a:rPr>
              <a:t>......................; </a:t>
            </a:r>
          </a:p>
          <a:p>
            <a:pPr marL="0" indent="0">
              <a:buNone/>
            </a:pPr>
            <a:r>
              <a:rPr lang="en-IN" sz="1800" b="1" dirty="0">
                <a:effectLst/>
                <a:latin typeface="CourierNewPS"/>
              </a:rPr>
              <a:t>......................; </a:t>
            </a:r>
            <a:endParaRPr lang="en-IN" dirty="0">
              <a:effectLst/>
            </a:endParaRPr>
          </a:p>
          <a:p>
            <a:pPr marL="0" indent="0">
              <a:buNone/>
            </a:pPr>
            <a:r>
              <a:rPr lang="en-IN" sz="1800" b="1" dirty="0">
                <a:effectLst/>
                <a:latin typeface="CourierNewPS"/>
              </a:rPr>
              <a:t>} </a:t>
            </a:r>
            <a:endParaRPr lang="en-IN" dirty="0">
              <a:effectLst/>
            </a:endParaRPr>
          </a:p>
          <a:p>
            <a:pPr>
              <a:buFont typeface="Arial" panose="020B0604020202020204" pitchFamily="34" charset="0"/>
              <a:buChar char="•"/>
            </a:pPr>
            <a:r>
              <a:rPr lang="en-IN" sz="1800" b="1" dirty="0">
                <a:effectLst/>
                <a:latin typeface="TimesNewRomanPS"/>
              </a:rPr>
              <a:t>After providing proper username and password only , we can access our Account information. </a:t>
            </a:r>
            <a:endParaRPr lang="en-IN" dirty="0">
              <a:effectLst/>
            </a:endParaRPr>
          </a:p>
          <a:p>
            <a:pPr>
              <a:buFont typeface="Arial" panose="020B0604020202020204" pitchFamily="34" charset="0"/>
              <a:buChar char="•"/>
            </a:pPr>
            <a:r>
              <a:rPr lang="en-IN" sz="1800" b="1" dirty="0">
                <a:effectLst/>
                <a:latin typeface="TimesNewRomanPS"/>
              </a:rPr>
              <a:t>The main advantage of data hiding is </a:t>
            </a:r>
            <a:r>
              <a:rPr lang="en-IN" sz="2400" b="1" dirty="0">
                <a:effectLst/>
                <a:latin typeface="TimesNewRomanPS"/>
              </a:rPr>
              <a:t>security</a:t>
            </a:r>
            <a:r>
              <a:rPr lang="en-IN" sz="1800" b="1" dirty="0">
                <a:effectLst/>
                <a:latin typeface="TimesNewRomanPS"/>
              </a:rPr>
              <a:t>.</a:t>
            </a:r>
            <a:br>
              <a:rPr lang="en-IN" sz="1800" b="1" dirty="0">
                <a:effectLst/>
                <a:latin typeface="TimesNewRomanPS"/>
              </a:rPr>
            </a:br>
            <a:endParaRPr lang="en-IN" sz="1800" b="1" dirty="0">
              <a:effectLst/>
              <a:latin typeface="TimesNewRomanPS"/>
            </a:endParaRPr>
          </a:p>
          <a:p>
            <a:pPr>
              <a:buFont typeface="Arial" panose="020B0604020202020204" pitchFamily="34" charset="0"/>
              <a:buChar char="•"/>
            </a:pPr>
            <a:r>
              <a:rPr lang="en-IN" sz="1800" b="1" dirty="0">
                <a:effectLst/>
                <a:latin typeface="TimesNewRomanPS"/>
              </a:rPr>
              <a:t>Note: recommended modifier for data members is </a:t>
            </a:r>
            <a:r>
              <a:rPr lang="en-IN" sz="2400" b="1" dirty="0">
                <a:effectLst/>
                <a:latin typeface="TimesNewRomanPS"/>
              </a:rPr>
              <a:t>private</a:t>
            </a:r>
            <a:r>
              <a:rPr lang="en-IN" sz="1800" b="1" dirty="0">
                <a:effectLst/>
                <a:latin typeface="TimesNewRomanPS"/>
              </a:rPr>
              <a:t>. </a:t>
            </a:r>
            <a:endParaRPr lang="en-IN" dirty="0">
              <a:effectLst/>
            </a:endParaRPr>
          </a:p>
          <a:p>
            <a:endParaRPr lang="en-US" dirty="0"/>
          </a:p>
        </p:txBody>
      </p:sp>
      <p:sp>
        <p:nvSpPr>
          <p:cNvPr id="4" name="Footer Placeholder 3">
            <a:extLst>
              <a:ext uri="{FF2B5EF4-FFF2-40B4-BE49-F238E27FC236}">
                <a16:creationId xmlns:a16="http://schemas.microsoft.com/office/drawing/2014/main" id="{8697C499-3C81-44E6-6CD4-0C267F870FD4}"/>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250555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6C9B4-8F2E-69DD-869C-550C9A238E9D}"/>
              </a:ext>
            </a:extLst>
          </p:cNvPr>
          <p:cNvSpPr>
            <a:spLocks noGrp="1"/>
          </p:cNvSpPr>
          <p:nvPr>
            <p:ph type="title"/>
          </p:nvPr>
        </p:nvSpPr>
        <p:spPr/>
        <p:txBody>
          <a:bodyPr/>
          <a:lstStyle/>
          <a:p>
            <a:r>
              <a:rPr lang="en-US" dirty="0"/>
              <a:t>Abstraction</a:t>
            </a:r>
          </a:p>
        </p:txBody>
      </p:sp>
      <p:sp>
        <p:nvSpPr>
          <p:cNvPr id="3" name="Content Placeholder 2">
            <a:extLst>
              <a:ext uri="{FF2B5EF4-FFF2-40B4-BE49-F238E27FC236}">
                <a16:creationId xmlns:a16="http://schemas.microsoft.com/office/drawing/2014/main" id="{D357F327-AF98-3F99-FA29-4C30B81E7F6F}"/>
              </a:ext>
            </a:extLst>
          </p:cNvPr>
          <p:cNvSpPr>
            <a:spLocks noGrp="1"/>
          </p:cNvSpPr>
          <p:nvPr>
            <p:ph idx="1"/>
          </p:nvPr>
        </p:nvSpPr>
        <p:spPr>
          <a:xfrm>
            <a:off x="457200" y="1295399"/>
            <a:ext cx="8229600" cy="5121275"/>
          </a:xfrm>
        </p:spPr>
        <p:txBody>
          <a:bodyPr/>
          <a:lstStyle/>
          <a:p>
            <a:pPr>
              <a:buFont typeface="Arial" panose="020B0604020202020204" pitchFamily="34" charset="0"/>
              <a:buChar char="•"/>
            </a:pPr>
            <a:r>
              <a:rPr lang="en-IN" sz="1800" b="1" dirty="0">
                <a:effectLst/>
                <a:latin typeface="TimesNewRomanPS"/>
              </a:rPr>
              <a:t>Hide internal members and just highlight the set of necessary services, is called </a:t>
            </a:r>
            <a:r>
              <a:rPr lang="en-IN" sz="2400" b="1" dirty="0">
                <a:effectLst/>
                <a:latin typeface="TimesNewRomanPS"/>
              </a:rPr>
              <a:t>abstraction</a:t>
            </a:r>
            <a:r>
              <a:rPr lang="en-IN" sz="1800" b="1" dirty="0">
                <a:effectLst/>
                <a:latin typeface="TimesNewRomanPS"/>
              </a:rPr>
              <a:t>. </a:t>
            </a:r>
            <a:endParaRPr lang="en-IN" dirty="0">
              <a:effectLst/>
            </a:endParaRPr>
          </a:p>
          <a:p>
            <a:pPr>
              <a:buFont typeface="Arial" panose="020B0604020202020204" pitchFamily="34" charset="0"/>
              <a:buChar char="•"/>
            </a:pPr>
            <a:r>
              <a:rPr lang="en-IN" sz="1800" b="1" dirty="0">
                <a:effectLst/>
                <a:latin typeface="TimesNewRomanPS"/>
              </a:rPr>
              <a:t>By using </a:t>
            </a:r>
            <a:r>
              <a:rPr lang="en-IN" sz="2400" b="1" dirty="0">
                <a:effectLst/>
                <a:latin typeface="TimesNewRomanPS"/>
              </a:rPr>
              <a:t>abstract classes</a:t>
            </a:r>
            <a:r>
              <a:rPr lang="en-IN" sz="1800" b="1" dirty="0">
                <a:effectLst/>
                <a:latin typeface="TimesNewRomanPS"/>
              </a:rPr>
              <a:t> and </a:t>
            </a:r>
            <a:r>
              <a:rPr lang="en-IN" sz="2400" b="1" dirty="0">
                <a:effectLst/>
                <a:latin typeface="TimesNewRomanPS"/>
              </a:rPr>
              <a:t>interfaces</a:t>
            </a:r>
            <a:r>
              <a:rPr lang="en-IN" sz="1800" b="1" dirty="0">
                <a:effectLst/>
                <a:latin typeface="TimesNewRomanPS"/>
              </a:rPr>
              <a:t> we can implement abstraction. Example : </a:t>
            </a:r>
            <a:endParaRPr lang="en-IN" dirty="0">
              <a:effectLst/>
            </a:endParaRPr>
          </a:p>
          <a:p>
            <a:pPr>
              <a:buFont typeface="Arial" panose="020B0604020202020204" pitchFamily="34" charset="0"/>
              <a:buChar char="•"/>
            </a:pPr>
            <a:r>
              <a:rPr lang="en-IN" sz="1800" b="1" dirty="0">
                <a:effectLst/>
                <a:latin typeface="TimesNewRomanPS"/>
              </a:rPr>
              <a:t>By using ATM GUI screen bank people are highlighting the set of services what they are offering without highlighting internal implementation. </a:t>
            </a:r>
            <a:endParaRPr lang="en-IN" dirty="0">
              <a:effectLst/>
            </a:endParaRPr>
          </a:p>
          <a:p>
            <a:pPr>
              <a:buFont typeface="Arial" panose="020B0604020202020204" pitchFamily="34" charset="0"/>
              <a:buChar char="•"/>
            </a:pPr>
            <a:r>
              <a:rPr lang="en-IN" sz="1800" b="1" dirty="0">
                <a:effectLst/>
                <a:latin typeface="TimesNewRomanPS"/>
              </a:rPr>
              <a:t>The main advantages of Abstraction are: </a:t>
            </a:r>
            <a:endParaRPr lang="en-IN" dirty="0">
              <a:effectLst/>
            </a:endParaRPr>
          </a:p>
          <a:p>
            <a:pPr>
              <a:buFont typeface="+mj-lt"/>
              <a:buAutoNum type="arabicPeriod"/>
            </a:pPr>
            <a:r>
              <a:rPr lang="en-IN" sz="1800" b="1" dirty="0">
                <a:effectLst/>
                <a:latin typeface="TimesNewRomanPS"/>
              </a:rPr>
              <a:t>We can achieve security as we are not highlighting our internal implementation.(i.e., outside person doesn't aware our internal implementation.) </a:t>
            </a:r>
          </a:p>
          <a:p>
            <a:pPr>
              <a:buFont typeface="+mj-lt"/>
              <a:buAutoNum type="arabicPeriod"/>
            </a:pPr>
            <a:r>
              <a:rPr lang="en-IN" sz="1800" b="1" dirty="0">
                <a:effectLst/>
                <a:latin typeface="TimesNewRomanPS"/>
              </a:rPr>
              <a:t>Enhancement will become very easy because without effecting end user we can be able to perform any type of changes in our internal system. </a:t>
            </a:r>
          </a:p>
          <a:p>
            <a:pPr>
              <a:buFont typeface="+mj-lt"/>
              <a:buAutoNum type="arabicPeriod"/>
            </a:pPr>
            <a:r>
              <a:rPr lang="en-IN" sz="1800" b="1" dirty="0">
                <a:effectLst/>
                <a:latin typeface="TimesNewRomanPS"/>
              </a:rPr>
              <a:t>It provides more flexibility to the end user to use system very easily. </a:t>
            </a:r>
          </a:p>
          <a:p>
            <a:pPr>
              <a:buFont typeface="+mj-lt"/>
              <a:buAutoNum type="arabicPeriod"/>
            </a:pPr>
            <a:r>
              <a:rPr lang="en-IN" sz="1800" b="1" dirty="0">
                <a:effectLst/>
                <a:latin typeface="TimesNewRomanPS"/>
              </a:rPr>
              <a:t>It improves maintainability of the application. </a:t>
            </a:r>
          </a:p>
          <a:p>
            <a:pPr>
              <a:buFont typeface="+mj-lt"/>
              <a:buAutoNum type="arabicPeriod"/>
            </a:pPr>
            <a:r>
              <a:rPr lang="en-IN" sz="1800" b="1" dirty="0">
                <a:effectLst/>
                <a:latin typeface="TimesNewRomanPS"/>
              </a:rPr>
              <a:t>It improves modularity of the application. </a:t>
            </a:r>
          </a:p>
          <a:p>
            <a:pPr>
              <a:buFont typeface="+mj-lt"/>
              <a:buAutoNum type="arabicPeriod"/>
            </a:pPr>
            <a:r>
              <a:rPr lang="en-IN" sz="1800" b="1" dirty="0">
                <a:effectLst/>
                <a:latin typeface="TimesNewRomanPS"/>
              </a:rPr>
              <a:t>It improves </a:t>
            </a:r>
            <a:r>
              <a:rPr lang="en-IN" sz="1800" b="1" dirty="0" err="1">
                <a:effectLst/>
                <a:latin typeface="TimesNewRomanPS"/>
              </a:rPr>
              <a:t>easyness</a:t>
            </a:r>
            <a:r>
              <a:rPr lang="en-IN" sz="1800" b="1" dirty="0">
                <a:effectLst/>
                <a:latin typeface="TimesNewRomanPS"/>
              </a:rPr>
              <a:t> to use our system. </a:t>
            </a:r>
          </a:p>
          <a:p>
            <a:endParaRPr lang="en-US" dirty="0"/>
          </a:p>
        </p:txBody>
      </p:sp>
      <p:sp>
        <p:nvSpPr>
          <p:cNvPr id="4" name="Footer Placeholder 3">
            <a:extLst>
              <a:ext uri="{FF2B5EF4-FFF2-40B4-BE49-F238E27FC236}">
                <a16:creationId xmlns:a16="http://schemas.microsoft.com/office/drawing/2014/main" id="{18531F92-61E6-928F-ECE8-833BBEBBEC5E}"/>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171418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6FD7E-CFF2-4609-57A3-3E1865E99FED}"/>
              </a:ext>
            </a:extLst>
          </p:cNvPr>
          <p:cNvSpPr>
            <a:spLocks noGrp="1"/>
          </p:cNvSpPr>
          <p:nvPr>
            <p:ph type="title"/>
          </p:nvPr>
        </p:nvSpPr>
        <p:spPr/>
        <p:txBody>
          <a:bodyPr/>
          <a:lstStyle/>
          <a:p>
            <a:r>
              <a:rPr lang="en-US" dirty="0"/>
              <a:t>Encapsulation</a:t>
            </a:r>
          </a:p>
        </p:txBody>
      </p:sp>
      <p:sp>
        <p:nvSpPr>
          <p:cNvPr id="3" name="Content Placeholder 2">
            <a:extLst>
              <a:ext uri="{FF2B5EF4-FFF2-40B4-BE49-F238E27FC236}">
                <a16:creationId xmlns:a16="http://schemas.microsoft.com/office/drawing/2014/main" id="{EF0E7AD8-981C-5556-4FE9-86B8E25640D9}"/>
              </a:ext>
            </a:extLst>
          </p:cNvPr>
          <p:cNvSpPr>
            <a:spLocks noGrp="1"/>
          </p:cNvSpPr>
          <p:nvPr>
            <p:ph idx="1"/>
          </p:nvPr>
        </p:nvSpPr>
        <p:spPr/>
        <p:txBody>
          <a:bodyPr/>
          <a:lstStyle/>
          <a:p>
            <a:pPr>
              <a:buFont typeface="Arial" panose="020B0604020202020204" pitchFamily="34" charset="0"/>
              <a:buChar char="•"/>
            </a:pPr>
            <a:r>
              <a:rPr lang="en-IN" sz="1800" b="1" dirty="0">
                <a:effectLst/>
                <a:latin typeface="TimesNewRomanPS"/>
              </a:rPr>
              <a:t>Binding of data and corresponding methods into a single unit is called </a:t>
            </a:r>
            <a:r>
              <a:rPr lang="en-IN" sz="2400" b="1" dirty="0">
                <a:effectLst/>
                <a:latin typeface="TimesNewRomanPS"/>
              </a:rPr>
              <a:t>Encapsulation</a:t>
            </a:r>
            <a:r>
              <a:rPr lang="en-IN" sz="1800" b="1" dirty="0">
                <a:effectLst/>
                <a:latin typeface="TimesNewRomanPS"/>
              </a:rPr>
              <a:t> . </a:t>
            </a:r>
            <a:endParaRPr lang="en-IN" dirty="0">
              <a:effectLst/>
            </a:endParaRPr>
          </a:p>
          <a:p>
            <a:pPr>
              <a:buFont typeface="Arial" panose="020B0604020202020204" pitchFamily="34" charset="0"/>
              <a:buChar char="•"/>
            </a:pPr>
            <a:r>
              <a:rPr lang="en-IN" sz="1800" b="1" dirty="0">
                <a:effectLst/>
                <a:latin typeface="TimesNewRomanPS"/>
              </a:rPr>
              <a:t>If any java class follows data hiding and abstraction such type of class is said to be encapsulated class. </a:t>
            </a:r>
            <a:endParaRPr lang="en-IN" dirty="0">
              <a:effectLst/>
            </a:endParaRPr>
          </a:p>
          <a:p>
            <a:pPr>
              <a:buFont typeface="Arial" panose="020B0604020202020204" pitchFamily="34" charset="0"/>
              <a:buChar char="•"/>
            </a:pPr>
            <a:r>
              <a:rPr lang="en-IN" sz="1800" b="1" dirty="0">
                <a:effectLst/>
                <a:latin typeface="TimesNewRomanPS"/>
              </a:rPr>
              <a:t>                     </a:t>
            </a:r>
            <a:r>
              <a:rPr lang="en-IN" sz="2400" b="1" dirty="0">
                <a:effectLst/>
                <a:latin typeface="TimesNewRomanPS"/>
              </a:rPr>
              <a:t>Encapsulation=</a:t>
            </a:r>
            <a:r>
              <a:rPr lang="en-IN" sz="2400" b="1" dirty="0" err="1">
                <a:effectLst/>
                <a:latin typeface="TimesNewRomanPS"/>
              </a:rPr>
              <a:t>Datahiding+Abstraction</a:t>
            </a:r>
            <a:r>
              <a:rPr lang="en-IN" sz="2400" b="1" dirty="0">
                <a:effectLst/>
                <a:latin typeface="TimesNewRomanPS"/>
              </a:rPr>
              <a:t> </a:t>
            </a:r>
            <a:endParaRPr lang="en-IN" dirty="0">
              <a:effectLst/>
            </a:endParaRPr>
          </a:p>
          <a:p>
            <a:endParaRPr lang="en-US" dirty="0"/>
          </a:p>
        </p:txBody>
      </p:sp>
      <p:sp>
        <p:nvSpPr>
          <p:cNvPr id="4" name="Footer Placeholder 3">
            <a:extLst>
              <a:ext uri="{FF2B5EF4-FFF2-40B4-BE49-F238E27FC236}">
                <a16:creationId xmlns:a16="http://schemas.microsoft.com/office/drawing/2014/main" id="{3B858B18-FC9A-66D2-45C2-0CFB5569E9B0}"/>
              </a:ext>
            </a:extLst>
          </p:cNvPr>
          <p:cNvSpPr>
            <a:spLocks noGrp="1"/>
          </p:cNvSpPr>
          <p:nvPr>
            <p:ph type="ftr" sz="quarter" idx="11"/>
          </p:nvPr>
        </p:nvSpPr>
        <p:spPr/>
        <p:txBody>
          <a:bodyPr/>
          <a:lstStyle/>
          <a:p>
            <a:pPr>
              <a:defRPr/>
            </a:pPr>
            <a:r>
              <a:rPr lang="en-US"/>
              <a:t>Dr. Naveen Kumar, Associate Professor, AIIT, AUP</a:t>
            </a:r>
          </a:p>
        </p:txBody>
      </p:sp>
      <p:pic>
        <p:nvPicPr>
          <p:cNvPr id="6" name="Picture 5" descr="A diagram of a bank&#10;&#10;Description automatically generated">
            <a:extLst>
              <a:ext uri="{FF2B5EF4-FFF2-40B4-BE49-F238E27FC236}">
                <a16:creationId xmlns:a16="http://schemas.microsoft.com/office/drawing/2014/main" id="{E213A71E-C094-FF88-D32D-BE67691463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3111664"/>
            <a:ext cx="7772400" cy="3746336"/>
          </a:xfrm>
          <a:prstGeom prst="rect">
            <a:avLst/>
          </a:prstGeom>
        </p:spPr>
      </p:pic>
    </p:spTree>
    <p:extLst>
      <p:ext uri="{BB962C8B-B14F-4D97-AF65-F5344CB8AC3E}">
        <p14:creationId xmlns:p14="http://schemas.microsoft.com/office/powerpoint/2010/main" val="3927597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1613A-427F-3EC7-8676-D5A21918276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8F763F8-310A-8912-367E-2801C0F06DF4}"/>
              </a:ext>
            </a:extLst>
          </p:cNvPr>
          <p:cNvSpPr>
            <a:spLocks noGrp="1"/>
          </p:cNvSpPr>
          <p:nvPr>
            <p:ph idx="1"/>
          </p:nvPr>
        </p:nvSpPr>
        <p:spPr/>
        <p:txBody>
          <a:bodyPr/>
          <a:lstStyle/>
          <a:p>
            <a:r>
              <a:rPr lang="en-IN" sz="1800" b="1" dirty="0">
                <a:effectLst/>
                <a:latin typeface="TimesNewRomanPS"/>
              </a:rPr>
              <a:t>Every data member should be declared as private and for every member we have to maintain getter &amp; Setter methods. </a:t>
            </a:r>
            <a:endParaRPr lang="en-IN" dirty="0"/>
          </a:p>
          <a:p>
            <a:endParaRPr lang="en-IN" sz="1800" b="1" dirty="0">
              <a:effectLst/>
              <a:latin typeface="TimesNewRomanPS"/>
            </a:endParaRPr>
          </a:p>
          <a:p>
            <a:r>
              <a:rPr lang="en-IN" sz="1800" b="1" dirty="0">
                <a:effectLst/>
                <a:latin typeface="TimesNewRomanPS"/>
              </a:rPr>
              <a:t>The main advantages of encapsulation are : </a:t>
            </a:r>
            <a:endParaRPr lang="en-IN" dirty="0"/>
          </a:p>
          <a:p>
            <a:pPr>
              <a:buFont typeface="+mj-lt"/>
              <a:buAutoNum type="arabicPeriod"/>
            </a:pPr>
            <a:r>
              <a:rPr lang="en-IN" sz="1800" b="1" dirty="0">
                <a:effectLst/>
                <a:latin typeface="TimesNewRomanPS"/>
              </a:rPr>
              <a:t>We can achieve security. </a:t>
            </a:r>
          </a:p>
          <a:p>
            <a:pPr>
              <a:buFont typeface="+mj-lt"/>
              <a:buAutoNum type="arabicPeriod"/>
            </a:pPr>
            <a:r>
              <a:rPr lang="en-IN" sz="1800" b="1" dirty="0">
                <a:effectLst/>
                <a:latin typeface="TimesNewRomanPS"/>
              </a:rPr>
              <a:t>Enhancement will become very easy. </a:t>
            </a:r>
          </a:p>
          <a:p>
            <a:pPr>
              <a:buFont typeface="+mj-lt"/>
              <a:buAutoNum type="arabicPeriod"/>
            </a:pPr>
            <a:r>
              <a:rPr lang="en-IN" sz="1800" b="1" dirty="0">
                <a:effectLst/>
                <a:latin typeface="TimesNewRomanPS"/>
              </a:rPr>
              <a:t>It improves maintainability and modularity of the application. </a:t>
            </a:r>
          </a:p>
          <a:p>
            <a:pPr>
              <a:buFont typeface="+mj-lt"/>
              <a:buAutoNum type="arabicPeriod"/>
            </a:pPr>
            <a:r>
              <a:rPr lang="en-IN" sz="1800" b="1" dirty="0">
                <a:effectLst/>
                <a:latin typeface="TimesNewRomanPS"/>
              </a:rPr>
              <a:t>It provides flexibility to the user to use system very easily. </a:t>
            </a:r>
          </a:p>
          <a:p>
            <a:endParaRPr lang="en-IN" sz="1800" b="1" dirty="0">
              <a:effectLst/>
              <a:latin typeface="TimesNewRomanPS"/>
            </a:endParaRPr>
          </a:p>
          <a:p>
            <a:r>
              <a:rPr lang="en-IN" sz="1800" b="1" dirty="0">
                <a:effectLst/>
                <a:latin typeface="TimesNewRomanPS"/>
              </a:rPr>
              <a:t>The main disadvantage of encapsulation is it increases length of the code and slows down execution. </a:t>
            </a:r>
            <a:endParaRPr lang="en-IN" dirty="0"/>
          </a:p>
          <a:p>
            <a:endParaRPr lang="en-US" dirty="0"/>
          </a:p>
        </p:txBody>
      </p:sp>
      <p:sp>
        <p:nvSpPr>
          <p:cNvPr id="4" name="Footer Placeholder 3">
            <a:extLst>
              <a:ext uri="{FF2B5EF4-FFF2-40B4-BE49-F238E27FC236}">
                <a16:creationId xmlns:a16="http://schemas.microsoft.com/office/drawing/2014/main" id="{ED0848BC-B81B-FDD7-4394-A52E25AF7FEA}"/>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041589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14D2F-2CE4-1C5B-04AE-EEBFF4CD79DA}"/>
              </a:ext>
            </a:extLst>
          </p:cNvPr>
          <p:cNvSpPr>
            <a:spLocks noGrp="1"/>
          </p:cNvSpPr>
          <p:nvPr>
            <p:ph type="title"/>
          </p:nvPr>
        </p:nvSpPr>
        <p:spPr/>
        <p:txBody>
          <a:bodyPr/>
          <a:lstStyle/>
          <a:p>
            <a:r>
              <a:rPr lang="en-US" dirty="0"/>
              <a:t>Tightly Encapsulated Class</a:t>
            </a:r>
          </a:p>
        </p:txBody>
      </p:sp>
      <p:sp>
        <p:nvSpPr>
          <p:cNvPr id="3" name="Content Placeholder 2">
            <a:extLst>
              <a:ext uri="{FF2B5EF4-FFF2-40B4-BE49-F238E27FC236}">
                <a16:creationId xmlns:a16="http://schemas.microsoft.com/office/drawing/2014/main" id="{1C45CDD4-D270-52CE-73F6-722A752238BD}"/>
              </a:ext>
            </a:extLst>
          </p:cNvPr>
          <p:cNvSpPr>
            <a:spLocks noGrp="1"/>
          </p:cNvSpPr>
          <p:nvPr>
            <p:ph idx="1"/>
          </p:nvPr>
        </p:nvSpPr>
        <p:spPr/>
        <p:txBody>
          <a:bodyPr/>
          <a:lstStyle/>
          <a:p>
            <a:r>
              <a:rPr lang="en-IN" sz="1800" b="1" dirty="0">
                <a:effectLst/>
                <a:latin typeface="TimesNewRomanPS"/>
              </a:rPr>
              <a:t>A class is said to be tightly encapsulated if and only if every variable of that class declared as private whether the variable has getter and setter methods are not , and whether these methods declared as public or not, these checking are not required to perform. </a:t>
            </a:r>
            <a:endParaRPr lang="en-IN" dirty="0"/>
          </a:p>
          <a:p>
            <a:r>
              <a:rPr lang="en-IN" sz="1800" b="1" dirty="0">
                <a:effectLst/>
                <a:latin typeface="CourierNewPS"/>
              </a:rPr>
              <a:t>Example: </a:t>
            </a:r>
          </a:p>
          <a:p>
            <a:pPr marL="0" indent="0">
              <a:buNone/>
            </a:pPr>
            <a:r>
              <a:rPr lang="en-IN" sz="1800" b="1" dirty="0">
                <a:effectLst/>
                <a:latin typeface="CourierNewPS"/>
              </a:rPr>
              <a:t>class Account { </a:t>
            </a:r>
          </a:p>
          <a:p>
            <a:pPr marL="0" indent="0">
              <a:buNone/>
            </a:pPr>
            <a:r>
              <a:rPr lang="en-IN" sz="1800" b="1" dirty="0">
                <a:effectLst/>
                <a:latin typeface="CourierNewPS"/>
              </a:rPr>
              <a:t>private double balance; </a:t>
            </a:r>
          </a:p>
          <a:p>
            <a:pPr marL="0" indent="0">
              <a:buNone/>
            </a:pPr>
            <a:r>
              <a:rPr lang="en-IN" sz="1800" b="1" dirty="0">
                <a:effectLst/>
                <a:latin typeface="CourierNewPS"/>
              </a:rPr>
              <a:t>public double </a:t>
            </a:r>
            <a:r>
              <a:rPr lang="en-IN" sz="1800" b="1" dirty="0" err="1">
                <a:effectLst/>
                <a:latin typeface="CourierNewPS"/>
              </a:rPr>
              <a:t>getBalance</a:t>
            </a:r>
            <a:r>
              <a:rPr lang="en-IN" sz="1800" b="1" dirty="0">
                <a:effectLst/>
                <a:latin typeface="CourierNewPS"/>
              </a:rPr>
              <a:t>() { </a:t>
            </a:r>
            <a:endParaRPr lang="en-IN" dirty="0"/>
          </a:p>
          <a:p>
            <a:pPr marL="0" indent="0">
              <a:buNone/>
            </a:pPr>
            <a:r>
              <a:rPr lang="en-IN" sz="1800" b="1" dirty="0">
                <a:effectLst/>
                <a:latin typeface="CourierNewPS"/>
              </a:rPr>
              <a:t>return balance; </a:t>
            </a:r>
          </a:p>
          <a:p>
            <a:pPr marL="0" indent="0">
              <a:buNone/>
            </a:pPr>
            <a:r>
              <a:rPr lang="en-IN" sz="1800" b="1" dirty="0">
                <a:effectLst/>
                <a:latin typeface="CourierNewPS"/>
              </a:rPr>
              <a:t>} </a:t>
            </a:r>
          </a:p>
          <a:p>
            <a:pPr marL="0" indent="0">
              <a:buNone/>
            </a:pPr>
            <a:r>
              <a:rPr lang="en-IN" sz="1800" b="1" dirty="0">
                <a:effectLst/>
                <a:latin typeface="CourierNewPS"/>
              </a:rPr>
              <a:t>} </a:t>
            </a:r>
            <a:endParaRPr lang="en-IN" dirty="0"/>
          </a:p>
          <a:p>
            <a:r>
              <a:rPr lang="en-IN" sz="1800" b="1" dirty="0">
                <a:effectLst/>
                <a:latin typeface="TimesNewRomanPS"/>
              </a:rPr>
              <a:t>Which of the following classes are tightly </a:t>
            </a:r>
          </a:p>
          <a:p>
            <a:pPr marL="0" indent="0">
              <a:buNone/>
            </a:pPr>
            <a:r>
              <a:rPr lang="en-IN" sz="1800" b="1" dirty="0">
                <a:effectLst/>
                <a:latin typeface="TimesNewRomanPS"/>
              </a:rPr>
              <a:t>encapsulated? </a:t>
            </a:r>
            <a:endParaRPr lang="en-IN" dirty="0"/>
          </a:p>
          <a:p>
            <a:endParaRPr lang="en-US" dirty="0"/>
          </a:p>
        </p:txBody>
      </p:sp>
      <p:sp>
        <p:nvSpPr>
          <p:cNvPr id="4" name="Footer Placeholder 3">
            <a:extLst>
              <a:ext uri="{FF2B5EF4-FFF2-40B4-BE49-F238E27FC236}">
                <a16:creationId xmlns:a16="http://schemas.microsoft.com/office/drawing/2014/main" id="{7002C72B-FE04-D598-6E24-3C062D17EE15}"/>
              </a:ext>
            </a:extLst>
          </p:cNvPr>
          <p:cNvSpPr>
            <a:spLocks noGrp="1"/>
          </p:cNvSpPr>
          <p:nvPr>
            <p:ph type="ftr" sz="quarter" idx="11"/>
          </p:nvPr>
        </p:nvSpPr>
        <p:spPr/>
        <p:txBody>
          <a:bodyPr/>
          <a:lstStyle/>
          <a:p>
            <a:pPr>
              <a:defRPr/>
            </a:pPr>
            <a:r>
              <a:rPr lang="en-US"/>
              <a:t>Dr. Naveen Kumar, Associate Professor, AIIT, AUP</a:t>
            </a:r>
          </a:p>
        </p:txBody>
      </p:sp>
      <p:pic>
        <p:nvPicPr>
          <p:cNvPr id="1025" name="Picture 1" descr="page5image16758384">
            <a:extLst>
              <a:ext uri="{FF2B5EF4-FFF2-40B4-BE49-F238E27FC236}">
                <a16:creationId xmlns:a16="http://schemas.microsoft.com/office/drawing/2014/main" id="{3A0D3634-A70E-87C2-B91F-E077B5B1E3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9984" y="2178050"/>
            <a:ext cx="3488116" cy="429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2031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3A338-E4E8-4618-B261-BDC409446E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EEEF2D8-7B79-7CEF-2B63-E89B3E19CC7E}"/>
              </a:ext>
            </a:extLst>
          </p:cNvPr>
          <p:cNvSpPr>
            <a:spLocks noGrp="1"/>
          </p:cNvSpPr>
          <p:nvPr>
            <p:ph idx="1"/>
          </p:nvPr>
        </p:nvSpPr>
        <p:spPr/>
        <p:txBody>
          <a:bodyPr/>
          <a:lstStyle/>
          <a:p>
            <a:r>
              <a:rPr lang="en-IN" sz="1800" b="1" dirty="0">
                <a:effectLst/>
                <a:latin typeface="TimesNewRomanPS"/>
              </a:rPr>
              <a:t>Which of the following classes are tightly encapsulated? </a:t>
            </a:r>
            <a:endParaRPr lang="en-IN" dirty="0"/>
          </a:p>
          <a:p>
            <a:r>
              <a:rPr lang="en-IN" sz="1800" b="1" dirty="0">
                <a:effectLst/>
                <a:latin typeface="CourierNewPS"/>
              </a:rPr>
              <a:t>class A { int x=10; //not </a:t>
            </a:r>
          </a:p>
          <a:p>
            <a:r>
              <a:rPr lang="en-IN" sz="1800" b="1" dirty="0">
                <a:effectLst/>
                <a:latin typeface="CourierNewPS"/>
              </a:rPr>
              <a:t>} </a:t>
            </a:r>
          </a:p>
          <a:p>
            <a:endParaRPr lang="en-IN" sz="1800" b="1" dirty="0">
              <a:latin typeface="CourierNewPS"/>
            </a:endParaRPr>
          </a:p>
          <a:p>
            <a:r>
              <a:rPr lang="en-IN" sz="1800" b="1" dirty="0">
                <a:effectLst/>
                <a:latin typeface="CourierNewPS"/>
              </a:rPr>
              <a:t>class B extends A { </a:t>
            </a:r>
          </a:p>
          <a:p>
            <a:r>
              <a:rPr lang="en-IN" sz="1800" b="1" dirty="0">
                <a:effectLst/>
                <a:latin typeface="CourierNewPS"/>
              </a:rPr>
              <a:t>private int y=20; //not </a:t>
            </a:r>
          </a:p>
          <a:p>
            <a:r>
              <a:rPr lang="en-IN" sz="1800" b="1" dirty="0">
                <a:effectLst/>
                <a:latin typeface="CourierNewPS"/>
              </a:rPr>
              <a:t>} </a:t>
            </a:r>
          </a:p>
          <a:p>
            <a:endParaRPr lang="en-IN" sz="1800" b="1" dirty="0">
              <a:latin typeface="CourierNewPS"/>
            </a:endParaRPr>
          </a:p>
          <a:p>
            <a:r>
              <a:rPr lang="en-IN" sz="1800" b="1" dirty="0">
                <a:effectLst/>
                <a:latin typeface="CourierNewPS"/>
              </a:rPr>
              <a:t>class C extends B { </a:t>
            </a:r>
          </a:p>
          <a:p>
            <a:r>
              <a:rPr lang="en-IN" sz="1800" b="1" dirty="0">
                <a:effectLst/>
                <a:latin typeface="CourierNewPS"/>
              </a:rPr>
              <a:t>private int z=30; //not </a:t>
            </a:r>
          </a:p>
          <a:p>
            <a:r>
              <a:rPr lang="en-IN" sz="1800" b="1" dirty="0">
                <a:effectLst/>
                <a:latin typeface="CourierNewPS"/>
              </a:rPr>
              <a:t>} </a:t>
            </a:r>
            <a:endParaRPr lang="en-IN" dirty="0"/>
          </a:p>
          <a:p>
            <a:endParaRPr lang="en-US" dirty="0"/>
          </a:p>
          <a:p>
            <a:r>
              <a:rPr lang="en-IN" sz="1800" b="1" dirty="0">
                <a:effectLst/>
                <a:latin typeface="TimesNewRomanPS"/>
              </a:rPr>
              <a:t>Note: if the parent class is not tightly encapsulated then no child class is tightly encapsulated. </a:t>
            </a:r>
            <a:endParaRPr lang="en-IN" dirty="0"/>
          </a:p>
          <a:p>
            <a:endParaRPr lang="en-US" dirty="0"/>
          </a:p>
        </p:txBody>
      </p:sp>
      <p:sp>
        <p:nvSpPr>
          <p:cNvPr id="4" name="Footer Placeholder 3">
            <a:extLst>
              <a:ext uri="{FF2B5EF4-FFF2-40B4-BE49-F238E27FC236}">
                <a16:creationId xmlns:a16="http://schemas.microsoft.com/office/drawing/2014/main" id="{73619B59-AB12-4654-618E-67D836D54A96}"/>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88368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p>
            <a:r>
              <a:rPr lang="en-IN" dirty="0"/>
              <a:t>Inheritance</a:t>
            </a:r>
          </a:p>
        </p:txBody>
      </p:sp>
      <p:sp>
        <p:nvSpPr>
          <p:cNvPr id="15" name="Content Placeholder 4"/>
          <p:cNvSpPr>
            <a:spLocks noGrp="1"/>
          </p:cNvSpPr>
          <p:nvPr>
            <p:ph idx="1"/>
          </p:nvPr>
        </p:nvSpPr>
        <p:spPr>
          <a:xfrm>
            <a:off x="457200" y="1295400"/>
            <a:ext cx="8229600" cy="4950854"/>
          </a:xfrm>
        </p:spPr>
        <p:txBody>
          <a:bodyPr/>
          <a:lstStyle/>
          <a:p>
            <a:pPr>
              <a:spcBef>
                <a:spcPts val="1200"/>
              </a:spcBef>
              <a:spcAft>
                <a:spcPts val="1200"/>
              </a:spcAft>
            </a:pPr>
            <a:r>
              <a:rPr lang="en-IN" sz="2400" dirty="0"/>
              <a:t>IS-</a:t>
            </a:r>
            <a:r>
              <a:rPr lang="en-IN" sz="2400" dirty="0" err="1"/>
              <a:t>ARelationship</a:t>
            </a:r>
            <a:r>
              <a:rPr lang="en-IN" sz="2400" dirty="0"/>
              <a:t>(inheritance):</a:t>
            </a:r>
            <a:br>
              <a:rPr lang="en-IN" sz="2400" dirty="0"/>
            </a:br>
            <a:r>
              <a:rPr lang="en-IN" sz="2400" dirty="0"/>
              <a:t>1) Also known as inheritance.</a:t>
            </a:r>
            <a:br>
              <a:rPr lang="en-IN" sz="2400" dirty="0"/>
            </a:br>
            <a:r>
              <a:rPr lang="en-IN" sz="2400" dirty="0"/>
              <a:t>2) By using extends keywords we can implement IS-A relationship.</a:t>
            </a:r>
            <a:br>
              <a:rPr lang="en-IN" sz="2400" dirty="0"/>
            </a:br>
            <a:r>
              <a:rPr lang="en-IN" sz="2400" dirty="0"/>
              <a:t>3) The main advantage of IS-A relationship is reusability.</a:t>
            </a:r>
          </a:p>
          <a:p>
            <a:pPr algn="l" rtl="0"/>
            <a:r>
              <a:rPr lang="en-IN" sz="1600" dirty="0">
                <a:effectLst/>
                <a:latin typeface="Arial" panose="020B0604020202020204" pitchFamily="34" charset="0"/>
              </a:rPr>
              <a:t>class Parent</a:t>
            </a:r>
            <a:br>
              <a:rPr lang="en-IN" sz="1600" dirty="0">
                <a:effectLst/>
              </a:rPr>
            </a:br>
            <a:r>
              <a:rPr lang="en-IN" sz="1600" dirty="0">
                <a:effectLst/>
                <a:latin typeface="Arial" panose="020B0604020202020204" pitchFamily="34" charset="0"/>
              </a:rPr>
              <a:t>{</a:t>
            </a:r>
            <a:br>
              <a:rPr lang="en-IN" sz="1600" dirty="0">
                <a:effectLst/>
              </a:rPr>
            </a:br>
            <a:r>
              <a:rPr lang="en-IN" sz="1600" dirty="0">
                <a:effectLst/>
                <a:latin typeface="Arial" panose="020B0604020202020204" pitchFamily="34" charset="0"/>
              </a:rPr>
              <a:t>public void </a:t>
            </a:r>
            <a:r>
              <a:rPr lang="en-IN" sz="1600" dirty="0" err="1">
                <a:effectLst/>
                <a:latin typeface="Arial" panose="020B0604020202020204" pitchFamily="34" charset="0"/>
              </a:rPr>
              <a:t>methodOne</a:t>
            </a:r>
            <a:r>
              <a:rPr lang="en-IN" sz="1600" dirty="0">
                <a:effectLst/>
                <a:latin typeface="Arial" panose="020B0604020202020204" pitchFamily="34" charset="0"/>
              </a:rPr>
              <a:t>()</a:t>
            </a:r>
            <a:endParaRPr lang="en-IN" sz="1600" dirty="0">
              <a:effectLst/>
            </a:endParaRPr>
          </a:p>
          <a:p>
            <a:pPr algn="l" rtl="0"/>
            <a:r>
              <a:rPr lang="en-IN" sz="1600" b="0" i="0" dirty="0">
                <a:solidFill>
                  <a:srgbClr val="000000"/>
                </a:solidFill>
                <a:effectLst/>
                <a:latin typeface="Arial" panose="020B0604020202020204" pitchFamily="34" charset="0"/>
              </a:rPr>
              <a:t>{     }</a:t>
            </a:r>
          </a:p>
          <a:p>
            <a:pPr algn="l" rtl="0"/>
            <a:r>
              <a:rPr lang="en-IN" sz="1600" dirty="0">
                <a:solidFill>
                  <a:srgbClr val="000000"/>
                </a:solidFill>
                <a:latin typeface="Arial" panose="020B0604020202020204" pitchFamily="34" charset="0"/>
              </a:rPr>
              <a:t>}</a:t>
            </a:r>
          </a:p>
          <a:p>
            <a:pPr algn="l" rtl="0"/>
            <a:endParaRPr lang="en-IN" sz="1600" b="0" i="0" dirty="0">
              <a:solidFill>
                <a:srgbClr val="000000"/>
              </a:solidFill>
              <a:effectLst/>
              <a:latin typeface="Arial" panose="020B0604020202020204" pitchFamily="34" charset="0"/>
            </a:endParaRPr>
          </a:p>
          <a:p>
            <a:pPr algn="l" rtl="0"/>
            <a:r>
              <a:rPr lang="en-IN" sz="1600" dirty="0">
                <a:solidFill>
                  <a:srgbClr val="000000"/>
                </a:solidFill>
                <a:latin typeface="Arial" panose="020B0604020202020204" pitchFamily="34" charset="0"/>
              </a:rPr>
              <a:t>class Child</a:t>
            </a:r>
          </a:p>
          <a:p>
            <a:pPr algn="l" rtl="0"/>
            <a:r>
              <a:rPr lang="en-IN" sz="1600" b="0" i="0" dirty="0">
                <a:solidFill>
                  <a:srgbClr val="000000"/>
                </a:solidFill>
                <a:effectLst/>
                <a:latin typeface="Arial" panose="020B0604020202020204" pitchFamily="34" charset="0"/>
              </a:rPr>
              <a:t>{</a:t>
            </a:r>
          </a:p>
          <a:p>
            <a:pPr algn="l" rtl="0"/>
            <a:r>
              <a:rPr lang="en-IN" sz="1600" dirty="0">
                <a:solidFill>
                  <a:srgbClr val="000000"/>
                </a:solidFill>
                <a:latin typeface="Arial" panose="020B0604020202020204" pitchFamily="34" charset="0"/>
              </a:rPr>
              <a:t>Public void </a:t>
            </a:r>
            <a:r>
              <a:rPr lang="en-IN" sz="1600" dirty="0" err="1">
                <a:solidFill>
                  <a:srgbClr val="000000"/>
                </a:solidFill>
                <a:latin typeface="Arial" panose="020B0604020202020204" pitchFamily="34" charset="0"/>
              </a:rPr>
              <a:t>methodTwo</a:t>
            </a:r>
            <a:r>
              <a:rPr lang="en-IN" sz="1600" dirty="0">
                <a:solidFill>
                  <a:srgbClr val="000000"/>
                </a:solidFill>
                <a:latin typeface="Arial" panose="020B0604020202020204" pitchFamily="34" charset="0"/>
              </a:rPr>
              <a:t>()</a:t>
            </a:r>
          </a:p>
          <a:p>
            <a:pPr algn="l" rtl="0"/>
            <a:r>
              <a:rPr lang="en-IN" sz="1600" b="0" i="0" dirty="0">
                <a:solidFill>
                  <a:srgbClr val="000000"/>
                </a:solidFill>
                <a:effectLst/>
                <a:latin typeface="Arial" panose="020B0604020202020204" pitchFamily="34" charset="0"/>
              </a:rPr>
              <a:t>{   }</a:t>
            </a:r>
          </a:p>
          <a:p>
            <a:pPr algn="l" rtl="0"/>
            <a:r>
              <a:rPr lang="en-IN" sz="1600" dirty="0">
                <a:solidFill>
                  <a:srgbClr val="000000"/>
                </a:solidFill>
                <a:latin typeface="Arial" panose="020B0604020202020204" pitchFamily="34" charset="0"/>
              </a:rPr>
              <a:t>}</a:t>
            </a:r>
            <a:br>
              <a:rPr lang="en-IN" sz="1400" b="0" i="0" dirty="0">
                <a:solidFill>
                  <a:srgbClr val="000000"/>
                </a:solidFill>
                <a:effectLst/>
                <a:latin typeface="Arial" panose="020B0604020202020204" pitchFamily="34" charset="0"/>
              </a:rPr>
            </a:br>
            <a:endParaRPr lang="en-IN" sz="1400" b="0" i="0" dirty="0">
              <a:solidFill>
                <a:srgbClr val="000000"/>
              </a:solidFill>
              <a:effectLst/>
              <a:latin typeface="Arial" panose="020B0604020202020204" pitchFamily="34" charset="0"/>
            </a:endParaRPr>
          </a:p>
          <a:p>
            <a:pPr>
              <a:spcBef>
                <a:spcPts val="1200"/>
              </a:spcBef>
              <a:spcAft>
                <a:spcPts val="1200"/>
              </a:spcAft>
            </a:pPr>
            <a:endParaRPr lang="en-US" sz="2400" dirty="0"/>
          </a:p>
        </p:txBody>
      </p:sp>
      <p:sp>
        <p:nvSpPr>
          <p:cNvPr id="5"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dirty="0">
                <a:solidFill>
                  <a:schemeClr val="tx1"/>
                </a:solidFill>
                <a:latin typeface="Times New Roman" panose="02020603050405020304" pitchFamily="18" charset="0"/>
                <a:cs typeface="Times New Roman" panose="02020603050405020304" pitchFamily="18" charset="0"/>
              </a:rPr>
              <a:t>Dr. Naveen Kumar, Associate Professor, AIIT, AUP</a:t>
            </a:r>
          </a:p>
        </p:txBody>
      </p:sp>
    </p:spTree>
    <p:extLst>
      <p:ext uri="{BB962C8B-B14F-4D97-AF65-F5344CB8AC3E}">
        <p14:creationId xmlns:p14="http://schemas.microsoft.com/office/powerpoint/2010/main" val="3155093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48FF3-2AE9-7A97-BF8F-5001FD5F7654}"/>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5BA09F9C-C44C-2615-A224-5683ECF7B74F}"/>
              </a:ext>
            </a:extLst>
          </p:cNvPr>
          <p:cNvSpPr>
            <a:spLocks noGrp="1"/>
          </p:cNvSpPr>
          <p:nvPr>
            <p:ph type="ftr" sz="quarter" idx="11"/>
          </p:nvPr>
        </p:nvSpPr>
        <p:spPr/>
        <p:txBody>
          <a:bodyPr/>
          <a:lstStyle/>
          <a:p>
            <a:pPr>
              <a:defRPr/>
            </a:pPr>
            <a:r>
              <a:rPr lang="en-US"/>
              <a:t>Dr. Naveen Kumar, Associate Professor, AIIT, AUP</a:t>
            </a:r>
          </a:p>
        </p:txBody>
      </p:sp>
      <p:sp>
        <p:nvSpPr>
          <p:cNvPr id="5" name="Content Placeholder 4">
            <a:extLst>
              <a:ext uri="{FF2B5EF4-FFF2-40B4-BE49-F238E27FC236}">
                <a16:creationId xmlns:a16="http://schemas.microsoft.com/office/drawing/2014/main" id="{562216B7-BF49-B753-61B2-76AB733812DA}"/>
              </a:ext>
            </a:extLst>
          </p:cNvPr>
          <p:cNvSpPr>
            <a:spLocks noGrp="1"/>
          </p:cNvSpPr>
          <p:nvPr>
            <p:ph idx="1"/>
          </p:nvPr>
        </p:nvSpPr>
        <p:spPr/>
        <p:txBody>
          <a:bodyPr/>
          <a:lstStyle/>
          <a:p>
            <a:endParaRPr lang="en-US"/>
          </a:p>
        </p:txBody>
      </p:sp>
      <p:pic>
        <p:nvPicPr>
          <p:cNvPr id="2049" name="Picture 1" descr="page6image16720208">
            <a:extLst>
              <a:ext uri="{FF2B5EF4-FFF2-40B4-BE49-F238E27FC236}">
                <a16:creationId xmlns:a16="http://schemas.microsoft.com/office/drawing/2014/main" id="{380723D1-7DAC-BE6E-D5D8-7BAD196299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99" y="1295400"/>
            <a:ext cx="8444553" cy="502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4973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93960-5835-FC44-71BA-2C642505E75D}"/>
              </a:ext>
            </a:extLst>
          </p:cNvPr>
          <p:cNvSpPr>
            <a:spLocks noGrp="1"/>
          </p:cNvSpPr>
          <p:nvPr>
            <p:ph type="title"/>
          </p:nvPr>
        </p:nvSpPr>
        <p:spPr/>
        <p:txBody>
          <a:bodyPr/>
          <a:lstStyle/>
          <a:p>
            <a:r>
              <a:rPr lang="en-US" dirty="0"/>
              <a:t>Interpretation</a:t>
            </a:r>
          </a:p>
        </p:txBody>
      </p:sp>
      <p:sp>
        <p:nvSpPr>
          <p:cNvPr id="3" name="Content Placeholder 2">
            <a:extLst>
              <a:ext uri="{FF2B5EF4-FFF2-40B4-BE49-F238E27FC236}">
                <a16:creationId xmlns:a16="http://schemas.microsoft.com/office/drawing/2014/main" id="{D8191E3F-BA06-1CE9-1786-72685FD4C9BC}"/>
              </a:ext>
            </a:extLst>
          </p:cNvPr>
          <p:cNvSpPr>
            <a:spLocks noGrp="1"/>
          </p:cNvSpPr>
          <p:nvPr>
            <p:ph idx="1"/>
          </p:nvPr>
        </p:nvSpPr>
        <p:spPr/>
        <p:txBody>
          <a:bodyPr/>
          <a:lstStyle/>
          <a:p>
            <a:r>
              <a:rPr lang="en-IN" sz="2000" b="0" i="0" dirty="0">
                <a:effectLst/>
                <a:latin typeface="Arial" panose="020B0604020202020204" pitchFamily="34" charset="0"/>
              </a:rPr>
              <a:t>1) Whatever members the parent has by default available to the child but whatever members the child has by default not available to the parent. </a:t>
            </a:r>
          </a:p>
          <a:p>
            <a:r>
              <a:rPr lang="en-IN" sz="2000" b="0" i="0" dirty="0">
                <a:effectLst/>
                <a:latin typeface="Arial" panose="020B0604020202020204" pitchFamily="34" charset="0"/>
              </a:rPr>
              <a:t>Hence on the child reference we can call both parent</a:t>
            </a:r>
            <a:br>
              <a:rPr lang="en-IN" sz="2000" dirty="0"/>
            </a:br>
            <a:r>
              <a:rPr lang="en-IN" sz="2000" b="0" i="0" dirty="0">
                <a:effectLst/>
                <a:latin typeface="Arial" panose="020B0604020202020204" pitchFamily="34" charset="0"/>
              </a:rPr>
              <a:t>and child class methods. </a:t>
            </a:r>
          </a:p>
          <a:p>
            <a:endParaRPr lang="en-IN" sz="2000" b="0" i="0" dirty="0">
              <a:effectLst/>
              <a:latin typeface="Arial" panose="020B0604020202020204" pitchFamily="34" charset="0"/>
            </a:endParaRPr>
          </a:p>
          <a:p>
            <a:r>
              <a:rPr lang="en-IN" sz="2000" b="0" i="0" dirty="0">
                <a:effectLst/>
                <a:latin typeface="Arial" panose="020B0604020202020204" pitchFamily="34" charset="0"/>
              </a:rPr>
              <a:t>But on the parent reference we can call only methods available</a:t>
            </a:r>
            <a:br>
              <a:rPr lang="en-IN" sz="2000" dirty="0"/>
            </a:br>
            <a:r>
              <a:rPr lang="en-IN" sz="2000" b="0" i="0" dirty="0">
                <a:effectLst/>
                <a:latin typeface="Arial" panose="020B0604020202020204" pitchFamily="34" charset="0"/>
              </a:rPr>
              <a:t>in the parent class and we can’t call child specific methods.</a:t>
            </a:r>
            <a:br>
              <a:rPr lang="en-IN" sz="2000" dirty="0"/>
            </a:br>
            <a:r>
              <a:rPr lang="en-IN" sz="2000" b="0" i="0" dirty="0">
                <a:effectLst/>
                <a:latin typeface="Arial" panose="020B0604020202020204" pitchFamily="34" charset="0"/>
              </a:rPr>
              <a:t>2) Parent class reference can be used to hold child class object but by using that reference we can call only methods available in parent class and child specific methods we can’t call.</a:t>
            </a:r>
            <a:br>
              <a:rPr lang="en-IN" sz="2000" dirty="0"/>
            </a:br>
            <a:r>
              <a:rPr lang="en-IN" sz="2000" b="0" i="0" dirty="0">
                <a:effectLst/>
                <a:latin typeface="Arial" panose="020B0604020202020204" pitchFamily="34" charset="0"/>
              </a:rPr>
              <a:t>3) Child class reference cannot be used to hold parent class object.</a:t>
            </a:r>
            <a:endParaRPr lang="en-US" sz="2000" dirty="0"/>
          </a:p>
        </p:txBody>
      </p:sp>
      <p:sp>
        <p:nvSpPr>
          <p:cNvPr id="4" name="Footer Placeholder 3">
            <a:extLst>
              <a:ext uri="{FF2B5EF4-FFF2-40B4-BE49-F238E27FC236}">
                <a16:creationId xmlns:a16="http://schemas.microsoft.com/office/drawing/2014/main" id="{51708918-A80C-5D87-636F-6D6834BBDF3D}"/>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17974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DE428-5A0E-675C-4524-A863C663C8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7AB4453-85A8-ADB4-9BD7-06B4D9AB476B}"/>
              </a:ext>
            </a:extLst>
          </p:cNvPr>
          <p:cNvSpPr>
            <a:spLocks noGrp="1"/>
          </p:cNvSpPr>
          <p:nvPr>
            <p:ph idx="1"/>
          </p:nvPr>
        </p:nvSpPr>
        <p:spPr/>
        <p:txBody>
          <a:bodyPr/>
          <a:lstStyle/>
          <a:p>
            <a:r>
              <a:rPr lang="en-IN" b="0" i="0" dirty="0">
                <a:effectLst/>
                <a:latin typeface="Arial" panose="020B0604020202020204" pitchFamily="34" charset="0"/>
              </a:rPr>
              <a:t>The common methods which are required for </a:t>
            </a:r>
            <a:r>
              <a:rPr lang="en-IN" b="1" i="0" dirty="0">
                <a:effectLst/>
                <a:latin typeface="Arial" panose="020B0604020202020204" pitchFamily="34" charset="0"/>
              </a:rPr>
              <a:t>housing loan</a:t>
            </a:r>
            <a:r>
              <a:rPr lang="en-IN" b="0" i="0" dirty="0">
                <a:effectLst/>
                <a:latin typeface="Arial" panose="020B0604020202020204" pitchFamily="34" charset="0"/>
              </a:rPr>
              <a:t>, </a:t>
            </a:r>
            <a:r>
              <a:rPr lang="en-IN" b="1" i="0" dirty="0">
                <a:effectLst/>
                <a:latin typeface="Arial" panose="020B0604020202020204" pitchFamily="34" charset="0"/>
              </a:rPr>
              <a:t>vehicle loan</a:t>
            </a:r>
            <a:r>
              <a:rPr lang="en-IN" b="0" i="0" dirty="0">
                <a:effectLst/>
                <a:latin typeface="Arial" panose="020B0604020202020204" pitchFamily="34" charset="0"/>
              </a:rPr>
              <a:t>, </a:t>
            </a:r>
            <a:r>
              <a:rPr lang="en-IN" b="1" i="0" dirty="0">
                <a:effectLst/>
                <a:latin typeface="Arial" panose="020B0604020202020204" pitchFamily="34" charset="0"/>
              </a:rPr>
              <a:t>personal loan</a:t>
            </a:r>
            <a:r>
              <a:rPr lang="en-IN" b="0" i="0" dirty="0">
                <a:effectLst/>
                <a:latin typeface="Arial" panose="020B0604020202020204" pitchFamily="34" charset="0"/>
              </a:rPr>
              <a:t> and </a:t>
            </a:r>
            <a:r>
              <a:rPr lang="en-IN" b="1" i="0" dirty="0">
                <a:effectLst/>
                <a:latin typeface="Arial" panose="020B0604020202020204" pitchFamily="34" charset="0"/>
              </a:rPr>
              <a:t>education loan</a:t>
            </a:r>
            <a:r>
              <a:rPr lang="en-IN" b="0" i="0" dirty="0">
                <a:effectLst/>
                <a:latin typeface="Arial" panose="020B0604020202020204" pitchFamily="34" charset="0"/>
              </a:rPr>
              <a:t> we can define into a separate class in parent class </a:t>
            </a:r>
            <a:r>
              <a:rPr lang="en-IN" b="1" i="0" dirty="0">
                <a:effectLst/>
                <a:latin typeface="Arial" panose="020B0604020202020204" pitchFamily="34" charset="0"/>
              </a:rPr>
              <a:t>loan</a:t>
            </a:r>
            <a:r>
              <a:rPr lang="en-IN" b="0" i="0" dirty="0">
                <a:effectLst/>
                <a:latin typeface="Arial" panose="020B0604020202020204" pitchFamily="34" charset="0"/>
              </a:rPr>
              <a:t>. </a:t>
            </a:r>
          </a:p>
          <a:p>
            <a:r>
              <a:rPr lang="en-IN" b="0" i="0" dirty="0">
                <a:effectLst/>
                <a:latin typeface="Arial" panose="020B0604020202020204" pitchFamily="34" charset="0"/>
              </a:rPr>
              <a:t>So that automatically these methods are available to every child loan class.</a:t>
            </a:r>
          </a:p>
          <a:p>
            <a:endParaRPr lang="en-IN" dirty="0">
              <a:latin typeface="Arial" panose="020B0604020202020204" pitchFamily="34" charset="0"/>
            </a:endParaRPr>
          </a:p>
          <a:p>
            <a:r>
              <a:rPr lang="en-IN" dirty="0">
                <a:latin typeface="Arial" panose="020B0604020202020204" pitchFamily="34" charset="0"/>
              </a:rPr>
              <a:t>This is due to Reusability</a:t>
            </a:r>
            <a:endParaRPr lang="en-US" dirty="0"/>
          </a:p>
        </p:txBody>
      </p:sp>
      <p:sp>
        <p:nvSpPr>
          <p:cNvPr id="4" name="Footer Placeholder 3">
            <a:extLst>
              <a:ext uri="{FF2B5EF4-FFF2-40B4-BE49-F238E27FC236}">
                <a16:creationId xmlns:a16="http://schemas.microsoft.com/office/drawing/2014/main" id="{D211E32D-70E7-784B-B01F-BA2DE9B1DAA5}"/>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756587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75375-C85A-E4AA-16C4-2354BD5560F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5A7EC62-7B5E-9B6A-A2EE-B553C02EB1C8}"/>
              </a:ext>
            </a:extLst>
          </p:cNvPr>
          <p:cNvSpPr>
            <a:spLocks noGrp="1"/>
          </p:cNvSpPr>
          <p:nvPr>
            <p:ph idx="1"/>
          </p:nvPr>
        </p:nvSpPr>
        <p:spPr/>
        <p:txBody>
          <a:bodyPr/>
          <a:lstStyle/>
          <a:p>
            <a:pPr algn="l" rtl="0"/>
            <a:r>
              <a:rPr lang="en-IN" sz="2400" dirty="0">
                <a:effectLst/>
                <a:latin typeface="Arial" panose="020B0604020202020204" pitchFamily="34" charset="0"/>
              </a:rPr>
              <a:t>class Loan</a:t>
            </a:r>
            <a:br>
              <a:rPr lang="en-IN" sz="2400" dirty="0">
                <a:effectLst/>
              </a:rPr>
            </a:br>
            <a:r>
              <a:rPr lang="en-IN" sz="2400" dirty="0">
                <a:effectLst/>
                <a:latin typeface="Arial" panose="020B0604020202020204" pitchFamily="34" charset="0"/>
              </a:rPr>
              <a:t>{</a:t>
            </a:r>
            <a:br>
              <a:rPr lang="en-IN" sz="2400" dirty="0">
                <a:effectLst/>
              </a:rPr>
            </a:br>
            <a:r>
              <a:rPr lang="en-IN" sz="2400" dirty="0">
                <a:effectLst/>
                <a:latin typeface="Arial" panose="020B0604020202020204" pitchFamily="34" charset="0"/>
              </a:rPr>
              <a:t>//common methods which are required for any type of loan.</a:t>
            </a:r>
            <a:br>
              <a:rPr lang="en-IN" sz="2400" dirty="0">
                <a:effectLst/>
              </a:rPr>
            </a:br>
            <a:r>
              <a:rPr lang="en-IN" sz="2400" dirty="0">
                <a:effectLst/>
                <a:latin typeface="Arial" panose="020B0604020202020204" pitchFamily="34" charset="0"/>
              </a:rPr>
              <a:t>}</a:t>
            </a:r>
            <a:br>
              <a:rPr lang="en-IN" sz="2400" dirty="0">
                <a:effectLst/>
              </a:rPr>
            </a:br>
            <a:r>
              <a:rPr lang="en-IN" sz="2400" dirty="0">
                <a:effectLst/>
                <a:latin typeface="Arial" panose="020B0604020202020204" pitchFamily="34" charset="0"/>
              </a:rPr>
              <a:t>class </a:t>
            </a:r>
            <a:r>
              <a:rPr lang="en-IN" sz="2400" dirty="0" err="1">
                <a:effectLst/>
                <a:latin typeface="Arial" panose="020B0604020202020204" pitchFamily="34" charset="0"/>
              </a:rPr>
              <a:t>HousingLoan</a:t>
            </a:r>
            <a:r>
              <a:rPr lang="en-IN" sz="2400" dirty="0">
                <a:effectLst/>
                <a:latin typeface="Arial" panose="020B0604020202020204" pitchFamily="34" charset="0"/>
              </a:rPr>
              <a:t> extends Loan</a:t>
            </a:r>
            <a:endParaRPr lang="en-IN" sz="2400" dirty="0">
              <a:effectLst/>
            </a:endParaRPr>
          </a:p>
          <a:p>
            <a:pPr algn="l" rtl="0"/>
            <a:r>
              <a:rPr lang="en-IN" sz="2400" b="0" i="0" dirty="0">
                <a:effectLst/>
                <a:latin typeface="Arial" panose="020B0604020202020204" pitchFamily="34" charset="0"/>
              </a:rPr>
              <a:t>{</a:t>
            </a:r>
            <a:br>
              <a:rPr lang="en-IN" sz="2400" dirty="0"/>
            </a:br>
            <a:r>
              <a:rPr lang="en-IN" sz="2400" b="0" i="0" dirty="0">
                <a:effectLst/>
                <a:latin typeface="Arial" panose="020B0604020202020204" pitchFamily="34" charset="0"/>
              </a:rPr>
              <a:t>//Housing loan specific methods.</a:t>
            </a:r>
            <a:br>
              <a:rPr lang="en-IN" sz="2400" dirty="0"/>
            </a:br>
            <a:r>
              <a:rPr lang="en-IN" sz="2400" b="0" i="0" dirty="0">
                <a:effectLst/>
                <a:latin typeface="Arial" panose="020B0604020202020204" pitchFamily="34" charset="0"/>
              </a:rPr>
              <a:t>}</a:t>
            </a:r>
            <a:br>
              <a:rPr lang="en-IN" sz="2400" dirty="0"/>
            </a:br>
            <a:r>
              <a:rPr lang="en-IN" sz="2400" b="0" i="0" dirty="0">
                <a:effectLst/>
                <a:latin typeface="Arial" panose="020B0604020202020204" pitchFamily="34" charset="0"/>
              </a:rPr>
              <a:t>class </a:t>
            </a:r>
            <a:r>
              <a:rPr lang="en-IN" sz="2400" b="0" i="0" dirty="0" err="1">
                <a:effectLst/>
                <a:latin typeface="Arial" panose="020B0604020202020204" pitchFamily="34" charset="0"/>
              </a:rPr>
              <a:t>EducationLoan</a:t>
            </a:r>
            <a:r>
              <a:rPr lang="en-IN" sz="2400" b="0" i="0" dirty="0">
                <a:effectLst/>
                <a:latin typeface="Arial" panose="020B0604020202020204" pitchFamily="34" charset="0"/>
              </a:rPr>
              <a:t> extends Loan</a:t>
            </a:r>
            <a:br>
              <a:rPr lang="en-IN" sz="2400" dirty="0"/>
            </a:br>
            <a:r>
              <a:rPr lang="en-IN" sz="2400" b="0" i="0" dirty="0">
                <a:effectLst/>
                <a:latin typeface="Arial" panose="020B0604020202020204" pitchFamily="34" charset="0"/>
              </a:rPr>
              <a:t>{</a:t>
            </a:r>
            <a:br>
              <a:rPr lang="en-IN" sz="2400" dirty="0"/>
            </a:br>
            <a:r>
              <a:rPr lang="en-IN" sz="2400" b="0" i="0" dirty="0">
                <a:effectLst/>
                <a:latin typeface="Arial" panose="020B0604020202020204" pitchFamily="34" charset="0"/>
              </a:rPr>
              <a:t>//Education Loan specific methods.</a:t>
            </a:r>
            <a:br>
              <a:rPr lang="en-IN" sz="2400" dirty="0"/>
            </a:br>
            <a:r>
              <a:rPr lang="en-IN" sz="2400" b="0" i="0" dirty="0">
                <a:effectLst/>
                <a:latin typeface="Arial" panose="020B0604020202020204" pitchFamily="34" charset="0"/>
              </a:rPr>
              <a:t>}</a:t>
            </a:r>
            <a:endParaRPr lang="en-IN" sz="2400" b="0" i="0" dirty="0">
              <a:solidFill>
                <a:srgbClr val="000000"/>
              </a:solidFill>
              <a:effectLst/>
              <a:latin typeface="Arial" panose="020B0604020202020204" pitchFamily="34" charset="0"/>
            </a:endParaRPr>
          </a:p>
        </p:txBody>
      </p:sp>
      <p:sp>
        <p:nvSpPr>
          <p:cNvPr id="4" name="Footer Placeholder 3">
            <a:extLst>
              <a:ext uri="{FF2B5EF4-FFF2-40B4-BE49-F238E27FC236}">
                <a16:creationId xmlns:a16="http://schemas.microsoft.com/office/drawing/2014/main" id="{1B6473D6-0824-0676-B3C0-CFA138FB0F0C}"/>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592169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63024-E590-613B-6387-DA8D464E03A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D4C5C9-87E0-3E6F-9476-A223564F8E86}"/>
              </a:ext>
            </a:extLst>
          </p:cNvPr>
          <p:cNvSpPr>
            <a:spLocks noGrp="1"/>
          </p:cNvSpPr>
          <p:nvPr>
            <p:ph idx="1"/>
          </p:nvPr>
        </p:nvSpPr>
        <p:spPr/>
        <p:txBody>
          <a:bodyPr/>
          <a:lstStyle/>
          <a:p>
            <a:r>
              <a:rPr lang="en-IN" sz="2000" b="0" i="0" dirty="0">
                <a:effectLst/>
                <a:latin typeface="Arial" panose="020B0604020202020204" pitchFamily="34" charset="0"/>
              </a:rPr>
              <a:t>For all java classes the </a:t>
            </a:r>
            <a:r>
              <a:rPr lang="en-IN" sz="2000" b="1" i="0" dirty="0">
                <a:effectLst/>
                <a:latin typeface="Arial" panose="020B0604020202020204" pitchFamily="34" charset="0"/>
              </a:rPr>
              <a:t>most commonly required functionality</a:t>
            </a:r>
            <a:r>
              <a:rPr lang="en-IN" sz="2000" b="0" i="0" dirty="0">
                <a:effectLst/>
                <a:latin typeface="Arial" panose="020B0604020202020204" pitchFamily="34" charset="0"/>
              </a:rPr>
              <a:t> is define inside </a:t>
            </a:r>
            <a:r>
              <a:rPr lang="en-IN" sz="2000" b="1" i="0" dirty="0">
                <a:effectLst/>
                <a:latin typeface="Arial" panose="020B0604020202020204" pitchFamily="34" charset="0"/>
              </a:rPr>
              <a:t>Object</a:t>
            </a:r>
            <a:r>
              <a:rPr lang="en-IN" sz="2000" b="0" i="0" dirty="0">
                <a:effectLst/>
                <a:latin typeface="Arial" panose="020B0604020202020204" pitchFamily="34" charset="0"/>
              </a:rPr>
              <a:t> class hence Object class acts as a root for all java classes.</a:t>
            </a:r>
          </a:p>
          <a:p>
            <a:r>
              <a:rPr lang="en-IN" sz="2000" b="0" i="0" dirty="0">
                <a:effectLst/>
                <a:latin typeface="Arial" panose="020B0604020202020204" pitchFamily="34" charset="0"/>
              </a:rPr>
              <a:t>For all java exceptions and errors the most common required functionality defines inside </a:t>
            </a:r>
            <a:r>
              <a:rPr lang="en-IN" sz="2000" b="1" i="0" dirty="0">
                <a:effectLst/>
                <a:latin typeface="Arial" panose="020B0604020202020204" pitchFamily="34" charset="0"/>
              </a:rPr>
              <a:t>Throwable</a:t>
            </a:r>
            <a:r>
              <a:rPr lang="en-IN" sz="2000" b="0" i="0" dirty="0">
                <a:effectLst/>
                <a:latin typeface="Arial" panose="020B0604020202020204" pitchFamily="34" charset="0"/>
              </a:rPr>
              <a:t> class hence </a:t>
            </a:r>
            <a:r>
              <a:rPr lang="en-IN" sz="2000" b="1" i="0" dirty="0">
                <a:effectLst/>
                <a:latin typeface="Arial" panose="020B0604020202020204" pitchFamily="34" charset="0"/>
              </a:rPr>
              <a:t>Throwable</a:t>
            </a:r>
            <a:r>
              <a:rPr lang="en-IN" sz="2000" b="0" i="0" dirty="0">
                <a:effectLst/>
                <a:latin typeface="Arial" panose="020B0604020202020204" pitchFamily="34" charset="0"/>
              </a:rPr>
              <a:t> class acts as a root for exception hierarchy.</a:t>
            </a:r>
          </a:p>
          <a:p>
            <a:endParaRPr lang="en-US" sz="2000" dirty="0"/>
          </a:p>
        </p:txBody>
      </p:sp>
      <p:sp>
        <p:nvSpPr>
          <p:cNvPr id="4" name="Footer Placeholder 3">
            <a:extLst>
              <a:ext uri="{FF2B5EF4-FFF2-40B4-BE49-F238E27FC236}">
                <a16:creationId xmlns:a16="http://schemas.microsoft.com/office/drawing/2014/main" id="{59EADE5A-3931-D698-4266-7C4CE26A8424}"/>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993448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77274-12D6-28F9-96C7-4D8BAB0D7025}"/>
              </a:ext>
            </a:extLst>
          </p:cNvPr>
          <p:cNvSpPr>
            <a:spLocks noGrp="1"/>
          </p:cNvSpPr>
          <p:nvPr>
            <p:ph type="title"/>
          </p:nvPr>
        </p:nvSpPr>
        <p:spPr/>
        <p:txBody>
          <a:bodyPr/>
          <a:lstStyle/>
          <a:p>
            <a:endParaRPr lang="en-US"/>
          </a:p>
        </p:txBody>
      </p:sp>
      <p:pic>
        <p:nvPicPr>
          <p:cNvPr id="6" name="Content Placeholder 5" descr="A diagram of a number and object&#10;&#10;Description automatically generated">
            <a:extLst>
              <a:ext uri="{FF2B5EF4-FFF2-40B4-BE49-F238E27FC236}">
                <a16:creationId xmlns:a16="http://schemas.microsoft.com/office/drawing/2014/main" id="{E03A02C2-8E60-55C6-2DB8-3C4F98C5F74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2450" y="2051050"/>
            <a:ext cx="8039100" cy="3517900"/>
          </a:xfrm>
        </p:spPr>
      </p:pic>
      <p:sp>
        <p:nvSpPr>
          <p:cNvPr id="4" name="Footer Placeholder 3">
            <a:extLst>
              <a:ext uri="{FF2B5EF4-FFF2-40B4-BE49-F238E27FC236}">
                <a16:creationId xmlns:a16="http://schemas.microsoft.com/office/drawing/2014/main" id="{2F90AA48-B8B8-FC37-03E4-3ADAD3DD2E16}"/>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106567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FEB35-A973-4AC7-8377-1ACCCC4AC490}"/>
              </a:ext>
            </a:extLst>
          </p:cNvPr>
          <p:cNvSpPr>
            <a:spLocks noGrp="1"/>
          </p:cNvSpPr>
          <p:nvPr>
            <p:ph type="title"/>
          </p:nvPr>
        </p:nvSpPr>
        <p:spPr/>
        <p:txBody>
          <a:bodyPr/>
          <a:lstStyle/>
          <a:p>
            <a:r>
              <a:rPr lang="en-US" dirty="0"/>
              <a:t>Multiple Inheritance</a:t>
            </a:r>
          </a:p>
        </p:txBody>
      </p:sp>
      <p:sp>
        <p:nvSpPr>
          <p:cNvPr id="3" name="Content Placeholder 2">
            <a:extLst>
              <a:ext uri="{FF2B5EF4-FFF2-40B4-BE49-F238E27FC236}">
                <a16:creationId xmlns:a16="http://schemas.microsoft.com/office/drawing/2014/main" id="{352FD86F-D72B-D17E-8CDD-875F73AAA36C}"/>
              </a:ext>
            </a:extLst>
          </p:cNvPr>
          <p:cNvSpPr>
            <a:spLocks noGrp="1"/>
          </p:cNvSpPr>
          <p:nvPr>
            <p:ph idx="1"/>
          </p:nvPr>
        </p:nvSpPr>
        <p:spPr/>
        <p:txBody>
          <a:bodyPr/>
          <a:lstStyle/>
          <a:p>
            <a:r>
              <a:rPr lang="en-IN" sz="1800" b="1" dirty="0">
                <a:effectLst/>
                <a:latin typeface="TimesNewRomanPS"/>
              </a:rPr>
              <a:t>Having more than one Parent class at the same level is called multiple inheritance. </a:t>
            </a:r>
          </a:p>
          <a:p>
            <a:endParaRPr lang="en-IN" sz="1800" b="1" dirty="0">
              <a:latin typeface="TimesNewRomanPS"/>
            </a:endParaRPr>
          </a:p>
          <a:p>
            <a:endParaRPr lang="en-IN" sz="1800" b="1" dirty="0">
              <a:latin typeface="TimesNewRomanPS"/>
            </a:endParaRPr>
          </a:p>
          <a:p>
            <a:endParaRPr lang="en-IN" sz="1800" b="1" dirty="0">
              <a:latin typeface="TimesNewRomanPS"/>
            </a:endParaRPr>
          </a:p>
          <a:p>
            <a:endParaRPr lang="en-IN" sz="1800" b="1" dirty="0">
              <a:latin typeface="TimesNewRomanPS"/>
            </a:endParaRPr>
          </a:p>
          <a:p>
            <a:endParaRPr lang="en-IN" sz="1800" b="1" dirty="0">
              <a:latin typeface="TimesNewRomanPS"/>
            </a:endParaRPr>
          </a:p>
          <a:p>
            <a:endParaRPr lang="en-IN" sz="1800" b="1" dirty="0">
              <a:latin typeface="TimesNewRomanPS"/>
            </a:endParaRPr>
          </a:p>
          <a:p>
            <a:r>
              <a:rPr lang="en-IN" sz="1800" b="1" dirty="0">
                <a:effectLst/>
                <a:latin typeface="TimesNewRomanPS"/>
              </a:rPr>
              <a:t>Any class can extends only one class at a time and can't extends more than one class simultaneously hence java won't provide support for multiple inheritance. </a:t>
            </a:r>
          </a:p>
          <a:p>
            <a:endParaRPr lang="en-IN" sz="1800" b="1" dirty="0">
              <a:latin typeface="TimesNewRomanPS"/>
            </a:endParaRPr>
          </a:p>
          <a:p>
            <a:endParaRPr lang="en-IN" sz="1800" b="1" dirty="0">
              <a:latin typeface="TimesNewRomanPS"/>
            </a:endParaRPr>
          </a:p>
          <a:p>
            <a:endParaRPr lang="en-IN" sz="1800" b="1" dirty="0">
              <a:latin typeface="TimesNewRomanPS"/>
            </a:endParaRPr>
          </a:p>
          <a:p>
            <a:endParaRPr lang="en-IN" sz="1800" b="1" dirty="0">
              <a:latin typeface="TimesNewRomanPS"/>
            </a:endParaRPr>
          </a:p>
          <a:p>
            <a:r>
              <a:rPr lang="en-IN" sz="1800" b="1" dirty="0">
                <a:effectLst/>
                <a:latin typeface="TimesNewRomanPS"/>
              </a:rPr>
              <a:t>But an interface can extends any no. Of interfaces at a time hence java provides support for multiple inheritance through interfaces. </a:t>
            </a:r>
            <a:endParaRPr lang="en-IN" dirty="0"/>
          </a:p>
          <a:p>
            <a:endParaRPr lang="en-IN" dirty="0"/>
          </a:p>
          <a:p>
            <a:endParaRPr lang="en-IN" dirty="0"/>
          </a:p>
          <a:p>
            <a:endParaRPr lang="en-US" dirty="0"/>
          </a:p>
        </p:txBody>
      </p:sp>
      <p:pic>
        <p:nvPicPr>
          <p:cNvPr id="3073" name="Picture 1" descr="page8image16525472">
            <a:extLst>
              <a:ext uri="{FF2B5EF4-FFF2-40B4-BE49-F238E27FC236}">
                <a16:creationId xmlns:a16="http://schemas.microsoft.com/office/drawing/2014/main" id="{39FC74AF-48CB-3291-455A-32C76CDC89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408362"/>
            <a:ext cx="2006600" cy="1270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page8image16530048">
            <a:extLst>
              <a:ext uri="{FF2B5EF4-FFF2-40B4-BE49-F238E27FC236}">
                <a16:creationId xmlns:a16="http://schemas.microsoft.com/office/drawing/2014/main" id="{0CBE3E10-E341-8D7B-38D9-5DA6535F30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151" y="2100262"/>
            <a:ext cx="3009900" cy="1701800"/>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page8image16527136">
            <a:extLst>
              <a:ext uri="{FF2B5EF4-FFF2-40B4-BE49-F238E27FC236}">
                <a16:creationId xmlns:a16="http://schemas.microsoft.com/office/drawing/2014/main" id="{670C881C-2C7D-1059-9007-C341775D4C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1" y="4716462"/>
            <a:ext cx="2882900" cy="13335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page8image16527344">
            <a:extLst>
              <a:ext uri="{FF2B5EF4-FFF2-40B4-BE49-F238E27FC236}">
                <a16:creationId xmlns:a16="http://schemas.microsoft.com/office/drawing/2014/main" id="{3AAEFE8D-2D39-4B3F-7757-FC19BBAD7C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6300" y="4862512"/>
            <a:ext cx="2730500" cy="1041400"/>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descr="page8image16529840">
            <a:extLst>
              <a:ext uri="{FF2B5EF4-FFF2-40B4-BE49-F238E27FC236}">
                <a16:creationId xmlns:a16="http://schemas.microsoft.com/office/drawing/2014/main" id="{5AD0B678-5467-CACF-DB36-A0BCD25A401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3408362"/>
            <a:ext cx="558800" cy="254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page8image16529008">
            <a:extLst>
              <a:ext uri="{FF2B5EF4-FFF2-40B4-BE49-F238E27FC236}">
                <a16:creationId xmlns:a16="http://schemas.microsoft.com/office/drawing/2014/main" id="{BFB0DD2D-B11E-52DD-7FF7-220B63D4A61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0" y="3408362"/>
            <a:ext cx="4940300" cy="2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3062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0DECF-6ECB-A737-1A04-85A861FC329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57477F-75B4-B41A-66F9-04BCBDE9D209}"/>
              </a:ext>
            </a:extLst>
          </p:cNvPr>
          <p:cNvSpPr>
            <a:spLocks noGrp="1"/>
          </p:cNvSpPr>
          <p:nvPr>
            <p:ph idx="1"/>
          </p:nvPr>
        </p:nvSpPr>
        <p:spPr/>
        <p:txBody>
          <a:bodyPr/>
          <a:lstStyle/>
          <a:p>
            <a:r>
              <a:rPr lang="en-IN" sz="1800" b="1" dirty="0">
                <a:effectLst/>
                <a:latin typeface="TimesNewRomanPS"/>
              </a:rPr>
              <a:t>If our class doesn't extends any other class then only our class is the direct child class of object. </a:t>
            </a:r>
          </a:p>
          <a:p>
            <a:endParaRPr lang="en-IN" sz="1800" b="1" dirty="0">
              <a:latin typeface="TimesNewRomanPS"/>
            </a:endParaRPr>
          </a:p>
          <a:p>
            <a:endParaRPr lang="en-IN" sz="1800" b="1" dirty="0">
              <a:latin typeface="TimesNewRomanPS"/>
            </a:endParaRPr>
          </a:p>
          <a:p>
            <a:pPr marL="0" indent="0">
              <a:buNone/>
            </a:pPr>
            <a:endParaRPr lang="en-IN" sz="1800" b="1" dirty="0">
              <a:latin typeface="TimesNewRomanPS"/>
            </a:endParaRPr>
          </a:p>
          <a:p>
            <a:r>
              <a:rPr lang="en-IN" sz="1800" b="1" dirty="0">
                <a:effectLst/>
                <a:latin typeface="TimesNewRomanPS"/>
              </a:rPr>
              <a:t>If our class extends any other class then our class is not direct child class of object, It is indirect child class of object , which forms multilevel inheritance.</a:t>
            </a:r>
          </a:p>
          <a:p>
            <a:endParaRPr lang="en-IN" sz="1800" b="1" dirty="0">
              <a:latin typeface="TimesNewRomanPS"/>
            </a:endParaRPr>
          </a:p>
          <a:p>
            <a:endParaRPr lang="en-IN" sz="1800" b="1" dirty="0">
              <a:effectLst/>
              <a:latin typeface="TimesNewRomanPS"/>
            </a:endParaRPr>
          </a:p>
          <a:p>
            <a:endParaRPr lang="en-IN" sz="1800" b="1" dirty="0">
              <a:latin typeface="TimesNewRomanPS"/>
            </a:endParaRPr>
          </a:p>
          <a:p>
            <a:endParaRPr lang="en-IN" sz="1800" b="1" dirty="0">
              <a:effectLst/>
              <a:latin typeface="TimesNewRomanPS"/>
            </a:endParaRPr>
          </a:p>
          <a:p>
            <a:endParaRPr lang="en-IN" sz="1800" b="1" dirty="0">
              <a:latin typeface="TimesNewRomanPS"/>
            </a:endParaRPr>
          </a:p>
          <a:p>
            <a:endParaRPr lang="en-IN" sz="1800" b="1" dirty="0">
              <a:effectLst/>
              <a:latin typeface="TimesNewRomanPS"/>
            </a:endParaRPr>
          </a:p>
          <a:p>
            <a:endParaRPr lang="en-IN" sz="1800" b="1" dirty="0">
              <a:effectLst/>
              <a:latin typeface="TimesNewRomanPS"/>
            </a:endParaRPr>
          </a:p>
          <a:p>
            <a:endParaRPr lang="en-IN" sz="1800" b="1" dirty="0">
              <a:latin typeface="TimesNewRomanPS"/>
            </a:endParaRPr>
          </a:p>
          <a:p>
            <a:r>
              <a:rPr lang="en-IN" sz="1800" b="1" dirty="0">
                <a:effectLst/>
                <a:latin typeface="TimesNewRomanPS"/>
              </a:rPr>
              <a:t>Why java won't provide support for multiple inheritance? There may be a chance of raising ambiguity problems. </a:t>
            </a:r>
            <a:endParaRPr lang="en-IN" sz="1100" dirty="0"/>
          </a:p>
          <a:p>
            <a:r>
              <a:rPr lang="en-IN" sz="1800" b="1" dirty="0">
                <a:effectLst/>
                <a:latin typeface="TimesNewRomanPS"/>
              </a:rPr>
              <a:t> </a:t>
            </a:r>
            <a:endParaRPr lang="en-IN" dirty="0"/>
          </a:p>
          <a:p>
            <a:endParaRPr lang="en-IN" dirty="0"/>
          </a:p>
          <a:p>
            <a:endParaRPr lang="en-US" dirty="0"/>
          </a:p>
        </p:txBody>
      </p:sp>
      <p:pic>
        <p:nvPicPr>
          <p:cNvPr id="4097" name="Picture 1" descr="page9image16578368">
            <a:extLst>
              <a:ext uri="{FF2B5EF4-FFF2-40B4-BE49-F238E27FC236}">
                <a16:creationId xmlns:a16="http://schemas.microsoft.com/office/drawing/2014/main" id="{6F7FE2D9-6E38-789C-8C33-F5366F1ED3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2600" y="1638300"/>
            <a:ext cx="2044700" cy="1181100"/>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page9image16772480">
            <a:extLst>
              <a:ext uri="{FF2B5EF4-FFF2-40B4-BE49-F238E27FC236}">
                <a16:creationId xmlns:a16="http://schemas.microsoft.com/office/drawing/2014/main" id="{3E440B56-BFBC-14F2-86D4-F7ACFEAF2F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400" y="3492500"/>
            <a:ext cx="5143500" cy="2286000"/>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page9image16766448">
            <a:extLst>
              <a:ext uri="{FF2B5EF4-FFF2-40B4-BE49-F238E27FC236}">
                <a16:creationId xmlns:a16="http://schemas.microsoft.com/office/drawing/2014/main" id="{6A76279B-734C-6CA2-C4A0-2A2E41F898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698500" cy="127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page9image16770192">
            <a:extLst>
              <a:ext uri="{FF2B5EF4-FFF2-40B4-BE49-F238E27FC236}">
                <a16:creationId xmlns:a16="http://schemas.microsoft.com/office/drawing/2014/main" id="{0EEE207C-730D-DE26-AB27-3F30CAB86A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43800" y="4635500"/>
            <a:ext cx="1282700" cy="1295400"/>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descr="page9image16773312">
            <a:extLst>
              <a:ext uri="{FF2B5EF4-FFF2-40B4-BE49-F238E27FC236}">
                <a16:creationId xmlns:a16="http://schemas.microsoft.com/office/drawing/2014/main" id="{27EEFD38-1FA6-304E-7041-CD26612D306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558800" cy="254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page9image16767696">
            <a:extLst>
              <a:ext uri="{FF2B5EF4-FFF2-40B4-BE49-F238E27FC236}">
                <a16:creationId xmlns:a16="http://schemas.microsoft.com/office/drawing/2014/main" id="{2F1D5A3B-BC31-3295-2460-B58473BB57B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4940300" cy="2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11207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09660-3973-18DE-BA6B-80ADFEBE4E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DDA2F7-6513-9865-3111-ADB736D04B1B}"/>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r>
              <a:rPr lang="en-IN" sz="1800" b="1" dirty="0">
                <a:effectLst/>
                <a:latin typeface="TimesNewRomanPS"/>
              </a:rPr>
              <a:t>Why ambiguity problem won't be there in interfaces? </a:t>
            </a:r>
            <a:endParaRPr lang="en-IN" dirty="0"/>
          </a:p>
          <a:p>
            <a:r>
              <a:rPr lang="en-IN" sz="1800" b="1" dirty="0">
                <a:effectLst/>
                <a:latin typeface="TimesNewRomanPS"/>
              </a:rPr>
              <a:t>Interfaces having dummy declarations and they won't have implementations hence no ambiguity problem. </a:t>
            </a:r>
            <a:endParaRPr lang="en-IN" dirty="0"/>
          </a:p>
          <a:p>
            <a:endParaRPr lang="en-US" dirty="0"/>
          </a:p>
        </p:txBody>
      </p:sp>
      <p:sp>
        <p:nvSpPr>
          <p:cNvPr id="4" name="Footer Placeholder 3">
            <a:extLst>
              <a:ext uri="{FF2B5EF4-FFF2-40B4-BE49-F238E27FC236}">
                <a16:creationId xmlns:a16="http://schemas.microsoft.com/office/drawing/2014/main" id="{8FA79A92-9E17-48ED-584D-F26EBD00D4B3}"/>
              </a:ext>
            </a:extLst>
          </p:cNvPr>
          <p:cNvSpPr>
            <a:spLocks noGrp="1"/>
          </p:cNvSpPr>
          <p:nvPr>
            <p:ph type="ftr" sz="quarter" idx="11"/>
          </p:nvPr>
        </p:nvSpPr>
        <p:spPr/>
        <p:txBody>
          <a:bodyPr/>
          <a:lstStyle/>
          <a:p>
            <a:pPr>
              <a:defRPr/>
            </a:pPr>
            <a:r>
              <a:rPr lang="en-US"/>
              <a:t>Dr. Naveen Kumar, Associate Professor, AIIT, AUP</a:t>
            </a:r>
          </a:p>
        </p:txBody>
      </p:sp>
      <p:pic>
        <p:nvPicPr>
          <p:cNvPr id="5121" name="Picture 1" descr="page10image16706944">
            <a:extLst>
              <a:ext uri="{FF2B5EF4-FFF2-40B4-BE49-F238E27FC236}">
                <a16:creationId xmlns:a16="http://schemas.microsoft.com/office/drawing/2014/main" id="{05B78F83-63EE-6B45-AD93-1475425073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299" y="1295399"/>
            <a:ext cx="2148793" cy="4571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page10image16707152">
            <a:extLst>
              <a:ext uri="{FF2B5EF4-FFF2-40B4-BE49-F238E27FC236}">
                <a16:creationId xmlns:a16="http://schemas.microsoft.com/office/drawing/2014/main" id="{D857DAA9-A832-AA5F-20D8-804C2E111E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 y="1295400"/>
            <a:ext cx="8191500" cy="22597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2913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DE7E6-8A69-11B5-CF0F-15E82EF83A9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360D074-42C8-78D0-6D38-BEBE10CFFA65}"/>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45EA6ACB-0C44-BDAE-4D9D-0DDA24B8B828}"/>
              </a:ext>
            </a:extLst>
          </p:cNvPr>
          <p:cNvSpPr>
            <a:spLocks noGrp="1"/>
          </p:cNvSpPr>
          <p:nvPr>
            <p:ph type="ftr" sz="quarter" idx="11"/>
          </p:nvPr>
        </p:nvSpPr>
        <p:spPr/>
        <p:txBody>
          <a:bodyPr/>
          <a:lstStyle/>
          <a:p>
            <a:pPr>
              <a:defRPr/>
            </a:pPr>
            <a:r>
              <a:rPr lang="en-US"/>
              <a:t>Dr. Naveen Kumar, Associate Professor, AIIT, AUP</a:t>
            </a:r>
          </a:p>
        </p:txBody>
      </p:sp>
      <p:pic>
        <p:nvPicPr>
          <p:cNvPr id="6145" name="Picture 1" descr="page10image16577744">
            <a:extLst>
              <a:ext uri="{FF2B5EF4-FFF2-40B4-BE49-F238E27FC236}">
                <a16:creationId xmlns:a16="http://schemas.microsoft.com/office/drawing/2014/main" id="{EAC72F4A-F383-030E-3750-184C51E267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449" y="1143000"/>
            <a:ext cx="2148793" cy="45719"/>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page10image16575248">
            <a:extLst>
              <a:ext uri="{FF2B5EF4-FFF2-40B4-BE49-F238E27FC236}">
                <a16:creationId xmlns:a16="http://schemas.microsoft.com/office/drawing/2014/main" id="{29BE3479-E32C-E496-0D0D-E3C3416E11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450" y="1143001"/>
            <a:ext cx="7531100" cy="4866796"/>
          </a:xfrm>
          <a:prstGeom prst="rect">
            <a:avLst/>
          </a:prstGeom>
          <a:noFill/>
          <a:extLst>
            <a:ext uri="{909E8E84-426E-40DD-AFC4-6F175D3DCCD1}">
              <a14:hiddenFill xmlns:a14="http://schemas.microsoft.com/office/drawing/2010/main">
                <a:solidFill>
                  <a:srgbClr val="FFFFFF"/>
                </a:solidFill>
              </a14:hiddenFill>
            </a:ext>
          </a:extLst>
        </p:spPr>
      </p:pic>
      <p:pic>
        <p:nvPicPr>
          <p:cNvPr id="6147" name="Picture 3" descr="page10image16565264">
            <a:extLst>
              <a:ext uri="{FF2B5EF4-FFF2-40B4-BE49-F238E27FC236}">
                <a16:creationId xmlns:a16="http://schemas.microsoft.com/office/drawing/2014/main" id="{A9896E10-0DAA-EB4B-D079-123E1902FA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6450" y="1143000"/>
            <a:ext cx="1005818" cy="45719"/>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page10image16577120">
            <a:extLst>
              <a:ext uri="{FF2B5EF4-FFF2-40B4-BE49-F238E27FC236}">
                <a16:creationId xmlns:a16="http://schemas.microsoft.com/office/drawing/2014/main" id="{A79F68B4-9C91-4275-3C5F-4923C251F8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6450" y="1143000"/>
            <a:ext cx="8892346" cy="45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04494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FBC4D-5E2B-F8C0-A1C3-E09DD515AEAF}"/>
              </a:ext>
            </a:extLst>
          </p:cNvPr>
          <p:cNvSpPr>
            <a:spLocks noGrp="1"/>
          </p:cNvSpPr>
          <p:nvPr>
            <p:ph type="title"/>
          </p:nvPr>
        </p:nvSpPr>
        <p:spPr/>
        <p:txBody>
          <a:bodyPr/>
          <a:lstStyle/>
          <a:p>
            <a:r>
              <a:rPr lang="en-US" dirty="0"/>
              <a:t>Cyclic Inheritance</a:t>
            </a:r>
          </a:p>
        </p:txBody>
      </p:sp>
      <p:sp>
        <p:nvSpPr>
          <p:cNvPr id="3" name="Content Placeholder 2">
            <a:extLst>
              <a:ext uri="{FF2B5EF4-FFF2-40B4-BE49-F238E27FC236}">
                <a16:creationId xmlns:a16="http://schemas.microsoft.com/office/drawing/2014/main" id="{94FE5A03-B755-3050-C88E-037FF36CA03E}"/>
              </a:ext>
            </a:extLst>
          </p:cNvPr>
          <p:cNvSpPr>
            <a:spLocks noGrp="1"/>
          </p:cNvSpPr>
          <p:nvPr>
            <p:ph idx="1"/>
          </p:nvPr>
        </p:nvSpPr>
        <p:spPr/>
        <p:txBody>
          <a:bodyPr/>
          <a:lstStyle/>
          <a:p>
            <a:r>
              <a:rPr lang="en-IN" sz="1800" b="1" dirty="0">
                <a:effectLst/>
                <a:latin typeface="TimesNewRomanPS"/>
              </a:rPr>
              <a:t>Cyclic inheritance is not allowed in java. </a:t>
            </a:r>
            <a:endParaRPr lang="en-IN" dirty="0"/>
          </a:p>
          <a:p>
            <a:endParaRPr lang="en-US" dirty="0"/>
          </a:p>
        </p:txBody>
      </p:sp>
      <p:sp>
        <p:nvSpPr>
          <p:cNvPr id="4" name="Footer Placeholder 3">
            <a:extLst>
              <a:ext uri="{FF2B5EF4-FFF2-40B4-BE49-F238E27FC236}">
                <a16:creationId xmlns:a16="http://schemas.microsoft.com/office/drawing/2014/main" id="{7EF18FBC-7AF6-4D26-F0E5-591EAC0A3E9D}"/>
              </a:ext>
            </a:extLst>
          </p:cNvPr>
          <p:cNvSpPr>
            <a:spLocks noGrp="1"/>
          </p:cNvSpPr>
          <p:nvPr>
            <p:ph type="ftr" sz="quarter" idx="11"/>
          </p:nvPr>
        </p:nvSpPr>
        <p:spPr/>
        <p:txBody>
          <a:bodyPr/>
          <a:lstStyle/>
          <a:p>
            <a:pPr>
              <a:defRPr/>
            </a:pPr>
            <a:r>
              <a:rPr lang="en-US"/>
              <a:t>Dr. Naveen Kumar, Associate Professor, AIIT, AUP</a:t>
            </a:r>
          </a:p>
        </p:txBody>
      </p:sp>
      <p:pic>
        <p:nvPicPr>
          <p:cNvPr id="7169" name="Picture 1" descr="page11image16437312">
            <a:extLst>
              <a:ext uri="{FF2B5EF4-FFF2-40B4-BE49-F238E27FC236}">
                <a16:creationId xmlns:a16="http://schemas.microsoft.com/office/drawing/2014/main" id="{FEF72329-390B-67D2-569E-D7DD435B42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2259013"/>
            <a:ext cx="5638800" cy="1003300"/>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page11image16446880">
            <a:extLst>
              <a:ext uri="{FF2B5EF4-FFF2-40B4-BE49-F238E27FC236}">
                <a16:creationId xmlns:a16="http://schemas.microsoft.com/office/drawing/2014/main" id="{DDBC4D7E-4930-021C-33C2-777662FFDA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8950" y="3810000"/>
            <a:ext cx="5626100" cy="38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89780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E954F-D11D-75BB-B208-033478CFCA70}"/>
              </a:ext>
            </a:extLst>
          </p:cNvPr>
          <p:cNvSpPr>
            <a:spLocks noGrp="1"/>
          </p:cNvSpPr>
          <p:nvPr>
            <p:ph type="title"/>
          </p:nvPr>
        </p:nvSpPr>
        <p:spPr/>
        <p:txBody>
          <a:bodyPr/>
          <a:lstStyle/>
          <a:p>
            <a:r>
              <a:rPr lang="en-US" dirty="0"/>
              <a:t>HAS-A Relationship</a:t>
            </a:r>
          </a:p>
        </p:txBody>
      </p:sp>
      <p:sp>
        <p:nvSpPr>
          <p:cNvPr id="3" name="Content Placeholder 2">
            <a:extLst>
              <a:ext uri="{FF2B5EF4-FFF2-40B4-BE49-F238E27FC236}">
                <a16:creationId xmlns:a16="http://schemas.microsoft.com/office/drawing/2014/main" id="{F960107D-F229-FDF2-FE07-4D64276A8BC3}"/>
              </a:ext>
            </a:extLst>
          </p:cNvPr>
          <p:cNvSpPr>
            <a:spLocks noGrp="1"/>
          </p:cNvSpPr>
          <p:nvPr>
            <p:ph idx="1"/>
          </p:nvPr>
        </p:nvSpPr>
        <p:spPr/>
        <p:txBody>
          <a:bodyPr/>
          <a:lstStyle/>
          <a:p>
            <a:pPr>
              <a:buFont typeface="+mj-lt"/>
              <a:buAutoNum type="arabicPeriod"/>
            </a:pPr>
            <a:r>
              <a:rPr lang="en-IN" sz="1800" b="1" dirty="0">
                <a:effectLst/>
                <a:latin typeface="TimesNewRomanPS"/>
              </a:rPr>
              <a:t>HAS-A relationship is also known as composition (or) aggregation. </a:t>
            </a:r>
          </a:p>
          <a:p>
            <a:pPr>
              <a:buFont typeface="+mj-lt"/>
              <a:buAutoNum type="arabicPeriod"/>
            </a:pPr>
            <a:r>
              <a:rPr lang="en-IN" sz="1800" b="1" dirty="0">
                <a:effectLst/>
                <a:latin typeface="TimesNewRomanPS"/>
              </a:rPr>
              <a:t>There is no specific keyword to implement HAS-A relationship but mostly we </a:t>
            </a:r>
          </a:p>
          <a:p>
            <a:pPr>
              <a:buFont typeface="+mj-lt"/>
              <a:buAutoNum type="arabicPeriod"/>
            </a:pPr>
            <a:r>
              <a:rPr lang="en-IN" sz="1800" b="1" dirty="0">
                <a:effectLst/>
                <a:latin typeface="TimesNewRomanPS"/>
              </a:rPr>
              <a:t>can use new operator. </a:t>
            </a:r>
          </a:p>
          <a:p>
            <a:pPr>
              <a:buFont typeface="+mj-lt"/>
              <a:buAutoNum type="arabicPeriod"/>
            </a:pPr>
            <a:r>
              <a:rPr lang="en-IN" sz="1800" b="1" dirty="0">
                <a:effectLst/>
                <a:latin typeface="TimesNewRomanPS"/>
              </a:rPr>
              <a:t>The main advantage of HAS-A relationship is reusability. </a:t>
            </a:r>
          </a:p>
          <a:p>
            <a:r>
              <a:rPr lang="en-US" sz="1600" dirty="0"/>
              <a:t>class Engine</a:t>
            </a:r>
          </a:p>
          <a:p>
            <a:r>
              <a:rPr lang="en-US" sz="1600" dirty="0"/>
              <a:t>{</a:t>
            </a:r>
          </a:p>
          <a:p>
            <a:r>
              <a:rPr lang="en-US" sz="1600" dirty="0"/>
              <a:t>//engine specific functionality</a:t>
            </a:r>
          </a:p>
          <a:p>
            <a:r>
              <a:rPr lang="en-US" sz="1600" dirty="0"/>
              <a:t>}</a:t>
            </a:r>
          </a:p>
          <a:p>
            <a:r>
              <a:rPr lang="en-US" sz="1600" dirty="0"/>
              <a:t>class Car {</a:t>
            </a:r>
          </a:p>
          <a:p>
            <a:r>
              <a:rPr lang="en-US" sz="1600" dirty="0"/>
              <a:t>Engine e=new Engine(); </a:t>
            </a:r>
          </a:p>
          <a:p>
            <a:r>
              <a:rPr lang="en-US" sz="1600" dirty="0"/>
              <a:t>//........................; </a:t>
            </a:r>
          </a:p>
          <a:p>
            <a:r>
              <a:rPr lang="en-US" sz="1600" dirty="0"/>
              <a:t>//........................; </a:t>
            </a:r>
          </a:p>
          <a:p>
            <a:r>
              <a:rPr lang="en-US" sz="1600" dirty="0"/>
              <a:t>//........................;</a:t>
            </a:r>
          </a:p>
          <a:p>
            <a:r>
              <a:rPr lang="en-US" sz="1600" dirty="0"/>
              <a:t>}</a:t>
            </a:r>
            <a:endParaRPr lang="en-US" sz="2000" dirty="0"/>
          </a:p>
          <a:p>
            <a:pPr>
              <a:buFont typeface="Arial" panose="020B0604020202020204" pitchFamily="34" charset="0"/>
              <a:buChar char="•"/>
            </a:pPr>
            <a:r>
              <a:rPr lang="en-IN" sz="1800" b="1" dirty="0">
                <a:effectLst/>
                <a:latin typeface="TimesNewRomanPS"/>
              </a:rPr>
              <a:t>class Car HAS-A engine reference. </a:t>
            </a:r>
            <a:endParaRPr lang="en-IN" dirty="0">
              <a:effectLst/>
            </a:endParaRPr>
          </a:p>
          <a:p>
            <a:pPr>
              <a:buFont typeface="Arial" panose="020B0604020202020204" pitchFamily="34" charset="0"/>
              <a:buChar char="•"/>
            </a:pPr>
            <a:r>
              <a:rPr lang="en-IN" sz="1800" b="1" dirty="0">
                <a:effectLst/>
                <a:latin typeface="TimesNewRomanPS"/>
              </a:rPr>
              <a:t>The main dis-advantage of HAS-A relationship increases dependency between </a:t>
            </a:r>
            <a:endParaRPr lang="en-IN" dirty="0">
              <a:effectLst/>
            </a:endParaRPr>
          </a:p>
          <a:p>
            <a:pPr>
              <a:buFont typeface="Arial" panose="020B0604020202020204" pitchFamily="34" charset="0"/>
              <a:buChar char="•"/>
            </a:pPr>
            <a:r>
              <a:rPr lang="en-IN" sz="1800" b="1" dirty="0">
                <a:effectLst/>
                <a:latin typeface="TimesNewRomanPS"/>
              </a:rPr>
              <a:t>the components and creates maintains problems. </a:t>
            </a:r>
            <a:endParaRPr lang="en-IN" dirty="0">
              <a:effectLst/>
            </a:endParaRPr>
          </a:p>
          <a:p>
            <a:endParaRPr lang="en-US" dirty="0"/>
          </a:p>
        </p:txBody>
      </p:sp>
    </p:spTree>
    <p:extLst>
      <p:ext uri="{BB962C8B-B14F-4D97-AF65-F5344CB8AC3E}">
        <p14:creationId xmlns:p14="http://schemas.microsoft.com/office/powerpoint/2010/main" val="1947858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C9D29-D151-9E67-E721-FFF31CDA3EF0}"/>
              </a:ext>
            </a:extLst>
          </p:cNvPr>
          <p:cNvSpPr>
            <a:spLocks noGrp="1"/>
          </p:cNvSpPr>
          <p:nvPr>
            <p:ph type="title"/>
          </p:nvPr>
        </p:nvSpPr>
        <p:spPr/>
        <p:txBody>
          <a:bodyPr/>
          <a:lstStyle/>
          <a:p>
            <a:r>
              <a:rPr lang="en-IN" sz="3200" b="1" dirty="0">
                <a:effectLst/>
                <a:latin typeface="TimesNewRomanPS"/>
              </a:rPr>
              <a:t>Composition vs Aggregation:</a:t>
            </a:r>
            <a:endParaRPr lang="en-US" sz="6600" dirty="0"/>
          </a:p>
        </p:txBody>
      </p:sp>
      <p:sp>
        <p:nvSpPr>
          <p:cNvPr id="3" name="Content Placeholder 2">
            <a:extLst>
              <a:ext uri="{FF2B5EF4-FFF2-40B4-BE49-F238E27FC236}">
                <a16:creationId xmlns:a16="http://schemas.microsoft.com/office/drawing/2014/main" id="{C7DED72C-188C-72CA-4FDA-89B882ABFB02}"/>
              </a:ext>
            </a:extLst>
          </p:cNvPr>
          <p:cNvSpPr>
            <a:spLocks noGrp="1"/>
          </p:cNvSpPr>
          <p:nvPr>
            <p:ph idx="1"/>
          </p:nvPr>
        </p:nvSpPr>
        <p:spPr/>
        <p:txBody>
          <a:bodyPr/>
          <a:lstStyle/>
          <a:p>
            <a:r>
              <a:rPr lang="en-IN" sz="1800" b="1" dirty="0">
                <a:effectLst/>
                <a:latin typeface="TimesNewRomanPS"/>
              </a:rPr>
              <a:t>Composition: </a:t>
            </a:r>
            <a:endParaRPr lang="en-IN" dirty="0"/>
          </a:p>
          <a:p>
            <a:r>
              <a:rPr lang="en-IN" sz="1800" b="1" dirty="0">
                <a:effectLst/>
                <a:latin typeface="TimesNewRomanPS"/>
              </a:rPr>
              <a:t>Without existing container object if there is no chance of existing contained objects then the relationship between container object and contained object is called composition which is a strong association. </a:t>
            </a:r>
            <a:endParaRPr lang="en-IN" dirty="0"/>
          </a:p>
          <a:p>
            <a:r>
              <a:rPr lang="en-IN" sz="1800" b="1" dirty="0">
                <a:effectLst/>
                <a:latin typeface="TimesNewRomanPS"/>
              </a:rPr>
              <a:t>Example: </a:t>
            </a:r>
            <a:endParaRPr lang="en-IN" dirty="0"/>
          </a:p>
          <a:p>
            <a:r>
              <a:rPr lang="en-IN" sz="1800" b="1" dirty="0">
                <a:effectLst/>
                <a:latin typeface="TimesNewRomanPS"/>
              </a:rPr>
              <a:t>University consists of several departments whenever university object destroys automatically all the department objects will be destroyed that is without existing university object there is no chance of existing dependent object hence these are strongly associated and this relationship is called composition. </a:t>
            </a:r>
            <a:endParaRPr lang="en-IN" dirty="0"/>
          </a:p>
          <a:p>
            <a:endParaRPr lang="en-US" dirty="0"/>
          </a:p>
        </p:txBody>
      </p:sp>
      <p:sp>
        <p:nvSpPr>
          <p:cNvPr id="4" name="Footer Placeholder 3">
            <a:extLst>
              <a:ext uri="{FF2B5EF4-FFF2-40B4-BE49-F238E27FC236}">
                <a16:creationId xmlns:a16="http://schemas.microsoft.com/office/drawing/2014/main" id="{D651048F-FC3F-9D10-664F-729AD16C2FDD}"/>
              </a:ext>
            </a:extLst>
          </p:cNvPr>
          <p:cNvSpPr>
            <a:spLocks noGrp="1"/>
          </p:cNvSpPr>
          <p:nvPr>
            <p:ph type="ftr" sz="quarter" idx="11"/>
          </p:nvPr>
        </p:nvSpPr>
        <p:spPr/>
        <p:txBody>
          <a:bodyPr/>
          <a:lstStyle/>
          <a:p>
            <a:pPr>
              <a:defRPr/>
            </a:pPr>
            <a:r>
              <a:rPr lang="en-US"/>
              <a:t>Dr. Naveen Kumar, Associate Professor, AIIT, AUP</a:t>
            </a:r>
          </a:p>
        </p:txBody>
      </p:sp>
      <p:pic>
        <p:nvPicPr>
          <p:cNvPr id="9217" name="Picture 1" descr="page12image16707984">
            <a:extLst>
              <a:ext uri="{FF2B5EF4-FFF2-40B4-BE49-F238E27FC236}">
                <a16:creationId xmlns:a16="http://schemas.microsoft.com/office/drawing/2014/main" id="{6BB98B51-638C-10B8-BBCE-8F77337918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7000" y="4114800"/>
            <a:ext cx="2667000" cy="25400"/>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2" descr="page12image16706528">
            <a:extLst>
              <a:ext uri="{FF2B5EF4-FFF2-40B4-BE49-F238E27FC236}">
                <a16:creationId xmlns:a16="http://schemas.microsoft.com/office/drawing/2014/main" id="{B201D581-B270-C288-E2BF-6554DAF30F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7000" y="4114800"/>
            <a:ext cx="927100" cy="12700"/>
          </a:xfrm>
          <a:prstGeom prst="rect">
            <a:avLst/>
          </a:prstGeom>
          <a:noFill/>
          <a:extLst>
            <a:ext uri="{909E8E84-426E-40DD-AFC4-6F175D3DCCD1}">
              <a14:hiddenFill xmlns:a14="http://schemas.microsoft.com/office/drawing/2010/main">
                <a:solidFill>
                  <a:srgbClr val="FFFFFF"/>
                </a:solidFill>
              </a14:hiddenFill>
            </a:ext>
          </a:extLst>
        </p:spPr>
      </p:pic>
      <p:pic>
        <p:nvPicPr>
          <p:cNvPr id="9219" name="Picture 3" descr="page12image16707568">
            <a:extLst>
              <a:ext uri="{FF2B5EF4-FFF2-40B4-BE49-F238E27FC236}">
                <a16:creationId xmlns:a16="http://schemas.microsoft.com/office/drawing/2014/main" id="{59C01061-C748-3527-10E9-0C1EB3069B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7000" y="4114800"/>
            <a:ext cx="565150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12162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C894A-8296-54D8-E7C1-B4DF3D2DD69B}"/>
              </a:ext>
            </a:extLst>
          </p:cNvPr>
          <p:cNvSpPr>
            <a:spLocks noGrp="1"/>
          </p:cNvSpPr>
          <p:nvPr>
            <p:ph type="title"/>
          </p:nvPr>
        </p:nvSpPr>
        <p:spPr/>
        <p:txBody>
          <a:bodyPr/>
          <a:lstStyle/>
          <a:p>
            <a:r>
              <a:rPr lang="en-US" dirty="0"/>
              <a:t>Aggregation</a:t>
            </a:r>
          </a:p>
        </p:txBody>
      </p:sp>
      <p:sp>
        <p:nvSpPr>
          <p:cNvPr id="3" name="Content Placeholder 2">
            <a:extLst>
              <a:ext uri="{FF2B5EF4-FFF2-40B4-BE49-F238E27FC236}">
                <a16:creationId xmlns:a16="http://schemas.microsoft.com/office/drawing/2014/main" id="{674DB96A-7DA0-B533-2B94-0F4C2A19E555}"/>
              </a:ext>
            </a:extLst>
          </p:cNvPr>
          <p:cNvSpPr>
            <a:spLocks noGrp="1"/>
          </p:cNvSpPr>
          <p:nvPr>
            <p:ph idx="1"/>
          </p:nvPr>
        </p:nvSpPr>
        <p:spPr/>
        <p:txBody>
          <a:bodyPr/>
          <a:lstStyle/>
          <a:p>
            <a:r>
              <a:rPr lang="en-IN" sz="1800" b="1" dirty="0">
                <a:effectLst/>
                <a:latin typeface="TimesNewRomanPS"/>
              </a:rPr>
              <a:t>Aggregation : </a:t>
            </a:r>
            <a:endParaRPr lang="en-IN" dirty="0"/>
          </a:p>
          <a:p>
            <a:r>
              <a:rPr lang="en-IN" sz="1800" b="1" dirty="0">
                <a:effectLst/>
                <a:latin typeface="TimesNewRomanPS"/>
              </a:rPr>
              <a:t>Without existing container object if there is a chance of existing contained objects such type of relationship is called aggregation. In aggregation objects have weak association. </a:t>
            </a:r>
            <a:endParaRPr lang="en-IN" dirty="0"/>
          </a:p>
          <a:p>
            <a:r>
              <a:rPr lang="en-IN" sz="1800" b="1" dirty="0">
                <a:effectLst/>
                <a:latin typeface="TimesNewRomanPS"/>
              </a:rPr>
              <a:t>Example: </a:t>
            </a:r>
            <a:endParaRPr lang="en-IN" dirty="0"/>
          </a:p>
          <a:p>
            <a:r>
              <a:rPr lang="en-IN" sz="1800" b="1" dirty="0">
                <a:effectLst/>
                <a:latin typeface="TimesNewRomanPS"/>
              </a:rPr>
              <a:t>Within a department there may be a chance of several professors will work whenever we are closing department still there may be a chance of existing professor object without existing department object the relationship between department and professor is called aggregation where the objects having weak association. </a:t>
            </a:r>
            <a:endParaRPr lang="en-IN" dirty="0"/>
          </a:p>
          <a:p>
            <a:endParaRPr lang="en-US" dirty="0"/>
          </a:p>
        </p:txBody>
      </p:sp>
      <p:sp>
        <p:nvSpPr>
          <p:cNvPr id="4" name="Footer Placeholder 3">
            <a:extLst>
              <a:ext uri="{FF2B5EF4-FFF2-40B4-BE49-F238E27FC236}">
                <a16:creationId xmlns:a16="http://schemas.microsoft.com/office/drawing/2014/main" id="{FEDD2103-37B1-037F-8119-8DD5FBE5DCF2}"/>
              </a:ext>
            </a:extLst>
          </p:cNvPr>
          <p:cNvSpPr>
            <a:spLocks noGrp="1"/>
          </p:cNvSpPr>
          <p:nvPr>
            <p:ph type="ftr" sz="quarter" idx="11"/>
          </p:nvPr>
        </p:nvSpPr>
        <p:spPr/>
        <p:txBody>
          <a:bodyPr/>
          <a:lstStyle/>
          <a:p>
            <a:pPr>
              <a:defRPr/>
            </a:pPr>
            <a:r>
              <a:rPr lang="en-US"/>
              <a:t>Dr. Naveen Kumar, Associate Professor, AIIT, AUP</a:t>
            </a:r>
          </a:p>
        </p:txBody>
      </p:sp>
      <p:pic>
        <p:nvPicPr>
          <p:cNvPr id="10241" name="Picture 1" descr="page13image16531456">
            <a:extLst>
              <a:ext uri="{FF2B5EF4-FFF2-40B4-BE49-F238E27FC236}">
                <a16:creationId xmlns:a16="http://schemas.microsoft.com/office/drawing/2014/main" id="{C864E3F3-48EC-4631-9C82-80D4BC557F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1400" y="4054475"/>
            <a:ext cx="5689600"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04934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6A857-5DF8-7886-2EEE-2B571A07B6D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295CE4-1A95-D38A-6834-58F05CF22594}"/>
              </a:ext>
            </a:extLst>
          </p:cNvPr>
          <p:cNvSpPr>
            <a:spLocks noGrp="1"/>
          </p:cNvSpPr>
          <p:nvPr>
            <p:ph idx="1"/>
          </p:nvPr>
        </p:nvSpPr>
        <p:spPr/>
        <p:txBody>
          <a:bodyPr/>
          <a:lstStyle/>
          <a:p>
            <a:r>
              <a:rPr lang="en-IN" sz="1800" b="1" dirty="0">
                <a:effectLst/>
                <a:latin typeface="TimesNewRomanPS"/>
              </a:rPr>
              <a:t>Note : </a:t>
            </a:r>
            <a:endParaRPr lang="en-IN" dirty="0"/>
          </a:p>
          <a:p>
            <a:r>
              <a:rPr lang="en-IN" sz="1800" b="1" dirty="0">
                <a:effectLst/>
                <a:latin typeface="TimesNewRomanPS"/>
              </a:rPr>
              <a:t>In composition container , contained objects are strongly associated, and but container object holds contained objects directly</a:t>
            </a:r>
            <a:br>
              <a:rPr lang="en-IN" sz="1800" b="1" dirty="0">
                <a:effectLst/>
                <a:latin typeface="TimesNewRomanPS"/>
              </a:rPr>
            </a:br>
            <a:r>
              <a:rPr lang="en-IN" sz="1800" b="1" dirty="0">
                <a:effectLst/>
                <a:latin typeface="TimesNewRomanPS"/>
              </a:rPr>
              <a:t>But in Aggregation container and contained objects are weakly associated and container object just now holds the reference of contained objects. </a:t>
            </a:r>
            <a:endParaRPr lang="en-IN" dirty="0"/>
          </a:p>
          <a:p>
            <a:endParaRPr lang="en-US" dirty="0"/>
          </a:p>
        </p:txBody>
      </p:sp>
      <p:sp>
        <p:nvSpPr>
          <p:cNvPr id="4" name="Footer Placeholder 3">
            <a:extLst>
              <a:ext uri="{FF2B5EF4-FFF2-40B4-BE49-F238E27FC236}">
                <a16:creationId xmlns:a16="http://schemas.microsoft.com/office/drawing/2014/main" id="{93E72A26-F423-13CA-29A2-E6B2ECAA177D}"/>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0827667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9F123-972E-6052-6BF0-DCFD735E5550}"/>
              </a:ext>
            </a:extLst>
          </p:cNvPr>
          <p:cNvSpPr>
            <a:spLocks noGrp="1"/>
          </p:cNvSpPr>
          <p:nvPr>
            <p:ph type="title"/>
          </p:nvPr>
        </p:nvSpPr>
        <p:spPr/>
        <p:txBody>
          <a:bodyPr/>
          <a:lstStyle/>
          <a:p>
            <a:r>
              <a:rPr lang="en-US" dirty="0"/>
              <a:t>Method Signature</a:t>
            </a:r>
          </a:p>
        </p:txBody>
      </p:sp>
      <p:sp>
        <p:nvSpPr>
          <p:cNvPr id="3" name="Content Placeholder 2">
            <a:extLst>
              <a:ext uri="{FF2B5EF4-FFF2-40B4-BE49-F238E27FC236}">
                <a16:creationId xmlns:a16="http://schemas.microsoft.com/office/drawing/2014/main" id="{2990DF87-1BC1-8728-FC7E-ED0A602DB408}"/>
              </a:ext>
            </a:extLst>
          </p:cNvPr>
          <p:cNvSpPr>
            <a:spLocks noGrp="1"/>
          </p:cNvSpPr>
          <p:nvPr>
            <p:ph idx="1"/>
          </p:nvPr>
        </p:nvSpPr>
        <p:spPr/>
        <p:txBody>
          <a:bodyPr/>
          <a:lstStyle/>
          <a:p>
            <a:r>
              <a:rPr lang="en-IN" sz="1800" b="1" dirty="0">
                <a:effectLst/>
                <a:latin typeface="TimesNewRomanPS"/>
              </a:rPr>
              <a:t>In java, method signature consists of name of the method followed by argument types. </a:t>
            </a:r>
          </a:p>
          <a:p>
            <a:endParaRPr lang="en-IN" sz="1800" b="1" dirty="0">
              <a:latin typeface="TimesNewRomanPS"/>
            </a:endParaRPr>
          </a:p>
          <a:p>
            <a:endParaRPr lang="en-IN" sz="1800" b="1" dirty="0">
              <a:latin typeface="TimesNewRomanPS"/>
            </a:endParaRPr>
          </a:p>
          <a:p>
            <a:endParaRPr lang="en-IN" sz="1800" b="1" dirty="0">
              <a:latin typeface="TimesNewRomanPS"/>
            </a:endParaRPr>
          </a:p>
          <a:p>
            <a:endParaRPr lang="en-IN" sz="1800" b="1" dirty="0">
              <a:latin typeface="TimesNewRomanPS"/>
            </a:endParaRPr>
          </a:p>
          <a:p>
            <a:pPr>
              <a:buFont typeface="Arial" panose="020B0604020202020204" pitchFamily="34" charset="0"/>
              <a:buChar char="•"/>
            </a:pPr>
            <a:r>
              <a:rPr lang="en-IN" sz="1800" b="1" dirty="0">
                <a:effectLst/>
                <a:latin typeface="TimesNewRomanPS"/>
              </a:rPr>
              <a:t>In java return type is not part of the method signature. </a:t>
            </a:r>
            <a:endParaRPr lang="en-IN" dirty="0">
              <a:effectLst/>
            </a:endParaRPr>
          </a:p>
          <a:p>
            <a:pPr>
              <a:buFont typeface="Arial" panose="020B0604020202020204" pitchFamily="34" charset="0"/>
              <a:buChar char="•"/>
            </a:pPr>
            <a:r>
              <a:rPr lang="en-IN" sz="1800" dirty="0">
                <a:effectLst/>
                <a:latin typeface="SymbolMT"/>
              </a:rPr>
              <a:t>  </a:t>
            </a:r>
            <a:r>
              <a:rPr lang="en-IN" sz="1800" b="1" dirty="0">
                <a:effectLst/>
                <a:latin typeface="TimesNewRomanPS"/>
              </a:rPr>
              <a:t>Compiler will use method signature while resolving method calls. </a:t>
            </a:r>
            <a:endParaRPr lang="en-IN" dirty="0">
              <a:effectLst/>
            </a:endParaRPr>
          </a:p>
          <a:p>
            <a:r>
              <a:rPr lang="en-IN" sz="1800" b="1" dirty="0">
                <a:effectLst/>
                <a:latin typeface="TimesNewRomanPS"/>
              </a:rPr>
              <a:t>Within the same class we can't take 2 methods with the same signature otherwise we will get compile time error. </a:t>
            </a:r>
            <a:endParaRPr lang="en-IN" dirty="0"/>
          </a:p>
          <a:p>
            <a:endParaRPr lang="en-IN" dirty="0"/>
          </a:p>
          <a:p>
            <a:endParaRPr lang="en-US" dirty="0"/>
          </a:p>
        </p:txBody>
      </p:sp>
      <p:sp>
        <p:nvSpPr>
          <p:cNvPr id="4" name="Footer Placeholder 3">
            <a:extLst>
              <a:ext uri="{FF2B5EF4-FFF2-40B4-BE49-F238E27FC236}">
                <a16:creationId xmlns:a16="http://schemas.microsoft.com/office/drawing/2014/main" id="{B6F2D219-E274-F323-D3DE-B32852D61CBE}"/>
              </a:ext>
            </a:extLst>
          </p:cNvPr>
          <p:cNvSpPr>
            <a:spLocks noGrp="1"/>
          </p:cNvSpPr>
          <p:nvPr>
            <p:ph type="ftr" sz="quarter" idx="11"/>
          </p:nvPr>
        </p:nvSpPr>
        <p:spPr/>
        <p:txBody>
          <a:bodyPr/>
          <a:lstStyle/>
          <a:p>
            <a:pPr>
              <a:defRPr/>
            </a:pPr>
            <a:r>
              <a:rPr lang="en-US"/>
              <a:t>Dr. Naveen Kumar, Associate Professor, AIIT, AUP</a:t>
            </a:r>
          </a:p>
        </p:txBody>
      </p:sp>
      <p:pic>
        <p:nvPicPr>
          <p:cNvPr id="11265" name="Picture 1" descr="page13image16543936">
            <a:extLst>
              <a:ext uri="{FF2B5EF4-FFF2-40B4-BE49-F238E27FC236}">
                <a16:creationId xmlns:a16="http://schemas.microsoft.com/office/drawing/2014/main" id="{46FD1EF4-169A-335A-EB6F-26CA042CDE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9900" y="1866900"/>
            <a:ext cx="128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descr="page13image16543520">
            <a:extLst>
              <a:ext uri="{FF2B5EF4-FFF2-40B4-BE49-F238E27FC236}">
                <a16:creationId xmlns:a16="http://schemas.microsoft.com/office/drawing/2014/main" id="{E5B7B5D9-AA09-906A-DE44-5F90A9E71C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900" y="1866900"/>
            <a:ext cx="3784600" cy="1308100"/>
          </a:xfrm>
          <a:prstGeom prst="rect">
            <a:avLst/>
          </a:prstGeom>
          <a:noFill/>
          <a:extLst>
            <a:ext uri="{909E8E84-426E-40DD-AFC4-6F175D3DCCD1}">
              <a14:hiddenFill xmlns:a14="http://schemas.microsoft.com/office/drawing/2010/main">
                <a:solidFill>
                  <a:srgbClr val="FFFFFF"/>
                </a:solidFill>
              </a14:hiddenFill>
            </a:ext>
          </a:extLst>
        </p:spPr>
      </p:pic>
      <p:pic>
        <p:nvPicPr>
          <p:cNvPr id="11267" name="Picture 3" descr="page13image16532912">
            <a:extLst>
              <a:ext uri="{FF2B5EF4-FFF2-40B4-BE49-F238E27FC236}">
                <a16:creationId xmlns:a16="http://schemas.microsoft.com/office/drawing/2014/main" id="{6F1D18D0-D5B6-80C3-DB53-6CAC43FDA2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9900" y="1866900"/>
            <a:ext cx="558800" cy="25400"/>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page13image16535200">
            <a:extLst>
              <a:ext uri="{FF2B5EF4-FFF2-40B4-BE49-F238E27FC236}">
                <a16:creationId xmlns:a16="http://schemas.microsoft.com/office/drawing/2014/main" id="{D1E72038-2A9F-6AC8-6250-E0B39AD54F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09900" y="1866900"/>
            <a:ext cx="4940300" cy="2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9932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8AB29-79A1-B1B0-C562-4D062EF42A72}"/>
              </a:ext>
            </a:extLst>
          </p:cNvPr>
          <p:cNvSpPr>
            <a:spLocks noGrp="1"/>
          </p:cNvSpPr>
          <p:nvPr>
            <p:ph type="title"/>
          </p:nvPr>
        </p:nvSpPr>
        <p:spPr/>
        <p:txBody>
          <a:bodyPr/>
          <a:lstStyle/>
          <a:p>
            <a:r>
              <a:rPr lang="en-US" dirty="0"/>
              <a:t>Polymorphism</a:t>
            </a:r>
          </a:p>
        </p:txBody>
      </p:sp>
      <p:sp>
        <p:nvSpPr>
          <p:cNvPr id="3" name="Content Placeholder 2">
            <a:extLst>
              <a:ext uri="{FF2B5EF4-FFF2-40B4-BE49-F238E27FC236}">
                <a16:creationId xmlns:a16="http://schemas.microsoft.com/office/drawing/2014/main" id="{B80886B0-854D-65B7-731F-812E729C575F}"/>
              </a:ext>
            </a:extLst>
          </p:cNvPr>
          <p:cNvSpPr>
            <a:spLocks noGrp="1"/>
          </p:cNvSpPr>
          <p:nvPr>
            <p:ph idx="1"/>
          </p:nvPr>
        </p:nvSpPr>
        <p:spPr/>
        <p:txBody>
          <a:bodyPr/>
          <a:lstStyle/>
          <a:p>
            <a:r>
              <a:rPr lang="en-IN" sz="1800" b="1" dirty="0">
                <a:effectLst/>
                <a:latin typeface="TimesNewRomanPS"/>
              </a:rPr>
              <a:t>Same name with different forms is the concept of polymorphism.</a:t>
            </a:r>
            <a:br>
              <a:rPr lang="en-IN" sz="1800" b="1" dirty="0">
                <a:effectLst/>
                <a:latin typeface="TimesNewRomanPS"/>
              </a:rPr>
            </a:br>
            <a:r>
              <a:rPr lang="en-IN" sz="1800" b="1" dirty="0">
                <a:effectLst/>
                <a:latin typeface="TimesNewRomanPS"/>
              </a:rPr>
              <a:t>Example 1: We can use same abs() method for int type, long type, float type etc. </a:t>
            </a:r>
            <a:endParaRPr lang="en-IN" dirty="0"/>
          </a:p>
          <a:p>
            <a:r>
              <a:rPr lang="en-IN" sz="1800" b="1" dirty="0">
                <a:effectLst/>
                <a:latin typeface="TimesNewRomanPS"/>
              </a:rPr>
              <a:t>Example: </a:t>
            </a:r>
            <a:endParaRPr lang="en-IN" dirty="0"/>
          </a:p>
          <a:p>
            <a:r>
              <a:rPr lang="en-IN" sz="1800" b="1" dirty="0">
                <a:effectLst/>
                <a:latin typeface="TimesNewRomanPS"/>
              </a:rPr>
              <a:t>1. abs(int) </a:t>
            </a:r>
          </a:p>
          <a:p>
            <a:r>
              <a:rPr lang="en-IN" sz="1800" b="1" dirty="0">
                <a:effectLst/>
                <a:latin typeface="TimesNewRomanPS"/>
              </a:rPr>
              <a:t>2. abs(long) </a:t>
            </a:r>
          </a:p>
          <a:p>
            <a:r>
              <a:rPr lang="en-IN" sz="1800" b="1" dirty="0">
                <a:effectLst/>
                <a:latin typeface="TimesNewRomanPS"/>
              </a:rPr>
              <a:t>3. abs(float) </a:t>
            </a:r>
            <a:endParaRPr lang="en-IN" dirty="0"/>
          </a:p>
          <a:p>
            <a:r>
              <a:rPr lang="en-IN" sz="1800" b="1" dirty="0">
                <a:effectLst/>
                <a:latin typeface="TimesNewRomanPS"/>
              </a:rPr>
              <a:t>Example 2:</a:t>
            </a:r>
            <a:br>
              <a:rPr lang="en-IN" sz="1800" b="1" dirty="0">
                <a:effectLst/>
                <a:latin typeface="TimesNewRomanPS"/>
              </a:rPr>
            </a:br>
            <a:r>
              <a:rPr lang="en-IN" sz="1800" b="1" dirty="0">
                <a:effectLst/>
                <a:latin typeface="TimesNewRomanPS"/>
              </a:rPr>
              <a:t>We can use the parent reference to hold any child objects.</a:t>
            </a:r>
            <a:br>
              <a:rPr lang="en-IN" sz="1800" b="1" dirty="0">
                <a:effectLst/>
                <a:latin typeface="TimesNewRomanPS"/>
              </a:rPr>
            </a:br>
            <a:r>
              <a:rPr lang="en-IN" sz="1800" b="1" dirty="0">
                <a:effectLst/>
                <a:latin typeface="TimesNewRomanPS"/>
              </a:rPr>
              <a:t>We can use the same List reference to hold </a:t>
            </a:r>
            <a:r>
              <a:rPr lang="en-IN" sz="1800" b="1" dirty="0" err="1">
                <a:effectLst/>
                <a:latin typeface="TimesNewRomanPS"/>
              </a:rPr>
              <a:t>ArrayList</a:t>
            </a:r>
            <a:r>
              <a:rPr lang="en-IN" sz="1800" b="1" dirty="0">
                <a:effectLst/>
                <a:latin typeface="TimesNewRomanPS"/>
              </a:rPr>
              <a:t> object, LinkedList object, Vector object, or Stack object. </a:t>
            </a:r>
            <a:endParaRPr lang="en-IN" dirty="0"/>
          </a:p>
          <a:p>
            <a:r>
              <a:rPr lang="en-IN" sz="1800" b="1" dirty="0">
                <a:effectLst/>
                <a:latin typeface="TimesNewRomanPS"/>
              </a:rPr>
              <a:t>Example: </a:t>
            </a:r>
            <a:endParaRPr lang="en-IN" dirty="0"/>
          </a:p>
          <a:p>
            <a:pPr>
              <a:buFont typeface="+mj-lt"/>
              <a:buAutoNum type="arabicPeriod"/>
            </a:pPr>
            <a:r>
              <a:rPr lang="en-IN" sz="1800" b="1" dirty="0">
                <a:effectLst/>
                <a:latin typeface="TimesNewRomanPS"/>
              </a:rPr>
              <a:t>List l=new </a:t>
            </a:r>
            <a:r>
              <a:rPr lang="en-IN" sz="1800" b="1" dirty="0" err="1">
                <a:effectLst/>
                <a:latin typeface="TimesNewRomanPS"/>
              </a:rPr>
              <a:t>ArrayList</a:t>
            </a:r>
            <a:r>
              <a:rPr lang="en-IN" sz="1800" b="1" dirty="0">
                <a:effectLst/>
                <a:latin typeface="TimesNewRomanPS"/>
              </a:rPr>
              <a:t>(); </a:t>
            </a:r>
          </a:p>
          <a:p>
            <a:pPr>
              <a:buFont typeface="+mj-lt"/>
              <a:buAutoNum type="arabicPeriod"/>
            </a:pPr>
            <a:r>
              <a:rPr lang="en-IN" sz="1800" b="1" dirty="0">
                <a:effectLst/>
                <a:latin typeface="TimesNewRomanPS"/>
              </a:rPr>
              <a:t>List l=new LinkedList(); </a:t>
            </a:r>
          </a:p>
          <a:p>
            <a:pPr>
              <a:buFont typeface="+mj-lt"/>
              <a:buAutoNum type="arabicPeriod"/>
            </a:pPr>
            <a:r>
              <a:rPr lang="en-IN" sz="1800" b="1" dirty="0">
                <a:effectLst/>
                <a:latin typeface="TimesNewRomanPS"/>
              </a:rPr>
              <a:t>List l=new Vector(); </a:t>
            </a:r>
          </a:p>
          <a:p>
            <a:pPr>
              <a:buFont typeface="+mj-lt"/>
              <a:buAutoNum type="arabicPeriod"/>
            </a:pPr>
            <a:r>
              <a:rPr lang="en-IN" sz="1800" b="1" dirty="0">
                <a:effectLst/>
                <a:latin typeface="TimesNewRomanPS"/>
              </a:rPr>
              <a:t>List l=new Stack(); </a:t>
            </a:r>
          </a:p>
          <a:p>
            <a:endParaRPr lang="en-US" dirty="0"/>
          </a:p>
        </p:txBody>
      </p:sp>
      <p:sp>
        <p:nvSpPr>
          <p:cNvPr id="4" name="Footer Placeholder 3">
            <a:extLst>
              <a:ext uri="{FF2B5EF4-FFF2-40B4-BE49-F238E27FC236}">
                <a16:creationId xmlns:a16="http://schemas.microsoft.com/office/drawing/2014/main" id="{35A6B929-9B3A-8C05-3C3B-D5DF84D2EDAD}"/>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0157734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91135-09F7-33E4-225F-130075C65D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521C0A-0E82-B145-1C3E-E275BBBC0B6C}"/>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63D7EEEA-8109-D568-C1F3-755FC5AFD122}"/>
              </a:ext>
            </a:extLst>
          </p:cNvPr>
          <p:cNvSpPr>
            <a:spLocks noGrp="1"/>
          </p:cNvSpPr>
          <p:nvPr>
            <p:ph type="ftr" sz="quarter" idx="11"/>
          </p:nvPr>
        </p:nvSpPr>
        <p:spPr/>
        <p:txBody>
          <a:bodyPr/>
          <a:lstStyle/>
          <a:p>
            <a:pPr>
              <a:defRPr/>
            </a:pPr>
            <a:r>
              <a:rPr lang="en-US"/>
              <a:t>Dr. Naveen Kumar, Associate Professor, AIIT, AUP</a:t>
            </a:r>
          </a:p>
        </p:txBody>
      </p:sp>
      <p:pic>
        <p:nvPicPr>
          <p:cNvPr id="12289" name="Picture 1" descr="page15image16660704">
            <a:extLst>
              <a:ext uri="{FF2B5EF4-FFF2-40B4-BE49-F238E27FC236}">
                <a16:creationId xmlns:a16="http://schemas.microsoft.com/office/drawing/2014/main" id="{D82826E3-F16E-4497-E030-4796904E7E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00" y="1511300"/>
            <a:ext cx="8252648" cy="307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40649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93822-D8ED-11CA-7478-8EEF863E75B2}"/>
              </a:ext>
            </a:extLst>
          </p:cNvPr>
          <p:cNvSpPr>
            <a:spLocks noGrp="1"/>
          </p:cNvSpPr>
          <p:nvPr>
            <p:ph type="title"/>
          </p:nvPr>
        </p:nvSpPr>
        <p:spPr/>
        <p:txBody>
          <a:bodyPr/>
          <a:lstStyle/>
          <a:p>
            <a:r>
              <a:rPr lang="en-US" dirty="0"/>
              <a:t>Most Important Features</a:t>
            </a:r>
          </a:p>
        </p:txBody>
      </p:sp>
      <p:sp>
        <p:nvSpPr>
          <p:cNvPr id="3" name="Content Placeholder 2">
            <a:extLst>
              <a:ext uri="{FF2B5EF4-FFF2-40B4-BE49-F238E27FC236}">
                <a16:creationId xmlns:a16="http://schemas.microsoft.com/office/drawing/2014/main" id="{0AC17B4B-49B6-1A9D-C3CA-350FB9DCCE19}"/>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IN" sz="1800" b="1" dirty="0">
                <a:effectLst/>
                <a:latin typeface="TimesNewRomanPS"/>
              </a:rPr>
              <a:t>1) Inheritance talks about reusability. </a:t>
            </a:r>
          </a:p>
          <a:p>
            <a:pPr marL="0" indent="0">
              <a:buNone/>
            </a:pPr>
            <a:r>
              <a:rPr lang="en-IN" sz="1800" b="1" dirty="0">
                <a:effectLst/>
                <a:latin typeface="TimesNewRomanPS"/>
              </a:rPr>
              <a:t>2) Polymorphism talks about flexibility. </a:t>
            </a:r>
          </a:p>
          <a:p>
            <a:pPr marL="0" indent="0">
              <a:buNone/>
            </a:pPr>
            <a:r>
              <a:rPr lang="en-IN" sz="1800" b="1" dirty="0">
                <a:effectLst/>
                <a:latin typeface="TimesNewRomanPS"/>
              </a:rPr>
              <a:t>3) Encapsulation talks about security. </a:t>
            </a:r>
            <a:endParaRPr lang="en-IN" dirty="0"/>
          </a:p>
          <a:p>
            <a:pPr marL="0" indent="0">
              <a:buNone/>
            </a:pPr>
            <a:endParaRPr lang="en-US" dirty="0"/>
          </a:p>
        </p:txBody>
      </p:sp>
      <p:sp>
        <p:nvSpPr>
          <p:cNvPr id="4" name="Footer Placeholder 3">
            <a:extLst>
              <a:ext uri="{FF2B5EF4-FFF2-40B4-BE49-F238E27FC236}">
                <a16:creationId xmlns:a16="http://schemas.microsoft.com/office/drawing/2014/main" id="{F5525E0B-3499-4887-EA52-906441F70FE3}"/>
              </a:ext>
            </a:extLst>
          </p:cNvPr>
          <p:cNvSpPr>
            <a:spLocks noGrp="1"/>
          </p:cNvSpPr>
          <p:nvPr>
            <p:ph type="ftr" sz="quarter" idx="11"/>
          </p:nvPr>
        </p:nvSpPr>
        <p:spPr/>
        <p:txBody>
          <a:bodyPr/>
          <a:lstStyle/>
          <a:p>
            <a:pPr>
              <a:defRPr/>
            </a:pPr>
            <a:r>
              <a:rPr lang="en-US"/>
              <a:t>Dr. Naveen Kumar, Associate Professor, AIIT, AUP</a:t>
            </a:r>
          </a:p>
        </p:txBody>
      </p:sp>
      <p:pic>
        <p:nvPicPr>
          <p:cNvPr id="13313" name="Picture 1" descr="page15image16673344">
            <a:extLst>
              <a:ext uri="{FF2B5EF4-FFF2-40B4-BE49-F238E27FC236}">
                <a16:creationId xmlns:a16="http://schemas.microsoft.com/office/drawing/2014/main" id="{DF332E44-BA16-AAB4-3B8B-6B1A9601FE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21" y="1235075"/>
            <a:ext cx="8002479" cy="3421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5704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E95F9-6E4A-1FC5-E895-14B1CF036953}"/>
              </a:ext>
            </a:extLst>
          </p:cNvPr>
          <p:cNvSpPr>
            <a:spLocks noGrp="1"/>
          </p:cNvSpPr>
          <p:nvPr>
            <p:ph type="title"/>
          </p:nvPr>
        </p:nvSpPr>
        <p:spPr/>
        <p:txBody>
          <a:bodyPr/>
          <a:lstStyle/>
          <a:p>
            <a:r>
              <a:rPr lang="en-US" dirty="0"/>
              <a:t>Method Overloading</a:t>
            </a:r>
          </a:p>
        </p:txBody>
      </p:sp>
      <p:sp>
        <p:nvSpPr>
          <p:cNvPr id="3" name="Content Placeholder 2">
            <a:extLst>
              <a:ext uri="{FF2B5EF4-FFF2-40B4-BE49-F238E27FC236}">
                <a16:creationId xmlns:a16="http://schemas.microsoft.com/office/drawing/2014/main" id="{7E99A425-3C65-153B-EDA7-6E1BCD41F842}"/>
              </a:ext>
            </a:extLst>
          </p:cNvPr>
          <p:cNvSpPr>
            <a:spLocks noGrp="1"/>
          </p:cNvSpPr>
          <p:nvPr>
            <p:ph idx="1"/>
          </p:nvPr>
        </p:nvSpPr>
        <p:spPr/>
        <p:txBody>
          <a:bodyPr/>
          <a:lstStyle/>
          <a:p>
            <a:r>
              <a:rPr lang="en-IN" sz="1800" b="1" dirty="0">
                <a:effectLst/>
                <a:latin typeface="TimesNewRomanPS"/>
              </a:rPr>
              <a:t>Two methods are said to be overload if and only if both having the same name but different argument types. </a:t>
            </a:r>
            <a:endParaRPr lang="en-IN" dirty="0"/>
          </a:p>
          <a:p>
            <a:r>
              <a:rPr lang="en-IN" sz="1800" b="1" dirty="0">
                <a:latin typeface="TimesNewRomanPS"/>
              </a:rPr>
              <a:t>I</a:t>
            </a:r>
            <a:r>
              <a:rPr lang="en-IN" sz="1800" b="1" dirty="0">
                <a:effectLst/>
                <a:latin typeface="TimesNewRomanPS"/>
              </a:rPr>
              <a:t>n java we can take multiple methods with the same name and different </a:t>
            </a:r>
          </a:p>
          <a:p>
            <a:r>
              <a:rPr lang="en-IN" sz="1800" b="1" dirty="0">
                <a:effectLst/>
                <a:latin typeface="TimesNewRomanPS"/>
              </a:rPr>
              <a:t>argument types. </a:t>
            </a:r>
          </a:p>
          <a:p>
            <a:endParaRPr lang="en-US" dirty="0"/>
          </a:p>
        </p:txBody>
      </p:sp>
      <p:sp>
        <p:nvSpPr>
          <p:cNvPr id="4" name="Footer Placeholder 3">
            <a:extLst>
              <a:ext uri="{FF2B5EF4-FFF2-40B4-BE49-F238E27FC236}">
                <a16:creationId xmlns:a16="http://schemas.microsoft.com/office/drawing/2014/main" id="{B26C2673-0246-1F16-05BC-8DF10B326A27}"/>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42168579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EE401-46FE-A08F-FB55-7456FFA1AD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D9EBCBE-EAD1-DDAE-6C30-BF1C315E6669}"/>
              </a:ext>
            </a:extLst>
          </p:cNvPr>
          <p:cNvSpPr>
            <a:spLocks noGrp="1"/>
          </p:cNvSpPr>
          <p:nvPr>
            <p:ph idx="1"/>
          </p:nvPr>
        </p:nvSpPr>
        <p:spPr/>
        <p:txBody>
          <a:bodyPr/>
          <a:lstStyle/>
          <a:p>
            <a:pPr algn="just" rtl="0" fontAlgn="base"/>
            <a:r>
              <a:rPr lang="en-IN" dirty="0">
                <a:solidFill>
                  <a:schemeClr val="tx1"/>
                </a:solidFill>
                <a:latin typeface="Nunito" pitchFamily="2" charset="77"/>
              </a:rPr>
              <a:t>A</a:t>
            </a:r>
            <a:r>
              <a:rPr lang="en-IN" b="0" i="0" dirty="0">
                <a:solidFill>
                  <a:schemeClr val="tx1"/>
                </a:solidFill>
                <a:effectLst/>
                <a:latin typeface="Nunito" pitchFamily="2" charset="77"/>
              </a:rPr>
              <a:t>bstract class is declared with the abstract keyword. </a:t>
            </a:r>
          </a:p>
          <a:p>
            <a:pPr algn="just" rtl="0" fontAlgn="base"/>
            <a:r>
              <a:rPr lang="en-IN" b="0" i="0" dirty="0">
                <a:solidFill>
                  <a:schemeClr val="tx1"/>
                </a:solidFill>
                <a:effectLst/>
                <a:latin typeface="Nunito" pitchFamily="2" charset="77"/>
              </a:rPr>
              <a:t>It may have both </a:t>
            </a:r>
            <a:r>
              <a:rPr lang="en-IN" b="1" i="0" dirty="0">
                <a:solidFill>
                  <a:schemeClr val="tx1"/>
                </a:solidFill>
                <a:effectLst/>
                <a:latin typeface="Nunito" pitchFamily="2" charset="77"/>
              </a:rPr>
              <a:t>abstract</a:t>
            </a:r>
            <a:r>
              <a:rPr lang="en-IN" b="0" i="0" dirty="0">
                <a:solidFill>
                  <a:schemeClr val="tx1"/>
                </a:solidFill>
                <a:effectLst/>
                <a:latin typeface="Nunito" pitchFamily="2" charset="77"/>
              </a:rPr>
              <a:t> and </a:t>
            </a:r>
            <a:r>
              <a:rPr lang="en-IN" b="1" i="0" dirty="0">
                <a:solidFill>
                  <a:schemeClr val="tx1"/>
                </a:solidFill>
                <a:effectLst/>
                <a:latin typeface="Nunito" pitchFamily="2" charset="77"/>
              </a:rPr>
              <a:t>non-abstract</a:t>
            </a:r>
            <a:r>
              <a:rPr lang="en-IN" b="0" i="0" dirty="0">
                <a:solidFill>
                  <a:schemeClr val="tx1"/>
                </a:solidFill>
                <a:effectLst/>
                <a:latin typeface="Nunito" pitchFamily="2" charset="77"/>
              </a:rPr>
              <a:t> methods(methods with bodies). </a:t>
            </a:r>
          </a:p>
          <a:p>
            <a:pPr algn="just" rtl="0" fontAlgn="base"/>
            <a:r>
              <a:rPr lang="en-IN" b="0" i="0" dirty="0">
                <a:solidFill>
                  <a:schemeClr val="tx1"/>
                </a:solidFill>
                <a:effectLst/>
                <a:latin typeface="Nunito" pitchFamily="2" charset="77"/>
              </a:rPr>
              <a:t>An abstract is a Java </a:t>
            </a:r>
            <a:r>
              <a:rPr lang="en-IN" b="1" i="0" dirty="0">
                <a:solidFill>
                  <a:schemeClr val="tx1"/>
                </a:solidFill>
                <a:effectLst/>
                <a:latin typeface="Nunito" pitchFamily="2" charset="77"/>
              </a:rPr>
              <a:t>modifier</a:t>
            </a:r>
            <a:r>
              <a:rPr lang="en-IN" b="0" i="0" dirty="0">
                <a:solidFill>
                  <a:schemeClr val="tx1"/>
                </a:solidFill>
                <a:effectLst/>
                <a:latin typeface="Nunito" pitchFamily="2" charset="77"/>
              </a:rPr>
              <a:t> applicable for </a:t>
            </a:r>
            <a:r>
              <a:rPr lang="en-IN" b="1" i="0" dirty="0">
                <a:solidFill>
                  <a:schemeClr val="tx1"/>
                </a:solidFill>
                <a:effectLst/>
                <a:latin typeface="Nunito" pitchFamily="2" charset="77"/>
              </a:rPr>
              <a:t>classes</a:t>
            </a:r>
            <a:r>
              <a:rPr lang="en-IN" b="0" i="0" dirty="0">
                <a:solidFill>
                  <a:schemeClr val="tx1"/>
                </a:solidFill>
                <a:effectLst/>
                <a:latin typeface="Nunito" pitchFamily="2" charset="77"/>
              </a:rPr>
              <a:t> and </a:t>
            </a:r>
            <a:r>
              <a:rPr lang="en-IN" b="1" i="0" dirty="0">
                <a:solidFill>
                  <a:schemeClr val="tx1"/>
                </a:solidFill>
                <a:effectLst/>
                <a:latin typeface="Nunito" pitchFamily="2" charset="77"/>
              </a:rPr>
              <a:t>methods</a:t>
            </a:r>
            <a:r>
              <a:rPr lang="en-IN" b="0" i="0" dirty="0">
                <a:solidFill>
                  <a:schemeClr val="tx1"/>
                </a:solidFill>
                <a:effectLst/>
                <a:latin typeface="Nunito" pitchFamily="2" charset="77"/>
              </a:rPr>
              <a:t> in Java but</a:t>
            </a:r>
            <a:r>
              <a:rPr lang="en-IN" b="0" i="1" dirty="0">
                <a:solidFill>
                  <a:schemeClr val="tx1"/>
                </a:solidFill>
                <a:effectLst/>
                <a:latin typeface="Nunito" pitchFamily="2" charset="77"/>
              </a:rPr>
              <a:t> not for Variables</a:t>
            </a:r>
            <a:r>
              <a:rPr lang="en-IN" b="0" i="0" dirty="0">
                <a:solidFill>
                  <a:schemeClr val="tx1"/>
                </a:solidFill>
                <a:effectLst/>
                <a:latin typeface="Nunito" pitchFamily="2" charset="77"/>
              </a:rPr>
              <a:t>. </a:t>
            </a:r>
          </a:p>
          <a:p>
            <a:pPr marL="0" marR="0" indent="0">
              <a:spcBef>
                <a:spcPts val="0"/>
              </a:spcBef>
              <a:spcAft>
                <a:spcPts val="0"/>
              </a:spcAft>
              <a:buNone/>
            </a:pPr>
            <a:r>
              <a:rPr lang="en-IN" sz="1800" b="1" dirty="0">
                <a:solidFill>
                  <a:srgbClr val="7F0055"/>
                </a:solidFill>
                <a:effectLst/>
                <a:latin typeface="Menlo" panose="020B0609030804020204" pitchFamily="49" charset="0"/>
              </a:rPr>
              <a:t>abstract</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Shape </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int</a:t>
            </a:r>
            <a:r>
              <a:rPr lang="en-IN" sz="1800" dirty="0">
                <a:solidFill>
                  <a:srgbClr val="000000"/>
                </a:solidFill>
                <a:effectLst/>
                <a:latin typeface="Menlo" panose="020B0609030804020204" pitchFamily="49" charset="0"/>
              </a:rPr>
              <a:t> </a:t>
            </a:r>
            <a:r>
              <a:rPr lang="en-IN" sz="1800" dirty="0" err="1">
                <a:solidFill>
                  <a:srgbClr val="0000C0"/>
                </a:solidFill>
                <a:effectLst/>
                <a:latin typeface="Menlo" panose="020B0609030804020204" pitchFamily="49" charset="0"/>
              </a:rPr>
              <a:t>color</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3F7F5F"/>
                </a:solidFill>
                <a:effectLst/>
                <a:latin typeface="Menlo" panose="020B0609030804020204" pitchFamily="49" charset="0"/>
              </a:rPr>
              <a:t>// An abstract function</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b="1" dirty="0">
                <a:solidFill>
                  <a:srgbClr val="7F0055"/>
                </a:solidFill>
                <a:effectLst/>
                <a:latin typeface="Menlo" panose="020B0609030804020204" pitchFamily="49" charset="0"/>
              </a:rPr>
              <a:t>abstract</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draw();</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algn="just" rtl="0" fontAlgn="base"/>
            <a:endParaRPr lang="en-IN" b="0" i="0" dirty="0">
              <a:solidFill>
                <a:schemeClr val="tx1"/>
              </a:solidFill>
              <a:effectLst/>
              <a:latin typeface="Nunito" pitchFamily="2" charset="77"/>
            </a:endParaRPr>
          </a:p>
        </p:txBody>
      </p:sp>
      <p:sp>
        <p:nvSpPr>
          <p:cNvPr id="4" name="Footer Placeholder 3">
            <a:extLst>
              <a:ext uri="{FF2B5EF4-FFF2-40B4-BE49-F238E27FC236}">
                <a16:creationId xmlns:a16="http://schemas.microsoft.com/office/drawing/2014/main" id="{6862DC47-1310-913F-0D7A-0A063D3DAFCD}"/>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8413524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DE730-9A3A-E178-4B05-9CF0D03F6F7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1DA9C67-1A4E-A2A0-A592-35DFF87B5FC1}"/>
              </a:ext>
            </a:extLst>
          </p:cNvPr>
          <p:cNvSpPr>
            <a:spLocks noGrp="1"/>
          </p:cNvSpPr>
          <p:nvPr>
            <p:ph idx="1"/>
          </p:nvPr>
        </p:nvSpPr>
        <p:spPr/>
        <p:txBody>
          <a:bodyPr/>
          <a:lstStyle/>
          <a:p>
            <a:pPr algn="l" fontAlgn="base">
              <a:buFont typeface="+mj-lt"/>
              <a:buAutoNum type="arabicPeriod"/>
            </a:pPr>
            <a:r>
              <a:rPr lang="en-IN" sz="2000" b="0" i="0" dirty="0">
                <a:solidFill>
                  <a:schemeClr val="tx1"/>
                </a:solidFill>
                <a:effectLst/>
                <a:latin typeface="Nunito" pitchFamily="2" charset="77"/>
              </a:rPr>
              <a:t>An instance of an abstract class can not be created.</a:t>
            </a:r>
          </a:p>
          <a:p>
            <a:pPr algn="l" fontAlgn="base">
              <a:buFont typeface="+mj-lt"/>
              <a:buAutoNum type="arabicPeriod" startAt="2"/>
            </a:pPr>
            <a:r>
              <a:rPr lang="en-IN" sz="2000" b="0" i="0" dirty="0">
                <a:solidFill>
                  <a:schemeClr val="tx1"/>
                </a:solidFill>
                <a:effectLst/>
                <a:latin typeface="Nunito" pitchFamily="2" charset="77"/>
              </a:rPr>
              <a:t>Constructors are allowed.</a:t>
            </a:r>
          </a:p>
          <a:p>
            <a:pPr algn="l" fontAlgn="base">
              <a:buFont typeface="+mj-lt"/>
              <a:buAutoNum type="arabicPeriod" startAt="3"/>
            </a:pPr>
            <a:r>
              <a:rPr lang="en-IN" sz="2000" b="0" i="0" dirty="0">
                <a:solidFill>
                  <a:schemeClr val="tx1"/>
                </a:solidFill>
                <a:effectLst/>
                <a:latin typeface="Nunito" pitchFamily="2" charset="77"/>
              </a:rPr>
              <a:t>We can have an abstract class without any abstract method.</a:t>
            </a:r>
          </a:p>
          <a:p>
            <a:pPr algn="l" fontAlgn="base">
              <a:buFont typeface="+mj-lt"/>
              <a:buAutoNum type="arabicPeriod" startAt="4"/>
            </a:pPr>
            <a:r>
              <a:rPr lang="en-IN" sz="2000" b="0" i="0" dirty="0">
                <a:solidFill>
                  <a:schemeClr val="tx1"/>
                </a:solidFill>
                <a:effectLst/>
                <a:latin typeface="Nunito" pitchFamily="2" charset="77"/>
              </a:rPr>
              <a:t>There can be a </a:t>
            </a:r>
            <a:r>
              <a:rPr lang="en-IN" sz="2000" b="1" i="0" dirty="0">
                <a:solidFill>
                  <a:schemeClr val="tx1"/>
                </a:solidFill>
                <a:effectLst/>
                <a:latin typeface="Nunito" pitchFamily="2" charset="77"/>
              </a:rPr>
              <a:t>final method</a:t>
            </a:r>
            <a:r>
              <a:rPr lang="en-IN" sz="2000" b="0" i="0" dirty="0">
                <a:solidFill>
                  <a:schemeClr val="tx1"/>
                </a:solidFill>
                <a:effectLst/>
                <a:latin typeface="Nunito" pitchFamily="2" charset="77"/>
              </a:rPr>
              <a:t> in abstract class but any abstract method in class(abstract class) can not be declared as final  or in simpler terms final method can not be abstract itself as it will yield an error: “Illegal combination of modifiers: abstract and final”</a:t>
            </a:r>
          </a:p>
          <a:p>
            <a:pPr algn="l" fontAlgn="base">
              <a:buFont typeface="+mj-lt"/>
              <a:buAutoNum type="arabicPeriod" startAt="5"/>
            </a:pPr>
            <a:r>
              <a:rPr lang="en-IN" sz="2000" b="0" i="0" dirty="0">
                <a:solidFill>
                  <a:schemeClr val="tx1"/>
                </a:solidFill>
                <a:effectLst/>
                <a:latin typeface="Nunito" pitchFamily="2" charset="77"/>
              </a:rPr>
              <a:t>We can define static methods in an abstract class</a:t>
            </a:r>
          </a:p>
          <a:p>
            <a:pPr algn="l" fontAlgn="base">
              <a:buFont typeface="+mj-lt"/>
              <a:buAutoNum type="arabicPeriod" startAt="6"/>
            </a:pPr>
            <a:r>
              <a:rPr lang="en-IN" sz="2000" b="0" i="0" dirty="0">
                <a:solidFill>
                  <a:schemeClr val="tx1"/>
                </a:solidFill>
                <a:effectLst/>
                <a:latin typeface="Nunito" pitchFamily="2" charset="77"/>
              </a:rPr>
              <a:t>We can use the </a:t>
            </a:r>
            <a:r>
              <a:rPr lang="en-IN" sz="2000" b="1" i="0" dirty="0">
                <a:solidFill>
                  <a:schemeClr val="tx1"/>
                </a:solidFill>
                <a:effectLst/>
                <a:latin typeface="Nunito" pitchFamily="2" charset="77"/>
              </a:rPr>
              <a:t>abstract keyword</a:t>
            </a:r>
            <a:r>
              <a:rPr lang="en-IN" sz="2000" b="0" i="0" dirty="0">
                <a:solidFill>
                  <a:schemeClr val="tx1"/>
                </a:solidFill>
                <a:effectLst/>
                <a:latin typeface="Nunito" pitchFamily="2" charset="77"/>
              </a:rPr>
              <a:t> for declaring </a:t>
            </a:r>
            <a:r>
              <a:rPr lang="en-IN" sz="2000" b="1" i="1" dirty="0">
                <a:solidFill>
                  <a:schemeClr val="tx1"/>
                </a:solidFill>
                <a:effectLst/>
                <a:latin typeface="Nunito" pitchFamily="2" charset="77"/>
              </a:rPr>
              <a:t>top-level classes (Outer class) as well as inner classes</a:t>
            </a:r>
            <a:r>
              <a:rPr lang="en-IN" sz="2000" b="0" i="0" dirty="0">
                <a:solidFill>
                  <a:schemeClr val="tx1"/>
                </a:solidFill>
                <a:effectLst/>
                <a:latin typeface="Nunito" pitchFamily="2" charset="77"/>
              </a:rPr>
              <a:t> as abstract</a:t>
            </a:r>
          </a:p>
          <a:p>
            <a:pPr algn="l" fontAlgn="base">
              <a:buFont typeface="+mj-lt"/>
              <a:buAutoNum type="arabicPeriod" startAt="7"/>
            </a:pPr>
            <a:r>
              <a:rPr lang="en-IN" sz="2000" b="0" i="0" dirty="0">
                <a:solidFill>
                  <a:schemeClr val="tx1"/>
                </a:solidFill>
                <a:effectLst/>
                <a:latin typeface="Nunito" pitchFamily="2" charset="77"/>
              </a:rPr>
              <a:t>If a</a:t>
            </a:r>
            <a:r>
              <a:rPr lang="en-IN" sz="2000" b="1" i="0" dirty="0">
                <a:solidFill>
                  <a:schemeClr val="tx1"/>
                </a:solidFill>
                <a:effectLst/>
                <a:latin typeface="Nunito" pitchFamily="2" charset="77"/>
              </a:rPr>
              <a:t> class</a:t>
            </a:r>
            <a:r>
              <a:rPr lang="en-IN" sz="2000" b="0" i="0" dirty="0">
                <a:solidFill>
                  <a:schemeClr val="tx1"/>
                </a:solidFill>
                <a:effectLst/>
                <a:latin typeface="Nunito" pitchFamily="2" charset="77"/>
              </a:rPr>
              <a:t> contains at least </a:t>
            </a:r>
            <a:r>
              <a:rPr lang="en-IN" sz="2000" b="1" i="0" dirty="0">
                <a:solidFill>
                  <a:schemeClr val="tx1"/>
                </a:solidFill>
                <a:effectLst/>
                <a:latin typeface="Nunito" pitchFamily="2" charset="77"/>
              </a:rPr>
              <a:t>one abstract method </a:t>
            </a:r>
            <a:r>
              <a:rPr lang="en-IN" sz="2000" b="0" i="0" dirty="0">
                <a:solidFill>
                  <a:schemeClr val="tx1"/>
                </a:solidFill>
                <a:effectLst/>
                <a:latin typeface="Nunito" pitchFamily="2" charset="77"/>
              </a:rPr>
              <a:t>then compulsory should declare a class as abstract </a:t>
            </a:r>
          </a:p>
          <a:p>
            <a:pPr algn="l" fontAlgn="base">
              <a:buFont typeface="+mj-lt"/>
              <a:buAutoNum type="arabicPeriod" startAt="8"/>
            </a:pPr>
            <a:r>
              <a:rPr lang="en-IN" sz="2000" b="0" i="0" dirty="0">
                <a:solidFill>
                  <a:schemeClr val="tx1"/>
                </a:solidFill>
                <a:effectLst/>
                <a:latin typeface="Nunito" pitchFamily="2" charset="77"/>
              </a:rPr>
              <a:t>If the</a:t>
            </a:r>
            <a:r>
              <a:rPr lang="en-IN" sz="2000" b="1" i="0" dirty="0">
                <a:solidFill>
                  <a:schemeClr val="tx1"/>
                </a:solidFill>
                <a:effectLst/>
                <a:latin typeface="Nunito" pitchFamily="2" charset="77"/>
              </a:rPr>
              <a:t> Child class</a:t>
            </a:r>
            <a:r>
              <a:rPr lang="en-IN" sz="2000" b="0" i="0" dirty="0">
                <a:solidFill>
                  <a:schemeClr val="tx1"/>
                </a:solidFill>
                <a:effectLst/>
                <a:latin typeface="Nunito" pitchFamily="2" charset="77"/>
              </a:rPr>
              <a:t> is unable to provide implementation to all abstract methods of the</a:t>
            </a:r>
            <a:r>
              <a:rPr lang="en-IN" sz="2000" b="1" i="0" dirty="0">
                <a:solidFill>
                  <a:schemeClr val="tx1"/>
                </a:solidFill>
                <a:effectLst/>
                <a:latin typeface="Nunito" pitchFamily="2" charset="77"/>
              </a:rPr>
              <a:t> Parent class </a:t>
            </a:r>
            <a:r>
              <a:rPr lang="en-IN" sz="2000" b="0" i="0" dirty="0">
                <a:solidFill>
                  <a:schemeClr val="tx1"/>
                </a:solidFill>
                <a:effectLst/>
                <a:latin typeface="Nunito" pitchFamily="2" charset="77"/>
              </a:rPr>
              <a:t>then we should declare that </a:t>
            </a:r>
            <a:r>
              <a:rPr lang="en-IN" sz="2000" b="1" i="0" dirty="0">
                <a:solidFill>
                  <a:schemeClr val="tx1"/>
                </a:solidFill>
                <a:effectLst/>
                <a:latin typeface="Nunito" pitchFamily="2" charset="77"/>
              </a:rPr>
              <a:t>Child class as abstract </a:t>
            </a:r>
            <a:r>
              <a:rPr lang="en-IN" sz="2000" b="0" i="0" dirty="0">
                <a:solidFill>
                  <a:schemeClr val="tx1"/>
                </a:solidFill>
                <a:effectLst/>
                <a:latin typeface="Nunito" pitchFamily="2" charset="77"/>
              </a:rPr>
              <a:t>so that the next level Child class should provide implementation to the remaining abstract method</a:t>
            </a:r>
          </a:p>
          <a:p>
            <a:br>
              <a:rPr lang="en-IN" sz="2000" dirty="0">
                <a:solidFill>
                  <a:schemeClr val="tx1"/>
                </a:solidFill>
              </a:rPr>
            </a:br>
            <a:endParaRPr lang="en-US" sz="2000" dirty="0">
              <a:solidFill>
                <a:schemeClr val="tx1"/>
              </a:solidFill>
            </a:endParaRPr>
          </a:p>
        </p:txBody>
      </p:sp>
      <p:sp>
        <p:nvSpPr>
          <p:cNvPr id="4" name="Footer Placeholder 3">
            <a:extLst>
              <a:ext uri="{FF2B5EF4-FFF2-40B4-BE49-F238E27FC236}">
                <a16:creationId xmlns:a16="http://schemas.microsoft.com/office/drawing/2014/main" id="{01F15F75-2240-79B2-7B6B-1C6655D5A6DA}"/>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91079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C7A00-BEEC-BDCD-4021-C307161694A0}"/>
              </a:ext>
            </a:extLst>
          </p:cNvPr>
          <p:cNvSpPr>
            <a:spLocks noGrp="1"/>
          </p:cNvSpPr>
          <p:nvPr>
            <p:ph type="title"/>
          </p:nvPr>
        </p:nvSpPr>
        <p:spPr/>
        <p:txBody>
          <a:bodyPr/>
          <a:lstStyle/>
          <a:p>
            <a:pPr fontAlgn="base"/>
            <a:r>
              <a:rPr lang="en-IN" sz="3200" b="1" i="0" dirty="0">
                <a:solidFill>
                  <a:schemeClr val="tx1"/>
                </a:solidFill>
                <a:effectLst/>
                <a:latin typeface="Nunito" pitchFamily="2" charset="77"/>
              </a:rPr>
              <a:t>1. Example of Abstract Class that has Abstract method</a:t>
            </a:r>
            <a:endParaRPr lang="en-US" sz="3200" dirty="0">
              <a:solidFill>
                <a:schemeClr val="tx1"/>
              </a:solidFill>
            </a:endParaRPr>
          </a:p>
        </p:txBody>
      </p:sp>
      <p:sp>
        <p:nvSpPr>
          <p:cNvPr id="3" name="Content Placeholder 2">
            <a:extLst>
              <a:ext uri="{FF2B5EF4-FFF2-40B4-BE49-F238E27FC236}">
                <a16:creationId xmlns:a16="http://schemas.microsoft.com/office/drawing/2014/main" id="{0148C901-D911-4A67-8D06-4CD3B30A03FF}"/>
              </a:ext>
            </a:extLst>
          </p:cNvPr>
          <p:cNvSpPr>
            <a:spLocks noGrp="1"/>
          </p:cNvSpPr>
          <p:nvPr>
            <p:ph idx="1"/>
          </p:nvPr>
        </p:nvSpPr>
        <p:spPr/>
        <p:txBody>
          <a:bodyPr/>
          <a:lstStyle/>
          <a:p>
            <a:pPr marL="0" marR="0" indent="0">
              <a:spcBef>
                <a:spcPts val="0"/>
              </a:spcBef>
              <a:spcAft>
                <a:spcPts val="0"/>
              </a:spcAft>
              <a:buNone/>
            </a:pPr>
            <a:r>
              <a:rPr lang="en-IN" sz="1200" dirty="0">
                <a:solidFill>
                  <a:srgbClr val="3F7F5F"/>
                </a:solidFill>
                <a:effectLst/>
                <a:latin typeface="Menlo" panose="020B0609030804020204" pitchFamily="49" charset="0"/>
              </a:rPr>
              <a:t>//Abstract class</a:t>
            </a:r>
            <a:endParaRPr lang="en-IN" sz="1200" dirty="0">
              <a:solidFill>
                <a:srgbClr val="000000"/>
              </a:solidFill>
              <a:effectLst/>
              <a:latin typeface="Menlo" panose="020B0609030804020204" pitchFamily="49" charset="0"/>
            </a:endParaRPr>
          </a:p>
          <a:p>
            <a:pPr marL="0" marR="0" indent="0">
              <a:spcBef>
                <a:spcPts val="0"/>
              </a:spcBef>
              <a:spcAft>
                <a:spcPts val="0"/>
              </a:spcAft>
              <a:buNone/>
            </a:pPr>
            <a:r>
              <a:rPr lang="en-IN" sz="1200" b="1" dirty="0">
                <a:solidFill>
                  <a:srgbClr val="7F0055"/>
                </a:solidFill>
                <a:effectLst/>
                <a:latin typeface="Menlo" panose="020B0609030804020204" pitchFamily="49" charset="0"/>
              </a:rPr>
              <a:t>abstract</a:t>
            </a:r>
            <a:r>
              <a:rPr lang="en-IN" sz="1200" dirty="0">
                <a:solidFill>
                  <a:srgbClr val="000000"/>
                </a:solidFill>
                <a:effectLst/>
                <a:latin typeface="Menlo" panose="020B0609030804020204" pitchFamily="49" charset="0"/>
              </a:rPr>
              <a:t> </a:t>
            </a:r>
            <a:r>
              <a:rPr lang="en-IN" sz="1200" b="1" dirty="0">
                <a:solidFill>
                  <a:srgbClr val="7F0055"/>
                </a:solidFill>
                <a:effectLst/>
                <a:latin typeface="Menlo" panose="020B0609030804020204" pitchFamily="49" charset="0"/>
              </a:rPr>
              <a:t>class</a:t>
            </a:r>
            <a:r>
              <a:rPr lang="en-IN" sz="1200" dirty="0">
                <a:solidFill>
                  <a:srgbClr val="000000"/>
                </a:solidFill>
                <a:effectLst/>
                <a:latin typeface="Menlo" panose="020B0609030804020204" pitchFamily="49" charset="0"/>
              </a:rPr>
              <a:t> Sunstar {</a:t>
            </a:r>
          </a:p>
          <a:p>
            <a:pPr marL="0" marR="0" indent="0">
              <a:spcBef>
                <a:spcPts val="0"/>
              </a:spcBef>
              <a:spcAft>
                <a:spcPts val="0"/>
              </a:spcAft>
              <a:buNone/>
            </a:pPr>
            <a:r>
              <a:rPr lang="en-IN" sz="1200" b="1" dirty="0">
                <a:solidFill>
                  <a:srgbClr val="7F0055"/>
                </a:solidFill>
                <a:effectLst/>
                <a:latin typeface="Menlo" panose="020B0609030804020204" pitchFamily="49" charset="0"/>
              </a:rPr>
              <a:t>abstract</a:t>
            </a:r>
            <a:r>
              <a:rPr lang="en-IN" sz="1200" dirty="0">
                <a:solidFill>
                  <a:srgbClr val="000000"/>
                </a:solidFill>
                <a:effectLst/>
                <a:latin typeface="Menlo" panose="020B0609030804020204" pitchFamily="49" charset="0"/>
              </a:rPr>
              <a:t> </a:t>
            </a:r>
            <a:r>
              <a:rPr lang="en-IN" sz="1200" b="1" dirty="0">
                <a:solidFill>
                  <a:srgbClr val="7F0055"/>
                </a:solidFill>
                <a:effectLst/>
                <a:latin typeface="Menlo" panose="020B0609030804020204" pitchFamily="49" charset="0"/>
              </a:rPr>
              <a:t>void</a:t>
            </a:r>
            <a:r>
              <a:rPr lang="en-IN" sz="1200" dirty="0">
                <a:solidFill>
                  <a:srgbClr val="000000"/>
                </a:solidFill>
                <a:effectLst/>
                <a:latin typeface="Menlo" panose="020B0609030804020204" pitchFamily="49" charset="0"/>
              </a:rPr>
              <a:t> </a:t>
            </a:r>
            <a:r>
              <a:rPr lang="en-IN" sz="1200" dirty="0" err="1">
                <a:solidFill>
                  <a:srgbClr val="000000"/>
                </a:solidFill>
                <a:effectLst/>
                <a:latin typeface="Menlo" panose="020B0609030804020204" pitchFamily="49" charset="0"/>
              </a:rPr>
              <a:t>printInfo</a:t>
            </a: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a:solidFill>
                  <a:srgbClr val="000000"/>
                </a:solidFill>
                <a:effectLst/>
                <a:latin typeface="Menlo" panose="020B0609030804020204" pitchFamily="49" charset="0"/>
              </a:rPr>
              <a:t>}</a:t>
            </a:r>
          </a:p>
          <a:p>
            <a:pPr marL="0" marR="0" indent="0">
              <a:spcBef>
                <a:spcPts val="0"/>
              </a:spcBef>
              <a:spcAft>
                <a:spcPts val="0"/>
              </a:spcAft>
              <a:buNone/>
            </a:pPr>
            <a:br>
              <a:rPr lang="en-IN" sz="1200" dirty="0">
                <a:solidFill>
                  <a:srgbClr val="000000"/>
                </a:solidFill>
                <a:effectLst/>
                <a:latin typeface="Menlo" panose="020B0609030804020204" pitchFamily="49" charset="0"/>
              </a:rPr>
            </a:br>
            <a:endParaRPr lang="en-IN" sz="1200" dirty="0">
              <a:solidFill>
                <a:srgbClr val="000000"/>
              </a:solidFill>
              <a:effectLst/>
              <a:latin typeface="Menlo" panose="020B0609030804020204" pitchFamily="49" charset="0"/>
            </a:endParaRPr>
          </a:p>
          <a:p>
            <a:pPr marL="0" marR="0" indent="0">
              <a:spcBef>
                <a:spcPts val="0"/>
              </a:spcBef>
              <a:spcAft>
                <a:spcPts val="0"/>
              </a:spcAft>
              <a:buNone/>
            </a:pPr>
            <a:r>
              <a:rPr lang="en-IN" sz="1200" dirty="0">
                <a:solidFill>
                  <a:srgbClr val="3F7F5F"/>
                </a:solidFill>
                <a:effectLst/>
                <a:latin typeface="Menlo" panose="020B0609030804020204" pitchFamily="49" charset="0"/>
              </a:rPr>
              <a:t>//Abstraction performed using extends</a:t>
            </a:r>
            <a:endParaRPr lang="en-IN" sz="1200" dirty="0">
              <a:solidFill>
                <a:srgbClr val="000000"/>
              </a:solidFill>
              <a:effectLst/>
              <a:latin typeface="Menlo" panose="020B0609030804020204" pitchFamily="49" charset="0"/>
            </a:endParaRPr>
          </a:p>
          <a:p>
            <a:pPr marL="0" marR="0" indent="0">
              <a:spcBef>
                <a:spcPts val="0"/>
              </a:spcBef>
              <a:spcAft>
                <a:spcPts val="0"/>
              </a:spcAft>
              <a:buNone/>
            </a:pPr>
            <a:r>
              <a:rPr lang="en-IN" sz="1200" b="1" dirty="0">
                <a:solidFill>
                  <a:srgbClr val="7F0055"/>
                </a:solidFill>
                <a:effectLst/>
                <a:latin typeface="Menlo" panose="020B0609030804020204" pitchFamily="49" charset="0"/>
              </a:rPr>
              <a:t>class</a:t>
            </a:r>
            <a:r>
              <a:rPr lang="en-IN" sz="1200" dirty="0">
                <a:solidFill>
                  <a:srgbClr val="000000"/>
                </a:solidFill>
                <a:effectLst/>
                <a:latin typeface="Menlo" panose="020B0609030804020204" pitchFamily="49" charset="0"/>
              </a:rPr>
              <a:t> Employee </a:t>
            </a:r>
            <a:r>
              <a:rPr lang="en-IN" sz="1200" b="1" dirty="0">
                <a:solidFill>
                  <a:srgbClr val="7F0055"/>
                </a:solidFill>
                <a:effectLst/>
                <a:latin typeface="Menlo" panose="020B0609030804020204" pitchFamily="49" charset="0"/>
              </a:rPr>
              <a:t>extends</a:t>
            </a:r>
            <a:r>
              <a:rPr lang="en-IN" sz="1200" dirty="0">
                <a:solidFill>
                  <a:srgbClr val="000000"/>
                </a:solidFill>
                <a:effectLst/>
                <a:latin typeface="Menlo" panose="020B0609030804020204" pitchFamily="49" charset="0"/>
              </a:rPr>
              <a:t> Sunstar {</a:t>
            </a:r>
          </a:p>
          <a:p>
            <a:pPr marL="0" marR="0" indent="0">
              <a:spcBef>
                <a:spcPts val="0"/>
              </a:spcBef>
              <a:spcAft>
                <a:spcPts val="0"/>
              </a:spcAft>
              <a:buNone/>
            </a:pPr>
            <a:r>
              <a:rPr lang="en-IN" sz="1200" b="1" dirty="0">
                <a:solidFill>
                  <a:srgbClr val="7F0055"/>
                </a:solidFill>
                <a:effectLst/>
                <a:latin typeface="Menlo" panose="020B0609030804020204" pitchFamily="49" charset="0"/>
              </a:rPr>
              <a:t>void</a:t>
            </a:r>
            <a:r>
              <a:rPr lang="en-IN" sz="1200" dirty="0">
                <a:solidFill>
                  <a:srgbClr val="000000"/>
                </a:solidFill>
                <a:effectLst/>
                <a:latin typeface="Menlo" panose="020B0609030804020204" pitchFamily="49" charset="0"/>
              </a:rPr>
              <a:t> </a:t>
            </a:r>
            <a:r>
              <a:rPr lang="en-IN" sz="1200" dirty="0" err="1">
                <a:solidFill>
                  <a:srgbClr val="000000"/>
                </a:solidFill>
                <a:effectLst/>
                <a:latin typeface="Menlo" panose="020B0609030804020204" pitchFamily="49" charset="0"/>
              </a:rPr>
              <a:t>printInfo</a:t>
            </a: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a:solidFill>
                  <a:srgbClr val="000000"/>
                </a:solidFill>
                <a:effectLst/>
                <a:latin typeface="Menlo" panose="020B0609030804020204" pitchFamily="49" charset="0"/>
              </a:rPr>
              <a:t>String </a:t>
            </a:r>
            <a:r>
              <a:rPr lang="en-IN" sz="1200" dirty="0">
                <a:solidFill>
                  <a:srgbClr val="6A3E3E"/>
                </a:solidFill>
                <a:effectLst/>
                <a:latin typeface="Menlo" panose="020B0609030804020204" pitchFamily="49" charset="0"/>
              </a:rPr>
              <a:t>name</a:t>
            </a:r>
            <a:r>
              <a:rPr lang="en-IN" sz="1200" dirty="0">
                <a:solidFill>
                  <a:srgbClr val="000000"/>
                </a:solidFill>
                <a:effectLst/>
                <a:latin typeface="Menlo" panose="020B0609030804020204" pitchFamily="49" charset="0"/>
              </a:rPr>
              <a:t> = </a:t>
            </a:r>
            <a:r>
              <a:rPr lang="en-IN" sz="1200" dirty="0">
                <a:solidFill>
                  <a:srgbClr val="2A00FF"/>
                </a:solidFill>
                <a:effectLst/>
                <a:latin typeface="Menlo" panose="020B0609030804020204" pitchFamily="49" charset="0"/>
              </a:rPr>
              <a:t>"</a:t>
            </a:r>
            <a:r>
              <a:rPr lang="en-IN" sz="1200" dirty="0" err="1">
                <a:solidFill>
                  <a:srgbClr val="2A00FF"/>
                </a:solidFill>
                <a:effectLst/>
                <a:latin typeface="Menlo" panose="020B0609030804020204" pitchFamily="49" charset="0"/>
              </a:rPr>
              <a:t>avinash</a:t>
            </a:r>
            <a:r>
              <a:rPr lang="en-IN" sz="1200" dirty="0">
                <a:solidFill>
                  <a:srgbClr val="2A00FF"/>
                </a:solidFill>
                <a:effectLst/>
                <a:latin typeface="Menlo" panose="020B0609030804020204" pitchFamily="49" charset="0"/>
              </a:rPr>
              <a:t>"</a:t>
            </a: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b="1" dirty="0">
                <a:solidFill>
                  <a:srgbClr val="7F0055"/>
                </a:solidFill>
                <a:effectLst/>
                <a:latin typeface="Menlo" panose="020B0609030804020204" pitchFamily="49" charset="0"/>
              </a:rPr>
              <a:t>int</a:t>
            </a:r>
            <a:r>
              <a:rPr lang="en-IN" sz="1200" dirty="0">
                <a:solidFill>
                  <a:srgbClr val="000000"/>
                </a:solidFill>
                <a:effectLst/>
                <a:latin typeface="Menlo" panose="020B0609030804020204" pitchFamily="49" charset="0"/>
              </a:rPr>
              <a:t> </a:t>
            </a:r>
            <a:r>
              <a:rPr lang="en-IN" sz="1200" dirty="0">
                <a:solidFill>
                  <a:srgbClr val="6A3E3E"/>
                </a:solidFill>
                <a:effectLst/>
                <a:latin typeface="Menlo" panose="020B0609030804020204" pitchFamily="49" charset="0"/>
              </a:rPr>
              <a:t>age</a:t>
            </a:r>
            <a:r>
              <a:rPr lang="en-IN" sz="1200" dirty="0">
                <a:solidFill>
                  <a:srgbClr val="000000"/>
                </a:solidFill>
                <a:effectLst/>
                <a:latin typeface="Menlo" panose="020B0609030804020204" pitchFamily="49" charset="0"/>
              </a:rPr>
              <a:t> = 21;</a:t>
            </a:r>
          </a:p>
          <a:p>
            <a:pPr marL="0" marR="0" indent="0">
              <a:spcBef>
                <a:spcPts val="0"/>
              </a:spcBef>
              <a:spcAft>
                <a:spcPts val="0"/>
              </a:spcAft>
              <a:buNone/>
            </a:pPr>
            <a:r>
              <a:rPr lang="en-IN" sz="1200" b="1" dirty="0">
                <a:solidFill>
                  <a:srgbClr val="7F0055"/>
                </a:solidFill>
                <a:effectLst/>
                <a:latin typeface="Menlo" panose="020B0609030804020204" pitchFamily="49" charset="0"/>
              </a:rPr>
              <a:t>float</a:t>
            </a:r>
            <a:r>
              <a:rPr lang="en-IN" sz="1200" dirty="0">
                <a:solidFill>
                  <a:srgbClr val="000000"/>
                </a:solidFill>
                <a:effectLst/>
                <a:latin typeface="Menlo" panose="020B0609030804020204" pitchFamily="49" charset="0"/>
              </a:rPr>
              <a:t> </a:t>
            </a:r>
            <a:r>
              <a:rPr lang="en-IN" sz="1200" dirty="0">
                <a:solidFill>
                  <a:srgbClr val="6A3E3E"/>
                </a:solidFill>
                <a:effectLst/>
                <a:latin typeface="Menlo" panose="020B0609030804020204" pitchFamily="49" charset="0"/>
              </a:rPr>
              <a:t>salary</a:t>
            </a:r>
            <a:r>
              <a:rPr lang="en-IN" sz="1200" dirty="0">
                <a:solidFill>
                  <a:srgbClr val="000000"/>
                </a:solidFill>
                <a:effectLst/>
                <a:latin typeface="Menlo" panose="020B0609030804020204" pitchFamily="49" charset="0"/>
              </a:rPr>
              <a:t> = 222.2F;</a:t>
            </a:r>
          </a:p>
          <a:p>
            <a:pPr marL="0" marR="0" indent="0">
              <a:spcBef>
                <a:spcPts val="0"/>
              </a:spcBef>
              <a:spcAft>
                <a:spcPts val="0"/>
              </a:spcAft>
              <a:buNone/>
            </a:pPr>
            <a:br>
              <a:rPr lang="en-IN" sz="1200" dirty="0">
                <a:solidFill>
                  <a:srgbClr val="000000"/>
                </a:solidFill>
                <a:effectLst/>
                <a:latin typeface="Menlo" panose="020B0609030804020204" pitchFamily="49" charset="0"/>
              </a:rPr>
            </a:br>
            <a:endParaRPr lang="en-IN" sz="1200" dirty="0">
              <a:solidFill>
                <a:srgbClr val="000000"/>
              </a:solidFill>
              <a:effectLst/>
              <a:latin typeface="Menlo" panose="020B0609030804020204" pitchFamily="49" charset="0"/>
            </a:endParaRPr>
          </a:p>
          <a:p>
            <a:pPr marL="0" marR="0" indent="0">
              <a:spcBef>
                <a:spcPts val="0"/>
              </a:spcBef>
              <a:spcAft>
                <a:spcPts val="0"/>
              </a:spcAft>
              <a:buNone/>
            </a:pPr>
            <a:r>
              <a:rPr lang="en-IN" sz="1200" dirty="0" err="1">
                <a:solidFill>
                  <a:srgbClr val="000000"/>
                </a:solidFill>
                <a:effectLst/>
                <a:latin typeface="Menlo" panose="020B0609030804020204" pitchFamily="49" charset="0"/>
              </a:rPr>
              <a:t>System.</a:t>
            </a:r>
            <a:r>
              <a:rPr lang="en-IN" sz="1200" b="1" i="1" dirty="0" err="1">
                <a:solidFill>
                  <a:srgbClr val="0000C0"/>
                </a:solidFill>
                <a:effectLst/>
                <a:latin typeface="Menlo" panose="020B0609030804020204" pitchFamily="49" charset="0"/>
              </a:rPr>
              <a:t>out</a:t>
            </a:r>
            <a:r>
              <a:rPr lang="en-IN" sz="1200" dirty="0" err="1">
                <a:solidFill>
                  <a:srgbClr val="000000"/>
                </a:solidFill>
                <a:effectLst/>
                <a:latin typeface="Menlo" panose="020B0609030804020204" pitchFamily="49" charset="0"/>
              </a:rPr>
              <a:t>.println</a:t>
            </a:r>
            <a:r>
              <a:rPr lang="en-IN" sz="1200" dirty="0">
                <a:solidFill>
                  <a:srgbClr val="000000"/>
                </a:solidFill>
                <a:effectLst/>
                <a:latin typeface="Menlo" panose="020B0609030804020204" pitchFamily="49" charset="0"/>
              </a:rPr>
              <a:t>(</a:t>
            </a:r>
            <a:r>
              <a:rPr lang="en-IN" sz="1200" dirty="0">
                <a:solidFill>
                  <a:srgbClr val="6A3E3E"/>
                </a:solidFill>
                <a:effectLst/>
                <a:latin typeface="Menlo" panose="020B0609030804020204" pitchFamily="49" charset="0"/>
              </a:rPr>
              <a:t>name</a:t>
            </a: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err="1">
                <a:solidFill>
                  <a:srgbClr val="000000"/>
                </a:solidFill>
                <a:effectLst/>
                <a:latin typeface="Menlo" panose="020B0609030804020204" pitchFamily="49" charset="0"/>
              </a:rPr>
              <a:t>System.</a:t>
            </a:r>
            <a:r>
              <a:rPr lang="en-IN" sz="1200" b="1" i="1" dirty="0" err="1">
                <a:solidFill>
                  <a:srgbClr val="0000C0"/>
                </a:solidFill>
                <a:effectLst/>
                <a:latin typeface="Menlo" panose="020B0609030804020204" pitchFamily="49" charset="0"/>
              </a:rPr>
              <a:t>out</a:t>
            </a:r>
            <a:r>
              <a:rPr lang="en-IN" sz="1200" dirty="0" err="1">
                <a:solidFill>
                  <a:srgbClr val="000000"/>
                </a:solidFill>
                <a:effectLst/>
                <a:latin typeface="Menlo" panose="020B0609030804020204" pitchFamily="49" charset="0"/>
              </a:rPr>
              <a:t>.println</a:t>
            </a:r>
            <a:r>
              <a:rPr lang="en-IN" sz="1200" dirty="0">
                <a:solidFill>
                  <a:srgbClr val="000000"/>
                </a:solidFill>
                <a:effectLst/>
                <a:latin typeface="Menlo" panose="020B0609030804020204" pitchFamily="49" charset="0"/>
              </a:rPr>
              <a:t>(</a:t>
            </a:r>
            <a:r>
              <a:rPr lang="en-IN" sz="1200" dirty="0">
                <a:solidFill>
                  <a:srgbClr val="6A3E3E"/>
                </a:solidFill>
                <a:effectLst/>
                <a:latin typeface="Menlo" panose="020B0609030804020204" pitchFamily="49" charset="0"/>
              </a:rPr>
              <a:t>age</a:t>
            </a: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err="1">
                <a:solidFill>
                  <a:srgbClr val="000000"/>
                </a:solidFill>
                <a:effectLst/>
                <a:latin typeface="Menlo" panose="020B0609030804020204" pitchFamily="49" charset="0"/>
              </a:rPr>
              <a:t>System.</a:t>
            </a:r>
            <a:r>
              <a:rPr lang="en-IN" sz="1200" b="1" i="1" dirty="0" err="1">
                <a:solidFill>
                  <a:srgbClr val="0000C0"/>
                </a:solidFill>
                <a:effectLst/>
                <a:latin typeface="Menlo" panose="020B0609030804020204" pitchFamily="49" charset="0"/>
              </a:rPr>
              <a:t>out</a:t>
            </a:r>
            <a:r>
              <a:rPr lang="en-IN" sz="1200" dirty="0" err="1">
                <a:solidFill>
                  <a:srgbClr val="000000"/>
                </a:solidFill>
                <a:effectLst/>
                <a:latin typeface="Menlo" panose="020B0609030804020204" pitchFamily="49" charset="0"/>
              </a:rPr>
              <a:t>.println</a:t>
            </a:r>
            <a:r>
              <a:rPr lang="en-IN" sz="1200" dirty="0">
                <a:solidFill>
                  <a:srgbClr val="000000"/>
                </a:solidFill>
                <a:effectLst/>
                <a:latin typeface="Menlo" panose="020B0609030804020204" pitchFamily="49" charset="0"/>
              </a:rPr>
              <a:t>(</a:t>
            </a:r>
            <a:r>
              <a:rPr lang="en-IN" sz="1200" dirty="0">
                <a:solidFill>
                  <a:srgbClr val="6A3E3E"/>
                </a:solidFill>
                <a:effectLst/>
                <a:latin typeface="Menlo" panose="020B0609030804020204" pitchFamily="49" charset="0"/>
              </a:rPr>
              <a:t>salary</a:t>
            </a: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a:solidFill>
                  <a:srgbClr val="000000"/>
                </a:solidFill>
                <a:effectLst/>
                <a:latin typeface="Menlo" panose="020B0609030804020204" pitchFamily="49" charset="0"/>
              </a:rPr>
              <a:t>}</a:t>
            </a:r>
          </a:p>
          <a:p>
            <a:pPr marL="0" marR="0" indent="0">
              <a:spcBef>
                <a:spcPts val="0"/>
              </a:spcBef>
              <a:spcAft>
                <a:spcPts val="0"/>
              </a:spcAft>
              <a:buNone/>
            </a:pPr>
            <a:br>
              <a:rPr lang="en-IN" sz="1200" dirty="0">
                <a:solidFill>
                  <a:srgbClr val="000000"/>
                </a:solidFill>
                <a:effectLst/>
                <a:latin typeface="Menlo" panose="020B0609030804020204" pitchFamily="49" charset="0"/>
              </a:rPr>
            </a:br>
            <a:endParaRPr lang="en-IN" sz="1200" dirty="0">
              <a:solidFill>
                <a:srgbClr val="000000"/>
              </a:solidFill>
              <a:effectLst/>
              <a:latin typeface="Menlo" panose="020B0609030804020204" pitchFamily="49" charset="0"/>
            </a:endParaRPr>
          </a:p>
          <a:p>
            <a:pPr marL="0" marR="0" indent="0">
              <a:spcBef>
                <a:spcPts val="0"/>
              </a:spcBef>
              <a:spcAft>
                <a:spcPts val="0"/>
              </a:spcAft>
              <a:buNone/>
            </a:pPr>
            <a:r>
              <a:rPr lang="en-IN" sz="1200" dirty="0">
                <a:solidFill>
                  <a:srgbClr val="3F7F5F"/>
                </a:solidFill>
                <a:effectLst/>
                <a:latin typeface="Menlo" panose="020B0609030804020204" pitchFamily="49" charset="0"/>
              </a:rPr>
              <a:t>//Base class</a:t>
            </a:r>
            <a:endParaRPr lang="en-IN" sz="1200" dirty="0">
              <a:solidFill>
                <a:srgbClr val="000000"/>
              </a:solidFill>
              <a:effectLst/>
              <a:latin typeface="Menlo" panose="020B0609030804020204" pitchFamily="49" charset="0"/>
            </a:endParaRPr>
          </a:p>
          <a:p>
            <a:pPr marL="0" marR="0" indent="0">
              <a:spcBef>
                <a:spcPts val="0"/>
              </a:spcBef>
              <a:spcAft>
                <a:spcPts val="0"/>
              </a:spcAft>
              <a:buNone/>
            </a:pPr>
            <a:r>
              <a:rPr lang="en-IN" sz="1200" b="1" dirty="0">
                <a:solidFill>
                  <a:srgbClr val="7F0055"/>
                </a:solidFill>
                <a:effectLst/>
                <a:latin typeface="Menlo" panose="020B0609030804020204" pitchFamily="49" charset="0"/>
              </a:rPr>
              <a:t>class</a:t>
            </a:r>
            <a:r>
              <a:rPr lang="en-IN" sz="1200" dirty="0">
                <a:solidFill>
                  <a:srgbClr val="000000"/>
                </a:solidFill>
                <a:effectLst/>
                <a:latin typeface="Menlo" panose="020B0609030804020204" pitchFamily="49" charset="0"/>
              </a:rPr>
              <a:t> Base {</a:t>
            </a:r>
          </a:p>
          <a:p>
            <a:pPr marL="0" marR="0" indent="0">
              <a:spcBef>
                <a:spcPts val="0"/>
              </a:spcBef>
              <a:spcAft>
                <a:spcPts val="0"/>
              </a:spcAft>
              <a:buNone/>
            </a:pPr>
            <a:r>
              <a:rPr lang="en-IN" sz="1200" b="1" dirty="0">
                <a:solidFill>
                  <a:srgbClr val="7F0055"/>
                </a:solidFill>
                <a:effectLst/>
                <a:latin typeface="Menlo" panose="020B0609030804020204" pitchFamily="49" charset="0"/>
              </a:rPr>
              <a:t>public</a:t>
            </a:r>
            <a:r>
              <a:rPr lang="en-IN" sz="1200" dirty="0">
                <a:solidFill>
                  <a:srgbClr val="000000"/>
                </a:solidFill>
                <a:effectLst/>
                <a:latin typeface="Menlo" panose="020B0609030804020204" pitchFamily="49" charset="0"/>
              </a:rPr>
              <a:t> </a:t>
            </a:r>
            <a:r>
              <a:rPr lang="en-IN" sz="1200" b="1" dirty="0">
                <a:solidFill>
                  <a:srgbClr val="7F0055"/>
                </a:solidFill>
                <a:effectLst/>
                <a:latin typeface="Menlo" panose="020B0609030804020204" pitchFamily="49" charset="0"/>
              </a:rPr>
              <a:t>static</a:t>
            </a:r>
            <a:r>
              <a:rPr lang="en-IN" sz="1200" dirty="0">
                <a:solidFill>
                  <a:srgbClr val="000000"/>
                </a:solidFill>
                <a:effectLst/>
                <a:latin typeface="Menlo" panose="020B0609030804020204" pitchFamily="49" charset="0"/>
              </a:rPr>
              <a:t> </a:t>
            </a:r>
            <a:r>
              <a:rPr lang="en-IN" sz="1200" b="1" dirty="0">
                <a:solidFill>
                  <a:srgbClr val="7F0055"/>
                </a:solidFill>
                <a:effectLst/>
                <a:latin typeface="Menlo" panose="020B0609030804020204" pitchFamily="49" charset="0"/>
              </a:rPr>
              <a:t>void</a:t>
            </a:r>
            <a:r>
              <a:rPr lang="en-IN" sz="1200" dirty="0">
                <a:solidFill>
                  <a:srgbClr val="000000"/>
                </a:solidFill>
                <a:effectLst/>
                <a:latin typeface="Menlo" panose="020B0609030804020204" pitchFamily="49" charset="0"/>
              </a:rPr>
              <a:t> main(String </a:t>
            </a:r>
            <a:r>
              <a:rPr lang="en-IN" sz="1200" dirty="0" err="1">
                <a:solidFill>
                  <a:srgbClr val="6A3E3E"/>
                </a:solidFill>
                <a:effectLst/>
                <a:latin typeface="Menlo" panose="020B0609030804020204" pitchFamily="49" charset="0"/>
              </a:rPr>
              <a:t>args</a:t>
            </a: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a:solidFill>
                  <a:srgbClr val="000000"/>
                </a:solidFill>
                <a:effectLst/>
                <a:latin typeface="Menlo" panose="020B0609030804020204" pitchFamily="49" charset="0"/>
              </a:rPr>
              <a:t>Sunstar </a:t>
            </a:r>
            <a:r>
              <a:rPr lang="en-IN" sz="1200" dirty="0">
                <a:solidFill>
                  <a:srgbClr val="6A3E3E"/>
                </a:solidFill>
                <a:effectLst/>
                <a:latin typeface="Menlo" panose="020B0609030804020204" pitchFamily="49" charset="0"/>
              </a:rPr>
              <a:t>s</a:t>
            </a:r>
            <a:r>
              <a:rPr lang="en-IN" sz="1200" dirty="0">
                <a:solidFill>
                  <a:srgbClr val="000000"/>
                </a:solidFill>
                <a:effectLst/>
                <a:latin typeface="Menlo" panose="020B0609030804020204" pitchFamily="49" charset="0"/>
              </a:rPr>
              <a:t> = </a:t>
            </a:r>
            <a:r>
              <a:rPr lang="en-IN" sz="1200" b="1" dirty="0">
                <a:solidFill>
                  <a:srgbClr val="7F0055"/>
                </a:solidFill>
                <a:effectLst/>
                <a:latin typeface="Menlo" panose="020B0609030804020204" pitchFamily="49" charset="0"/>
              </a:rPr>
              <a:t>new</a:t>
            </a:r>
            <a:r>
              <a:rPr lang="en-IN" sz="1200" dirty="0">
                <a:solidFill>
                  <a:srgbClr val="000000"/>
                </a:solidFill>
                <a:effectLst/>
                <a:latin typeface="Menlo" panose="020B0609030804020204" pitchFamily="49" charset="0"/>
              </a:rPr>
              <a:t> Employee();</a:t>
            </a:r>
          </a:p>
          <a:p>
            <a:pPr marL="0" marR="0" indent="0">
              <a:spcBef>
                <a:spcPts val="0"/>
              </a:spcBef>
              <a:spcAft>
                <a:spcPts val="0"/>
              </a:spcAft>
              <a:buNone/>
            </a:pPr>
            <a:r>
              <a:rPr lang="en-IN" sz="1200" dirty="0" err="1">
                <a:solidFill>
                  <a:srgbClr val="6A3E3E"/>
                </a:solidFill>
                <a:effectLst/>
                <a:latin typeface="Menlo" panose="020B0609030804020204" pitchFamily="49" charset="0"/>
              </a:rPr>
              <a:t>s</a:t>
            </a:r>
            <a:r>
              <a:rPr lang="en-IN" sz="1200" dirty="0" err="1">
                <a:solidFill>
                  <a:srgbClr val="000000"/>
                </a:solidFill>
                <a:effectLst/>
                <a:latin typeface="Menlo" panose="020B0609030804020204" pitchFamily="49" charset="0"/>
              </a:rPr>
              <a:t>.printInfo</a:t>
            </a: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a:solidFill>
                  <a:srgbClr val="000000"/>
                </a:solidFill>
                <a:effectLst/>
                <a:latin typeface="Menlo" panose="020B0609030804020204" pitchFamily="49" charset="0"/>
              </a:rPr>
              <a:t>}</a:t>
            </a:r>
          </a:p>
          <a:p>
            <a:pPr marL="0" indent="0">
              <a:buNone/>
            </a:pPr>
            <a:endParaRPr lang="en-US" sz="2000" dirty="0"/>
          </a:p>
        </p:txBody>
      </p:sp>
      <p:sp>
        <p:nvSpPr>
          <p:cNvPr id="4" name="Footer Placeholder 3">
            <a:extLst>
              <a:ext uri="{FF2B5EF4-FFF2-40B4-BE49-F238E27FC236}">
                <a16:creationId xmlns:a16="http://schemas.microsoft.com/office/drawing/2014/main" id="{1C2DCF36-A48B-F1F9-57F7-EE693224EAB7}"/>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3096271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20722-E8F0-515E-ADF6-8DF600B23519}"/>
              </a:ext>
            </a:extLst>
          </p:cNvPr>
          <p:cNvSpPr>
            <a:spLocks noGrp="1"/>
          </p:cNvSpPr>
          <p:nvPr>
            <p:ph type="title"/>
          </p:nvPr>
        </p:nvSpPr>
        <p:spPr/>
        <p:txBody>
          <a:bodyPr/>
          <a:lstStyle/>
          <a:p>
            <a:pPr fontAlgn="base"/>
            <a:r>
              <a:rPr lang="en-IN" sz="3200" b="1" i="0" dirty="0">
                <a:solidFill>
                  <a:schemeClr val="tx1"/>
                </a:solidFill>
                <a:effectLst/>
                <a:latin typeface="Nunito" pitchFamily="2" charset="77"/>
              </a:rPr>
              <a:t>2. Abstract Class having constructor, data member, and methods</a:t>
            </a:r>
            <a:endParaRPr lang="en-US" sz="3200" dirty="0">
              <a:solidFill>
                <a:schemeClr val="tx1"/>
              </a:solidFill>
            </a:endParaRPr>
          </a:p>
        </p:txBody>
      </p:sp>
      <p:sp>
        <p:nvSpPr>
          <p:cNvPr id="3" name="Content Placeholder 2">
            <a:extLst>
              <a:ext uri="{FF2B5EF4-FFF2-40B4-BE49-F238E27FC236}">
                <a16:creationId xmlns:a16="http://schemas.microsoft.com/office/drawing/2014/main" id="{3FF21765-268C-44A3-D4A5-99927BDA07AA}"/>
              </a:ext>
            </a:extLst>
          </p:cNvPr>
          <p:cNvSpPr>
            <a:spLocks noGrp="1"/>
          </p:cNvSpPr>
          <p:nvPr>
            <p:ph idx="1"/>
          </p:nvPr>
        </p:nvSpPr>
        <p:spPr/>
        <p:txBody>
          <a:bodyPr/>
          <a:lstStyle/>
          <a:p>
            <a:pPr algn="just" rtl="0" fontAlgn="base"/>
            <a:r>
              <a:rPr lang="en-IN" b="0" i="0" dirty="0">
                <a:solidFill>
                  <a:schemeClr val="tx1"/>
                </a:solidFill>
                <a:effectLst/>
                <a:latin typeface="Nunito" pitchFamily="2" charset="77"/>
              </a:rPr>
              <a:t>Elements abstract class can have</a:t>
            </a:r>
          </a:p>
          <a:p>
            <a:pPr lvl="1">
              <a:buFont typeface="Arial" panose="020B0604020202020204" pitchFamily="34" charset="0"/>
              <a:buChar char="•"/>
            </a:pPr>
            <a:r>
              <a:rPr lang="en-IN" b="0" i="0" dirty="0">
                <a:solidFill>
                  <a:schemeClr val="tx1"/>
                </a:solidFill>
                <a:effectLst/>
                <a:latin typeface="Nunito" pitchFamily="2" charset="77"/>
              </a:rPr>
              <a:t>data member</a:t>
            </a:r>
          </a:p>
          <a:p>
            <a:pPr lvl="1">
              <a:buFont typeface="Arial" panose="020B0604020202020204" pitchFamily="34" charset="0"/>
              <a:buChar char="•"/>
            </a:pPr>
            <a:r>
              <a:rPr lang="en-IN" b="0" i="0" dirty="0">
                <a:solidFill>
                  <a:schemeClr val="tx1"/>
                </a:solidFill>
                <a:effectLst/>
                <a:latin typeface="Nunito" pitchFamily="2" charset="77"/>
              </a:rPr>
              <a:t>abstract method</a:t>
            </a:r>
          </a:p>
          <a:p>
            <a:pPr lvl="1">
              <a:buFont typeface="Arial" panose="020B0604020202020204" pitchFamily="34" charset="0"/>
              <a:buChar char="•"/>
            </a:pPr>
            <a:r>
              <a:rPr lang="en-IN" b="0" i="0" dirty="0">
                <a:solidFill>
                  <a:schemeClr val="tx1"/>
                </a:solidFill>
                <a:effectLst/>
                <a:latin typeface="Nunito" pitchFamily="2" charset="77"/>
              </a:rPr>
              <a:t>method body (non-abstract method)</a:t>
            </a:r>
          </a:p>
          <a:p>
            <a:pPr lvl="1">
              <a:buFont typeface="Arial" panose="020B0604020202020204" pitchFamily="34" charset="0"/>
              <a:buChar char="•"/>
            </a:pPr>
            <a:r>
              <a:rPr lang="en-IN" b="0" i="0" dirty="0">
                <a:solidFill>
                  <a:schemeClr val="tx1"/>
                </a:solidFill>
                <a:effectLst/>
                <a:latin typeface="Nunito" pitchFamily="2" charset="77"/>
              </a:rPr>
              <a:t>constructor</a:t>
            </a:r>
          </a:p>
          <a:p>
            <a:pPr lvl="1">
              <a:buFont typeface="Arial" panose="020B0604020202020204" pitchFamily="34" charset="0"/>
              <a:buChar char="•"/>
            </a:pPr>
            <a:r>
              <a:rPr lang="en-IN" b="0" i="0" dirty="0">
                <a:solidFill>
                  <a:schemeClr val="tx1"/>
                </a:solidFill>
                <a:effectLst/>
                <a:latin typeface="Nunito" pitchFamily="2" charset="77"/>
              </a:rPr>
              <a:t>main() method.</a:t>
            </a:r>
          </a:p>
        </p:txBody>
      </p:sp>
      <p:sp>
        <p:nvSpPr>
          <p:cNvPr id="4" name="Footer Placeholder 3">
            <a:extLst>
              <a:ext uri="{FF2B5EF4-FFF2-40B4-BE49-F238E27FC236}">
                <a16:creationId xmlns:a16="http://schemas.microsoft.com/office/drawing/2014/main" id="{23E1E51D-9DAA-8816-C0D3-49E3D614941A}"/>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702379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F4FE7-69F3-7D07-0803-BD1956049A5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7A8A1EB-7146-5CED-D20C-F3BCC38A0CE0}"/>
              </a:ext>
            </a:extLst>
          </p:cNvPr>
          <p:cNvSpPr>
            <a:spLocks noGrp="1"/>
          </p:cNvSpPr>
          <p:nvPr>
            <p:ph idx="1"/>
          </p:nvPr>
        </p:nvSpPr>
        <p:spPr/>
        <p:txBody>
          <a:bodyPr/>
          <a:lstStyle/>
          <a:p>
            <a:pPr marL="0" marR="0" indent="0">
              <a:spcBef>
                <a:spcPts val="0"/>
              </a:spcBef>
              <a:spcAft>
                <a:spcPts val="0"/>
              </a:spcAft>
              <a:buNone/>
            </a:pPr>
            <a:r>
              <a:rPr lang="en-IN" sz="1200" dirty="0">
                <a:solidFill>
                  <a:srgbClr val="3F7F5F"/>
                </a:solidFill>
                <a:effectLst/>
                <a:latin typeface="Menlo" panose="020B0609030804020204" pitchFamily="49" charset="0"/>
              </a:rPr>
              <a:t>//Implement Abstract Class</a:t>
            </a:r>
            <a:r>
              <a:rPr lang="en-IN" sz="1200" dirty="0">
                <a:solidFill>
                  <a:srgbClr val="000000"/>
                </a:solidFill>
                <a:latin typeface="Menlo" panose="020B0609030804020204" pitchFamily="49" charset="0"/>
              </a:rPr>
              <a:t> </a:t>
            </a:r>
            <a:r>
              <a:rPr lang="en-IN" sz="1200" dirty="0">
                <a:solidFill>
                  <a:srgbClr val="3F7F5F"/>
                </a:solidFill>
                <a:effectLst/>
                <a:latin typeface="Menlo" panose="020B0609030804020204" pitchFamily="49" charset="0"/>
              </a:rPr>
              <a:t>having constructor, data member, and methods</a:t>
            </a:r>
            <a:endParaRPr lang="en-IN" sz="1200" dirty="0">
              <a:solidFill>
                <a:srgbClr val="000000"/>
              </a:solidFill>
              <a:effectLst/>
              <a:latin typeface="Menlo" panose="020B0609030804020204" pitchFamily="49" charset="0"/>
            </a:endParaRPr>
          </a:p>
          <a:p>
            <a:pPr marL="0" marR="0" indent="0">
              <a:spcBef>
                <a:spcPts val="0"/>
              </a:spcBef>
              <a:spcAft>
                <a:spcPts val="0"/>
              </a:spcAft>
              <a:buNone/>
            </a:pPr>
            <a:r>
              <a:rPr lang="en-IN" sz="1200" b="1" dirty="0">
                <a:solidFill>
                  <a:srgbClr val="7F0055"/>
                </a:solidFill>
                <a:effectLst/>
                <a:latin typeface="Menlo" panose="020B0609030804020204" pitchFamily="49" charset="0"/>
              </a:rPr>
              <a:t>abstract</a:t>
            </a:r>
            <a:r>
              <a:rPr lang="en-IN" sz="1200" dirty="0">
                <a:solidFill>
                  <a:srgbClr val="000000"/>
                </a:solidFill>
                <a:effectLst/>
                <a:latin typeface="Menlo" panose="020B0609030804020204" pitchFamily="49" charset="0"/>
              </a:rPr>
              <a:t> </a:t>
            </a:r>
            <a:r>
              <a:rPr lang="en-IN" sz="1200" b="1" dirty="0">
                <a:solidFill>
                  <a:srgbClr val="7F0055"/>
                </a:solidFill>
                <a:effectLst/>
                <a:latin typeface="Menlo" panose="020B0609030804020204" pitchFamily="49" charset="0"/>
              </a:rPr>
              <a:t>class</a:t>
            </a:r>
            <a:r>
              <a:rPr lang="en-IN" sz="1200" dirty="0">
                <a:solidFill>
                  <a:srgbClr val="000000"/>
                </a:solidFill>
                <a:effectLst/>
                <a:latin typeface="Menlo" panose="020B0609030804020204" pitchFamily="49" charset="0"/>
              </a:rPr>
              <a:t> Subject {</a:t>
            </a:r>
          </a:p>
          <a:p>
            <a:pPr marL="0" marR="0" indent="0">
              <a:spcBef>
                <a:spcPts val="0"/>
              </a:spcBef>
              <a:spcAft>
                <a:spcPts val="0"/>
              </a:spcAft>
              <a:buNone/>
            </a:pPr>
            <a:r>
              <a:rPr lang="en-IN" sz="1200" dirty="0">
                <a:solidFill>
                  <a:srgbClr val="000000"/>
                </a:solidFill>
                <a:effectLst/>
                <a:latin typeface="Menlo" panose="020B0609030804020204" pitchFamily="49" charset="0"/>
              </a:rPr>
              <a:t>Subject() { </a:t>
            </a:r>
          </a:p>
          <a:p>
            <a:pPr marL="0" marR="0" indent="0">
              <a:spcBef>
                <a:spcPts val="0"/>
              </a:spcBef>
              <a:spcAft>
                <a:spcPts val="0"/>
              </a:spcAft>
              <a:buNone/>
            </a:pPr>
            <a:r>
              <a:rPr lang="en-IN" sz="1200" dirty="0" err="1">
                <a:solidFill>
                  <a:srgbClr val="000000"/>
                </a:solidFill>
                <a:effectLst/>
                <a:latin typeface="Menlo" panose="020B0609030804020204" pitchFamily="49" charset="0"/>
              </a:rPr>
              <a:t>System.</a:t>
            </a:r>
            <a:r>
              <a:rPr lang="en-IN" sz="1200" b="1" i="1" dirty="0" err="1">
                <a:solidFill>
                  <a:srgbClr val="0000C0"/>
                </a:solidFill>
                <a:effectLst/>
                <a:latin typeface="Menlo" panose="020B0609030804020204" pitchFamily="49" charset="0"/>
              </a:rPr>
              <a:t>out</a:t>
            </a:r>
            <a:r>
              <a:rPr lang="en-IN" sz="1200" dirty="0" err="1">
                <a:solidFill>
                  <a:srgbClr val="000000"/>
                </a:solidFill>
                <a:effectLst/>
                <a:latin typeface="Menlo" panose="020B0609030804020204" pitchFamily="49" charset="0"/>
              </a:rPr>
              <a:t>.println</a:t>
            </a:r>
            <a:r>
              <a:rPr lang="en-IN" sz="1200" dirty="0">
                <a:solidFill>
                  <a:srgbClr val="000000"/>
                </a:solidFill>
                <a:effectLst/>
                <a:latin typeface="Menlo" panose="020B0609030804020204" pitchFamily="49" charset="0"/>
              </a:rPr>
              <a:t>(</a:t>
            </a:r>
            <a:r>
              <a:rPr lang="en-IN" sz="1200" dirty="0">
                <a:solidFill>
                  <a:srgbClr val="2A00FF"/>
                </a:solidFill>
                <a:effectLst/>
                <a:latin typeface="Menlo" panose="020B0609030804020204" pitchFamily="49" charset="0"/>
              </a:rPr>
              <a:t>"Learning Subject"</a:t>
            </a:r>
            <a:r>
              <a:rPr lang="en-IN" sz="1200" dirty="0">
                <a:solidFill>
                  <a:srgbClr val="000000"/>
                </a:solidFill>
                <a:effectLst/>
                <a:latin typeface="Menlo" panose="020B0609030804020204" pitchFamily="49" charset="0"/>
              </a:rPr>
              <a:t>); </a:t>
            </a:r>
          </a:p>
          <a:p>
            <a:pPr marL="0" marR="0" indent="0">
              <a:spcBef>
                <a:spcPts val="0"/>
              </a:spcBef>
              <a:spcAft>
                <a:spcPts val="0"/>
              </a:spcAft>
              <a:buNone/>
            </a:pPr>
            <a:r>
              <a:rPr lang="en-IN" sz="1200" dirty="0">
                <a:solidFill>
                  <a:srgbClr val="000000"/>
                </a:solidFill>
                <a:effectLst/>
                <a:latin typeface="Menlo" panose="020B0609030804020204" pitchFamily="49" charset="0"/>
              </a:rPr>
              <a:t>}</a:t>
            </a:r>
          </a:p>
          <a:p>
            <a:pPr marL="0" marR="0" indent="0">
              <a:spcBef>
                <a:spcPts val="0"/>
              </a:spcBef>
              <a:spcAft>
                <a:spcPts val="0"/>
              </a:spcAft>
              <a:buNone/>
            </a:pPr>
            <a:endParaRPr lang="en-IN" sz="1200" b="1" dirty="0">
              <a:solidFill>
                <a:srgbClr val="7F0055"/>
              </a:solidFill>
              <a:effectLst/>
              <a:latin typeface="Menlo" panose="020B0609030804020204" pitchFamily="49" charset="0"/>
            </a:endParaRPr>
          </a:p>
          <a:p>
            <a:pPr marL="0" marR="0" indent="0">
              <a:spcBef>
                <a:spcPts val="0"/>
              </a:spcBef>
              <a:spcAft>
                <a:spcPts val="0"/>
              </a:spcAft>
              <a:buNone/>
            </a:pPr>
            <a:r>
              <a:rPr lang="en-IN" sz="1200" b="1" dirty="0">
                <a:solidFill>
                  <a:srgbClr val="7F0055"/>
                </a:solidFill>
                <a:effectLst/>
                <a:latin typeface="Menlo" panose="020B0609030804020204" pitchFamily="49" charset="0"/>
              </a:rPr>
              <a:t>abstract</a:t>
            </a:r>
            <a:r>
              <a:rPr lang="en-IN" sz="1200" dirty="0">
                <a:solidFill>
                  <a:srgbClr val="000000"/>
                </a:solidFill>
                <a:effectLst/>
                <a:latin typeface="Menlo" panose="020B0609030804020204" pitchFamily="49" charset="0"/>
              </a:rPr>
              <a:t> </a:t>
            </a:r>
            <a:r>
              <a:rPr lang="en-IN" sz="1200" b="1" dirty="0">
                <a:solidFill>
                  <a:srgbClr val="7F0055"/>
                </a:solidFill>
                <a:effectLst/>
                <a:latin typeface="Menlo" panose="020B0609030804020204" pitchFamily="49" charset="0"/>
              </a:rPr>
              <a:t>void</a:t>
            </a:r>
            <a:r>
              <a:rPr lang="en-IN" sz="1200" dirty="0">
                <a:solidFill>
                  <a:srgbClr val="000000"/>
                </a:solidFill>
                <a:effectLst/>
                <a:latin typeface="Menlo" panose="020B0609030804020204" pitchFamily="49" charset="0"/>
              </a:rPr>
              <a:t> syllabus();</a:t>
            </a:r>
          </a:p>
          <a:p>
            <a:pPr marL="0" marR="0" indent="0">
              <a:spcBef>
                <a:spcPts val="0"/>
              </a:spcBef>
              <a:spcAft>
                <a:spcPts val="0"/>
              </a:spcAft>
              <a:buNone/>
            </a:pPr>
            <a:endParaRPr lang="en-IN" sz="1200" dirty="0">
              <a:solidFill>
                <a:srgbClr val="000000"/>
              </a:solidFill>
              <a:effectLst/>
              <a:latin typeface="Menlo" panose="020B0609030804020204" pitchFamily="49" charset="0"/>
            </a:endParaRPr>
          </a:p>
          <a:p>
            <a:pPr marL="0" marR="0" indent="0">
              <a:spcBef>
                <a:spcPts val="0"/>
              </a:spcBef>
              <a:spcAft>
                <a:spcPts val="0"/>
              </a:spcAft>
              <a:buNone/>
            </a:pPr>
            <a:r>
              <a:rPr lang="en-IN" sz="1200" b="1" dirty="0">
                <a:solidFill>
                  <a:srgbClr val="7F0055"/>
                </a:solidFill>
                <a:effectLst/>
                <a:latin typeface="Menlo" panose="020B0609030804020204" pitchFamily="49" charset="0"/>
              </a:rPr>
              <a:t>void</a:t>
            </a:r>
            <a:r>
              <a:rPr lang="en-IN" sz="1200" dirty="0">
                <a:solidFill>
                  <a:srgbClr val="000000"/>
                </a:solidFill>
                <a:effectLst/>
                <a:latin typeface="Menlo" panose="020B0609030804020204" pitchFamily="49" charset="0"/>
              </a:rPr>
              <a:t> Learn(){</a:t>
            </a:r>
          </a:p>
          <a:p>
            <a:pPr marL="0" marR="0" indent="0">
              <a:spcBef>
                <a:spcPts val="0"/>
              </a:spcBef>
              <a:spcAft>
                <a:spcPts val="0"/>
              </a:spcAft>
              <a:buNone/>
            </a:pPr>
            <a:r>
              <a:rPr lang="en-IN" sz="1200" dirty="0" err="1">
                <a:solidFill>
                  <a:srgbClr val="000000"/>
                </a:solidFill>
                <a:effectLst/>
                <a:latin typeface="Menlo" panose="020B0609030804020204" pitchFamily="49" charset="0"/>
              </a:rPr>
              <a:t>System.</a:t>
            </a:r>
            <a:r>
              <a:rPr lang="en-IN" sz="1200" b="1" i="1" dirty="0" err="1">
                <a:solidFill>
                  <a:srgbClr val="0000C0"/>
                </a:solidFill>
                <a:effectLst/>
                <a:latin typeface="Menlo" panose="020B0609030804020204" pitchFamily="49" charset="0"/>
              </a:rPr>
              <a:t>out</a:t>
            </a:r>
            <a:r>
              <a:rPr lang="en-IN" sz="1200" dirty="0" err="1">
                <a:solidFill>
                  <a:srgbClr val="000000"/>
                </a:solidFill>
                <a:effectLst/>
                <a:latin typeface="Menlo" panose="020B0609030804020204" pitchFamily="49" charset="0"/>
              </a:rPr>
              <a:t>.println</a:t>
            </a:r>
            <a:r>
              <a:rPr lang="en-IN" sz="1200" dirty="0">
                <a:solidFill>
                  <a:srgbClr val="000000"/>
                </a:solidFill>
                <a:effectLst/>
                <a:latin typeface="Menlo" panose="020B0609030804020204" pitchFamily="49" charset="0"/>
              </a:rPr>
              <a:t>(</a:t>
            </a:r>
            <a:r>
              <a:rPr lang="en-IN" sz="1200" dirty="0">
                <a:solidFill>
                  <a:srgbClr val="2A00FF"/>
                </a:solidFill>
                <a:effectLst/>
                <a:latin typeface="Menlo" panose="020B0609030804020204" pitchFamily="49" charset="0"/>
              </a:rPr>
              <a:t>"Preparing Right Now!"</a:t>
            </a: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a:solidFill>
                  <a:srgbClr val="000000"/>
                </a:solidFill>
                <a:effectLst/>
                <a:latin typeface="Menlo" panose="020B0609030804020204" pitchFamily="49" charset="0"/>
              </a:rPr>
              <a:t>}</a:t>
            </a:r>
          </a:p>
          <a:p>
            <a:pPr marL="0" marR="0" indent="0">
              <a:spcBef>
                <a:spcPts val="0"/>
              </a:spcBef>
              <a:spcAft>
                <a:spcPts val="0"/>
              </a:spcAft>
              <a:buNone/>
            </a:pPr>
            <a:endParaRPr lang="en-IN" sz="1200" dirty="0">
              <a:solidFill>
                <a:srgbClr val="000000"/>
              </a:solidFill>
              <a:effectLst/>
              <a:latin typeface="Menlo" panose="020B0609030804020204" pitchFamily="49" charset="0"/>
            </a:endParaRPr>
          </a:p>
          <a:p>
            <a:pPr marL="0" marR="0" indent="0">
              <a:spcBef>
                <a:spcPts val="0"/>
              </a:spcBef>
              <a:spcAft>
                <a:spcPts val="0"/>
              </a:spcAft>
              <a:buNone/>
            </a:pPr>
            <a:r>
              <a:rPr lang="en-IN" sz="1200" b="1" dirty="0">
                <a:solidFill>
                  <a:srgbClr val="7F0055"/>
                </a:solidFill>
                <a:effectLst/>
                <a:latin typeface="Menlo" panose="020B0609030804020204" pitchFamily="49" charset="0"/>
              </a:rPr>
              <a:t>class</a:t>
            </a:r>
            <a:r>
              <a:rPr lang="en-IN" sz="1200" dirty="0">
                <a:solidFill>
                  <a:srgbClr val="000000"/>
                </a:solidFill>
                <a:effectLst/>
                <a:latin typeface="Menlo" panose="020B0609030804020204" pitchFamily="49" charset="0"/>
              </a:rPr>
              <a:t> IT </a:t>
            </a:r>
            <a:r>
              <a:rPr lang="en-IN" sz="1200" b="1" dirty="0">
                <a:solidFill>
                  <a:srgbClr val="7F0055"/>
                </a:solidFill>
                <a:effectLst/>
                <a:latin typeface="Menlo" panose="020B0609030804020204" pitchFamily="49" charset="0"/>
              </a:rPr>
              <a:t>extends</a:t>
            </a:r>
            <a:r>
              <a:rPr lang="en-IN" sz="1200" dirty="0">
                <a:solidFill>
                  <a:srgbClr val="000000"/>
                </a:solidFill>
                <a:effectLst/>
                <a:latin typeface="Menlo" panose="020B0609030804020204" pitchFamily="49" charset="0"/>
              </a:rPr>
              <a:t> Subject {</a:t>
            </a:r>
          </a:p>
          <a:p>
            <a:pPr marL="0" marR="0" indent="0">
              <a:spcBef>
                <a:spcPts val="0"/>
              </a:spcBef>
              <a:spcAft>
                <a:spcPts val="0"/>
              </a:spcAft>
              <a:buNone/>
            </a:pPr>
            <a:r>
              <a:rPr lang="en-IN" sz="1200" b="1" dirty="0">
                <a:solidFill>
                  <a:srgbClr val="7F0055"/>
                </a:solidFill>
                <a:effectLst/>
                <a:latin typeface="Menlo" panose="020B0609030804020204" pitchFamily="49" charset="0"/>
              </a:rPr>
              <a:t>void</a:t>
            </a:r>
            <a:r>
              <a:rPr lang="en-IN" sz="1200" dirty="0">
                <a:solidFill>
                  <a:srgbClr val="000000"/>
                </a:solidFill>
                <a:effectLst/>
                <a:latin typeface="Menlo" panose="020B0609030804020204" pitchFamily="49" charset="0"/>
              </a:rPr>
              <a:t> syllabus(){</a:t>
            </a:r>
          </a:p>
          <a:p>
            <a:pPr marL="0" marR="0" indent="0">
              <a:spcBef>
                <a:spcPts val="0"/>
              </a:spcBef>
              <a:spcAft>
                <a:spcPts val="0"/>
              </a:spcAft>
              <a:buNone/>
            </a:pPr>
            <a:r>
              <a:rPr lang="en-IN" sz="1200" dirty="0" err="1">
                <a:solidFill>
                  <a:srgbClr val="000000"/>
                </a:solidFill>
                <a:effectLst/>
                <a:latin typeface="Menlo" panose="020B0609030804020204" pitchFamily="49" charset="0"/>
              </a:rPr>
              <a:t>System.</a:t>
            </a:r>
            <a:r>
              <a:rPr lang="en-IN" sz="1200" b="1" i="1" dirty="0" err="1">
                <a:solidFill>
                  <a:srgbClr val="0000C0"/>
                </a:solidFill>
                <a:effectLst/>
                <a:latin typeface="Menlo" panose="020B0609030804020204" pitchFamily="49" charset="0"/>
              </a:rPr>
              <a:t>out</a:t>
            </a:r>
            <a:r>
              <a:rPr lang="en-IN" sz="1200" dirty="0" err="1">
                <a:solidFill>
                  <a:srgbClr val="000000"/>
                </a:solidFill>
                <a:effectLst/>
                <a:latin typeface="Menlo" panose="020B0609030804020204" pitchFamily="49" charset="0"/>
              </a:rPr>
              <a:t>.println</a:t>
            </a:r>
            <a:r>
              <a:rPr lang="en-IN" sz="1200" dirty="0">
                <a:solidFill>
                  <a:srgbClr val="000000"/>
                </a:solidFill>
                <a:effectLst/>
                <a:latin typeface="Menlo" panose="020B0609030804020204" pitchFamily="49" charset="0"/>
              </a:rPr>
              <a:t>(</a:t>
            </a:r>
            <a:r>
              <a:rPr lang="en-IN" sz="1200" dirty="0">
                <a:solidFill>
                  <a:srgbClr val="2A00FF"/>
                </a:solidFill>
                <a:effectLst/>
                <a:latin typeface="Menlo" panose="020B0609030804020204" pitchFamily="49" charset="0"/>
              </a:rPr>
              <a:t>"C , Java , C++"</a:t>
            </a: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a:solidFill>
                  <a:srgbClr val="000000"/>
                </a:solidFill>
                <a:effectLst/>
                <a:latin typeface="Menlo" panose="020B0609030804020204" pitchFamily="49" charset="0"/>
              </a:rPr>
              <a:t>}</a:t>
            </a:r>
          </a:p>
          <a:p>
            <a:pPr marL="0" marR="0" indent="0">
              <a:spcBef>
                <a:spcPts val="0"/>
              </a:spcBef>
              <a:spcAft>
                <a:spcPts val="0"/>
              </a:spcAft>
              <a:buNone/>
            </a:pPr>
            <a:endParaRPr lang="en-IN" sz="1200" dirty="0">
              <a:solidFill>
                <a:srgbClr val="000000"/>
              </a:solidFill>
              <a:effectLst/>
              <a:latin typeface="Menlo" panose="020B0609030804020204" pitchFamily="49" charset="0"/>
            </a:endParaRPr>
          </a:p>
          <a:p>
            <a:pPr marL="0" marR="0" indent="0">
              <a:spcBef>
                <a:spcPts val="0"/>
              </a:spcBef>
              <a:spcAft>
                <a:spcPts val="0"/>
              </a:spcAft>
              <a:buNone/>
            </a:pPr>
            <a:r>
              <a:rPr lang="en-IN" sz="1200" b="1" dirty="0">
                <a:solidFill>
                  <a:srgbClr val="7F0055"/>
                </a:solidFill>
                <a:effectLst/>
                <a:latin typeface="Menlo" panose="020B0609030804020204" pitchFamily="49" charset="0"/>
              </a:rPr>
              <a:t>class</a:t>
            </a:r>
            <a:r>
              <a:rPr lang="en-IN" sz="1200" dirty="0">
                <a:solidFill>
                  <a:srgbClr val="000000"/>
                </a:solidFill>
                <a:effectLst/>
                <a:latin typeface="Menlo" panose="020B0609030804020204" pitchFamily="49" charset="0"/>
              </a:rPr>
              <a:t> Demo {</a:t>
            </a:r>
          </a:p>
          <a:p>
            <a:pPr marL="0" marR="0" indent="0">
              <a:spcBef>
                <a:spcPts val="0"/>
              </a:spcBef>
              <a:spcAft>
                <a:spcPts val="0"/>
              </a:spcAft>
              <a:buNone/>
            </a:pPr>
            <a:r>
              <a:rPr lang="en-IN" sz="1200" b="1" dirty="0">
                <a:solidFill>
                  <a:srgbClr val="7F0055"/>
                </a:solidFill>
                <a:effectLst/>
                <a:latin typeface="Menlo" panose="020B0609030804020204" pitchFamily="49" charset="0"/>
              </a:rPr>
              <a:t>public</a:t>
            </a:r>
            <a:r>
              <a:rPr lang="en-IN" sz="1200" dirty="0">
                <a:solidFill>
                  <a:srgbClr val="000000"/>
                </a:solidFill>
                <a:effectLst/>
                <a:latin typeface="Menlo" panose="020B0609030804020204" pitchFamily="49" charset="0"/>
              </a:rPr>
              <a:t> </a:t>
            </a:r>
            <a:r>
              <a:rPr lang="en-IN" sz="1200" b="1" dirty="0">
                <a:solidFill>
                  <a:srgbClr val="7F0055"/>
                </a:solidFill>
                <a:effectLst/>
                <a:latin typeface="Menlo" panose="020B0609030804020204" pitchFamily="49" charset="0"/>
              </a:rPr>
              <a:t>static</a:t>
            </a:r>
            <a:r>
              <a:rPr lang="en-IN" sz="1200" dirty="0">
                <a:solidFill>
                  <a:srgbClr val="000000"/>
                </a:solidFill>
                <a:effectLst/>
                <a:latin typeface="Menlo" panose="020B0609030804020204" pitchFamily="49" charset="0"/>
              </a:rPr>
              <a:t> </a:t>
            </a:r>
            <a:r>
              <a:rPr lang="en-IN" sz="1200" b="1" dirty="0">
                <a:solidFill>
                  <a:srgbClr val="7F0055"/>
                </a:solidFill>
                <a:effectLst/>
                <a:latin typeface="Menlo" panose="020B0609030804020204" pitchFamily="49" charset="0"/>
              </a:rPr>
              <a:t>void</a:t>
            </a:r>
            <a:r>
              <a:rPr lang="en-IN" sz="1200" dirty="0">
                <a:solidFill>
                  <a:srgbClr val="000000"/>
                </a:solidFill>
                <a:effectLst/>
                <a:latin typeface="Menlo" panose="020B0609030804020204" pitchFamily="49" charset="0"/>
              </a:rPr>
              <a:t> main(String[] </a:t>
            </a:r>
            <a:r>
              <a:rPr lang="en-IN" sz="1200" dirty="0" err="1">
                <a:solidFill>
                  <a:srgbClr val="6A3E3E"/>
                </a:solidFill>
                <a:effectLst/>
                <a:latin typeface="Menlo" panose="020B0609030804020204" pitchFamily="49" charset="0"/>
              </a:rPr>
              <a:t>args</a:t>
            </a:r>
            <a:r>
              <a:rPr lang="en-IN" sz="1200" dirty="0">
                <a:solidFill>
                  <a:srgbClr val="000000"/>
                </a:solidFill>
                <a:effectLst/>
                <a:latin typeface="Menlo" panose="020B0609030804020204" pitchFamily="49" charset="0"/>
              </a:rPr>
              <a:t>) {</a:t>
            </a:r>
          </a:p>
          <a:p>
            <a:pPr marL="0" marR="0" indent="0">
              <a:spcBef>
                <a:spcPts val="0"/>
              </a:spcBef>
              <a:spcAft>
                <a:spcPts val="0"/>
              </a:spcAft>
              <a:buNone/>
            </a:pPr>
            <a:r>
              <a:rPr lang="en-IN" sz="1200" dirty="0">
                <a:solidFill>
                  <a:srgbClr val="000000"/>
                </a:solidFill>
                <a:effectLst/>
                <a:latin typeface="Menlo" panose="020B0609030804020204" pitchFamily="49" charset="0"/>
              </a:rPr>
              <a:t>Subject </a:t>
            </a:r>
            <a:r>
              <a:rPr lang="en-IN" sz="1200" dirty="0">
                <a:solidFill>
                  <a:srgbClr val="6A3E3E"/>
                </a:solidFill>
                <a:effectLst/>
                <a:latin typeface="Menlo" panose="020B0609030804020204" pitchFamily="49" charset="0"/>
              </a:rPr>
              <a:t>x</a:t>
            </a:r>
            <a:r>
              <a:rPr lang="en-IN" sz="1200" dirty="0">
                <a:solidFill>
                  <a:srgbClr val="000000"/>
                </a:solidFill>
                <a:effectLst/>
                <a:latin typeface="Menlo" panose="020B0609030804020204" pitchFamily="49" charset="0"/>
              </a:rPr>
              <a:t>=</a:t>
            </a:r>
            <a:r>
              <a:rPr lang="en-IN" sz="1200" b="1" dirty="0">
                <a:solidFill>
                  <a:srgbClr val="7F0055"/>
                </a:solidFill>
                <a:effectLst/>
                <a:latin typeface="Menlo" panose="020B0609030804020204" pitchFamily="49" charset="0"/>
              </a:rPr>
              <a:t>new</a:t>
            </a:r>
            <a:r>
              <a:rPr lang="en-IN" sz="1200" dirty="0">
                <a:solidFill>
                  <a:srgbClr val="000000"/>
                </a:solidFill>
                <a:effectLst/>
                <a:latin typeface="Menlo" panose="020B0609030804020204" pitchFamily="49" charset="0"/>
              </a:rPr>
              <a:t> IT();</a:t>
            </a:r>
          </a:p>
          <a:p>
            <a:pPr marL="0" marR="0" indent="0">
              <a:spcBef>
                <a:spcPts val="0"/>
              </a:spcBef>
              <a:spcAft>
                <a:spcPts val="0"/>
              </a:spcAft>
              <a:buNone/>
            </a:pPr>
            <a:r>
              <a:rPr lang="en-IN" sz="1200" dirty="0" err="1">
                <a:solidFill>
                  <a:srgbClr val="6A3E3E"/>
                </a:solidFill>
                <a:effectLst/>
                <a:latin typeface="Menlo" panose="020B0609030804020204" pitchFamily="49" charset="0"/>
              </a:rPr>
              <a:t>x</a:t>
            </a:r>
            <a:r>
              <a:rPr lang="en-IN" sz="1200" dirty="0" err="1">
                <a:solidFill>
                  <a:srgbClr val="000000"/>
                </a:solidFill>
                <a:effectLst/>
                <a:latin typeface="Menlo" panose="020B0609030804020204" pitchFamily="49" charset="0"/>
              </a:rPr>
              <a:t>.syllabus</a:t>
            </a: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err="1">
                <a:solidFill>
                  <a:srgbClr val="6A3E3E"/>
                </a:solidFill>
                <a:effectLst/>
                <a:latin typeface="Menlo" panose="020B0609030804020204" pitchFamily="49" charset="0"/>
              </a:rPr>
              <a:t>x</a:t>
            </a:r>
            <a:r>
              <a:rPr lang="en-IN" sz="1200" dirty="0" err="1">
                <a:solidFill>
                  <a:srgbClr val="000000"/>
                </a:solidFill>
                <a:effectLst/>
                <a:latin typeface="Menlo" panose="020B0609030804020204" pitchFamily="49" charset="0"/>
              </a:rPr>
              <a:t>.Learn</a:t>
            </a: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a:solidFill>
                  <a:srgbClr val="000000"/>
                </a:solidFill>
                <a:effectLst/>
                <a:latin typeface="Menlo" panose="020B0609030804020204" pitchFamily="49" charset="0"/>
              </a:rPr>
              <a:t>}</a:t>
            </a:r>
          </a:p>
          <a:p>
            <a:pPr marL="0" indent="0">
              <a:buNone/>
            </a:pPr>
            <a:endParaRPr lang="en-US" sz="2000" dirty="0"/>
          </a:p>
        </p:txBody>
      </p:sp>
      <p:sp>
        <p:nvSpPr>
          <p:cNvPr id="4" name="Footer Placeholder 3">
            <a:extLst>
              <a:ext uri="{FF2B5EF4-FFF2-40B4-BE49-F238E27FC236}">
                <a16:creationId xmlns:a16="http://schemas.microsoft.com/office/drawing/2014/main" id="{7CDE9AA2-E502-6A09-FE84-9624AF7F197C}"/>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9357937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8EBB8-685D-1434-6604-E085D2483B16}"/>
              </a:ext>
            </a:extLst>
          </p:cNvPr>
          <p:cNvSpPr>
            <a:spLocks noGrp="1"/>
          </p:cNvSpPr>
          <p:nvPr>
            <p:ph type="title"/>
          </p:nvPr>
        </p:nvSpPr>
        <p:spPr/>
        <p:txBody>
          <a:bodyPr/>
          <a:lstStyle/>
          <a:p>
            <a:pPr fontAlgn="base"/>
            <a:r>
              <a:rPr lang="en-IN" sz="3600" b="1" i="0" dirty="0">
                <a:solidFill>
                  <a:schemeClr val="tx1"/>
                </a:solidFill>
                <a:effectLst/>
                <a:latin typeface="Nunito" pitchFamily="2" charset="77"/>
              </a:rPr>
              <a:t>Properties of Abstract class</a:t>
            </a:r>
            <a:endParaRPr lang="en-US" sz="3600" dirty="0">
              <a:solidFill>
                <a:schemeClr val="tx1"/>
              </a:solidFill>
            </a:endParaRPr>
          </a:p>
        </p:txBody>
      </p:sp>
      <p:sp>
        <p:nvSpPr>
          <p:cNvPr id="3" name="Content Placeholder 2">
            <a:extLst>
              <a:ext uri="{FF2B5EF4-FFF2-40B4-BE49-F238E27FC236}">
                <a16:creationId xmlns:a16="http://schemas.microsoft.com/office/drawing/2014/main" id="{3455D512-A0D7-32A6-4400-0163A3D9086C}"/>
              </a:ext>
            </a:extLst>
          </p:cNvPr>
          <p:cNvSpPr>
            <a:spLocks noGrp="1"/>
          </p:cNvSpPr>
          <p:nvPr>
            <p:ph idx="1"/>
          </p:nvPr>
        </p:nvSpPr>
        <p:spPr/>
        <p:txBody>
          <a:bodyPr/>
          <a:lstStyle/>
          <a:p>
            <a:pPr algn="just" rtl="0" fontAlgn="base"/>
            <a:r>
              <a:rPr lang="en-IN" b="0" i="0" dirty="0">
                <a:solidFill>
                  <a:schemeClr val="tx1"/>
                </a:solidFill>
                <a:effectLst/>
                <a:latin typeface="Nunito" pitchFamily="2" charset="77"/>
              </a:rPr>
              <a:t>1. we can have references to abstract class type but not object. </a:t>
            </a:r>
          </a:p>
          <a:p>
            <a:pPr marL="0" marR="0" indent="0">
              <a:spcBef>
                <a:spcPts val="0"/>
              </a:spcBef>
              <a:spcAft>
                <a:spcPts val="0"/>
              </a:spcAft>
              <a:buNone/>
            </a:pPr>
            <a:r>
              <a:rPr lang="en-IN" sz="1200" dirty="0">
                <a:solidFill>
                  <a:srgbClr val="3F7F5F"/>
                </a:solidFill>
                <a:effectLst/>
                <a:latin typeface="Menlo" panose="020B0609030804020204" pitchFamily="49" charset="0"/>
              </a:rPr>
              <a:t>//Abstract class</a:t>
            </a:r>
            <a:endParaRPr lang="en-IN" sz="1200" dirty="0">
              <a:solidFill>
                <a:srgbClr val="000000"/>
              </a:solidFill>
              <a:effectLst/>
              <a:latin typeface="Menlo" panose="020B0609030804020204" pitchFamily="49" charset="0"/>
            </a:endParaRPr>
          </a:p>
          <a:p>
            <a:pPr marL="0" marR="0" indent="0">
              <a:spcBef>
                <a:spcPts val="0"/>
              </a:spcBef>
              <a:spcAft>
                <a:spcPts val="0"/>
              </a:spcAft>
              <a:buNone/>
            </a:pPr>
            <a:r>
              <a:rPr lang="en-IN" sz="1200" b="1" dirty="0">
                <a:solidFill>
                  <a:srgbClr val="7F0055"/>
                </a:solidFill>
                <a:effectLst/>
                <a:latin typeface="Menlo" panose="020B0609030804020204" pitchFamily="49" charset="0"/>
              </a:rPr>
              <a:t>abstract</a:t>
            </a:r>
            <a:r>
              <a:rPr lang="en-IN" sz="1200" dirty="0">
                <a:solidFill>
                  <a:srgbClr val="000000"/>
                </a:solidFill>
                <a:effectLst/>
                <a:latin typeface="Menlo" panose="020B0609030804020204" pitchFamily="49" charset="0"/>
              </a:rPr>
              <a:t> </a:t>
            </a:r>
            <a:r>
              <a:rPr lang="en-IN" sz="1200" b="1" dirty="0">
                <a:solidFill>
                  <a:srgbClr val="7F0055"/>
                </a:solidFill>
                <a:effectLst/>
                <a:latin typeface="Menlo" panose="020B0609030804020204" pitchFamily="49" charset="0"/>
              </a:rPr>
              <a:t>class</a:t>
            </a:r>
            <a:r>
              <a:rPr lang="en-IN" sz="1200" dirty="0">
                <a:solidFill>
                  <a:srgbClr val="000000"/>
                </a:solidFill>
                <a:effectLst/>
                <a:latin typeface="Menlo" panose="020B0609030804020204" pitchFamily="49" charset="0"/>
              </a:rPr>
              <a:t> Base {</a:t>
            </a:r>
          </a:p>
          <a:p>
            <a:pPr marL="0" marR="0" indent="0">
              <a:spcBef>
                <a:spcPts val="0"/>
              </a:spcBef>
              <a:spcAft>
                <a:spcPts val="0"/>
              </a:spcAft>
              <a:buNone/>
            </a:pPr>
            <a:r>
              <a:rPr lang="en-IN" sz="1200" b="1" dirty="0">
                <a:solidFill>
                  <a:srgbClr val="7F0055"/>
                </a:solidFill>
                <a:effectLst/>
                <a:latin typeface="Menlo" panose="020B0609030804020204" pitchFamily="49" charset="0"/>
              </a:rPr>
              <a:t>abstract</a:t>
            </a:r>
            <a:r>
              <a:rPr lang="en-IN" sz="1200" dirty="0">
                <a:solidFill>
                  <a:srgbClr val="000000"/>
                </a:solidFill>
                <a:effectLst/>
                <a:latin typeface="Menlo" panose="020B0609030804020204" pitchFamily="49" charset="0"/>
              </a:rPr>
              <a:t> </a:t>
            </a:r>
            <a:r>
              <a:rPr lang="en-IN" sz="1200" b="1" dirty="0">
                <a:solidFill>
                  <a:srgbClr val="7F0055"/>
                </a:solidFill>
                <a:effectLst/>
                <a:latin typeface="Menlo" panose="020B0609030804020204" pitchFamily="49" charset="0"/>
              </a:rPr>
              <a:t>void</a:t>
            </a:r>
            <a:r>
              <a:rPr lang="en-IN" sz="1200" dirty="0">
                <a:solidFill>
                  <a:srgbClr val="000000"/>
                </a:solidFill>
                <a:effectLst/>
                <a:latin typeface="Menlo" panose="020B0609030804020204" pitchFamily="49" charset="0"/>
              </a:rPr>
              <a:t> fun();</a:t>
            </a:r>
          </a:p>
          <a:p>
            <a:pPr marL="0" marR="0" indent="0">
              <a:spcBef>
                <a:spcPts val="0"/>
              </a:spcBef>
              <a:spcAft>
                <a:spcPts val="0"/>
              </a:spcAft>
              <a:buNone/>
            </a:pPr>
            <a:r>
              <a:rPr lang="en-IN" sz="1200" dirty="0">
                <a:solidFill>
                  <a:srgbClr val="000000"/>
                </a:solidFill>
                <a:effectLst/>
                <a:latin typeface="Menlo" panose="020B0609030804020204" pitchFamily="49" charset="0"/>
              </a:rPr>
              <a:t>}</a:t>
            </a:r>
          </a:p>
          <a:p>
            <a:pPr marL="0" marR="0" indent="0">
              <a:spcBef>
                <a:spcPts val="0"/>
              </a:spcBef>
              <a:spcAft>
                <a:spcPts val="0"/>
              </a:spcAft>
              <a:buNone/>
            </a:pPr>
            <a:endParaRPr lang="en-IN" sz="1200" dirty="0">
              <a:solidFill>
                <a:srgbClr val="000000"/>
              </a:solidFill>
              <a:effectLst/>
              <a:latin typeface="Menlo" panose="020B0609030804020204" pitchFamily="49" charset="0"/>
            </a:endParaRPr>
          </a:p>
          <a:p>
            <a:pPr marL="0" marR="0" indent="0">
              <a:spcBef>
                <a:spcPts val="0"/>
              </a:spcBef>
              <a:spcAft>
                <a:spcPts val="0"/>
              </a:spcAft>
              <a:buNone/>
            </a:pPr>
            <a:r>
              <a:rPr lang="en-IN" sz="1200" b="1" dirty="0">
                <a:solidFill>
                  <a:srgbClr val="7F0055"/>
                </a:solidFill>
                <a:effectLst/>
                <a:latin typeface="Menlo" panose="020B0609030804020204" pitchFamily="49" charset="0"/>
              </a:rPr>
              <a:t>class</a:t>
            </a:r>
            <a:r>
              <a:rPr lang="en-IN" sz="1200" dirty="0">
                <a:solidFill>
                  <a:srgbClr val="000000"/>
                </a:solidFill>
                <a:effectLst/>
                <a:latin typeface="Menlo" panose="020B0609030804020204" pitchFamily="49" charset="0"/>
              </a:rPr>
              <a:t> </a:t>
            </a:r>
            <a:r>
              <a:rPr lang="en-IN" sz="1200" u="sng" dirty="0">
                <a:solidFill>
                  <a:srgbClr val="000000"/>
                </a:solidFill>
                <a:effectLst/>
                <a:latin typeface="Menlo" panose="020B0609030804020204" pitchFamily="49" charset="0"/>
              </a:rPr>
              <a:t>Derived</a:t>
            </a:r>
            <a:r>
              <a:rPr lang="en-IN" sz="1200" dirty="0">
                <a:solidFill>
                  <a:srgbClr val="000000"/>
                </a:solidFill>
                <a:effectLst/>
                <a:latin typeface="Menlo" panose="020B0609030804020204" pitchFamily="49" charset="0"/>
              </a:rPr>
              <a:t> </a:t>
            </a:r>
            <a:r>
              <a:rPr lang="en-IN" sz="1200" b="1" dirty="0">
                <a:solidFill>
                  <a:srgbClr val="7F0055"/>
                </a:solidFill>
                <a:effectLst/>
                <a:latin typeface="Menlo" panose="020B0609030804020204" pitchFamily="49" charset="0"/>
              </a:rPr>
              <a:t>extends</a:t>
            </a:r>
            <a:r>
              <a:rPr lang="en-IN" sz="1200" dirty="0">
                <a:solidFill>
                  <a:srgbClr val="000000"/>
                </a:solidFill>
                <a:effectLst/>
                <a:latin typeface="Menlo" panose="020B0609030804020204" pitchFamily="49" charset="0"/>
              </a:rPr>
              <a:t> Base {</a:t>
            </a:r>
          </a:p>
          <a:p>
            <a:pPr marL="0" marR="0" indent="0">
              <a:spcBef>
                <a:spcPts val="0"/>
              </a:spcBef>
              <a:spcAft>
                <a:spcPts val="0"/>
              </a:spcAft>
              <a:buNone/>
            </a:pPr>
            <a:r>
              <a:rPr lang="en-IN" sz="1200" b="1" dirty="0">
                <a:solidFill>
                  <a:srgbClr val="7F0055"/>
                </a:solidFill>
                <a:effectLst/>
                <a:latin typeface="Menlo" panose="020B0609030804020204" pitchFamily="49" charset="0"/>
              </a:rPr>
              <a:t>void</a:t>
            </a:r>
            <a:r>
              <a:rPr lang="en-IN" sz="1200" dirty="0">
                <a:solidFill>
                  <a:srgbClr val="000000"/>
                </a:solidFill>
                <a:effectLst/>
                <a:latin typeface="Menlo" panose="020B0609030804020204" pitchFamily="49" charset="0"/>
              </a:rPr>
              <a:t> fun()</a:t>
            </a:r>
          </a:p>
          <a:p>
            <a:pPr marL="0" marR="0" indent="0">
              <a:spcBef>
                <a:spcPts val="0"/>
              </a:spcBef>
              <a:spcAft>
                <a:spcPts val="0"/>
              </a:spcAft>
              <a:buNone/>
            </a:pP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err="1">
                <a:solidFill>
                  <a:srgbClr val="000000"/>
                </a:solidFill>
                <a:effectLst/>
                <a:latin typeface="Menlo" panose="020B0609030804020204" pitchFamily="49" charset="0"/>
              </a:rPr>
              <a:t>System.out.println</a:t>
            </a:r>
            <a:r>
              <a:rPr lang="en-IN" sz="1200" dirty="0">
                <a:solidFill>
                  <a:srgbClr val="000000"/>
                </a:solidFill>
                <a:effectLst/>
                <a:latin typeface="Menlo" panose="020B0609030804020204" pitchFamily="49" charset="0"/>
              </a:rPr>
              <a:t>(</a:t>
            </a:r>
            <a:r>
              <a:rPr lang="en-IN" sz="1200" dirty="0">
                <a:solidFill>
                  <a:srgbClr val="2A00FF"/>
                </a:solidFill>
                <a:effectLst/>
                <a:latin typeface="Menlo" panose="020B0609030804020204" pitchFamily="49" charset="0"/>
              </a:rPr>
              <a:t>"Derived fun() called"</a:t>
            </a: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a:solidFill>
                  <a:srgbClr val="000000"/>
                </a:solidFill>
                <a:effectLst/>
                <a:latin typeface="Menlo" panose="020B0609030804020204" pitchFamily="49" charset="0"/>
              </a:rPr>
              <a:t>}</a:t>
            </a:r>
          </a:p>
          <a:p>
            <a:pPr marL="0" marR="0" indent="0">
              <a:spcBef>
                <a:spcPts val="0"/>
              </a:spcBef>
              <a:spcAft>
                <a:spcPts val="0"/>
              </a:spcAft>
              <a:buNone/>
            </a:pPr>
            <a:endParaRPr lang="en-IN" sz="1200" dirty="0">
              <a:solidFill>
                <a:srgbClr val="000000"/>
              </a:solidFill>
              <a:effectLst/>
              <a:latin typeface="Menlo" panose="020B0609030804020204" pitchFamily="49" charset="0"/>
            </a:endParaRPr>
          </a:p>
          <a:p>
            <a:pPr marL="0" marR="0" indent="0">
              <a:spcBef>
                <a:spcPts val="0"/>
              </a:spcBef>
              <a:spcAft>
                <a:spcPts val="0"/>
              </a:spcAft>
              <a:buNone/>
            </a:pPr>
            <a:r>
              <a:rPr lang="en-IN" sz="1200" b="1" dirty="0">
                <a:solidFill>
                  <a:srgbClr val="7F0055"/>
                </a:solidFill>
                <a:effectLst/>
                <a:latin typeface="Menlo" panose="020B0609030804020204" pitchFamily="49" charset="0"/>
              </a:rPr>
              <a:t>class</a:t>
            </a:r>
            <a:r>
              <a:rPr lang="en-IN" sz="1200" dirty="0">
                <a:solidFill>
                  <a:srgbClr val="000000"/>
                </a:solidFill>
                <a:effectLst/>
                <a:latin typeface="Menlo" panose="020B0609030804020204" pitchFamily="49" charset="0"/>
              </a:rPr>
              <a:t> Main {</a:t>
            </a:r>
          </a:p>
          <a:p>
            <a:pPr marL="0" marR="0" indent="0">
              <a:spcBef>
                <a:spcPts val="0"/>
              </a:spcBef>
              <a:spcAft>
                <a:spcPts val="0"/>
              </a:spcAft>
              <a:buNone/>
            </a:pPr>
            <a:r>
              <a:rPr lang="en-IN" sz="1200" b="1" dirty="0">
                <a:solidFill>
                  <a:srgbClr val="7F0055"/>
                </a:solidFill>
                <a:effectLst/>
                <a:latin typeface="Menlo" panose="020B0609030804020204" pitchFamily="49" charset="0"/>
              </a:rPr>
              <a:t>public</a:t>
            </a:r>
            <a:r>
              <a:rPr lang="en-IN" sz="1200" dirty="0">
                <a:solidFill>
                  <a:srgbClr val="000000"/>
                </a:solidFill>
                <a:effectLst/>
                <a:latin typeface="Menlo" panose="020B0609030804020204" pitchFamily="49" charset="0"/>
              </a:rPr>
              <a:t> </a:t>
            </a:r>
            <a:r>
              <a:rPr lang="en-IN" sz="1200" b="1" dirty="0">
                <a:solidFill>
                  <a:srgbClr val="7F0055"/>
                </a:solidFill>
                <a:effectLst/>
                <a:latin typeface="Menlo" panose="020B0609030804020204" pitchFamily="49" charset="0"/>
              </a:rPr>
              <a:t>static</a:t>
            </a:r>
            <a:r>
              <a:rPr lang="en-IN" sz="1200" dirty="0">
                <a:solidFill>
                  <a:srgbClr val="000000"/>
                </a:solidFill>
                <a:effectLst/>
                <a:latin typeface="Menlo" panose="020B0609030804020204" pitchFamily="49" charset="0"/>
              </a:rPr>
              <a:t> </a:t>
            </a:r>
            <a:r>
              <a:rPr lang="en-IN" sz="1200" b="1" dirty="0">
                <a:solidFill>
                  <a:srgbClr val="7F0055"/>
                </a:solidFill>
                <a:effectLst/>
                <a:latin typeface="Menlo" panose="020B0609030804020204" pitchFamily="49" charset="0"/>
              </a:rPr>
              <a:t>void</a:t>
            </a:r>
            <a:r>
              <a:rPr lang="en-IN" sz="1200" dirty="0">
                <a:solidFill>
                  <a:srgbClr val="000000"/>
                </a:solidFill>
                <a:effectLst/>
                <a:latin typeface="Menlo" panose="020B0609030804020204" pitchFamily="49" charset="0"/>
              </a:rPr>
              <a:t> main(String </a:t>
            </a:r>
            <a:r>
              <a:rPr lang="en-IN" sz="1200" dirty="0" err="1">
                <a:solidFill>
                  <a:srgbClr val="6A3E3E"/>
                </a:solidFill>
                <a:effectLst/>
                <a:latin typeface="Menlo" panose="020B0609030804020204" pitchFamily="49" charset="0"/>
              </a:rPr>
              <a:t>args</a:t>
            </a: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a:solidFill>
                  <a:srgbClr val="3F7F5F"/>
                </a:solidFill>
                <a:effectLst/>
                <a:latin typeface="Menlo" panose="020B0609030804020204" pitchFamily="49" charset="0"/>
              </a:rPr>
              <a:t>//Base b = new Base();</a:t>
            </a:r>
            <a:endParaRPr lang="en-IN" sz="1200" dirty="0">
              <a:solidFill>
                <a:srgbClr val="000000"/>
              </a:solidFill>
              <a:effectLst/>
              <a:latin typeface="Menlo" panose="020B0609030804020204" pitchFamily="49" charset="0"/>
            </a:endParaRPr>
          </a:p>
          <a:p>
            <a:pPr marL="0" marR="0" indent="0">
              <a:spcBef>
                <a:spcPts val="0"/>
              </a:spcBef>
              <a:spcAft>
                <a:spcPts val="0"/>
              </a:spcAft>
              <a:buNone/>
            </a:pPr>
            <a:r>
              <a:rPr lang="en-IN" sz="1200" dirty="0">
                <a:solidFill>
                  <a:srgbClr val="3F7F5F"/>
                </a:solidFill>
                <a:effectLst/>
                <a:latin typeface="Menlo" panose="020B0609030804020204" pitchFamily="49" charset="0"/>
              </a:rPr>
              <a:t>// but We can have references of Base type.</a:t>
            </a:r>
            <a:endParaRPr lang="en-IN" sz="1200" dirty="0">
              <a:solidFill>
                <a:srgbClr val="000000"/>
              </a:solidFill>
              <a:effectLst/>
              <a:latin typeface="Menlo" panose="020B0609030804020204" pitchFamily="49" charset="0"/>
            </a:endParaRPr>
          </a:p>
          <a:p>
            <a:pPr marL="0" marR="0" indent="0">
              <a:spcBef>
                <a:spcPts val="0"/>
              </a:spcBef>
              <a:spcAft>
                <a:spcPts val="0"/>
              </a:spcAft>
              <a:buNone/>
            </a:pPr>
            <a:r>
              <a:rPr lang="en-IN" sz="1200" dirty="0">
                <a:solidFill>
                  <a:srgbClr val="000000"/>
                </a:solidFill>
                <a:effectLst/>
                <a:latin typeface="Menlo" panose="020B0609030804020204" pitchFamily="49" charset="0"/>
              </a:rPr>
              <a:t>Base </a:t>
            </a:r>
            <a:r>
              <a:rPr lang="en-IN" sz="1200" dirty="0">
                <a:solidFill>
                  <a:srgbClr val="6A3E3E"/>
                </a:solidFill>
                <a:effectLst/>
                <a:latin typeface="Menlo" panose="020B0609030804020204" pitchFamily="49" charset="0"/>
              </a:rPr>
              <a:t>b</a:t>
            </a:r>
            <a:r>
              <a:rPr lang="en-IN" sz="1200" dirty="0">
                <a:solidFill>
                  <a:srgbClr val="000000"/>
                </a:solidFill>
                <a:effectLst/>
                <a:latin typeface="Menlo" panose="020B0609030804020204" pitchFamily="49" charset="0"/>
              </a:rPr>
              <a:t> = </a:t>
            </a:r>
            <a:r>
              <a:rPr lang="en-IN" sz="1200" b="1" u="sng" dirty="0">
                <a:solidFill>
                  <a:srgbClr val="7F0055"/>
                </a:solidFill>
                <a:effectLst/>
                <a:latin typeface="Menlo" panose="020B0609030804020204" pitchFamily="49" charset="0"/>
              </a:rPr>
              <a:t>new</a:t>
            </a:r>
            <a:r>
              <a:rPr lang="en-IN" sz="1200" u="sng" dirty="0">
                <a:solidFill>
                  <a:srgbClr val="000000"/>
                </a:solidFill>
                <a:effectLst/>
                <a:latin typeface="Menlo" panose="020B0609030804020204" pitchFamily="49" charset="0"/>
              </a:rPr>
              <a:t> Derived()</a:t>
            </a: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err="1">
                <a:solidFill>
                  <a:srgbClr val="6A3E3E"/>
                </a:solidFill>
                <a:effectLst/>
                <a:latin typeface="Menlo" panose="020B0609030804020204" pitchFamily="49" charset="0"/>
              </a:rPr>
              <a:t>b</a:t>
            </a:r>
            <a:r>
              <a:rPr lang="en-IN" sz="1200" dirty="0" err="1">
                <a:solidFill>
                  <a:srgbClr val="000000"/>
                </a:solidFill>
                <a:effectLst/>
                <a:latin typeface="Menlo" panose="020B0609030804020204" pitchFamily="49" charset="0"/>
              </a:rPr>
              <a:t>.fun</a:t>
            </a: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a:solidFill>
                  <a:srgbClr val="000000"/>
                </a:solidFill>
                <a:effectLst/>
                <a:latin typeface="Menlo" panose="020B0609030804020204" pitchFamily="49" charset="0"/>
              </a:rPr>
              <a:t>}</a:t>
            </a:r>
          </a:p>
          <a:p>
            <a:pPr marL="0" marR="0" indent="0">
              <a:spcBef>
                <a:spcPts val="0"/>
              </a:spcBef>
              <a:spcAft>
                <a:spcPts val="0"/>
              </a:spcAft>
              <a:buNone/>
            </a:pPr>
            <a:r>
              <a:rPr lang="en-IN" sz="1200" dirty="0">
                <a:solidFill>
                  <a:srgbClr val="000000"/>
                </a:solidFill>
                <a:effectLst/>
                <a:latin typeface="Menlo" panose="020B0609030804020204" pitchFamily="49" charset="0"/>
              </a:rPr>
              <a:t>}</a:t>
            </a:r>
          </a:p>
        </p:txBody>
      </p:sp>
      <p:sp>
        <p:nvSpPr>
          <p:cNvPr id="4" name="Footer Placeholder 3">
            <a:extLst>
              <a:ext uri="{FF2B5EF4-FFF2-40B4-BE49-F238E27FC236}">
                <a16:creationId xmlns:a16="http://schemas.microsoft.com/office/drawing/2014/main" id="{1352170E-67E1-1045-ED50-EBF7F01FA69D}"/>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7631807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0385B-C133-11A6-5CE2-EA265A82611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CDC870A-B94B-AA8E-FEDE-E27A39749964}"/>
              </a:ext>
            </a:extLst>
          </p:cNvPr>
          <p:cNvSpPr>
            <a:spLocks noGrp="1"/>
          </p:cNvSpPr>
          <p:nvPr>
            <p:ph idx="1"/>
          </p:nvPr>
        </p:nvSpPr>
        <p:spPr/>
        <p:txBody>
          <a:bodyPr/>
          <a:lstStyle/>
          <a:p>
            <a:r>
              <a:rPr lang="en-IN" b="0" i="0" dirty="0">
                <a:solidFill>
                  <a:schemeClr val="tx1"/>
                </a:solidFill>
                <a:effectLst/>
                <a:latin typeface="Nunito" pitchFamily="2" charset="77"/>
              </a:rPr>
              <a:t>2. an </a:t>
            </a:r>
            <a:r>
              <a:rPr lang="en-IN" b="1" i="0" dirty="0">
                <a:solidFill>
                  <a:schemeClr val="tx1"/>
                </a:solidFill>
                <a:effectLst/>
                <a:latin typeface="Nunito" pitchFamily="2" charset="77"/>
              </a:rPr>
              <a:t>abstract class</a:t>
            </a:r>
            <a:r>
              <a:rPr lang="en-IN" b="0" i="0" dirty="0">
                <a:solidFill>
                  <a:schemeClr val="tx1"/>
                </a:solidFill>
                <a:effectLst/>
                <a:latin typeface="Nunito" pitchFamily="2" charset="77"/>
              </a:rPr>
              <a:t> can contain </a:t>
            </a:r>
            <a:r>
              <a:rPr lang="en-IN" b="1" i="0" dirty="0">
                <a:solidFill>
                  <a:schemeClr val="tx1"/>
                </a:solidFill>
                <a:effectLst/>
                <a:latin typeface="Nunito" pitchFamily="2" charset="77"/>
              </a:rPr>
              <a:t>constructors</a:t>
            </a:r>
            <a:r>
              <a:rPr lang="en-IN" b="0" i="0" dirty="0">
                <a:solidFill>
                  <a:schemeClr val="tx1"/>
                </a:solidFill>
                <a:effectLst/>
                <a:latin typeface="Nunito" pitchFamily="2" charset="77"/>
              </a:rPr>
              <a:t> in Java. And a constructor of an abstract class is called when an instance of an inherited class is created. </a:t>
            </a:r>
            <a:endParaRPr lang="en-US" dirty="0">
              <a:solidFill>
                <a:schemeClr val="tx1"/>
              </a:solidFill>
            </a:endParaRPr>
          </a:p>
        </p:txBody>
      </p:sp>
      <p:sp>
        <p:nvSpPr>
          <p:cNvPr id="4" name="Footer Placeholder 3">
            <a:extLst>
              <a:ext uri="{FF2B5EF4-FFF2-40B4-BE49-F238E27FC236}">
                <a16:creationId xmlns:a16="http://schemas.microsoft.com/office/drawing/2014/main" id="{232632AA-54F5-8E80-2FF9-13B6DEF4D7AB}"/>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281638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7ACED-7539-C2C8-5219-47A1D69C0C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6D8E3EA-EAD6-59C6-9782-95A41CECBE28}"/>
              </a:ext>
            </a:extLst>
          </p:cNvPr>
          <p:cNvSpPr>
            <a:spLocks noGrp="1"/>
          </p:cNvSpPr>
          <p:nvPr>
            <p:ph idx="1"/>
          </p:nvPr>
        </p:nvSpPr>
        <p:spPr>
          <a:xfrm>
            <a:off x="457200" y="1295400"/>
            <a:ext cx="4114800" cy="5029200"/>
          </a:xfrm>
        </p:spPr>
        <p:txBody>
          <a:bodyPr/>
          <a:lstStyle/>
          <a:p>
            <a:pPr marL="0" marR="0" indent="0">
              <a:spcBef>
                <a:spcPts val="0"/>
              </a:spcBef>
              <a:spcAft>
                <a:spcPts val="0"/>
              </a:spcAft>
              <a:buNone/>
            </a:pPr>
            <a:r>
              <a:rPr lang="en-IN" sz="1050" dirty="0">
                <a:solidFill>
                  <a:srgbClr val="3F7F5F"/>
                </a:solidFill>
                <a:effectLst/>
                <a:latin typeface="Menlo" panose="020B0609030804020204" pitchFamily="49" charset="0"/>
              </a:rPr>
              <a:t>//Abstract class</a:t>
            </a:r>
            <a:endParaRPr lang="en-IN" sz="1050" dirty="0">
              <a:solidFill>
                <a:srgbClr val="000000"/>
              </a:solidFill>
              <a:effectLst/>
              <a:latin typeface="Menlo" panose="020B0609030804020204" pitchFamily="49" charset="0"/>
            </a:endParaRPr>
          </a:p>
          <a:p>
            <a:pPr marL="0" marR="0" indent="0">
              <a:spcBef>
                <a:spcPts val="0"/>
              </a:spcBef>
              <a:spcAft>
                <a:spcPts val="0"/>
              </a:spcAft>
              <a:buNone/>
            </a:pPr>
            <a:r>
              <a:rPr lang="en-IN" sz="1050" b="1" dirty="0">
                <a:solidFill>
                  <a:srgbClr val="7F0055"/>
                </a:solidFill>
                <a:effectLst/>
                <a:latin typeface="Menlo" panose="020B0609030804020204" pitchFamily="49" charset="0"/>
              </a:rPr>
              <a:t>abstract</a:t>
            </a:r>
            <a:r>
              <a:rPr lang="en-IN" sz="1050" dirty="0">
                <a:solidFill>
                  <a:srgbClr val="000000"/>
                </a:solidFill>
                <a:effectLst/>
                <a:latin typeface="Menlo" panose="020B0609030804020204" pitchFamily="49" charset="0"/>
              </a:rPr>
              <a:t> </a:t>
            </a:r>
            <a:r>
              <a:rPr lang="en-IN" sz="1050" b="1" dirty="0">
                <a:solidFill>
                  <a:srgbClr val="7F0055"/>
                </a:solidFill>
                <a:effectLst/>
                <a:latin typeface="Menlo" panose="020B0609030804020204" pitchFamily="49" charset="0"/>
              </a:rPr>
              <a:t>class</a:t>
            </a:r>
            <a:r>
              <a:rPr lang="en-IN" sz="1050" dirty="0">
                <a:solidFill>
                  <a:srgbClr val="000000"/>
                </a:solidFill>
                <a:effectLst/>
                <a:latin typeface="Menlo" panose="020B0609030804020204" pitchFamily="49" charset="0"/>
              </a:rPr>
              <a:t> Base {</a:t>
            </a:r>
          </a:p>
          <a:p>
            <a:pPr marL="0" marR="0" indent="0">
              <a:spcBef>
                <a:spcPts val="0"/>
              </a:spcBef>
              <a:spcAft>
                <a:spcPts val="0"/>
              </a:spcAft>
              <a:buNone/>
            </a:pPr>
            <a:br>
              <a:rPr lang="en-IN" sz="1050" dirty="0">
                <a:solidFill>
                  <a:srgbClr val="000000"/>
                </a:solidFill>
                <a:effectLst/>
                <a:latin typeface="Menlo" panose="020B0609030804020204" pitchFamily="49" charset="0"/>
              </a:rPr>
            </a:br>
            <a:endParaRPr lang="en-IN" sz="1050" dirty="0">
              <a:solidFill>
                <a:srgbClr val="000000"/>
              </a:solidFill>
              <a:effectLst/>
              <a:latin typeface="Menlo" panose="020B0609030804020204" pitchFamily="49" charset="0"/>
            </a:endParaRPr>
          </a:p>
          <a:p>
            <a:pPr marL="0" marR="0" indent="0">
              <a:spcBef>
                <a:spcPts val="0"/>
              </a:spcBef>
              <a:spcAft>
                <a:spcPts val="0"/>
              </a:spcAft>
              <a:buNone/>
            </a:pPr>
            <a:r>
              <a:rPr lang="en-IN" sz="1050" dirty="0">
                <a:solidFill>
                  <a:srgbClr val="3F7F5F"/>
                </a:solidFill>
                <a:effectLst/>
                <a:latin typeface="Menlo" panose="020B0609030804020204" pitchFamily="49" charset="0"/>
              </a:rPr>
              <a:t>// Constructor of abstract class</a:t>
            </a:r>
            <a:endParaRPr lang="en-IN" sz="1050" dirty="0">
              <a:solidFill>
                <a:srgbClr val="000000"/>
              </a:solidFill>
              <a:effectLst/>
              <a:latin typeface="Menlo" panose="020B0609030804020204" pitchFamily="49" charset="0"/>
            </a:endParaRPr>
          </a:p>
          <a:p>
            <a:pPr marL="0" marR="0" indent="0">
              <a:spcBef>
                <a:spcPts val="0"/>
              </a:spcBef>
              <a:spcAft>
                <a:spcPts val="0"/>
              </a:spcAft>
              <a:buNone/>
            </a:pPr>
            <a:r>
              <a:rPr lang="en-IN" sz="1050" dirty="0">
                <a:solidFill>
                  <a:srgbClr val="000000"/>
                </a:solidFill>
                <a:effectLst/>
                <a:latin typeface="Menlo" panose="020B0609030804020204" pitchFamily="49" charset="0"/>
              </a:rPr>
              <a:t>Base()</a:t>
            </a:r>
          </a:p>
          <a:p>
            <a:pPr marL="0" marR="0" indent="0">
              <a:spcBef>
                <a:spcPts val="0"/>
              </a:spcBef>
              <a:spcAft>
                <a:spcPts val="0"/>
              </a:spcAft>
              <a:buNone/>
            </a:pPr>
            <a:r>
              <a:rPr lang="en-IN" sz="1050" dirty="0">
                <a:solidFill>
                  <a:srgbClr val="000000"/>
                </a:solidFill>
                <a:effectLst/>
                <a:latin typeface="Menlo" panose="020B0609030804020204" pitchFamily="49" charset="0"/>
              </a:rPr>
              <a:t>{</a:t>
            </a:r>
          </a:p>
          <a:p>
            <a:pPr marL="0" marR="0" indent="0">
              <a:spcBef>
                <a:spcPts val="0"/>
              </a:spcBef>
              <a:spcAft>
                <a:spcPts val="0"/>
              </a:spcAft>
              <a:buNone/>
            </a:pPr>
            <a:r>
              <a:rPr lang="en-IN" sz="1050" dirty="0" err="1">
                <a:solidFill>
                  <a:srgbClr val="000000"/>
                </a:solidFill>
                <a:effectLst/>
                <a:latin typeface="Menlo" panose="020B0609030804020204" pitchFamily="49" charset="0"/>
              </a:rPr>
              <a:t>System.</a:t>
            </a:r>
            <a:r>
              <a:rPr lang="en-IN" sz="1050" b="1" i="1" dirty="0" err="1">
                <a:solidFill>
                  <a:srgbClr val="0000C0"/>
                </a:solidFill>
                <a:effectLst/>
                <a:latin typeface="Menlo" panose="020B0609030804020204" pitchFamily="49" charset="0"/>
              </a:rPr>
              <a:t>out</a:t>
            </a:r>
            <a:r>
              <a:rPr lang="en-IN" sz="1050" dirty="0" err="1">
                <a:solidFill>
                  <a:srgbClr val="000000"/>
                </a:solidFill>
                <a:effectLst/>
                <a:latin typeface="Menlo" panose="020B0609030804020204" pitchFamily="49" charset="0"/>
              </a:rPr>
              <a:t>.println</a:t>
            </a:r>
            <a:r>
              <a:rPr lang="en-IN" sz="1050" dirty="0">
                <a:solidFill>
                  <a:srgbClr val="000000"/>
                </a:solidFill>
                <a:effectLst/>
                <a:latin typeface="Menlo" panose="020B0609030804020204" pitchFamily="49" charset="0"/>
              </a:rPr>
              <a:t>(</a:t>
            </a:r>
            <a:r>
              <a:rPr lang="en-IN" sz="1050" dirty="0">
                <a:solidFill>
                  <a:srgbClr val="2A00FF"/>
                </a:solidFill>
                <a:effectLst/>
                <a:latin typeface="Menlo" panose="020B0609030804020204" pitchFamily="49" charset="0"/>
              </a:rPr>
              <a:t>"Base Constructor Called"</a:t>
            </a:r>
            <a:r>
              <a:rPr lang="en-IN" sz="1050" dirty="0">
                <a:solidFill>
                  <a:srgbClr val="000000"/>
                </a:solidFill>
                <a:effectLst/>
                <a:latin typeface="Menlo" panose="020B0609030804020204" pitchFamily="49" charset="0"/>
              </a:rPr>
              <a:t>);</a:t>
            </a:r>
          </a:p>
          <a:p>
            <a:pPr marL="0" marR="0" indent="0">
              <a:spcBef>
                <a:spcPts val="0"/>
              </a:spcBef>
              <a:spcAft>
                <a:spcPts val="0"/>
              </a:spcAft>
              <a:buNone/>
            </a:pPr>
            <a:r>
              <a:rPr lang="en-IN" sz="1050" dirty="0">
                <a:solidFill>
                  <a:srgbClr val="000000"/>
                </a:solidFill>
                <a:effectLst/>
                <a:latin typeface="Menlo" panose="020B0609030804020204" pitchFamily="49" charset="0"/>
              </a:rPr>
              <a:t>}</a:t>
            </a:r>
          </a:p>
          <a:p>
            <a:pPr marL="0" marR="0" indent="0">
              <a:spcBef>
                <a:spcPts val="0"/>
              </a:spcBef>
              <a:spcAft>
                <a:spcPts val="0"/>
              </a:spcAft>
              <a:buNone/>
            </a:pPr>
            <a:br>
              <a:rPr lang="en-IN" sz="1050" dirty="0">
                <a:solidFill>
                  <a:srgbClr val="000000"/>
                </a:solidFill>
                <a:effectLst/>
                <a:latin typeface="Menlo" panose="020B0609030804020204" pitchFamily="49" charset="0"/>
              </a:rPr>
            </a:br>
            <a:endParaRPr lang="en-IN" sz="1050" dirty="0">
              <a:solidFill>
                <a:srgbClr val="000000"/>
              </a:solidFill>
              <a:effectLst/>
              <a:latin typeface="Menlo" panose="020B0609030804020204" pitchFamily="49" charset="0"/>
            </a:endParaRPr>
          </a:p>
          <a:p>
            <a:pPr marL="0" marR="0" indent="0">
              <a:spcBef>
                <a:spcPts val="0"/>
              </a:spcBef>
              <a:spcAft>
                <a:spcPts val="0"/>
              </a:spcAft>
              <a:buNone/>
            </a:pPr>
            <a:r>
              <a:rPr lang="en-IN" sz="1050" dirty="0">
                <a:solidFill>
                  <a:srgbClr val="3F7F5F"/>
                </a:solidFill>
                <a:effectLst/>
                <a:latin typeface="Menlo" panose="020B0609030804020204" pitchFamily="49" charset="0"/>
              </a:rPr>
              <a:t>// Abstract method inside abstract class</a:t>
            </a:r>
            <a:endParaRPr lang="en-IN" sz="1050" dirty="0">
              <a:solidFill>
                <a:srgbClr val="000000"/>
              </a:solidFill>
              <a:effectLst/>
              <a:latin typeface="Menlo" panose="020B0609030804020204" pitchFamily="49" charset="0"/>
            </a:endParaRPr>
          </a:p>
          <a:p>
            <a:pPr marL="0" marR="0" indent="0">
              <a:spcBef>
                <a:spcPts val="0"/>
              </a:spcBef>
              <a:spcAft>
                <a:spcPts val="0"/>
              </a:spcAft>
              <a:buNone/>
            </a:pPr>
            <a:r>
              <a:rPr lang="en-IN" sz="1050" b="1" dirty="0">
                <a:solidFill>
                  <a:srgbClr val="7F0055"/>
                </a:solidFill>
                <a:effectLst/>
                <a:latin typeface="Menlo" panose="020B0609030804020204" pitchFamily="49" charset="0"/>
              </a:rPr>
              <a:t>abstract</a:t>
            </a:r>
            <a:r>
              <a:rPr lang="en-IN" sz="1050" dirty="0">
                <a:solidFill>
                  <a:srgbClr val="000000"/>
                </a:solidFill>
                <a:effectLst/>
                <a:latin typeface="Menlo" panose="020B0609030804020204" pitchFamily="49" charset="0"/>
              </a:rPr>
              <a:t> </a:t>
            </a:r>
            <a:r>
              <a:rPr lang="en-IN" sz="1050" b="1" dirty="0">
                <a:solidFill>
                  <a:srgbClr val="7F0055"/>
                </a:solidFill>
                <a:effectLst/>
                <a:latin typeface="Menlo" panose="020B0609030804020204" pitchFamily="49" charset="0"/>
              </a:rPr>
              <a:t>void</a:t>
            </a:r>
            <a:r>
              <a:rPr lang="en-IN" sz="1050" dirty="0">
                <a:solidFill>
                  <a:srgbClr val="000000"/>
                </a:solidFill>
                <a:effectLst/>
                <a:latin typeface="Menlo" panose="020B0609030804020204" pitchFamily="49" charset="0"/>
              </a:rPr>
              <a:t> fun();</a:t>
            </a:r>
          </a:p>
          <a:p>
            <a:pPr marL="0" marR="0" indent="0">
              <a:spcBef>
                <a:spcPts val="0"/>
              </a:spcBef>
              <a:spcAft>
                <a:spcPts val="0"/>
              </a:spcAft>
              <a:buNone/>
            </a:pPr>
            <a:r>
              <a:rPr lang="en-IN" sz="1050" dirty="0">
                <a:solidFill>
                  <a:srgbClr val="000000"/>
                </a:solidFill>
                <a:effectLst/>
                <a:latin typeface="Menlo" panose="020B0609030804020204" pitchFamily="49" charset="0"/>
              </a:rPr>
              <a:t>}</a:t>
            </a:r>
          </a:p>
          <a:p>
            <a:pPr marL="0" marR="0" indent="0">
              <a:spcBef>
                <a:spcPts val="0"/>
              </a:spcBef>
              <a:spcAft>
                <a:spcPts val="0"/>
              </a:spcAft>
              <a:buNone/>
            </a:pPr>
            <a:br>
              <a:rPr lang="en-IN" sz="1050" dirty="0">
                <a:solidFill>
                  <a:srgbClr val="000000"/>
                </a:solidFill>
                <a:effectLst/>
                <a:latin typeface="Menlo" panose="020B0609030804020204" pitchFamily="49" charset="0"/>
              </a:rPr>
            </a:br>
            <a:endParaRPr lang="en-IN" sz="1050" dirty="0">
              <a:solidFill>
                <a:srgbClr val="000000"/>
              </a:solidFill>
              <a:effectLst/>
              <a:latin typeface="Menlo" panose="020B0609030804020204" pitchFamily="49" charset="0"/>
            </a:endParaRPr>
          </a:p>
          <a:p>
            <a:pPr marL="0" marR="0" indent="0">
              <a:spcBef>
                <a:spcPts val="0"/>
              </a:spcBef>
              <a:spcAft>
                <a:spcPts val="0"/>
              </a:spcAft>
              <a:buNone/>
            </a:pPr>
            <a:r>
              <a:rPr lang="en-IN" sz="1050" b="1" dirty="0">
                <a:solidFill>
                  <a:srgbClr val="7F0055"/>
                </a:solidFill>
                <a:effectLst/>
                <a:latin typeface="Menlo" panose="020B0609030804020204" pitchFamily="49" charset="0"/>
              </a:rPr>
              <a:t>class</a:t>
            </a:r>
            <a:r>
              <a:rPr lang="en-IN" sz="1050" dirty="0">
                <a:solidFill>
                  <a:srgbClr val="000000"/>
                </a:solidFill>
                <a:effectLst/>
                <a:latin typeface="Menlo" panose="020B0609030804020204" pitchFamily="49" charset="0"/>
              </a:rPr>
              <a:t> </a:t>
            </a:r>
            <a:r>
              <a:rPr lang="en-IN" sz="1050" u="sng" dirty="0">
                <a:solidFill>
                  <a:srgbClr val="000000"/>
                </a:solidFill>
                <a:effectLst/>
                <a:latin typeface="Menlo" panose="020B0609030804020204" pitchFamily="49" charset="0"/>
              </a:rPr>
              <a:t>Derived</a:t>
            </a:r>
            <a:r>
              <a:rPr lang="en-IN" sz="1050" dirty="0">
                <a:solidFill>
                  <a:srgbClr val="000000"/>
                </a:solidFill>
                <a:effectLst/>
                <a:latin typeface="Menlo" panose="020B0609030804020204" pitchFamily="49" charset="0"/>
              </a:rPr>
              <a:t> </a:t>
            </a:r>
            <a:r>
              <a:rPr lang="en-IN" sz="1050" b="1" dirty="0">
                <a:solidFill>
                  <a:srgbClr val="7F0055"/>
                </a:solidFill>
                <a:effectLst/>
                <a:latin typeface="Menlo" panose="020B0609030804020204" pitchFamily="49" charset="0"/>
              </a:rPr>
              <a:t>extends</a:t>
            </a:r>
            <a:r>
              <a:rPr lang="en-IN" sz="1050" dirty="0">
                <a:solidFill>
                  <a:srgbClr val="000000"/>
                </a:solidFill>
                <a:effectLst/>
                <a:latin typeface="Menlo" panose="020B0609030804020204" pitchFamily="49" charset="0"/>
              </a:rPr>
              <a:t> Base {</a:t>
            </a:r>
          </a:p>
          <a:p>
            <a:pPr marL="0" marR="0" indent="0">
              <a:spcBef>
                <a:spcPts val="0"/>
              </a:spcBef>
              <a:spcAft>
                <a:spcPts val="0"/>
              </a:spcAft>
              <a:buNone/>
            </a:pPr>
            <a:br>
              <a:rPr lang="en-IN" sz="1050" dirty="0">
                <a:solidFill>
                  <a:srgbClr val="000000"/>
                </a:solidFill>
                <a:effectLst/>
                <a:latin typeface="Menlo" panose="020B0609030804020204" pitchFamily="49" charset="0"/>
              </a:rPr>
            </a:br>
            <a:endParaRPr lang="en-IN" sz="1050" dirty="0">
              <a:solidFill>
                <a:srgbClr val="000000"/>
              </a:solidFill>
              <a:effectLst/>
              <a:latin typeface="Menlo" panose="020B0609030804020204" pitchFamily="49" charset="0"/>
            </a:endParaRPr>
          </a:p>
          <a:p>
            <a:pPr marL="0" marR="0" indent="0">
              <a:spcBef>
                <a:spcPts val="0"/>
              </a:spcBef>
              <a:spcAft>
                <a:spcPts val="0"/>
              </a:spcAft>
              <a:buNone/>
            </a:pPr>
            <a:r>
              <a:rPr lang="en-IN" sz="1050" dirty="0">
                <a:solidFill>
                  <a:srgbClr val="3F7F5F"/>
                </a:solidFill>
                <a:effectLst/>
                <a:latin typeface="Menlo" panose="020B0609030804020204" pitchFamily="49" charset="0"/>
              </a:rPr>
              <a:t>// Constructor of Derived class</a:t>
            </a:r>
            <a:endParaRPr lang="en-IN" sz="1050" dirty="0">
              <a:solidFill>
                <a:srgbClr val="000000"/>
              </a:solidFill>
              <a:effectLst/>
              <a:latin typeface="Menlo" panose="020B0609030804020204" pitchFamily="49" charset="0"/>
            </a:endParaRPr>
          </a:p>
          <a:p>
            <a:pPr marL="0" marR="0" indent="0">
              <a:spcBef>
                <a:spcPts val="0"/>
              </a:spcBef>
              <a:spcAft>
                <a:spcPts val="0"/>
              </a:spcAft>
              <a:buNone/>
            </a:pPr>
            <a:r>
              <a:rPr lang="en-IN" sz="1050" dirty="0">
                <a:solidFill>
                  <a:srgbClr val="000000"/>
                </a:solidFill>
                <a:effectLst/>
                <a:latin typeface="Menlo" panose="020B0609030804020204" pitchFamily="49" charset="0"/>
              </a:rPr>
              <a:t>Derived()</a:t>
            </a:r>
          </a:p>
          <a:p>
            <a:pPr marL="0" marR="0" indent="0">
              <a:spcBef>
                <a:spcPts val="0"/>
              </a:spcBef>
              <a:spcAft>
                <a:spcPts val="0"/>
              </a:spcAft>
              <a:buNone/>
            </a:pPr>
            <a:r>
              <a:rPr lang="en-IN" sz="1050" dirty="0">
                <a:solidFill>
                  <a:srgbClr val="000000"/>
                </a:solidFill>
                <a:effectLst/>
                <a:latin typeface="Menlo" panose="020B0609030804020204" pitchFamily="49" charset="0"/>
              </a:rPr>
              <a:t>{</a:t>
            </a:r>
          </a:p>
          <a:p>
            <a:pPr marL="0" marR="0" indent="0">
              <a:spcBef>
                <a:spcPts val="0"/>
              </a:spcBef>
              <a:spcAft>
                <a:spcPts val="0"/>
              </a:spcAft>
              <a:buNone/>
            </a:pPr>
            <a:r>
              <a:rPr lang="en-IN" sz="1050" dirty="0" err="1">
                <a:solidFill>
                  <a:srgbClr val="000000"/>
                </a:solidFill>
                <a:effectLst/>
                <a:latin typeface="Menlo" panose="020B0609030804020204" pitchFamily="49" charset="0"/>
              </a:rPr>
              <a:t>System.out.println</a:t>
            </a:r>
            <a:r>
              <a:rPr lang="en-IN" sz="1050" dirty="0">
                <a:solidFill>
                  <a:srgbClr val="000000"/>
                </a:solidFill>
                <a:effectLst/>
                <a:latin typeface="Menlo" panose="020B0609030804020204" pitchFamily="49" charset="0"/>
              </a:rPr>
              <a:t>(</a:t>
            </a:r>
            <a:r>
              <a:rPr lang="en-IN" sz="1050" dirty="0">
                <a:solidFill>
                  <a:srgbClr val="2A00FF"/>
                </a:solidFill>
                <a:effectLst/>
                <a:latin typeface="Menlo" panose="020B0609030804020204" pitchFamily="49" charset="0"/>
              </a:rPr>
              <a:t>"Derived Constructor Called"</a:t>
            </a:r>
            <a:r>
              <a:rPr lang="en-IN" sz="1050" dirty="0">
                <a:solidFill>
                  <a:srgbClr val="000000"/>
                </a:solidFill>
                <a:effectLst/>
                <a:latin typeface="Menlo" panose="020B0609030804020204" pitchFamily="49" charset="0"/>
              </a:rPr>
              <a:t>);</a:t>
            </a:r>
          </a:p>
          <a:p>
            <a:pPr marL="0" marR="0" indent="0">
              <a:spcBef>
                <a:spcPts val="0"/>
              </a:spcBef>
              <a:spcAft>
                <a:spcPts val="0"/>
              </a:spcAft>
              <a:buNone/>
            </a:pPr>
            <a:r>
              <a:rPr lang="en-IN" sz="1050" dirty="0">
                <a:solidFill>
                  <a:srgbClr val="000000"/>
                </a:solidFill>
                <a:effectLst/>
                <a:latin typeface="Menlo" panose="020B0609030804020204" pitchFamily="49" charset="0"/>
              </a:rPr>
              <a:t>}</a:t>
            </a:r>
          </a:p>
          <a:p>
            <a:pPr marL="0" marR="0" indent="0">
              <a:spcBef>
                <a:spcPts val="0"/>
              </a:spcBef>
              <a:spcAft>
                <a:spcPts val="0"/>
              </a:spcAft>
              <a:buNone/>
            </a:pPr>
            <a:br>
              <a:rPr lang="en-IN" sz="1050" dirty="0">
                <a:solidFill>
                  <a:srgbClr val="000000"/>
                </a:solidFill>
                <a:effectLst/>
                <a:latin typeface="Menlo" panose="020B0609030804020204" pitchFamily="49" charset="0"/>
              </a:rPr>
            </a:br>
            <a:endParaRPr lang="en-IN" sz="1050" dirty="0">
              <a:solidFill>
                <a:srgbClr val="000000"/>
              </a:solidFill>
              <a:effectLst/>
              <a:latin typeface="Menlo" panose="020B0609030804020204" pitchFamily="49" charset="0"/>
            </a:endParaRPr>
          </a:p>
          <a:p>
            <a:pPr marL="0" marR="0" indent="0">
              <a:spcBef>
                <a:spcPts val="0"/>
              </a:spcBef>
              <a:spcAft>
                <a:spcPts val="0"/>
              </a:spcAft>
              <a:buNone/>
            </a:pPr>
            <a:r>
              <a:rPr lang="en-IN" sz="1050" dirty="0">
                <a:solidFill>
                  <a:srgbClr val="3F7F5F"/>
                </a:solidFill>
                <a:effectLst/>
                <a:latin typeface="Menlo" panose="020B0609030804020204" pitchFamily="49" charset="0"/>
              </a:rPr>
              <a:t>// implemented method of class2</a:t>
            </a:r>
            <a:endParaRPr lang="en-IN" sz="1050" dirty="0">
              <a:solidFill>
                <a:srgbClr val="000000"/>
              </a:solidFill>
              <a:effectLst/>
              <a:latin typeface="Menlo" panose="020B0609030804020204" pitchFamily="49" charset="0"/>
            </a:endParaRPr>
          </a:p>
          <a:p>
            <a:pPr marL="0" marR="0" indent="0">
              <a:spcBef>
                <a:spcPts val="0"/>
              </a:spcBef>
              <a:spcAft>
                <a:spcPts val="0"/>
              </a:spcAft>
              <a:buNone/>
            </a:pPr>
            <a:r>
              <a:rPr lang="en-IN" sz="1050" b="1" dirty="0">
                <a:solidFill>
                  <a:srgbClr val="7F0055"/>
                </a:solidFill>
                <a:effectLst/>
                <a:latin typeface="Menlo" panose="020B0609030804020204" pitchFamily="49" charset="0"/>
              </a:rPr>
              <a:t>void</a:t>
            </a:r>
            <a:r>
              <a:rPr lang="en-IN" sz="1050" dirty="0">
                <a:solidFill>
                  <a:srgbClr val="000000"/>
                </a:solidFill>
                <a:effectLst/>
                <a:latin typeface="Menlo" panose="020B0609030804020204" pitchFamily="49" charset="0"/>
              </a:rPr>
              <a:t> fun()</a:t>
            </a:r>
          </a:p>
          <a:p>
            <a:pPr marL="0" marR="0" indent="0">
              <a:spcBef>
                <a:spcPts val="0"/>
              </a:spcBef>
              <a:spcAft>
                <a:spcPts val="0"/>
              </a:spcAft>
              <a:buNone/>
            </a:pPr>
            <a:r>
              <a:rPr lang="en-IN" sz="1050" dirty="0">
                <a:solidFill>
                  <a:srgbClr val="000000"/>
                </a:solidFill>
                <a:effectLst/>
                <a:latin typeface="Menlo" panose="020B0609030804020204" pitchFamily="49" charset="0"/>
              </a:rPr>
              <a:t>{</a:t>
            </a:r>
          </a:p>
          <a:p>
            <a:pPr marL="0" marR="0" indent="0">
              <a:spcBef>
                <a:spcPts val="0"/>
              </a:spcBef>
              <a:spcAft>
                <a:spcPts val="0"/>
              </a:spcAft>
              <a:buNone/>
            </a:pPr>
            <a:r>
              <a:rPr lang="en-IN" sz="1050" dirty="0" err="1">
                <a:solidFill>
                  <a:srgbClr val="000000"/>
                </a:solidFill>
                <a:effectLst/>
                <a:latin typeface="Menlo" panose="020B0609030804020204" pitchFamily="49" charset="0"/>
              </a:rPr>
              <a:t>System.out.println</a:t>
            </a:r>
            <a:r>
              <a:rPr lang="en-IN" sz="1050" dirty="0">
                <a:solidFill>
                  <a:srgbClr val="000000"/>
                </a:solidFill>
                <a:effectLst/>
                <a:latin typeface="Menlo" panose="020B0609030804020204" pitchFamily="49" charset="0"/>
              </a:rPr>
              <a:t>(</a:t>
            </a:r>
            <a:r>
              <a:rPr lang="en-IN" sz="1050" dirty="0">
                <a:solidFill>
                  <a:srgbClr val="2A00FF"/>
                </a:solidFill>
                <a:effectLst/>
                <a:latin typeface="Menlo" panose="020B0609030804020204" pitchFamily="49" charset="0"/>
              </a:rPr>
              <a:t>"Derived fun() called"</a:t>
            </a:r>
            <a:r>
              <a:rPr lang="en-IN" sz="1050" dirty="0">
                <a:solidFill>
                  <a:srgbClr val="000000"/>
                </a:solidFill>
                <a:effectLst/>
                <a:latin typeface="Menlo" panose="020B0609030804020204" pitchFamily="49" charset="0"/>
              </a:rPr>
              <a:t>);</a:t>
            </a:r>
          </a:p>
          <a:p>
            <a:pPr marL="0" marR="0" indent="0">
              <a:spcBef>
                <a:spcPts val="0"/>
              </a:spcBef>
              <a:spcAft>
                <a:spcPts val="0"/>
              </a:spcAft>
              <a:buNone/>
            </a:pPr>
            <a:r>
              <a:rPr lang="en-IN" sz="1050" dirty="0">
                <a:solidFill>
                  <a:srgbClr val="000000"/>
                </a:solidFill>
                <a:effectLst/>
                <a:latin typeface="Menlo" panose="020B0609030804020204" pitchFamily="49" charset="0"/>
              </a:rPr>
              <a:t>}</a:t>
            </a:r>
          </a:p>
          <a:p>
            <a:pPr marL="0" marR="0" indent="0">
              <a:spcBef>
                <a:spcPts val="0"/>
              </a:spcBef>
              <a:spcAft>
                <a:spcPts val="0"/>
              </a:spcAft>
              <a:buNone/>
            </a:pPr>
            <a:r>
              <a:rPr lang="en-IN" sz="1050" dirty="0">
                <a:solidFill>
                  <a:srgbClr val="000000"/>
                </a:solidFill>
                <a:effectLst/>
                <a:latin typeface="Menlo" panose="020B0609030804020204" pitchFamily="49" charset="0"/>
              </a:rPr>
              <a:t>}</a:t>
            </a:r>
          </a:p>
        </p:txBody>
      </p:sp>
      <p:sp>
        <p:nvSpPr>
          <p:cNvPr id="4" name="Footer Placeholder 3">
            <a:extLst>
              <a:ext uri="{FF2B5EF4-FFF2-40B4-BE49-F238E27FC236}">
                <a16:creationId xmlns:a16="http://schemas.microsoft.com/office/drawing/2014/main" id="{E09A0689-F45A-BE5A-76E4-22343DC42153}"/>
              </a:ext>
            </a:extLst>
          </p:cNvPr>
          <p:cNvSpPr>
            <a:spLocks noGrp="1"/>
          </p:cNvSpPr>
          <p:nvPr>
            <p:ph type="ftr" sz="quarter" idx="11"/>
          </p:nvPr>
        </p:nvSpPr>
        <p:spPr/>
        <p:txBody>
          <a:bodyPr/>
          <a:lstStyle/>
          <a:p>
            <a:pPr>
              <a:defRPr/>
            </a:pPr>
            <a:r>
              <a:rPr lang="en-US"/>
              <a:t>Dr. Naveen Kumar, Associate Professor, AIIT, AUP</a:t>
            </a:r>
          </a:p>
        </p:txBody>
      </p:sp>
      <p:sp>
        <p:nvSpPr>
          <p:cNvPr id="5" name="Content Placeholder 2">
            <a:extLst>
              <a:ext uri="{FF2B5EF4-FFF2-40B4-BE49-F238E27FC236}">
                <a16:creationId xmlns:a16="http://schemas.microsoft.com/office/drawing/2014/main" id="{492CB01F-AEED-F26A-4480-FFD1D7820F64}"/>
              </a:ext>
            </a:extLst>
          </p:cNvPr>
          <p:cNvSpPr txBox="1">
            <a:spLocks/>
          </p:cNvSpPr>
          <p:nvPr/>
        </p:nvSpPr>
        <p:spPr bwMode="auto">
          <a:xfrm>
            <a:off x="4572000" y="1265237"/>
            <a:ext cx="4114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rgbClr val="595959"/>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rgbClr val="595959"/>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rgbClr val="595959"/>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0"/>
              </a:spcAft>
              <a:buFont typeface="Arial" charset="0"/>
              <a:buNone/>
            </a:pPr>
            <a:endParaRPr lang="en-IN" sz="1400" dirty="0">
              <a:solidFill>
                <a:srgbClr val="000000"/>
              </a:solidFill>
              <a:latin typeface="Menlo" panose="020B0609030804020204" pitchFamily="49" charset="0"/>
            </a:endParaRPr>
          </a:p>
          <a:p>
            <a:pPr marL="0" indent="0">
              <a:spcBef>
                <a:spcPts val="0"/>
              </a:spcBef>
              <a:spcAft>
                <a:spcPts val="0"/>
              </a:spcAft>
              <a:buFont typeface="Arial" charset="0"/>
              <a:buNone/>
            </a:pPr>
            <a:br>
              <a:rPr lang="en-IN" sz="1400" dirty="0">
                <a:solidFill>
                  <a:srgbClr val="000000"/>
                </a:solidFill>
                <a:latin typeface="Menlo" panose="020B0609030804020204" pitchFamily="49" charset="0"/>
              </a:rPr>
            </a:br>
            <a:endParaRPr lang="en-IN" sz="1400" dirty="0">
              <a:solidFill>
                <a:srgbClr val="000000"/>
              </a:solidFill>
              <a:latin typeface="Menlo" panose="020B0609030804020204" pitchFamily="49" charset="0"/>
            </a:endParaRPr>
          </a:p>
          <a:p>
            <a:pPr marL="0" indent="0">
              <a:spcBef>
                <a:spcPts val="0"/>
              </a:spcBef>
              <a:spcAft>
                <a:spcPts val="0"/>
              </a:spcAft>
              <a:buFont typeface="Arial" charset="0"/>
              <a:buNone/>
            </a:pPr>
            <a:r>
              <a:rPr lang="en-IN" sz="1400" b="1" dirty="0">
                <a:solidFill>
                  <a:srgbClr val="7F0055"/>
                </a:solidFill>
                <a:latin typeface="Menlo" panose="020B0609030804020204" pitchFamily="49" charset="0"/>
              </a:rPr>
              <a:t>class</a:t>
            </a:r>
            <a:r>
              <a:rPr lang="en-IN" sz="1400" dirty="0">
                <a:solidFill>
                  <a:srgbClr val="000000"/>
                </a:solidFill>
                <a:latin typeface="Menlo" panose="020B0609030804020204" pitchFamily="49" charset="0"/>
              </a:rPr>
              <a:t> Demo {</a:t>
            </a:r>
          </a:p>
          <a:p>
            <a:pPr marL="0" indent="0">
              <a:spcBef>
                <a:spcPts val="0"/>
              </a:spcBef>
              <a:spcAft>
                <a:spcPts val="0"/>
              </a:spcAft>
              <a:buFont typeface="Arial" charset="0"/>
              <a:buNone/>
            </a:pPr>
            <a:r>
              <a:rPr lang="en-IN" sz="1400" b="1" dirty="0">
                <a:solidFill>
                  <a:srgbClr val="7F0055"/>
                </a:solidFill>
                <a:latin typeface="Menlo" panose="020B0609030804020204" pitchFamily="49" charset="0"/>
              </a:rPr>
              <a:t>public</a:t>
            </a:r>
            <a:r>
              <a:rPr lang="en-IN" sz="1400" dirty="0">
                <a:solidFill>
                  <a:srgbClr val="000000"/>
                </a:solidFill>
                <a:latin typeface="Menlo" panose="020B0609030804020204" pitchFamily="49" charset="0"/>
              </a:rPr>
              <a:t> </a:t>
            </a:r>
            <a:r>
              <a:rPr lang="en-IN" sz="1400" b="1" dirty="0">
                <a:solidFill>
                  <a:srgbClr val="7F0055"/>
                </a:solidFill>
                <a:latin typeface="Menlo" panose="020B0609030804020204" pitchFamily="49" charset="0"/>
              </a:rPr>
              <a:t>static</a:t>
            </a:r>
            <a:r>
              <a:rPr lang="en-IN" sz="1400" dirty="0">
                <a:solidFill>
                  <a:srgbClr val="000000"/>
                </a:solidFill>
                <a:latin typeface="Menlo" panose="020B0609030804020204" pitchFamily="49" charset="0"/>
              </a:rPr>
              <a:t> </a:t>
            </a:r>
            <a:r>
              <a:rPr lang="en-IN" sz="1400" b="1" dirty="0">
                <a:solidFill>
                  <a:srgbClr val="7F0055"/>
                </a:solidFill>
                <a:latin typeface="Menlo" panose="020B0609030804020204" pitchFamily="49" charset="0"/>
              </a:rPr>
              <a:t>void</a:t>
            </a:r>
            <a:r>
              <a:rPr lang="en-IN" sz="1400" dirty="0">
                <a:solidFill>
                  <a:srgbClr val="000000"/>
                </a:solidFill>
                <a:latin typeface="Menlo" panose="020B0609030804020204" pitchFamily="49" charset="0"/>
              </a:rPr>
              <a:t> main(String </a:t>
            </a:r>
            <a:r>
              <a:rPr lang="en-IN" sz="1400" dirty="0" err="1">
                <a:solidFill>
                  <a:srgbClr val="6A3E3E"/>
                </a:solidFill>
                <a:latin typeface="Menlo" panose="020B0609030804020204" pitchFamily="49" charset="0"/>
              </a:rPr>
              <a:t>args</a:t>
            </a:r>
            <a:r>
              <a:rPr lang="en-IN" sz="1400" dirty="0">
                <a:solidFill>
                  <a:srgbClr val="000000"/>
                </a:solidFill>
                <a:latin typeface="Menlo" panose="020B0609030804020204" pitchFamily="49" charset="0"/>
              </a:rPr>
              <a:t>[])</a:t>
            </a:r>
          </a:p>
          <a:p>
            <a:pPr marL="0" indent="0">
              <a:spcBef>
                <a:spcPts val="0"/>
              </a:spcBef>
              <a:spcAft>
                <a:spcPts val="0"/>
              </a:spcAft>
              <a:buFont typeface="Arial" charset="0"/>
              <a:buNone/>
            </a:pPr>
            <a:r>
              <a:rPr lang="en-IN" sz="1400" dirty="0">
                <a:solidFill>
                  <a:srgbClr val="000000"/>
                </a:solidFill>
                <a:latin typeface="Menlo" panose="020B0609030804020204" pitchFamily="49" charset="0"/>
              </a:rPr>
              <a:t>{</a:t>
            </a:r>
          </a:p>
          <a:p>
            <a:pPr marL="0" indent="0">
              <a:spcBef>
                <a:spcPts val="0"/>
              </a:spcBef>
              <a:spcAft>
                <a:spcPts val="0"/>
              </a:spcAft>
              <a:buFont typeface="Arial" charset="0"/>
              <a:buNone/>
            </a:pPr>
            <a:r>
              <a:rPr lang="en-IN" sz="1400" dirty="0">
                <a:solidFill>
                  <a:srgbClr val="3F7F5F"/>
                </a:solidFill>
                <a:latin typeface="Menlo" panose="020B0609030804020204" pitchFamily="49" charset="0"/>
              </a:rPr>
              <a:t>// Creating object of Derived inside main() method</a:t>
            </a:r>
            <a:endParaRPr lang="en-IN" sz="1400" dirty="0">
              <a:solidFill>
                <a:srgbClr val="000000"/>
              </a:solidFill>
              <a:latin typeface="Menlo" panose="020B0609030804020204" pitchFamily="49" charset="0"/>
            </a:endParaRPr>
          </a:p>
          <a:p>
            <a:pPr marL="0" indent="0">
              <a:spcBef>
                <a:spcPts val="0"/>
              </a:spcBef>
              <a:spcAft>
                <a:spcPts val="0"/>
              </a:spcAft>
              <a:buFont typeface="Arial" charset="0"/>
              <a:buNone/>
            </a:pPr>
            <a:r>
              <a:rPr lang="en-IN" sz="1400" dirty="0">
                <a:solidFill>
                  <a:srgbClr val="000000"/>
                </a:solidFill>
                <a:latin typeface="Menlo" panose="020B0609030804020204" pitchFamily="49" charset="0"/>
              </a:rPr>
              <a:t>Derived </a:t>
            </a:r>
            <a:r>
              <a:rPr lang="en-IN" sz="1400" dirty="0">
                <a:solidFill>
                  <a:srgbClr val="6A3E3E"/>
                </a:solidFill>
                <a:latin typeface="Menlo" panose="020B0609030804020204" pitchFamily="49" charset="0"/>
              </a:rPr>
              <a:t>d</a:t>
            </a:r>
            <a:r>
              <a:rPr lang="en-IN" sz="1400" dirty="0">
                <a:solidFill>
                  <a:srgbClr val="000000"/>
                </a:solidFill>
                <a:latin typeface="Menlo" panose="020B0609030804020204" pitchFamily="49" charset="0"/>
              </a:rPr>
              <a:t> = </a:t>
            </a:r>
            <a:r>
              <a:rPr lang="en-IN" sz="1400" b="1" dirty="0">
                <a:solidFill>
                  <a:srgbClr val="7F0055"/>
                </a:solidFill>
                <a:latin typeface="Menlo" panose="020B0609030804020204" pitchFamily="49" charset="0"/>
              </a:rPr>
              <a:t>new</a:t>
            </a:r>
            <a:r>
              <a:rPr lang="en-IN" sz="1400" dirty="0">
                <a:solidFill>
                  <a:srgbClr val="000000"/>
                </a:solidFill>
                <a:latin typeface="Menlo" panose="020B0609030804020204" pitchFamily="49" charset="0"/>
              </a:rPr>
              <a:t> Derived();</a:t>
            </a:r>
          </a:p>
          <a:p>
            <a:pPr marL="0" indent="0">
              <a:spcBef>
                <a:spcPts val="0"/>
              </a:spcBef>
              <a:spcAft>
                <a:spcPts val="0"/>
              </a:spcAft>
              <a:buFont typeface="Arial" charset="0"/>
              <a:buNone/>
            </a:pPr>
            <a:r>
              <a:rPr lang="en-IN" sz="1400" dirty="0" err="1">
                <a:solidFill>
                  <a:srgbClr val="6A3E3E"/>
                </a:solidFill>
                <a:latin typeface="Menlo" panose="020B0609030804020204" pitchFamily="49" charset="0"/>
              </a:rPr>
              <a:t>d</a:t>
            </a:r>
            <a:r>
              <a:rPr lang="en-IN" sz="1400" dirty="0" err="1">
                <a:solidFill>
                  <a:srgbClr val="000000"/>
                </a:solidFill>
                <a:latin typeface="Menlo" panose="020B0609030804020204" pitchFamily="49" charset="0"/>
              </a:rPr>
              <a:t>.fun</a:t>
            </a:r>
            <a:r>
              <a:rPr lang="en-IN" sz="1400" dirty="0">
                <a:solidFill>
                  <a:srgbClr val="000000"/>
                </a:solidFill>
                <a:latin typeface="Menlo" panose="020B0609030804020204" pitchFamily="49" charset="0"/>
              </a:rPr>
              <a:t>();</a:t>
            </a:r>
          </a:p>
          <a:p>
            <a:pPr marL="0" indent="0">
              <a:spcBef>
                <a:spcPts val="0"/>
              </a:spcBef>
              <a:spcAft>
                <a:spcPts val="0"/>
              </a:spcAft>
              <a:buFont typeface="Arial" charset="0"/>
              <a:buNone/>
            </a:pPr>
            <a:r>
              <a:rPr lang="en-IN" sz="1400" dirty="0">
                <a:solidFill>
                  <a:srgbClr val="000000"/>
                </a:solidFill>
                <a:latin typeface="Menlo" panose="020B0609030804020204" pitchFamily="49" charset="0"/>
              </a:rPr>
              <a:t>}</a:t>
            </a:r>
          </a:p>
          <a:p>
            <a:pPr marL="0" indent="0">
              <a:spcBef>
                <a:spcPts val="0"/>
              </a:spcBef>
              <a:spcAft>
                <a:spcPts val="0"/>
              </a:spcAft>
              <a:buFont typeface="Arial" charset="0"/>
              <a:buNone/>
            </a:pPr>
            <a:r>
              <a:rPr lang="en-IN" sz="1400" dirty="0">
                <a:solidFill>
                  <a:srgbClr val="000000"/>
                </a:solidFill>
                <a:latin typeface="Menlo" panose="020B0609030804020204" pitchFamily="49" charset="0"/>
              </a:rPr>
              <a:t>}</a:t>
            </a:r>
          </a:p>
          <a:p>
            <a:pPr marL="0" indent="0">
              <a:buFont typeface="Arial" charset="0"/>
              <a:buNone/>
            </a:pPr>
            <a:endParaRPr lang="en-US" sz="2400" dirty="0"/>
          </a:p>
        </p:txBody>
      </p:sp>
    </p:spTree>
    <p:extLst>
      <p:ext uri="{BB962C8B-B14F-4D97-AF65-F5344CB8AC3E}">
        <p14:creationId xmlns:p14="http://schemas.microsoft.com/office/powerpoint/2010/main" val="18888607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71AE0-9415-B144-C3FD-5E81D3F296C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CD62AD4-8792-1B00-1638-650A5808AD1F}"/>
              </a:ext>
            </a:extLst>
          </p:cNvPr>
          <p:cNvSpPr>
            <a:spLocks noGrp="1"/>
          </p:cNvSpPr>
          <p:nvPr>
            <p:ph idx="1"/>
          </p:nvPr>
        </p:nvSpPr>
        <p:spPr/>
        <p:txBody>
          <a:bodyPr/>
          <a:lstStyle/>
          <a:p>
            <a:pPr marL="0" indent="0" algn="just" rtl="0" fontAlgn="base">
              <a:buNone/>
            </a:pPr>
            <a:r>
              <a:rPr lang="en-IN" b="0" i="0" dirty="0">
                <a:solidFill>
                  <a:schemeClr val="tx1"/>
                </a:solidFill>
                <a:effectLst/>
                <a:latin typeface="Nunito" pitchFamily="2" charset="77"/>
              </a:rPr>
              <a:t>3. We can</a:t>
            </a:r>
            <a:r>
              <a:rPr lang="en-IN" b="1" i="1" dirty="0">
                <a:solidFill>
                  <a:schemeClr val="tx1"/>
                </a:solidFill>
                <a:latin typeface="Nunito" pitchFamily="2" charset="77"/>
              </a:rPr>
              <a:t> have</a:t>
            </a:r>
            <a:r>
              <a:rPr lang="en-IN" b="1" i="1" dirty="0">
                <a:solidFill>
                  <a:schemeClr val="tx1"/>
                </a:solidFill>
                <a:effectLst/>
                <a:latin typeface="Nunito" pitchFamily="2" charset="77"/>
              </a:rPr>
              <a:t> abstract class without any abstract method</a:t>
            </a:r>
            <a:r>
              <a:rPr lang="en-IN" b="0" i="0" dirty="0">
                <a:solidFill>
                  <a:schemeClr val="tx1"/>
                </a:solidFill>
                <a:effectLst/>
                <a:latin typeface="Nunito" pitchFamily="2" charset="77"/>
              </a:rPr>
              <a:t>. </a:t>
            </a:r>
          </a:p>
          <a:p>
            <a:pPr marL="0" indent="0" algn="just" rtl="0" fontAlgn="base">
              <a:buNone/>
            </a:pPr>
            <a:r>
              <a:rPr lang="en-IN" b="0" i="0" dirty="0">
                <a:solidFill>
                  <a:schemeClr val="tx1"/>
                </a:solidFill>
                <a:effectLst/>
                <a:latin typeface="Nunito" pitchFamily="2" charset="77"/>
              </a:rPr>
              <a:t>This allows us to </a:t>
            </a:r>
            <a:r>
              <a:rPr lang="en-IN" b="1" i="1" dirty="0">
                <a:solidFill>
                  <a:schemeClr val="tx1"/>
                </a:solidFill>
                <a:effectLst/>
                <a:latin typeface="Nunito" pitchFamily="2" charset="77"/>
              </a:rPr>
              <a:t>create classes that cannot be instantiated but can only be inherited</a:t>
            </a:r>
            <a:r>
              <a:rPr lang="en-IN" b="0" i="0" dirty="0">
                <a:solidFill>
                  <a:schemeClr val="tx1"/>
                </a:solidFill>
                <a:effectLst/>
                <a:latin typeface="Nunito" pitchFamily="2" charset="77"/>
              </a:rPr>
              <a:t>. </a:t>
            </a:r>
          </a:p>
          <a:p>
            <a:br>
              <a:rPr lang="en-IN" dirty="0">
                <a:solidFill>
                  <a:schemeClr val="tx1"/>
                </a:solidFill>
              </a:rPr>
            </a:br>
            <a:endParaRPr lang="en-US" dirty="0">
              <a:solidFill>
                <a:schemeClr val="tx1"/>
              </a:solidFill>
            </a:endParaRPr>
          </a:p>
        </p:txBody>
      </p:sp>
      <p:sp>
        <p:nvSpPr>
          <p:cNvPr id="4" name="Footer Placeholder 3">
            <a:extLst>
              <a:ext uri="{FF2B5EF4-FFF2-40B4-BE49-F238E27FC236}">
                <a16:creationId xmlns:a16="http://schemas.microsoft.com/office/drawing/2014/main" id="{ECB80A6C-8F76-6F0B-1426-6D9B57B25BC4}"/>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5638370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C24F2-C206-D870-5EAE-735B6FD2F6D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E69F935-95FA-9113-2D4F-F20F0EAD33BF}"/>
              </a:ext>
            </a:extLst>
          </p:cNvPr>
          <p:cNvSpPr>
            <a:spLocks noGrp="1"/>
          </p:cNvSpPr>
          <p:nvPr>
            <p:ph idx="1"/>
          </p:nvPr>
        </p:nvSpPr>
        <p:spPr>
          <a:xfrm>
            <a:off x="457200" y="1295400"/>
            <a:ext cx="4533900" cy="5029200"/>
          </a:xfrm>
        </p:spPr>
        <p:txBody>
          <a:bodyPr/>
          <a:lstStyle/>
          <a:p>
            <a:pPr marL="0" marR="0" indent="0">
              <a:spcBef>
                <a:spcPts val="0"/>
              </a:spcBef>
              <a:spcAft>
                <a:spcPts val="0"/>
              </a:spcAft>
              <a:buNone/>
            </a:pPr>
            <a:r>
              <a:rPr lang="en-IN" sz="1600" dirty="0">
                <a:solidFill>
                  <a:srgbClr val="3F7F5F"/>
                </a:solidFill>
                <a:effectLst/>
                <a:latin typeface="Menlo" panose="020B0609030804020204" pitchFamily="49" charset="0"/>
              </a:rPr>
              <a:t>//An abstract class without </a:t>
            </a:r>
          </a:p>
          <a:p>
            <a:pPr marL="0" marR="0" indent="0">
              <a:spcBef>
                <a:spcPts val="0"/>
              </a:spcBef>
              <a:spcAft>
                <a:spcPts val="0"/>
              </a:spcAft>
              <a:buNone/>
            </a:pPr>
            <a:r>
              <a:rPr lang="en-IN" sz="1600" dirty="0">
                <a:solidFill>
                  <a:srgbClr val="3F7F5F"/>
                </a:solidFill>
                <a:effectLst/>
                <a:latin typeface="Menlo" panose="020B0609030804020204" pitchFamily="49" charset="0"/>
              </a:rPr>
              <a:t>any abstract method</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b="1" dirty="0">
                <a:solidFill>
                  <a:srgbClr val="7F0055"/>
                </a:solidFill>
                <a:effectLst/>
                <a:latin typeface="Menlo" panose="020B0609030804020204" pitchFamily="49" charset="0"/>
              </a:rPr>
              <a:t>abstract</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Base {</a:t>
            </a:r>
          </a:p>
          <a:p>
            <a:pPr marL="0" marR="0" indent="0">
              <a:spcBef>
                <a:spcPts val="0"/>
              </a:spcBef>
              <a:spcAft>
                <a:spcPts val="0"/>
              </a:spcAft>
              <a:buNone/>
            </a:pPr>
            <a:r>
              <a:rPr lang="en-IN" sz="1600" dirty="0">
                <a:solidFill>
                  <a:srgbClr val="000000"/>
                </a:solidFill>
                <a:latin typeface="Menlo" panose="020B0609030804020204" pitchFamily="49" charset="0"/>
              </a:rPr>
              <a:t>//</a:t>
            </a:r>
            <a:r>
              <a:rPr lang="en-IN" sz="1600" dirty="0">
                <a:solidFill>
                  <a:srgbClr val="3F7F5F"/>
                </a:solidFill>
                <a:effectLst/>
                <a:latin typeface="Menlo" panose="020B0609030804020204" pitchFamily="49" charset="0"/>
              </a:rPr>
              <a:t>This is not an abstract method.</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fun()</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err="1">
                <a:solidFill>
                  <a:srgbClr val="000000"/>
                </a:solidFill>
                <a:effectLst/>
                <a:latin typeface="Menlo" panose="020B0609030804020204" pitchFamily="49" charset="0"/>
              </a:rPr>
              <a:t>System.</a:t>
            </a:r>
            <a:r>
              <a:rPr lang="en-IN" sz="1600" b="1" i="1" dirty="0" err="1">
                <a:solidFill>
                  <a:srgbClr val="0000C0"/>
                </a:solidFill>
                <a:effectLst/>
                <a:latin typeface="Menlo" panose="020B0609030804020204" pitchFamily="49" charset="0"/>
              </a:rPr>
              <a:t>out</a:t>
            </a:r>
            <a:r>
              <a:rPr lang="en-IN" sz="1600" dirty="0" err="1">
                <a:solidFill>
                  <a:srgbClr val="000000"/>
                </a:solidFill>
                <a:effectLst/>
                <a:latin typeface="Menlo" panose="020B0609030804020204" pitchFamily="49" charset="0"/>
              </a:rPr>
              <a:t>.println</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"Base class fun() is called"</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a:t>
            </a:r>
            <a:r>
              <a:rPr lang="en-IN" sz="1600" u="sng" dirty="0">
                <a:solidFill>
                  <a:srgbClr val="000000"/>
                </a:solidFill>
                <a:effectLst/>
                <a:latin typeface="Menlo" panose="020B0609030804020204" pitchFamily="49" charset="0"/>
              </a:rPr>
              <a:t>Derived</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extends</a:t>
            </a:r>
            <a:r>
              <a:rPr lang="en-IN" sz="1600" dirty="0">
                <a:solidFill>
                  <a:srgbClr val="000000"/>
                </a:solidFill>
                <a:effectLst/>
                <a:latin typeface="Menlo" panose="020B0609030804020204" pitchFamily="49" charset="0"/>
              </a:rPr>
              <a:t> Base {</a:t>
            </a:r>
          </a:p>
          <a:p>
            <a:pPr marL="0" marR="0" indent="0">
              <a:spcBef>
                <a:spcPts val="0"/>
              </a:spcBef>
              <a:spcAft>
                <a:spcPts val="0"/>
              </a:spcAft>
              <a:buNone/>
            </a:pPr>
            <a:r>
              <a:rPr lang="en-IN" sz="1600" dirty="0">
                <a:solidFill>
                  <a:srgbClr val="3F7F5F"/>
                </a:solidFill>
                <a:effectLst/>
                <a:latin typeface="Menlo" panose="020B0609030804020204" pitchFamily="49" charset="0"/>
              </a:rPr>
              <a:t>// This class only inherits the Base class methods and</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dirty="0">
                <a:solidFill>
                  <a:srgbClr val="3F7F5F"/>
                </a:solidFill>
                <a:effectLst/>
                <a:latin typeface="Menlo" panose="020B0609030804020204" pitchFamily="49" charset="0"/>
              </a:rPr>
              <a:t>// properties</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dirty="0">
                <a:solidFill>
                  <a:srgbClr val="000000"/>
                </a:solidFill>
                <a:effectLst/>
                <a:latin typeface="Menlo" panose="020B0609030804020204" pitchFamily="49" charset="0"/>
              </a:rPr>
              <a:t>}</a:t>
            </a:r>
          </a:p>
        </p:txBody>
      </p:sp>
      <p:sp>
        <p:nvSpPr>
          <p:cNvPr id="4" name="Footer Placeholder 3">
            <a:extLst>
              <a:ext uri="{FF2B5EF4-FFF2-40B4-BE49-F238E27FC236}">
                <a16:creationId xmlns:a16="http://schemas.microsoft.com/office/drawing/2014/main" id="{1EBA63CE-9925-25C5-B503-5CE339C59840}"/>
              </a:ext>
            </a:extLst>
          </p:cNvPr>
          <p:cNvSpPr>
            <a:spLocks noGrp="1"/>
          </p:cNvSpPr>
          <p:nvPr>
            <p:ph type="ftr" sz="quarter" idx="11"/>
          </p:nvPr>
        </p:nvSpPr>
        <p:spPr/>
        <p:txBody>
          <a:bodyPr/>
          <a:lstStyle/>
          <a:p>
            <a:pPr>
              <a:defRPr/>
            </a:pPr>
            <a:r>
              <a:rPr lang="en-US"/>
              <a:t>Dr. Naveen Kumar, Associate Professor, AIIT, AUP</a:t>
            </a:r>
          </a:p>
        </p:txBody>
      </p:sp>
      <p:sp>
        <p:nvSpPr>
          <p:cNvPr id="5" name="Content Placeholder 2">
            <a:extLst>
              <a:ext uri="{FF2B5EF4-FFF2-40B4-BE49-F238E27FC236}">
                <a16:creationId xmlns:a16="http://schemas.microsoft.com/office/drawing/2014/main" id="{DDAE17E1-2617-70BE-C67B-5F7C9E8509E0}"/>
              </a:ext>
            </a:extLst>
          </p:cNvPr>
          <p:cNvSpPr txBox="1">
            <a:spLocks/>
          </p:cNvSpPr>
          <p:nvPr/>
        </p:nvSpPr>
        <p:spPr bwMode="auto">
          <a:xfrm>
            <a:off x="4572000" y="1143000"/>
            <a:ext cx="49022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rgbClr val="595959"/>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rgbClr val="595959"/>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rgbClr val="595959"/>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0"/>
              </a:spcAft>
              <a:buNone/>
            </a:pPr>
            <a:r>
              <a:rPr lang="en-IN" sz="1800" b="1" dirty="0">
                <a:solidFill>
                  <a:srgbClr val="7F0055"/>
                </a:solidFill>
                <a:latin typeface="Menlo" panose="020B0609030804020204" pitchFamily="49" charset="0"/>
              </a:rPr>
              <a:t>class</a:t>
            </a:r>
            <a:r>
              <a:rPr lang="en-IN" sz="1800" dirty="0">
                <a:solidFill>
                  <a:srgbClr val="000000"/>
                </a:solidFill>
                <a:latin typeface="Menlo" panose="020B0609030804020204" pitchFamily="49" charset="0"/>
              </a:rPr>
              <a:t> Main {</a:t>
            </a:r>
          </a:p>
          <a:p>
            <a:pPr marL="0" indent="0">
              <a:spcBef>
                <a:spcPts val="0"/>
              </a:spcBef>
              <a:spcAft>
                <a:spcPts val="0"/>
              </a:spcAft>
              <a:buNone/>
            </a:pPr>
            <a:r>
              <a:rPr lang="en-IN" sz="1800" b="1" dirty="0">
                <a:solidFill>
                  <a:srgbClr val="7F0055"/>
                </a:solidFill>
                <a:latin typeface="Menlo" panose="020B0609030804020204" pitchFamily="49" charset="0"/>
              </a:rPr>
              <a:t>public</a:t>
            </a:r>
            <a:r>
              <a:rPr lang="en-IN" sz="1800" dirty="0">
                <a:solidFill>
                  <a:srgbClr val="000000"/>
                </a:solidFill>
                <a:latin typeface="Menlo" panose="020B0609030804020204" pitchFamily="49" charset="0"/>
              </a:rPr>
              <a:t> </a:t>
            </a:r>
            <a:r>
              <a:rPr lang="en-IN" sz="1800" b="1" dirty="0">
                <a:solidFill>
                  <a:srgbClr val="7F0055"/>
                </a:solidFill>
                <a:latin typeface="Menlo" panose="020B0609030804020204" pitchFamily="49" charset="0"/>
              </a:rPr>
              <a:t>static</a:t>
            </a:r>
            <a:r>
              <a:rPr lang="en-IN" sz="1800" dirty="0">
                <a:solidFill>
                  <a:srgbClr val="000000"/>
                </a:solidFill>
                <a:latin typeface="Menlo" panose="020B0609030804020204" pitchFamily="49" charset="0"/>
              </a:rPr>
              <a:t> </a:t>
            </a:r>
            <a:r>
              <a:rPr lang="en-IN" sz="1800" b="1" dirty="0">
                <a:solidFill>
                  <a:srgbClr val="7F0055"/>
                </a:solidFill>
                <a:latin typeface="Menlo" panose="020B0609030804020204" pitchFamily="49" charset="0"/>
              </a:rPr>
              <a:t>void</a:t>
            </a:r>
            <a:r>
              <a:rPr lang="en-IN" sz="1800" b="1" dirty="0">
                <a:solidFill>
                  <a:srgbClr val="000000"/>
                </a:solidFill>
                <a:latin typeface="Menlo" panose="020B0609030804020204" pitchFamily="49" charset="0"/>
              </a:rPr>
              <a:t> </a:t>
            </a:r>
            <a:r>
              <a:rPr lang="en-IN" sz="1800" dirty="0">
                <a:solidFill>
                  <a:srgbClr val="000000"/>
                </a:solidFill>
                <a:latin typeface="Menlo" panose="020B0609030804020204" pitchFamily="49" charset="0"/>
              </a:rPr>
              <a:t>main(String </a:t>
            </a:r>
            <a:r>
              <a:rPr lang="en-IN" sz="1800" dirty="0" err="1">
                <a:solidFill>
                  <a:srgbClr val="6A3E3E"/>
                </a:solidFill>
                <a:latin typeface="Menlo" panose="020B0609030804020204" pitchFamily="49" charset="0"/>
              </a:rPr>
              <a:t>args</a:t>
            </a:r>
            <a:r>
              <a:rPr lang="en-IN" sz="1800" dirty="0">
                <a:solidFill>
                  <a:srgbClr val="000000"/>
                </a:solidFill>
                <a:latin typeface="Menlo" panose="020B0609030804020204" pitchFamily="49" charset="0"/>
              </a:rPr>
              <a:t>[])</a:t>
            </a:r>
          </a:p>
          <a:p>
            <a:pPr marL="0" indent="0">
              <a:spcBef>
                <a:spcPts val="0"/>
              </a:spcBef>
              <a:spcAft>
                <a:spcPts val="0"/>
              </a:spcAft>
              <a:buNone/>
            </a:pPr>
            <a:r>
              <a:rPr lang="en-IN" sz="1800" dirty="0">
                <a:solidFill>
                  <a:srgbClr val="000000"/>
                </a:solidFill>
                <a:latin typeface="Menlo" panose="020B0609030804020204" pitchFamily="49" charset="0"/>
              </a:rPr>
              <a:t>{</a:t>
            </a:r>
          </a:p>
          <a:p>
            <a:pPr marL="0" indent="0">
              <a:spcBef>
                <a:spcPts val="0"/>
              </a:spcBef>
              <a:spcAft>
                <a:spcPts val="0"/>
              </a:spcAft>
              <a:buNone/>
            </a:pPr>
            <a:r>
              <a:rPr lang="en-IN" sz="1800" dirty="0">
                <a:solidFill>
                  <a:srgbClr val="000000"/>
                </a:solidFill>
                <a:latin typeface="Menlo" panose="020B0609030804020204" pitchFamily="49" charset="0"/>
              </a:rPr>
              <a:t>Derived </a:t>
            </a:r>
            <a:r>
              <a:rPr lang="en-IN" sz="1800" dirty="0">
                <a:solidFill>
                  <a:srgbClr val="6A3E3E"/>
                </a:solidFill>
                <a:latin typeface="Menlo" panose="020B0609030804020204" pitchFamily="49" charset="0"/>
              </a:rPr>
              <a:t>d</a:t>
            </a:r>
            <a:r>
              <a:rPr lang="en-IN" sz="1800" dirty="0">
                <a:solidFill>
                  <a:srgbClr val="000000"/>
                </a:solidFill>
                <a:latin typeface="Menlo" panose="020B0609030804020204" pitchFamily="49" charset="0"/>
              </a:rPr>
              <a:t> = </a:t>
            </a:r>
            <a:r>
              <a:rPr lang="en-IN" sz="1800" b="1" dirty="0">
                <a:solidFill>
                  <a:srgbClr val="7F0055"/>
                </a:solidFill>
                <a:latin typeface="Menlo" panose="020B0609030804020204" pitchFamily="49" charset="0"/>
              </a:rPr>
              <a:t>new</a:t>
            </a:r>
            <a:r>
              <a:rPr lang="en-IN" sz="1800" dirty="0">
                <a:solidFill>
                  <a:srgbClr val="000000"/>
                </a:solidFill>
                <a:latin typeface="Menlo" panose="020B0609030804020204" pitchFamily="49" charset="0"/>
              </a:rPr>
              <a:t> Derived();</a:t>
            </a:r>
          </a:p>
          <a:p>
            <a:pPr marL="0" indent="0">
              <a:spcBef>
                <a:spcPts val="0"/>
              </a:spcBef>
              <a:spcAft>
                <a:spcPts val="0"/>
              </a:spcAft>
              <a:buNone/>
            </a:pPr>
            <a:r>
              <a:rPr lang="en-IN" sz="1800" dirty="0" err="1">
                <a:solidFill>
                  <a:srgbClr val="6A3E3E"/>
                </a:solidFill>
                <a:latin typeface="Menlo" panose="020B0609030804020204" pitchFamily="49" charset="0"/>
              </a:rPr>
              <a:t>d</a:t>
            </a:r>
            <a:r>
              <a:rPr lang="en-IN" sz="1800" dirty="0" err="1">
                <a:solidFill>
                  <a:srgbClr val="000000"/>
                </a:solidFill>
                <a:latin typeface="Menlo" panose="020B0609030804020204" pitchFamily="49" charset="0"/>
              </a:rPr>
              <a:t>.fun</a:t>
            </a:r>
            <a:r>
              <a:rPr lang="en-IN" sz="1800" dirty="0">
                <a:solidFill>
                  <a:srgbClr val="000000"/>
                </a:solidFill>
                <a:latin typeface="Menlo" panose="020B0609030804020204" pitchFamily="49" charset="0"/>
              </a:rPr>
              <a:t>();</a:t>
            </a:r>
          </a:p>
          <a:p>
            <a:pPr marL="0" indent="0">
              <a:spcBef>
                <a:spcPts val="0"/>
              </a:spcBef>
              <a:spcAft>
                <a:spcPts val="0"/>
              </a:spcAft>
              <a:buNone/>
            </a:pPr>
            <a:r>
              <a:rPr lang="en-IN" sz="1800" dirty="0">
                <a:solidFill>
                  <a:srgbClr val="000000"/>
                </a:solidFill>
                <a:latin typeface="Menlo" panose="020B0609030804020204" pitchFamily="49" charset="0"/>
              </a:rPr>
              <a:t>}</a:t>
            </a:r>
          </a:p>
          <a:p>
            <a:pPr marL="0" indent="0">
              <a:spcBef>
                <a:spcPts val="0"/>
              </a:spcBef>
              <a:spcAft>
                <a:spcPts val="0"/>
              </a:spcAft>
              <a:buNone/>
            </a:pPr>
            <a:r>
              <a:rPr lang="en-IN" sz="1800" dirty="0">
                <a:solidFill>
                  <a:srgbClr val="000000"/>
                </a:solidFill>
                <a:latin typeface="Menlo" panose="020B0609030804020204" pitchFamily="49" charset="0"/>
              </a:rPr>
              <a:t>}</a:t>
            </a:r>
          </a:p>
          <a:p>
            <a:pPr marL="0" indent="0">
              <a:buNone/>
            </a:pPr>
            <a:endParaRPr lang="en-US" dirty="0"/>
          </a:p>
        </p:txBody>
      </p:sp>
    </p:spTree>
    <p:extLst>
      <p:ext uri="{BB962C8B-B14F-4D97-AF65-F5344CB8AC3E}">
        <p14:creationId xmlns:p14="http://schemas.microsoft.com/office/powerpoint/2010/main" val="1845920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E50F-4DC6-3DE7-93B7-BC2FA5B5D58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BE35E3-91CC-4462-50CB-482BFAB7E520}"/>
              </a:ext>
            </a:extLst>
          </p:cNvPr>
          <p:cNvSpPr>
            <a:spLocks noGrp="1"/>
          </p:cNvSpPr>
          <p:nvPr>
            <p:ph idx="1"/>
          </p:nvPr>
        </p:nvSpPr>
        <p:spPr/>
        <p:txBody>
          <a:bodyPr/>
          <a:lstStyle/>
          <a:p>
            <a:pPr algn="just" rtl="0" fontAlgn="base"/>
            <a:r>
              <a:rPr lang="en-IN" b="0" i="1" dirty="0">
                <a:solidFill>
                  <a:schemeClr val="tx1"/>
                </a:solidFill>
                <a:effectLst/>
                <a:latin typeface="Nunito" pitchFamily="2" charset="77"/>
              </a:rPr>
              <a:t>Abstract classes can also have </a:t>
            </a:r>
            <a:r>
              <a:rPr lang="en-IN" b="1" i="1" dirty="0">
                <a:solidFill>
                  <a:schemeClr val="tx1"/>
                </a:solidFill>
                <a:effectLst/>
                <a:latin typeface="Nunito" pitchFamily="2" charset="77"/>
              </a:rPr>
              <a:t>final</a:t>
            </a:r>
            <a:r>
              <a:rPr lang="en-IN" b="0" i="1" dirty="0">
                <a:solidFill>
                  <a:schemeClr val="tx1"/>
                </a:solidFill>
                <a:effectLst/>
                <a:latin typeface="Nunito" pitchFamily="2" charset="77"/>
              </a:rPr>
              <a:t> methods </a:t>
            </a:r>
            <a:r>
              <a:rPr lang="en-IN" b="0" i="0" dirty="0">
                <a:solidFill>
                  <a:schemeClr val="tx1"/>
                </a:solidFill>
                <a:effectLst/>
                <a:latin typeface="Nunito" pitchFamily="2" charset="77"/>
              </a:rPr>
              <a:t>(methods that cannot be overridden)</a:t>
            </a:r>
          </a:p>
          <a:p>
            <a:pPr marL="0" indent="0">
              <a:buNone/>
            </a:pPr>
            <a:br>
              <a:rPr lang="en-IN" dirty="0">
                <a:solidFill>
                  <a:schemeClr val="tx1"/>
                </a:solidFill>
              </a:rPr>
            </a:br>
            <a:endParaRPr lang="en-US" dirty="0">
              <a:solidFill>
                <a:schemeClr val="tx1"/>
              </a:solidFill>
            </a:endParaRPr>
          </a:p>
        </p:txBody>
      </p:sp>
      <p:sp>
        <p:nvSpPr>
          <p:cNvPr id="4" name="Footer Placeholder 3">
            <a:extLst>
              <a:ext uri="{FF2B5EF4-FFF2-40B4-BE49-F238E27FC236}">
                <a16:creationId xmlns:a16="http://schemas.microsoft.com/office/drawing/2014/main" id="{82AFB2D6-85F9-CE5F-46D3-8F2C05CA854A}"/>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6812826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87854-70E2-E935-A371-953523632EB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46FFC08-4AAC-BA35-00AE-26E00115173B}"/>
              </a:ext>
            </a:extLst>
          </p:cNvPr>
          <p:cNvSpPr>
            <a:spLocks noGrp="1"/>
          </p:cNvSpPr>
          <p:nvPr>
            <p:ph idx="1"/>
          </p:nvPr>
        </p:nvSpPr>
        <p:spPr/>
        <p:txBody>
          <a:bodyPr/>
          <a:lstStyle/>
          <a:p>
            <a:pPr marL="0" marR="0">
              <a:spcBef>
                <a:spcPts val="0"/>
              </a:spcBef>
              <a:spcAft>
                <a:spcPts val="0"/>
              </a:spcAft>
            </a:pPr>
            <a:r>
              <a:rPr lang="en-IN" sz="1800" b="1" dirty="0">
                <a:solidFill>
                  <a:srgbClr val="7F0055"/>
                </a:solidFill>
                <a:effectLst/>
                <a:latin typeface="Menlo" panose="020B0609030804020204" pitchFamily="49" charset="0"/>
              </a:rPr>
              <a:t>abstract</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Base {</a:t>
            </a:r>
          </a:p>
          <a:p>
            <a:pPr marL="0" marR="0">
              <a:spcBef>
                <a:spcPts val="0"/>
              </a:spcBef>
              <a:spcAft>
                <a:spcPts val="0"/>
              </a:spcAft>
            </a:pPr>
            <a:r>
              <a:rPr lang="en-IN" sz="1800" b="1" dirty="0">
                <a:solidFill>
                  <a:srgbClr val="7F0055"/>
                </a:solidFill>
                <a:effectLst/>
                <a:latin typeface="Menlo" panose="020B0609030804020204" pitchFamily="49" charset="0"/>
              </a:rPr>
              <a:t>final</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fun()</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err="1">
                <a:solidFill>
                  <a:srgbClr val="000000"/>
                </a:solidFill>
                <a:effectLst/>
                <a:latin typeface="Menlo" panose="020B0609030804020204" pitchFamily="49" charset="0"/>
              </a:rPr>
              <a:t>System.</a:t>
            </a:r>
            <a:r>
              <a:rPr lang="en-IN" sz="1800" b="1" i="1" dirty="0" err="1">
                <a:solidFill>
                  <a:srgbClr val="0000C0"/>
                </a:solidFill>
                <a:effectLst/>
                <a:latin typeface="Menlo" panose="020B0609030804020204" pitchFamily="49" charset="0"/>
              </a:rPr>
              <a:t>out</a:t>
            </a:r>
            <a:r>
              <a:rPr lang="en-IN" sz="1800" dirty="0" err="1">
                <a:solidFill>
                  <a:srgbClr val="000000"/>
                </a:solidFill>
                <a:effectLst/>
                <a:latin typeface="Menlo" panose="020B0609030804020204" pitchFamily="49" charset="0"/>
              </a:rPr>
              <a:t>.println</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"Base fun() called"</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endParaRPr lang="en-IN" sz="1800" dirty="0">
              <a:solidFill>
                <a:srgbClr val="000000"/>
              </a:solidFill>
              <a:effectLst/>
              <a:latin typeface="Menlo" panose="020B0609030804020204" pitchFamily="49" charset="0"/>
            </a:endParaRPr>
          </a:p>
          <a:p>
            <a:pPr marL="0" marR="0">
              <a:spcBef>
                <a:spcPts val="0"/>
              </a:spcBef>
              <a:spcAft>
                <a:spcPts val="0"/>
              </a:spcAft>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a:solidFill>
                  <a:srgbClr val="000000"/>
                </a:solidFill>
                <a:effectLst/>
                <a:latin typeface="Menlo" panose="020B0609030804020204" pitchFamily="49" charset="0"/>
              </a:rPr>
              <a:t>Derived</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Base {</a:t>
            </a:r>
          </a:p>
          <a:p>
            <a:pPr marL="0" marR="0">
              <a:spcBef>
                <a:spcPts val="0"/>
              </a:spcBef>
              <a:spcAft>
                <a:spcPts val="0"/>
              </a:spcAft>
            </a:pPr>
            <a:endParaRPr lang="en-IN" sz="1800" dirty="0">
              <a:solidFill>
                <a:srgbClr val="000000"/>
              </a:solidFill>
              <a:effectLst/>
              <a:latin typeface="Menlo" panose="020B0609030804020204" pitchFamily="49" charset="0"/>
            </a:endParaRP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endParaRPr lang="en-IN" sz="1800" dirty="0">
              <a:solidFill>
                <a:srgbClr val="000000"/>
              </a:solidFill>
              <a:effectLst/>
              <a:latin typeface="Menlo" panose="020B0609030804020204" pitchFamily="49" charset="0"/>
            </a:endParaRPr>
          </a:p>
          <a:p>
            <a:pPr marL="0" marR="0">
              <a:spcBef>
                <a:spcPts val="0"/>
              </a:spcBef>
              <a:spcAft>
                <a:spcPts val="0"/>
              </a:spcAft>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Demo {</a:t>
            </a: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Base </a:t>
            </a:r>
            <a:r>
              <a:rPr lang="en-IN" sz="1800" dirty="0">
                <a:solidFill>
                  <a:srgbClr val="6A3E3E"/>
                </a:solidFill>
                <a:effectLst/>
                <a:latin typeface="Menlo" panose="020B0609030804020204" pitchFamily="49" charset="0"/>
              </a:rPr>
              <a:t>b</a:t>
            </a:r>
            <a:r>
              <a:rPr lang="en-IN" sz="1800" dirty="0">
                <a:solidFill>
                  <a:srgbClr val="000000"/>
                </a:solidFill>
                <a:effectLst/>
                <a:latin typeface="Menlo" panose="020B0609030804020204" pitchFamily="49" charset="0"/>
              </a:rPr>
              <a:t> = </a:t>
            </a:r>
            <a:r>
              <a:rPr lang="en-IN" sz="1800" b="1" u="sng" dirty="0">
                <a:solidFill>
                  <a:srgbClr val="7F0055"/>
                </a:solidFill>
                <a:effectLst/>
                <a:latin typeface="Menlo" panose="020B0609030804020204" pitchFamily="49" charset="0"/>
              </a:rPr>
              <a:t>new</a:t>
            </a:r>
            <a:r>
              <a:rPr lang="en-IN" sz="1800" u="sng" dirty="0">
                <a:solidFill>
                  <a:srgbClr val="000000"/>
                </a:solidFill>
                <a:effectLst/>
                <a:latin typeface="Menlo" panose="020B0609030804020204" pitchFamily="49" charset="0"/>
              </a:rPr>
              <a:t> Derived()</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err="1">
                <a:solidFill>
                  <a:srgbClr val="6A3E3E"/>
                </a:solidFill>
                <a:effectLst/>
                <a:latin typeface="Menlo" panose="020B0609030804020204" pitchFamily="49" charset="0"/>
              </a:rPr>
              <a:t>b</a:t>
            </a:r>
            <a:r>
              <a:rPr lang="en-IN" sz="1800" dirty="0" err="1">
                <a:solidFill>
                  <a:srgbClr val="000000"/>
                </a:solidFill>
                <a:effectLst/>
                <a:latin typeface="Menlo" panose="020B0609030804020204" pitchFamily="49" charset="0"/>
              </a:rPr>
              <a:t>.fun</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endParaRPr lang="en-US" dirty="0"/>
          </a:p>
        </p:txBody>
      </p:sp>
      <p:sp>
        <p:nvSpPr>
          <p:cNvPr id="4" name="Footer Placeholder 3">
            <a:extLst>
              <a:ext uri="{FF2B5EF4-FFF2-40B4-BE49-F238E27FC236}">
                <a16:creationId xmlns:a16="http://schemas.microsoft.com/office/drawing/2014/main" id="{A2F672F2-2435-1E5C-2B16-CF25E463F53F}"/>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7106194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C2F90-A077-EAC5-74EA-19A062FE41C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096A6AD-C356-9BB4-6A00-1A1925C9E422}"/>
              </a:ext>
            </a:extLst>
          </p:cNvPr>
          <p:cNvSpPr>
            <a:spLocks noGrp="1"/>
          </p:cNvSpPr>
          <p:nvPr>
            <p:ph idx="1"/>
          </p:nvPr>
        </p:nvSpPr>
        <p:spPr/>
        <p:txBody>
          <a:bodyPr/>
          <a:lstStyle/>
          <a:p>
            <a:pPr algn="just" rtl="0" fontAlgn="base"/>
            <a:r>
              <a:rPr lang="en-IN" b="0" i="0" dirty="0">
                <a:solidFill>
                  <a:schemeClr val="tx1"/>
                </a:solidFill>
                <a:effectLst/>
                <a:latin typeface="Nunito" pitchFamily="2" charset="77"/>
              </a:rPr>
              <a:t>an abstract class instantiation is not possible. </a:t>
            </a:r>
          </a:p>
          <a:p>
            <a:pPr marL="0" marR="0" indent="0">
              <a:spcBef>
                <a:spcPts val="0"/>
              </a:spcBef>
              <a:spcAft>
                <a:spcPts val="0"/>
              </a:spcAft>
              <a:buNone/>
            </a:pPr>
            <a:br>
              <a:rPr lang="en-IN" dirty="0">
                <a:solidFill>
                  <a:schemeClr val="tx1"/>
                </a:solidFill>
              </a:rPr>
            </a:br>
            <a:r>
              <a:rPr lang="en-IN" sz="1800" b="1" dirty="0">
                <a:solidFill>
                  <a:srgbClr val="7F0055"/>
                </a:solidFill>
                <a:effectLst/>
                <a:latin typeface="Menlo" panose="020B0609030804020204" pitchFamily="49" charset="0"/>
              </a:rPr>
              <a:t>abstract</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AbstractClass</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3F7F5F"/>
                </a:solidFill>
                <a:effectLst/>
                <a:latin typeface="Menlo" panose="020B0609030804020204" pitchFamily="49" charset="0"/>
              </a:rPr>
              <a:t>// Trying to create an object</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dirty="0" err="1">
                <a:solidFill>
                  <a:srgbClr val="000000"/>
                </a:solidFill>
                <a:effectLst/>
                <a:latin typeface="Menlo" panose="020B0609030804020204" pitchFamily="49" charset="0"/>
              </a:rPr>
              <a:t>AbstractClass</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gfg</a:t>
            </a:r>
            <a:r>
              <a:rPr lang="en-IN" sz="1800" dirty="0">
                <a:solidFill>
                  <a:srgbClr val="000000"/>
                </a:solidFill>
                <a:effectLst/>
                <a:latin typeface="Menlo" panose="020B0609030804020204" pitchFamily="49" charset="0"/>
              </a:rPr>
              <a:t> = </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AbstractClass</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indent="0">
              <a:buNone/>
            </a:pPr>
            <a:endParaRPr lang="en-US" dirty="0">
              <a:solidFill>
                <a:schemeClr val="tx1"/>
              </a:solidFill>
            </a:endParaRPr>
          </a:p>
        </p:txBody>
      </p:sp>
      <p:sp>
        <p:nvSpPr>
          <p:cNvPr id="4" name="Footer Placeholder 3">
            <a:extLst>
              <a:ext uri="{FF2B5EF4-FFF2-40B4-BE49-F238E27FC236}">
                <a16:creationId xmlns:a16="http://schemas.microsoft.com/office/drawing/2014/main" id="{3F6131DC-583B-9909-EF49-BC99ADD513D5}"/>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0188018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98292-1AF6-66EC-E0B9-31CAB4946A1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ED450D-DAE0-0FD9-A0CC-4BB8070AA29B}"/>
              </a:ext>
            </a:extLst>
          </p:cNvPr>
          <p:cNvSpPr>
            <a:spLocks noGrp="1"/>
          </p:cNvSpPr>
          <p:nvPr>
            <p:ph idx="1"/>
          </p:nvPr>
        </p:nvSpPr>
        <p:spPr/>
        <p:txBody>
          <a:bodyPr/>
          <a:lstStyle/>
          <a:p>
            <a:pPr algn="just" rtl="0" fontAlgn="base"/>
            <a:r>
              <a:rPr lang="en-IN" b="1" i="1" dirty="0">
                <a:solidFill>
                  <a:schemeClr val="tx1"/>
                </a:solidFill>
                <a:effectLst/>
                <a:latin typeface="Nunito" pitchFamily="2" charset="77"/>
              </a:rPr>
              <a:t>we can define static methods in an abstract class</a:t>
            </a:r>
            <a:r>
              <a:rPr lang="en-IN" b="0" i="0" dirty="0">
                <a:solidFill>
                  <a:schemeClr val="tx1"/>
                </a:solidFill>
                <a:effectLst/>
                <a:latin typeface="Nunito" pitchFamily="2" charset="77"/>
              </a:rPr>
              <a:t> that</a:t>
            </a:r>
            <a:r>
              <a:rPr lang="en-IN" b="1" i="1" dirty="0">
                <a:solidFill>
                  <a:schemeClr val="tx1"/>
                </a:solidFill>
                <a:effectLst/>
                <a:latin typeface="Nunito" pitchFamily="2" charset="77"/>
              </a:rPr>
              <a:t> can be called independently without an object. </a:t>
            </a:r>
            <a:endParaRPr lang="en-IN" b="0" i="0" dirty="0">
              <a:solidFill>
                <a:schemeClr val="tx1"/>
              </a:solidFill>
              <a:effectLst/>
              <a:latin typeface="Nunito" pitchFamily="2" charset="77"/>
            </a:endParaRPr>
          </a:p>
          <a:p>
            <a:pPr marL="0" marR="0" indent="0">
              <a:spcBef>
                <a:spcPts val="0"/>
              </a:spcBef>
              <a:spcAft>
                <a:spcPts val="0"/>
              </a:spcAft>
              <a:buNone/>
            </a:pPr>
            <a:r>
              <a:rPr lang="en-IN" sz="1800" b="1" dirty="0">
                <a:solidFill>
                  <a:srgbClr val="7F0055"/>
                </a:solidFill>
                <a:effectLst/>
                <a:latin typeface="Menlo" panose="020B0609030804020204" pitchFamily="49" charset="0"/>
              </a:rPr>
              <a:t>abstract</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Helper {</a:t>
            </a:r>
          </a:p>
          <a:p>
            <a:pPr marL="0" marR="0" indent="0">
              <a:spcBef>
                <a:spcPts val="0"/>
              </a:spcBef>
              <a:spcAft>
                <a:spcPts val="0"/>
              </a:spcAft>
              <a:buNone/>
            </a:pP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demofun</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000000"/>
                </a:solidFill>
                <a:effectLst/>
                <a:latin typeface="Menlo" panose="020B0609030804020204" pitchFamily="49" charset="0"/>
              </a:rPr>
              <a:t>System.</a:t>
            </a:r>
            <a:r>
              <a:rPr lang="en-IN" sz="1800" b="1" i="1" dirty="0" err="1">
                <a:solidFill>
                  <a:srgbClr val="0000C0"/>
                </a:solidFill>
                <a:effectLst/>
                <a:latin typeface="Menlo" panose="020B0609030804020204" pitchFamily="49" charset="0"/>
              </a:rPr>
              <a:t>out</a:t>
            </a:r>
            <a:r>
              <a:rPr lang="en-IN" sz="1800" dirty="0" err="1">
                <a:solidFill>
                  <a:srgbClr val="000000"/>
                </a:solidFill>
                <a:effectLst/>
                <a:latin typeface="Menlo" panose="020B0609030804020204" pitchFamily="49" charset="0"/>
              </a:rPr>
              <a:t>.println</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"Geeks for Geeks"</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a:solidFill>
                  <a:srgbClr val="000000"/>
                </a:solidFill>
                <a:effectLst/>
                <a:latin typeface="Menlo" panose="020B0609030804020204" pitchFamily="49" charset="0"/>
              </a:rPr>
              <a:t>Derived</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Helper {</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000000"/>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000000"/>
                </a:solidFill>
                <a:effectLst/>
                <a:latin typeface="Menlo" panose="020B0609030804020204" pitchFamily="49" charset="0"/>
              </a:rPr>
              <a:t>Helper.demofun</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endParaRPr lang="en-US" dirty="0">
              <a:solidFill>
                <a:schemeClr val="tx1"/>
              </a:solidFill>
            </a:endParaRPr>
          </a:p>
        </p:txBody>
      </p:sp>
      <p:sp>
        <p:nvSpPr>
          <p:cNvPr id="4" name="Footer Placeholder 3">
            <a:extLst>
              <a:ext uri="{FF2B5EF4-FFF2-40B4-BE49-F238E27FC236}">
                <a16:creationId xmlns:a16="http://schemas.microsoft.com/office/drawing/2014/main" id="{BBF394F0-188A-97F4-1D0D-1AFA78B08F35}"/>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402402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5275E-160E-0C16-9DEC-78E1165866C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3B4B5E3-5B51-6695-724F-D541819D00C8}"/>
              </a:ext>
            </a:extLst>
          </p:cNvPr>
          <p:cNvSpPr>
            <a:spLocks noGrp="1"/>
          </p:cNvSpPr>
          <p:nvPr>
            <p:ph idx="1"/>
          </p:nvPr>
        </p:nvSpPr>
        <p:spPr/>
        <p:txBody>
          <a:bodyPr/>
          <a:lstStyle/>
          <a:p>
            <a:pPr algn="just" rtl="0" fontAlgn="base"/>
            <a:r>
              <a:rPr lang="en-IN" b="0" i="0" dirty="0">
                <a:solidFill>
                  <a:schemeClr val="tx1"/>
                </a:solidFill>
                <a:effectLst/>
                <a:latin typeface="Nunito" pitchFamily="2" charset="77"/>
              </a:rPr>
              <a:t>We can use the </a:t>
            </a:r>
            <a:r>
              <a:rPr lang="en-IN" b="1" i="0" dirty="0">
                <a:solidFill>
                  <a:schemeClr val="tx1"/>
                </a:solidFill>
                <a:effectLst/>
                <a:latin typeface="Nunito" pitchFamily="2" charset="77"/>
              </a:rPr>
              <a:t>abstract keyword</a:t>
            </a:r>
            <a:r>
              <a:rPr lang="en-IN" b="0" i="0" dirty="0">
                <a:solidFill>
                  <a:schemeClr val="tx1"/>
                </a:solidFill>
                <a:effectLst/>
                <a:latin typeface="Nunito" pitchFamily="2" charset="77"/>
              </a:rPr>
              <a:t> for declaring top-level classes (Outer class) as well as inner classes as abstract</a:t>
            </a:r>
          </a:p>
          <a:p>
            <a:pPr marL="0" marR="0" indent="0">
              <a:spcBef>
                <a:spcPts val="0"/>
              </a:spcBef>
              <a:spcAft>
                <a:spcPts val="0"/>
              </a:spcAft>
              <a:buNone/>
            </a:pPr>
            <a:r>
              <a:rPr lang="en-IN" sz="1600" b="1" dirty="0">
                <a:solidFill>
                  <a:srgbClr val="7F0055"/>
                </a:solidFill>
                <a:effectLst/>
                <a:latin typeface="Menlo" panose="020B0609030804020204" pitchFamily="49" charset="0"/>
              </a:rPr>
              <a:t>abstract</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B {</a:t>
            </a:r>
          </a:p>
          <a:p>
            <a:pPr marL="0" marR="0" indent="0">
              <a:spcBef>
                <a:spcPts val="0"/>
              </a:spcBef>
              <a:spcAft>
                <a:spcPts val="0"/>
              </a:spcAft>
              <a:buNone/>
            </a:pPr>
            <a:r>
              <a:rPr lang="en-IN" sz="1600" dirty="0">
                <a:solidFill>
                  <a:srgbClr val="3F7F5F"/>
                </a:solidFill>
                <a:effectLst/>
                <a:latin typeface="Menlo" panose="020B0609030804020204" pitchFamily="49" charset="0"/>
              </a:rPr>
              <a:t>// inner class as abstract</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b="1" dirty="0">
                <a:solidFill>
                  <a:srgbClr val="7F0055"/>
                </a:solidFill>
                <a:effectLst/>
                <a:latin typeface="Menlo" panose="020B0609030804020204" pitchFamily="49" charset="0"/>
              </a:rPr>
              <a:t>abstract</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C {</a:t>
            </a:r>
          </a:p>
          <a:p>
            <a:pPr marL="0" marR="0" indent="0">
              <a:spcBef>
                <a:spcPts val="0"/>
              </a:spcBef>
              <a:spcAft>
                <a:spcPts val="0"/>
              </a:spcAft>
              <a:buNone/>
            </a:pPr>
            <a:r>
              <a:rPr lang="en-IN" sz="1600" b="1" dirty="0">
                <a:solidFill>
                  <a:srgbClr val="7F0055"/>
                </a:solidFill>
                <a:effectLst/>
                <a:latin typeface="Menlo" panose="020B0609030804020204" pitchFamily="49" charset="0"/>
              </a:rPr>
              <a:t>abstract</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myAbstractMethod</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D </a:t>
            </a:r>
            <a:r>
              <a:rPr lang="en-IN" sz="1600" b="1" dirty="0">
                <a:solidFill>
                  <a:srgbClr val="7F0055"/>
                </a:solidFill>
                <a:effectLst/>
                <a:latin typeface="Menlo" panose="020B0609030804020204" pitchFamily="49" charset="0"/>
              </a:rPr>
              <a:t>extends</a:t>
            </a:r>
            <a:r>
              <a:rPr lang="en-IN" sz="1600" dirty="0">
                <a:solidFill>
                  <a:srgbClr val="000000"/>
                </a:solidFill>
                <a:effectLst/>
                <a:latin typeface="Menlo" panose="020B0609030804020204" pitchFamily="49" charset="0"/>
              </a:rPr>
              <a:t> B {</a:t>
            </a:r>
          </a:p>
          <a:p>
            <a:pPr marL="0" marR="0" indent="0">
              <a:spcBef>
                <a:spcPts val="0"/>
              </a:spcBef>
              <a:spcAft>
                <a:spcPts val="0"/>
              </a:spcAft>
              <a:buNone/>
            </a:pP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E </a:t>
            </a:r>
            <a:r>
              <a:rPr lang="en-IN" sz="1600" b="1" dirty="0">
                <a:solidFill>
                  <a:srgbClr val="7F0055"/>
                </a:solidFill>
                <a:effectLst/>
                <a:latin typeface="Menlo" panose="020B0609030804020204" pitchFamily="49" charset="0"/>
              </a:rPr>
              <a:t>extends</a:t>
            </a:r>
            <a:r>
              <a:rPr lang="en-IN" sz="1600" dirty="0">
                <a:solidFill>
                  <a:srgbClr val="000000"/>
                </a:solidFill>
                <a:effectLst/>
                <a:latin typeface="Menlo" panose="020B0609030804020204" pitchFamily="49" charset="0"/>
              </a:rPr>
              <a:t> C {</a:t>
            </a:r>
          </a:p>
          <a:p>
            <a:pPr marL="0" marR="0" indent="0">
              <a:spcBef>
                <a:spcPts val="0"/>
              </a:spcBef>
              <a:spcAft>
                <a:spcPts val="0"/>
              </a:spcAft>
              <a:buNone/>
            </a:pPr>
            <a:r>
              <a:rPr lang="en-IN" sz="1600" dirty="0">
                <a:solidFill>
                  <a:srgbClr val="3F7F5F"/>
                </a:solidFill>
                <a:effectLst/>
                <a:latin typeface="Menlo" panose="020B0609030804020204" pitchFamily="49" charset="0"/>
              </a:rPr>
              <a:t>// implementing the abstract method</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a:t>
            </a:r>
            <a:r>
              <a:rPr lang="en-IN" sz="1600" dirty="0" err="1">
                <a:solidFill>
                  <a:srgbClr val="000000"/>
                </a:solidFill>
                <a:effectLst/>
                <a:latin typeface="Menlo" panose="020B0609030804020204" pitchFamily="49" charset="0"/>
              </a:rPr>
              <a:t>myAbstractMethod</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err="1">
                <a:solidFill>
                  <a:srgbClr val="000000"/>
                </a:solidFill>
                <a:effectLst/>
                <a:latin typeface="Menlo" panose="020B0609030804020204" pitchFamily="49" charset="0"/>
              </a:rPr>
              <a:t>System.</a:t>
            </a:r>
            <a:r>
              <a:rPr lang="en-IN" sz="1600" b="1" i="1" dirty="0" err="1">
                <a:solidFill>
                  <a:srgbClr val="0000C0"/>
                </a:solidFill>
                <a:effectLst/>
                <a:latin typeface="Menlo" panose="020B0609030804020204" pitchFamily="49" charset="0"/>
              </a:rPr>
              <a:t>out</a:t>
            </a:r>
            <a:r>
              <a:rPr lang="en-IN" sz="1600" dirty="0" err="1">
                <a:solidFill>
                  <a:srgbClr val="000000"/>
                </a:solidFill>
                <a:effectLst/>
                <a:latin typeface="Menlo" panose="020B0609030804020204" pitchFamily="49" charset="0"/>
              </a:rPr>
              <a:t>.println</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2A00FF"/>
                </a:solidFill>
                <a:effectLst/>
                <a:latin typeface="Menlo" panose="020B0609030804020204" pitchFamily="49" charset="0"/>
              </a:rPr>
              <a:t>"Inside abstract method implementation"</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br>
              <a:rPr lang="en-IN" dirty="0">
                <a:solidFill>
                  <a:schemeClr val="tx1"/>
                </a:solidFill>
              </a:rPr>
            </a:br>
            <a:endParaRPr lang="en-US" dirty="0">
              <a:solidFill>
                <a:schemeClr val="tx1"/>
              </a:solidFill>
            </a:endParaRPr>
          </a:p>
        </p:txBody>
      </p:sp>
      <p:sp>
        <p:nvSpPr>
          <p:cNvPr id="4" name="Footer Placeholder 3">
            <a:extLst>
              <a:ext uri="{FF2B5EF4-FFF2-40B4-BE49-F238E27FC236}">
                <a16:creationId xmlns:a16="http://schemas.microsoft.com/office/drawing/2014/main" id="{8A57BEAD-33CF-BA07-C728-4874E3EA9382}"/>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480546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8C169-3E71-A317-45DA-C631AE3BE2B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7DA5C2-DA0B-7B65-3221-9D2085053717}"/>
              </a:ext>
            </a:extLst>
          </p:cNvPr>
          <p:cNvSpPr>
            <a:spLocks noGrp="1"/>
          </p:cNvSpPr>
          <p:nvPr>
            <p:ph idx="1"/>
          </p:nvPr>
        </p:nvSpPr>
        <p:spPr/>
        <p:txBody>
          <a:bodyPr/>
          <a:lstStyle/>
          <a:p>
            <a:pPr marL="0" marR="0">
              <a:spcBef>
                <a:spcPts val="0"/>
              </a:spcBef>
              <a:spcAft>
                <a:spcPts val="0"/>
              </a:spcAft>
            </a:pPr>
            <a:endParaRPr lang="en-IN" sz="1800" dirty="0">
              <a:solidFill>
                <a:srgbClr val="000000"/>
              </a:solidFill>
              <a:effectLst/>
              <a:latin typeface="Menlo" panose="020B0609030804020204" pitchFamily="49" charset="0"/>
            </a:endParaRP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a:t>
            </a:r>
            <a:r>
              <a:rPr lang="en-IN" sz="1800" u="sng" dirty="0">
                <a:solidFill>
                  <a:srgbClr val="000000"/>
                </a:solidFill>
                <a:effectLst/>
                <a:latin typeface="Menlo" panose="020B0609030804020204" pitchFamily="49" charset="0"/>
              </a:rPr>
              <a:t>Main</a:t>
            </a:r>
            <a:r>
              <a:rPr lang="en-IN" sz="1800" dirty="0">
                <a:solidFill>
                  <a:srgbClr val="000000"/>
                </a:solidFill>
                <a:effectLst/>
                <a:latin typeface="Menlo" panose="020B0609030804020204" pitchFamily="49" charset="0"/>
              </a:rPr>
              <a:t> {</a:t>
            </a:r>
          </a:p>
          <a:p>
            <a:pPr marL="0" marR="0">
              <a:spcBef>
                <a:spcPts val="0"/>
              </a:spcBef>
              <a:spcAft>
                <a:spcPts val="0"/>
              </a:spcAft>
            </a:pPr>
            <a:endParaRPr lang="en-IN" sz="1800" dirty="0">
              <a:solidFill>
                <a:srgbClr val="000000"/>
              </a:solidFill>
              <a:effectLst/>
              <a:latin typeface="Menlo" panose="020B0609030804020204" pitchFamily="49" charset="0"/>
            </a:endParaRPr>
          </a:p>
          <a:p>
            <a:pPr marL="0" marR="0">
              <a:spcBef>
                <a:spcPts val="0"/>
              </a:spcBef>
              <a:spcAft>
                <a:spcPts val="0"/>
              </a:spcAft>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3F7F5F"/>
                </a:solidFill>
                <a:effectLst/>
                <a:latin typeface="Menlo" panose="020B0609030804020204" pitchFamily="49" charset="0"/>
              </a:rPr>
              <a:t>// Instantiating the outer class</a:t>
            </a:r>
            <a:endParaRPr lang="en-IN" sz="1800" dirty="0">
              <a:solidFill>
                <a:srgbClr val="000000"/>
              </a:solidFill>
              <a:effectLst/>
              <a:latin typeface="Menlo" panose="020B0609030804020204" pitchFamily="49" charset="0"/>
            </a:endParaRPr>
          </a:p>
          <a:p>
            <a:pPr marL="0" marR="0">
              <a:spcBef>
                <a:spcPts val="0"/>
              </a:spcBef>
              <a:spcAft>
                <a:spcPts val="0"/>
              </a:spcAft>
            </a:pPr>
            <a:r>
              <a:rPr lang="en-IN" sz="1800" dirty="0">
                <a:solidFill>
                  <a:srgbClr val="000000"/>
                </a:solidFill>
                <a:effectLst/>
                <a:latin typeface="Menlo" panose="020B0609030804020204" pitchFamily="49" charset="0"/>
              </a:rPr>
              <a:t>D </a:t>
            </a:r>
            <a:r>
              <a:rPr lang="en-IN" sz="1800" dirty="0">
                <a:solidFill>
                  <a:srgbClr val="6A3E3E"/>
                </a:solidFill>
                <a:effectLst/>
                <a:latin typeface="Menlo" panose="020B0609030804020204" pitchFamily="49" charset="0"/>
              </a:rPr>
              <a:t>outer</a:t>
            </a:r>
            <a:r>
              <a:rPr lang="en-IN" sz="1800" dirty="0">
                <a:solidFill>
                  <a:srgbClr val="000000"/>
                </a:solidFill>
                <a:effectLst/>
                <a:latin typeface="Menlo" panose="020B0609030804020204" pitchFamily="49" charset="0"/>
              </a:rPr>
              <a:t> = </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D();</a:t>
            </a:r>
          </a:p>
          <a:p>
            <a:pPr marL="0" marR="0">
              <a:spcBef>
                <a:spcPts val="0"/>
              </a:spcBef>
              <a:spcAft>
                <a:spcPts val="0"/>
              </a:spcAft>
            </a:pPr>
            <a:endParaRPr lang="en-IN" sz="1800" dirty="0">
              <a:solidFill>
                <a:srgbClr val="000000"/>
              </a:solidFill>
              <a:effectLst/>
              <a:latin typeface="Menlo" panose="020B0609030804020204" pitchFamily="49" charset="0"/>
            </a:endParaRPr>
          </a:p>
          <a:p>
            <a:pPr marL="0" marR="0">
              <a:spcBef>
                <a:spcPts val="0"/>
              </a:spcBef>
              <a:spcAft>
                <a:spcPts val="0"/>
              </a:spcAft>
            </a:pPr>
            <a:r>
              <a:rPr lang="en-IN" sz="1800" dirty="0">
                <a:solidFill>
                  <a:srgbClr val="3F7F5F"/>
                </a:solidFill>
                <a:effectLst/>
                <a:latin typeface="Menlo" panose="020B0609030804020204" pitchFamily="49" charset="0"/>
              </a:rPr>
              <a:t>// Instantiating the inner class</a:t>
            </a:r>
            <a:endParaRPr lang="en-IN" sz="1800" dirty="0">
              <a:solidFill>
                <a:srgbClr val="000000"/>
              </a:solidFill>
              <a:effectLst/>
              <a:latin typeface="Menlo" panose="020B0609030804020204" pitchFamily="49" charset="0"/>
            </a:endParaRPr>
          </a:p>
          <a:p>
            <a:pPr marL="0" marR="0">
              <a:spcBef>
                <a:spcPts val="0"/>
              </a:spcBef>
              <a:spcAft>
                <a:spcPts val="0"/>
              </a:spcAft>
            </a:pPr>
            <a:r>
              <a:rPr lang="en-IN" sz="1800" dirty="0">
                <a:solidFill>
                  <a:srgbClr val="000000"/>
                </a:solidFill>
                <a:effectLst/>
                <a:latin typeface="Menlo" panose="020B0609030804020204" pitchFamily="49" charset="0"/>
              </a:rPr>
              <a:t>D.E </a:t>
            </a:r>
            <a:r>
              <a:rPr lang="en-IN" sz="1800" dirty="0">
                <a:solidFill>
                  <a:srgbClr val="6A3E3E"/>
                </a:solidFill>
                <a:effectLst/>
                <a:latin typeface="Menlo" panose="020B0609030804020204" pitchFamily="49" charset="0"/>
              </a:rPr>
              <a:t>inner</a:t>
            </a:r>
            <a:r>
              <a:rPr lang="en-IN" sz="1800" dirty="0">
                <a:solidFill>
                  <a:srgbClr val="000000"/>
                </a:solidFill>
                <a:effectLst/>
                <a:latin typeface="Menlo" panose="020B0609030804020204" pitchFamily="49" charset="0"/>
              </a:rPr>
              <a:t> = </a:t>
            </a:r>
            <a:r>
              <a:rPr lang="en-IN" sz="1800" dirty="0" err="1">
                <a:solidFill>
                  <a:srgbClr val="6A3E3E"/>
                </a:solidFill>
                <a:effectLst/>
                <a:latin typeface="Menlo" panose="020B0609030804020204" pitchFamily="49" charset="0"/>
              </a:rPr>
              <a:t>outer</a:t>
            </a:r>
            <a:r>
              <a:rPr lang="en-IN" sz="1800" dirty="0" err="1">
                <a:solidFill>
                  <a:srgbClr val="000000"/>
                </a:solidFill>
                <a:effectLst/>
                <a:latin typeface="Menlo" panose="020B0609030804020204" pitchFamily="49" charset="0"/>
              </a:rPr>
              <a:t>.</a:t>
            </a:r>
            <a:r>
              <a:rPr lang="en-IN" sz="1800" b="1" dirty="0" err="1">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E();</a:t>
            </a:r>
          </a:p>
          <a:p>
            <a:pPr marL="0" marR="0">
              <a:spcBef>
                <a:spcPts val="0"/>
              </a:spcBef>
              <a:spcAft>
                <a:spcPts val="0"/>
              </a:spcAft>
            </a:pPr>
            <a:r>
              <a:rPr lang="en-IN" sz="1800" dirty="0" err="1">
                <a:solidFill>
                  <a:srgbClr val="6A3E3E"/>
                </a:solidFill>
                <a:effectLst/>
                <a:latin typeface="Menlo" panose="020B0609030804020204" pitchFamily="49" charset="0"/>
              </a:rPr>
              <a:t>inner</a:t>
            </a:r>
            <a:r>
              <a:rPr lang="en-IN" sz="1800" dirty="0" err="1">
                <a:solidFill>
                  <a:srgbClr val="000000"/>
                </a:solidFill>
                <a:effectLst/>
                <a:latin typeface="Menlo" panose="020B0609030804020204" pitchFamily="49" charset="0"/>
              </a:rPr>
              <a:t>.myAbstractMethod</a:t>
            </a: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pPr marL="0" marR="0">
              <a:spcBef>
                <a:spcPts val="0"/>
              </a:spcBef>
              <a:spcAft>
                <a:spcPts val="0"/>
              </a:spcAft>
            </a:pPr>
            <a:r>
              <a:rPr lang="en-IN" sz="1800" dirty="0">
                <a:solidFill>
                  <a:srgbClr val="000000"/>
                </a:solidFill>
                <a:effectLst/>
                <a:latin typeface="Menlo" panose="020B0609030804020204" pitchFamily="49" charset="0"/>
              </a:rPr>
              <a:t>}</a:t>
            </a:r>
          </a:p>
          <a:p>
            <a:endParaRPr lang="en-US" dirty="0"/>
          </a:p>
        </p:txBody>
      </p:sp>
      <p:sp>
        <p:nvSpPr>
          <p:cNvPr id="4" name="Footer Placeholder 3">
            <a:extLst>
              <a:ext uri="{FF2B5EF4-FFF2-40B4-BE49-F238E27FC236}">
                <a16:creationId xmlns:a16="http://schemas.microsoft.com/office/drawing/2014/main" id="{65F3316F-9692-4ED3-70A2-0C7F6938B923}"/>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5588339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3BFB4-94E4-4E3C-DD53-3EA6535D502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2787D79-41D9-DA63-054E-F2AE33119C2D}"/>
              </a:ext>
            </a:extLst>
          </p:cNvPr>
          <p:cNvSpPr>
            <a:spLocks noGrp="1"/>
          </p:cNvSpPr>
          <p:nvPr>
            <p:ph idx="1"/>
          </p:nvPr>
        </p:nvSpPr>
        <p:spPr/>
        <p:txBody>
          <a:bodyPr/>
          <a:lstStyle/>
          <a:p>
            <a:pPr algn="just" rtl="0" fontAlgn="base"/>
            <a:r>
              <a:rPr lang="en-IN" b="0" i="0" dirty="0">
                <a:solidFill>
                  <a:schemeClr val="tx1"/>
                </a:solidFill>
                <a:effectLst/>
                <a:latin typeface="Nunito" pitchFamily="2" charset="77"/>
              </a:rPr>
              <a:t>If a </a:t>
            </a:r>
            <a:r>
              <a:rPr lang="en-IN" b="1" i="0" dirty="0">
                <a:solidFill>
                  <a:schemeClr val="tx1"/>
                </a:solidFill>
                <a:effectLst/>
                <a:latin typeface="Nunito" pitchFamily="2" charset="77"/>
              </a:rPr>
              <a:t>class contains at least one abstract method</a:t>
            </a:r>
            <a:r>
              <a:rPr lang="en-IN" b="0" i="0" dirty="0">
                <a:solidFill>
                  <a:schemeClr val="tx1"/>
                </a:solidFill>
                <a:effectLst/>
                <a:latin typeface="Nunito" pitchFamily="2" charset="77"/>
              </a:rPr>
              <a:t> then </a:t>
            </a:r>
            <a:r>
              <a:rPr lang="en-IN" b="1" i="0" dirty="0">
                <a:solidFill>
                  <a:schemeClr val="tx1"/>
                </a:solidFill>
                <a:effectLst/>
                <a:latin typeface="Nunito" pitchFamily="2" charset="77"/>
              </a:rPr>
              <a:t>compulsory we should declare the class as abstract</a:t>
            </a:r>
            <a:r>
              <a:rPr lang="en-IN" b="0" i="0" dirty="0">
                <a:solidFill>
                  <a:schemeClr val="tx1"/>
                </a:solidFill>
                <a:effectLst/>
                <a:latin typeface="Nunito" pitchFamily="2" charset="77"/>
              </a:rPr>
              <a:t> otherwise we will get a compile-time error.</a:t>
            </a:r>
          </a:p>
          <a:p>
            <a:pPr algn="just" rtl="0" fontAlgn="base"/>
            <a:r>
              <a:rPr lang="en-IN" b="0" i="0" dirty="0">
                <a:solidFill>
                  <a:schemeClr val="tx1"/>
                </a:solidFill>
                <a:effectLst/>
                <a:latin typeface="Nunito" pitchFamily="2" charset="77"/>
              </a:rPr>
              <a:t>we should use</a:t>
            </a:r>
            <a:r>
              <a:rPr lang="en-IN" b="1" i="0" dirty="0">
                <a:solidFill>
                  <a:schemeClr val="tx1"/>
                </a:solidFill>
                <a:effectLst/>
                <a:latin typeface="Nunito" pitchFamily="2" charset="77"/>
              </a:rPr>
              <a:t> abstract keyword.</a:t>
            </a:r>
            <a:endParaRPr lang="en-IN" b="0" i="0" dirty="0">
              <a:solidFill>
                <a:schemeClr val="tx1"/>
              </a:solidFill>
              <a:effectLst/>
              <a:latin typeface="Nunito" pitchFamily="2" charset="77"/>
            </a:endParaRPr>
          </a:p>
          <a:p>
            <a:pPr marL="0" indent="0" algn="l" fontAlgn="base">
              <a:buNone/>
            </a:pPr>
            <a:br>
              <a:rPr lang="en-IN" dirty="0">
                <a:solidFill>
                  <a:schemeClr val="tx1"/>
                </a:solidFill>
              </a:rPr>
            </a:br>
            <a:endParaRPr lang="en-US" dirty="0">
              <a:solidFill>
                <a:schemeClr val="tx1"/>
              </a:solidFill>
            </a:endParaRPr>
          </a:p>
        </p:txBody>
      </p:sp>
      <p:sp>
        <p:nvSpPr>
          <p:cNvPr id="4" name="Footer Placeholder 3">
            <a:extLst>
              <a:ext uri="{FF2B5EF4-FFF2-40B4-BE49-F238E27FC236}">
                <a16:creationId xmlns:a16="http://schemas.microsoft.com/office/drawing/2014/main" id="{625D0F5D-4835-CAAB-DD21-CB22A5A11111}"/>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744042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9B06A-68AB-C05B-931D-1CC0750B2F7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04C985E-59E8-B381-FD25-FDB58E4A79F0}"/>
              </a:ext>
            </a:extLst>
          </p:cNvPr>
          <p:cNvSpPr>
            <a:spLocks noGrp="1"/>
          </p:cNvSpPr>
          <p:nvPr>
            <p:ph idx="1"/>
          </p:nvPr>
        </p:nvSpPr>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abstract</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Base {</a:t>
            </a:r>
          </a:p>
          <a:p>
            <a:pPr marL="0" marR="0" indent="0">
              <a:spcBef>
                <a:spcPts val="0"/>
              </a:spcBef>
              <a:spcAft>
                <a:spcPts val="0"/>
              </a:spcAft>
              <a:buNone/>
            </a:pPr>
            <a:r>
              <a:rPr lang="en-IN" sz="1800" b="1" dirty="0">
                <a:solidFill>
                  <a:srgbClr val="7F0055"/>
                </a:solidFill>
                <a:effectLst/>
                <a:latin typeface="Menlo" panose="020B0609030804020204" pitchFamily="49" charset="0"/>
              </a:rPr>
              <a:t>abstract</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m1();</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Child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Base {</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m1() </a:t>
            </a:r>
          </a:p>
          <a:p>
            <a:pPr marL="0" marR="0" indent="0">
              <a:spcBef>
                <a:spcPts val="0"/>
              </a:spcBef>
              <a:spcAft>
                <a:spcPts val="0"/>
              </a:spcAft>
              <a:buNone/>
            </a:pP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000000"/>
                </a:solidFill>
                <a:effectLst/>
                <a:latin typeface="Menlo" panose="020B0609030804020204" pitchFamily="49" charset="0"/>
              </a:rPr>
              <a:t>System.</a:t>
            </a:r>
            <a:r>
              <a:rPr lang="en-IN" sz="1800" b="1" i="1" dirty="0" err="1">
                <a:solidFill>
                  <a:srgbClr val="0000C0"/>
                </a:solidFill>
                <a:effectLst/>
                <a:latin typeface="Menlo" panose="020B0609030804020204" pitchFamily="49" charset="0"/>
              </a:rPr>
              <a:t>out</a:t>
            </a:r>
            <a:r>
              <a:rPr lang="en-IN" sz="1800" dirty="0" err="1">
                <a:solidFill>
                  <a:srgbClr val="000000"/>
                </a:solidFill>
                <a:effectLst/>
                <a:latin typeface="Menlo" panose="020B0609030804020204" pitchFamily="49" charset="0"/>
              </a:rPr>
              <a:t>.print</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"Hello"</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Demo {</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static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main(String[] </a:t>
            </a:r>
            <a:r>
              <a:rPr lang="en-IN" sz="1800" dirty="0" err="1">
                <a:solidFill>
                  <a:srgbClr val="6A3E3E"/>
                </a:solidFill>
                <a:effectLst/>
                <a:latin typeface="Menlo" panose="020B0609030804020204" pitchFamily="49" charset="0"/>
              </a:rPr>
              <a:t>args</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Child </a:t>
            </a:r>
            <a:r>
              <a:rPr lang="en-IN" sz="1800" dirty="0">
                <a:solidFill>
                  <a:srgbClr val="6A3E3E"/>
                </a:solidFill>
                <a:effectLst/>
                <a:latin typeface="Menlo" panose="020B0609030804020204" pitchFamily="49" charset="0"/>
              </a:rPr>
              <a:t>c</a:t>
            </a:r>
            <a:r>
              <a:rPr lang="en-IN" sz="1800" dirty="0">
                <a:solidFill>
                  <a:srgbClr val="000000"/>
                </a:solidFill>
                <a:effectLst/>
                <a:latin typeface="Menlo" panose="020B0609030804020204" pitchFamily="49" charset="0"/>
              </a:rPr>
              <a:t> = </a:t>
            </a:r>
            <a:r>
              <a:rPr lang="en-IN" sz="1800" b="1" dirty="0">
                <a:solidFill>
                  <a:srgbClr val="7F0055"/>
                </a:solidFill>
                <a:effectLst/>
                <a:latin typeface="Menlo" panose="020B0609030804020204" pitchFamily="49" charset="0"/>
              </a:rPr>
              <a:t>new</a:t>
            </a:r>
            <a:r>
              <a:rPr lang="en-IN" sz="1800" dirty="0">
                <a:solidFill>
                  <a:srgbClr val="000000"/>
                </a:solidFill>
                <a:effectLst/>
                <a:latin typeface="Menlo" panose="020B0609030804020204" pitchFamily="49" charset="0"/>
              </a:rPr>
              <a:t> Child();</a:t>
            </a:r>
          </a:p>
          <a:p>
            <a:pPr marL="0" marR="0" indent="0">
              <a:spcBef>
                <a:spcPts val="0"/>
              </a:spcBef>
              <a:spcAft>
                <a:spcPts val="0"/>
              </a:spcAft>
              <a:buNone/>
            </a:pPr>
            <a:r>
              <a:rPr lang="en-IN" sz="1800" dirty="0">
                <a:solidFill>
                  <a:srgbClr val="6A3E3E"/>
                </a:solidFill>
                <a:effectLst/>
                <a:latin typeface="Menlo" panose="020B0609030804020204" pitchFamily="49" charset="0"/>
              </a:rPr>
              <a:t>c</a:t>
            </a:r>
            <a:r>
              <a:rPr lang="en-IN" sz="1800" dirty="0">
                <a:solidFill>
                  <a:srgbClr val="000000"/>
                </a:solidFill>
                <a:effectLst/>
                <a:latin typeface="Menlo" panose="020B0609030804020204" pitchFamily="49" charset="0"/>
              </a:rPr>
              <a:t>.m1();</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indent="0">
              <a:buNone/>
            </a:pPr>
            <a:endParaRPr lang="en-US" dirty="0"/>
          </a:p>
        </p:txBody>
      </p:sp>
      <p:sp>
        <p:nvSpPr>
          <p:cNvPr id="4" name="Footer Placeholder 3">
            <a:extLst>
              <a:ext uri="{FF2B5EF4-FFF2-40B4-BE49-F238E27FC236}">
                <a16:creationId xmlns:a16="http://schemas.microsoft.com/office/drawing/2014/main" id="{A70D2B65-4836-0C52-7765-65771260BE66}"/>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8590766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89C5F-F8D4-A361-E397-D8D0F9F9BC5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458BDD1-D751-6208-5932-E0EDF1C15E27}"/>
              </a:ext>
            </a:extLst>
          </p:cNvPr>
          <p:cNvSpPr>
            <a:spLocks noGrp="1"/>
          </p:cNvSpPr>
          <p:nvPr>
            <p:ph idx="1"/>
          </p:nvPr>
        </p:nvSpPr>
        <p:spPr/>
        <p:txBody>
          <a:bodyPr/>
          <a:lstStyle/>
          <a:p>
            <a:pPr algn="just" rtl="0" fontAlgn="base"/>
            <a:r>
              <a:rPr lang="en-IN" b="0" i="0" dirty="0">
                <a:solidFill>
                  <a:schemeClr val="tx1"/>
                </a:solidFill>
                <a:effectLst/>
                <a:latin typeface="Nunito" pitchFamily="2" charset="77"/>
              </a:rPr>
              <a:t>If the</a:t>
            </a:r>
            <a:r>
              <a:rPr lang="en-IN" b="1" i="0" dirty="0">
                <a:solidFill>
                  <a:schemeClr val="tx1"/>
                </a:solidFill>
                <a:effectLst/>
                <a:latin typeface="Nunito" pitchFamily="2" charset="77"/>
              </a:rPr>
              <a:t> Child </a:t>
            </a:r>
            <a:r>
              <a:rPr lang="en-IN" b="0" i="0" dirty="0">
                <a:solidFill>
                  <a:schemeClr val="tx1"/>
                </a:solidFill>
                <a:effectLst/>
                <a:latin typeface="Nunito" pitchFamily="2" charset="77"/>
              </a:rPr>
              <a:t>class does not provide implementation to all abstract methods of the Parent class then we should declare that Child class as </a:t>
            </a:r>
            <a:r>
              <a:rPr lang="en-IN" b="1" i="0" dirty="0">
                <a:solidFill>
                  <a:schemeClr val="tx1"/>
                </a:solidFill>
                <a:effectLst/>
                <a:latin typeface="Nunito" pitchFamily="2" charset="77"/>
              </a:rPr>
              <a:t>abstract</a:t>
            </a:r>
            <a:r>
              <a:rPr lang="en-IN" b="0" i="0" dirty="0">
                <a:solidFill>
                  <a:schemeClr val="tx1"/>
                </a:solidFill>
                <a:effectLst/>
                <a:latin typeface="Nunito" pitchFamily="2" charset="77"/>
              </a:rPr>
              <a:t> so that the next level Child class should provide implementation to the remaining abstract method.</a:t>
            </a:r>
          </a:p>
          <a:p>
            <a:pPr marL="0" marR="0" indent="0">
              <a:spcBef>
                <a:spcPts val="0"/>
              </a:spcBef>
              <a:spcAft>
                <a:spcPts val="0"/>
              </a:spcAft>
              <a:buNone/>
            </a:pPr>
            <a:r>
              <a:rPr lang="en-IN" sz="2800" b="1" dirty="0">
                <a:solidFill>
                  <a:srgbClr val="7F0055"/>
                </a:solidFill>
                <a:effectLst/>
                <a:latin typeface="Menlo" panose="020B0609030804020204" pitchFamily="49" charset="0"/>
              </a:rPr>
              <a:t>abstract</a:t>
            </a:r>
            <a:r>
              <a:rPr lang="en-IN" sz="2800" dirty="0">
                <a:solidFill>
                  <a:srgbClr val="000000"/>
                </a:solidFill>
                <a:effectLst/>
                <a:latin typeface="Menlo" panose="020B0609030804020204" pitchFamily="49" charset="0"/>
              </a:rPr>
              <a:t> </a:t>
            </a:r>
            <a:r>
              <a:rPr lang="en-IN" sz="2800" b="1" dirty="0">
                <a:solidFill>
                  <a:srgbClr val="7F0055"/>
                </a:solidFill>
                <a:effectLst/>
                <a:latin typeface="Menlo" panose="020B0609030804020204" pitchFamily="49" charset="0"/>
              </a:rPr>
              <a:t>class</a:t>
            </a:r>
            <a:r>
              <a:rPr lang="en-IN" sz="2800" dirty="0">
                <a:solidFill>
                  <a:srgbClr val="000000"/>
                </a:solidFill>
                <a:effectLst/>
                <a:latin typeface="Menlo" panose="020B0609030804020204" pitchFamily="49" charset="0"/>
              </a:rPr>
              <a:t> Base {</a:t>
            </a:r>
          </a:p>
          <a:p>
            <a:pPr marL="0" marR="0" indent="0">
              <a:spcBef>
                <a:spcPts val="0"/>
              </a:spcBef>
              <a:spcAft>
                <a:spcPts val="0"/>
              </a:spcAft>
              <a:buNone/>
            </a:pPr>
            <a:r>
              <a:rPr lang="en-IN" sz="2800" b="1" dirty="0">
                <a:solidFill>
                  <a:srgbClr val="7F0055"/>
                </a:solidFill>
                <a:effectLst/>
                <a:latin typeface="Menlo" panose="020B0609030804020204" pitchFamily="49" charset="0"/>
              </a:rPr>
              <a:t>abstract</a:t>
            </a:r>
            <a:r>
              <a:rPr lang="en-IN" sz="2800" dirty="0">
                <a:solidFill>
                  <a:srgbClr val="000000"/>
                </a:solidFill>
                <a:effectLst/>
                <a:latin typeface="Menlo" panose="020B0609030804020204" pitchFamily="49" charset="0"/>
              </a:rPr>
              <a:t> </a:t>
            </a:r>
            <a:r>
              <a:rPr lang="en-IN" sz="2800" b="1" dirty="0">
                <a:solidFill>
                  <a:srgbClr val="7F0055"/>
                </a:solidFill>
                <a:effectLst/>
                <a:latin typeface="Menlo" panose="020B0609030804020204" pitchFamily="49" charset="0"/>
              </a:rPr>
              <a:t>void</a:t>
            </a:r>
            <a:r>
              <a:rPr lang="en-IN" sz="2800" dirty="0">
                <a:solidFill>
                  <a:srgbClr val="000000"/>
                </a:solidFill>
                <a:effectLst/>
                <a:latin typeface="Menlo" panose="020B0609030804020204" pitchFamily="49" charset="0"/>
              </a:rPr>
              <a:t> m1();</a:t>
            </a:r>
          </a:p>
          <a:p>
            <a:pPr marL="0" marR="0" indent="0">
              <a:spcBef>
                <a:spcPts val="0"/>
              </a:spcBef>
              <a:spcAft>
                <a:spcPts val="0"/>
              </a:spcAft>
              <a:buNone/>
            </a:pPr>
            <a:r>
              <a:rPr lang="en-IN" sz="2800" b="1" dirty="0">
                <a:solidFill>
                  <a:srgbClr val="7F0055"/>
                </a:solidFill>
                <a:effectLst/>
                <a:latin typeface="Menlo" panose="020B0609030804020204" pitchFamily="49" charset="0"/>
              </a:rPr>
              <a:t>abstract</a:t>
            </a:r>
            <a:r>
              <a:rPr lang="en-IN" sz="2800" dirty="0">
                <a:solidFill>
                  <a:srgbClr val="000000"/>
                </a:solidFill>
                <a:effectLst/>
                <a:latin typeface="Menlo" panose="020B0609030804020204" pitchFamily="49" charset="0"/>
              </a:rPr>
              <a:t> </a:t>
            </a:r>
            <a:r>
              <a:rPr lang="en-IN" sz="2800" b="1" dirty="0">
                <a:solidFill>
                  <a:srgbClr val="7F0055"/>
                </a:solidFill>
                <a:effectLst/>
                <a:latin typeface="Menlo" panose="020B0609030804020204" pitchFamily="49" charset="0"/>
              </a:rPr>
              <a:t>void</a:t>
            </a:r>
            <a:r>
              <a:rPr lang="en-IN" sz="2800" dirty="0">
                <a:solidFill>
                  <a:srgbClr val="000000"/>
                </a:solidFill>
                <a:effectLst/>
                <a:latin typeface="Menlo" panose="020B0609030804020204" pitchFamily="49" charset="0"/>
              </a:rPr>
              <a:t> m2();</a:t>
            </a:r>
          </a:p>
          <a:p>
            <a:pPr marL="0" marR="0" indent="0">
              <a:spcBef>
                <a:spcPts val="0"/>
              </a:spcBef>
              <a:spcAft>
                <a:spcPts val="0"/>
              </a:spcAft>
              <a:buNone/>
            </a:pPr>
            <a:r>
              <a:rPr lang="en-IN" sz="2800" b="1" dirty="0">
                <a:solidFill>
                  <a:srgbClr val="7F0055"/>
                </a:solidFill>
                <a:effectLst/>
                <a:latin typeface="Menlo" panose="020B0609030804020204" pitchFamily="49" charset="0"/>
              </a:rPr>
              <a:t>abstract</a:t>
            </a:r>
            <a:r>
              <a:rPr lang="en-IN" sz="2800" dirty="0">
                <a:solidFill>
                  <a:srgbClr val="000000"/>
                </a:solidFill>
                <a:effectLst/>
                <a:latin typeface="Menlo" panose="020B0609030804020204" pitchFamily="49" charset="0"/>
              </a:rPr>
              <a:t> </a:t>
            </a:r>
            <a:r>
              <a:rPr lang="en-IN" sz="2800" b="1" dirty="0">
                <a:solidFill>
                  <a:srgbClr val="7F0055"/>
                </a:solidFill>
                <a:effectLst/>
                <a:latin typeface="Menlo" panose="020B0609030804020204" pitchFamily="49" charset="0"/>
              </a:rPr>
              <a:t>void</a:t>
            </a:r>
            <a:r>
              <a:rPr lang="en-IN" sz="2800" dirty="0">
                <a:solidFill>
                  <a:srgbClr val="000000"/>
                </a:solidFill>
                <a:effectLst/>
                <a:latin typeface="Menlo" panose="020B0609030804020204" pitchFamily="49" charset="0"/>
              </a:rPr>
              <a:t> m3();</a:t>
            </a:r>
          </a:p>
          <a:p>
            <a:pPr marL="0" marR="0" indent="0">
              <a:spcBef>
                <a:spcPts val="0"/>
              </a:spcBef>
              <a:spcAft>
                <a:spcPts val="0"/>
              </a:spcAft>
              <a:buNone/>
            </a:pPr>
            <a:r>
              <a:rPr lang="en-IN" sz="2800" dirty="0">
                <a:solidFill>
                  <a:srgbClr val="000000"/>
                </a:solidFill>
                <a:effectLst/>
                <a:latin typeface="Menlo" panose="020B0609030804020204" pitchFamily="49" charset="0"/>
              </a:rPr>
              <a:t>}</a:t>
            </a:r>
            <a:br>
              <a:rPr lang="en-IN" dirty="0">
                <a:solidFill>
                  <a:schemeClr val="tx1"/>
                </a:solidFill>
              </a:rPr>
            </a:br>
            <a:endParaRPr lang="en-US" dirty="0">
              <a:solidFill>
                <a:schemeClr val="tx1"/>
              </a:solidFill>
            </a:endParaRPr>
          </a:p>
        </p:txBody>
      </p:sp>
      <p:sp>
        <p:nvSpPr>
          <p:cNvPr id="4" name="Footer Placeholder 3">
            <a:extLst>
              <a:ext uri="{FF2B5EF4-FFF2-40B4-BE49-F238E27FC236}">
                <a16:creationId xmlns:a16="http://schemas.microsoft.com/office/drawing/2014/main" id="{7A0E7E6A-B1FF-4D75-0EA3-3BFE33A69030}"/>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42825197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C3B20-5924-1A9E-5632-F24D950C011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B84886-9199-E68D-F18B-260075306B24}"/>
              </a:ext>
            </a:extLst>
          </p:cNvPr>
          <p:cNvSpPr>
            <a:spLocks noGrp="1"/>
          </p:cNvSpPr>
          <p:nvPr>
            <p:ph idx="1"/>
          </p:nvPr>
        </p:nvSpPr>
        <p:spPr>
          <a:xfrm>
            <a:off x="457200" y="487362"/>
            <a:ext cx="8229600" cy="5837238"/>
          </a:xfrm>
        </p:spPr>
        <p:txBody>
          <a:bodyPr/>
          <a:lstStyle/>
          <a:p>
            <a:pPr marL="0" marR="0">
              <a:spcBef>
                <a:spcPts val="0"/>
              </a:spcBef>
              <a:spcAft>
                <a:spcPts val="0"/>
              </a:spcAft>
            </a:pPr>
            <a:r>
              <a:rPr lang="en-IN" sz="1400" b="1" dirty="0">
                <a:solidFill>
                  <a:srgbClr val="7F0055"/>
                </a:solidFill>
                <a:effectLst/>
                <a:latin typeface="Menlo" panose="020B0609030804020204" pitchFamily="49" charset="0"/>
              </a:rPr>
              <a:t>abstract</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class</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FirstChild</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extends</a:t>
            </a:r>
            <a:r>
              <a:rPr lang="en-IN" sz="1400" dirty="0">
                <a:solidFill>
                  <a:srgbClr val="000000"/>
                </a:solidFill>
                <a:effectLst/>
                <a:latin typeface="Menlo" panose="020B0609030804020204" pitchFamily="49" charset="0"/>
              </a:rPr>
              <a:t> Base {</a:t>
            </a:r>
          </a:p>
          <a:p>
            <a:pPr marL="0" marR="0">
              <a:spcBef>
                <a:spcPts val="0"/>
              </a:spcBef>
              <a:spcAft>
                <a:spcPts val="0"/>
              </a:spcAft>
            </a:pPr>
            <a:r>
              <a:rPr lang="en-IN" sz="1400" b="1" dirty="0">
                <a:solidFill>
                  <a:srgbClr val="7F0055"/>
                </a:solidFill>
                <a:effectLst/>
                <a:latin typeface="Menlo" panose="020B0609030804020204" pitchFamily="49" charset="0"/>
              </a:rPr>
              <a:t>public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void</a:t>
            </a:r>
            <a:r>
              <a:rPr lang="en-IN" sz="1400" dirty="0">
                <a:solidFill>
                  <a:srgbClr val="000000"/>
                </a:solidFill>
                <a:effectLst/>
                <a:latin typeface="Menlo" panose="020B0609030804020204" pitchFamily="49" charset="0"/>
              </a:rPr>
              <a:t> m1() {</a:t>
            </a:r>
          </a:p>
          <a:p>
            <a:pPr marL="0" marR="0">
              <a:spcBef>
                <a:spcPts val="0"/>
              </a:spcBef>
              <a:spcAft>
                <a:spcPts val="0"/>
              </a:spcAft>
            </a:pPr>
            <a:r>
              <a:rPr lang="en-IN" sz="1400" dirty="0" err="1">
                <a:solidFill>
                  <a:srgbClr val="000000"/>
                </a:solidFill>
                <a:effectLst/>
                <a:latin typeface="Menlo" panose="020B0609030804020204" pitchFamily="49" charset="0"/>
              </a:rPr>
              <a:t>System.</a:t>
            </a:r>
            <a:r>
              <a:rPr lang="en-IN" sz="1400" b="1" i="1" dirty="0" err="1">
                <a:solidFill>
                  <a:srgbClr val="0000C0"/>
                </a:solidFill>
                <a:effectLst/>
                <a:latin typeface="Menlo" panose="020B0609030804020204" pitchFamily="49" charset="0"/>
              </a:rPr>
              <a:t>out</a:t>
            </a:r>
            <a:r>
              <a:rPr lang="en-IN" sz="1400" dirty="0" err="1">
                <a:solidFill>
                  <a:srgbClr val="000000"/>
                </a:solidFill>
                <a:effectLst/>
                <a:latin typeface="Menlo" panose="020B0609030804020204" pitchFamily="49" charset="0"/>
              </a:rPr>
              <a:t>.println</a:t>
            </a:r>
            <a:r>
              <a:rPr lang="en-IN" sz="1400" dirty="0">
                <a:solidFill>
                  <a:srgbClr val="000000"/>
                </a:solidFill>
                <a:effectLst/>
                <a:latin typeface="Menlo" panose="020B0609030804020204" pitchFamily="49" charset="0"/>
              </a:rPr>
              <a:t>(</a:t>
            </a:r>
            <a:r>
              <a:rPr lang="en-IN" sz="1400" dirty="0">
                <a:solidFill>
                  <a:srgbClr val="2A00FF"/>
                </a:solidFill>
                <a:effectLst/>
                <a:latin typeface="Menlo" panose="020B0609030804020204" pitchFamily="49" charset="0"/>
              </a:rPr>
              <a:t>"Inside m1"</a:t>
            </a:r>
            <a:r>
              <a:rPr lang="en-IN" sz="1400" dirty="0">
                <a:solidFill>
                  <a:srgbClr val="000000"/>
                </a:solidFill>
                <a:effectLst/>
                <a:latin typeface="Menlo" panose="020B0609030804020204" pitchFamily="49" charset="0"/>
              </a:rPr>
              <a:t>); </a:t>
            </a:r>
          </a:p>
          <a:p>
            <a:pPr marL="0" marR="0">
              <a:spcBef>
                <a:spcPts val="0"/>
              </a:spcBef>
              <a:spcAft>
                <a:spcPts val="0"/>
              </a:spcAft>
            </a:pPr>
            <a:r>
              <a:rPr lang="en-IN" sz="1400" dirty="0">
                <a:solidFill>
                  <a:srgbClr val="000000"/>
                </a:solidFill>
                <a:effectLst/>
                <a:latin typeface="Menlo" panose="020B0609030804020204" pitchFamily="49" charset="0"/>
              </a:rPr>
              <a:t>}</a:t>
            </a:r>
          </a:p>
          <a:p>
            <a:pPr marL="0" marR="0">
              <a:spcBef>
                <a:spcPts val="0"/>
              </a:spcBef>
              <a:spcAft>
                <a:spcPts val="0"/>
              </a:spcAft>
            </a:pPr>
            <a:r>
              <a:rPr lang="en-IN" sz="1400" dirty="0">
                <a:solidFill>
                  <a:srgbClr val="000000"/>
                </a:solidFill>
                <a:effectLst/>
                <a:latin typeface="Menlo" panose="020B0609030804020204" pitchFamily="49" charset="0"/>
              </a:rPr>
              <a:t>}</a:t>
            </a:r>
          </a:p>
          <a:p>
            <a:pPr marL="0" marR="0">
              <a:spcBef>
                <a:spcPts val="0"/>
              </a:spcBef>
              <a:spcAft>
                <a:spcPts val="0"/>
              </a:spcAft>
            </a:pPr>
            <a:endParaRPr lang="en-IN" sz="1400" dirty="0">
              <a:solidFill>
                <a:srgbClr val="000000"/>
              </a:solidFill>
              <a:effectLst/>
              <a:latin typeface="Menlo" panose="020B0609030804020204" pitchFamily="49" charset="0"/>
            </a:endParaRPr>
          </a:p>
          <a:p>
            <a:pPr marL="0" marR="0">
              <a:spcBef>
                <a:spcPts val="0"/>
              </a:spcBef>
              <a:spcAft>
                <a:spcPts val="0"/>
              </a:spcAft>
            </a:pPr>
            <a:r>
              <a:rPr lang="en-IN" sz="1400" b="1" dirty="0">
                <a:solidFill>
                  <a:srgbClr val="7F0055"/>
                </a:solidFill>
                <a:effectLst/>
                <a:latin typeface="Menlo" panose="020B0609030804020204" pitchFamily="49" charset="0"/>
              </a:rPr>
              <a:t>class</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SecondChild</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extends</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FirstChild</a:t>
            </a:r>
            <a:r>
              <a:rPr lang="en-IN" sz="1400" dirty="0">
                <a:solidFill>
                  <a:srgbClr val="000000"/>
                </a:solidFill>
                <a:effectLst/>
                <a:latin typeface="Menlo" panose="020B0609030804020204" pitchFamily="49" charset="0"/>
              </a:rPr>
              <a:t> {</a:t>
            </a:r>
          </a:p>
          <a:p>
            <a:pPr marL="0" marR="0">
              <a:spcBef>
                <a:spcPts val="0"/>
              </a:spcBef>
              <a:spcAft>
                <a:spcPts val="0"/>
              </a:spcAft>
            </a:pPr>
            <a:r>
              <a:rPr lang="en-IN" sz="1400" b="1" dirty="0">
                <a:solidFill>
                  <a:srgbClr val="7F0055"/>
                </a:solidFill>
                <a:effectLst/>
                <a:latin typeface="Menlo" panose="020B0609030804020204" pitchFamily="49" charset="0"/>
              </a:rPr>
              <a:t>public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void</a:t>
            </a:r>
            <a:r>
              <a:rPr lang="en-IN" sz="1400" dirty="0">
                <a:solidFill>
                  <a:srgbClr val="000000"/>
                </a:solidFill>
                <a:effectLst/>
                <a:latin typeface="Menlo" panose="020B0609030804020204" pitchFamily="49" charset="0"/>
              </a:rPr>
              <a:t> m2() {</a:t>
            </a:r>
          </a:p>
          <a:p>
            <a:pPr marL="0" marR="0">
              <a:spcBef>
                <a:spcPts val="0"/>
              </a:spcBef>
              <a:spcAft>
                <a:spcPts val="0"/>
              </a:spcAft>
            </a:pPr>
            <a:r>
              <a:rPr lang="en-IN" sz="1400" dirty="0" err="1">
                <a:solidFill>
                  <a:srgbClr val="000000"/>
                </a:solidFill>
                <a:effectLst/>
                <a:latin typeface="Menlo" panose="020B0609030804020204" pitchFamily="49" charset="0"/>
              </a:rPr>
              <a:t>System.</a:t>
            </a:r>
            <a:r>
              <a:rPr lang="en-IN" sz="1400" b="1" i="1" dirty="0" err="1">
                <a:solidFill>
                  <a:srgbClr val="0000C0"/>
                </a:solidFill>
                <a:effectLst/>
                <a:latin typeface="Menlo" panose="020B0609030804020204" pitchFamily="49" charset="0"/>
              </a:rPr>
              <a:t>out</a:t>
            </a:r>
            <a:r>
              <a:rPr lang="en-IN" sz="1400" dirty="0" err="1">
                <a:solidFill>
                  <a:srgbClr val="000000"/>
                </a:solidFill>
                <a:effectLst/>
                <a:latin typeface="Menlo" panose="020B0609030804020204" pitchFamily="49" charset="0"/>
              </a:rPr>
              <a:t>.println</a:t>
            </a:r>
            <a:r>
              <a:rPr lang="en-IN" sz="1400" dirty="0">
                <a:solidFill>
                  <a:srgbClr val="000000"/>
                </a:solidFill>
                <a:effectLst/>
                <a:latin typeface="Menlo" panose="020B0609030804020204" pitchFamily="49" charset="0"/>
              </a:rPr>
              <a:t>(</a:t>
            </a:r>
            <a:r>
              <a:rPr lang="en-IN" sz="1400" dirty="0">
                <a:solidFill>
                  <a:srgbClr val="2A00FF"/>
                </a:solidFill>
                <a:effectLst/>
                <a:latin typeface="Menlo" panose="020B0609030804020204" pitchFamily="49" charset="0"/>
              </a:rPr>
              <a:t>"Inside m2"</a:t>
            </a:r>
            <a:r>
              <a:rPr lang="en-IN" sz="1400" dirty="0">
                <a:solidFill>
                  <a:srgbClr val="000000"/>
                </a:solidFill>
                <a:effectLst/>
                <a:latin typeface="Menlo" panose="020B0609030804020204" pitchFamily="49" charset="0"/>
              </a:rPr>
              <a:t>); </a:t>
            </a:r>
          </a:p>
          <a:p>
            <a:pPr marL="0" marR="0">
              <a:spcBef>
                <a:spcPts val="0"/>
              </a:spcBef>
              <a:spcAft>
                <a:spcPts val="0"/>
              </a:spcAft>
            </a:pPr>
            <a:r>
              <a:rPr lang="en-IN" sz="1400" dirty="0">
                <a:solidFill>
                  <a:srgbClr val="000000"/>
                </a:solidFill>
                <a:effectLst/>
                <a:latin typeface="Menlo" panose="020B0609030804020204" pitchFamily="49" charset="0"/>
              </a:rPr>
              <a:t>}</a:t>
            </a:r>
          </a:p>
          <a:p>
            <a:pPr marL="0" marR="0">
              <a:spcBef>
                <a:spcPts val="0"/>
              </a:spcBef>
              <a:spcAft>
                <a:spcPts val="0"/>
              </a:spcAft>
            </a:pPr>
            <a:r>
              <a:rPr lang="en-IN" sz="1400" b="1" dirty="0">
                <a:solidFill>
                  <a:srgbClr val="7F0055"/>
                </a:solidFill>
                <a:effectLst/>
                <a:latin typeface="Menlo" panose="020B0609030804020204" pitchFamily="49" charset="0"/>
              </a:rPr>
              <a:t>public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void</a:t>
            </a:r>
            <a:r>
              <a:rPr lang="en-IN" sz="1400" dirty="0">
                <a:solidFill>
                  <a:srgbClr val="000000"/>
                </a:solidFill>
                <a:effectLst/>
                <a:latin typeface="Menlo" panose="020B0609030804020204" pitchFamily="49" charset="0"/>
              </a:rPr>
              <a:t> m3() {</a:t>
            </a:r>
          </a:p>
          <a:p>
            <a:pPr marL="0" marR="0">
              <a:spcBef>
                <a:spcPts val="0"/>
              </a:spcBef>
              <a:spcAft>
                <a:spcPts val="0"/>
              </a:spcAft>
            </a:pPr>
            <a:r>
              <a:rPr lang="en-IN" sz="1400" dirty="0" err="1">
                <a:solidFill>
                  <a:srgbClr val="000000"/>
                </a:solidFill>
                <a:effectLst/>
                <a:latin typeface="Menlo" panose="020B0609030804020204" pitchFamily="49" charset="0"/>
              </a:rPr>
              <a:t>System.</a:t>
            </a:r>
            <a:r>
              <a:rPr lang="en-IN" sz="1400" b="1" i="1" dirty="0" err="1">
                <a:solidFill>
                  <a:srgbClr val="0000C0"/>
                </a:solidFill>
                <a:effectLst/>
                <a:latin typeface="Menlo" panose="020B0609030804020204" pitchFamily="49" charset="0"/>
              </a:rPr>
              <a:t>out</a:t>
            </a:r>
            <a:r>
              <a:rPr lang="en-IN" sz="1400" dirty="0" err="1">
                <a:solidFill>
                  <a:srgbClr val="000000"/>
                </a:solidFill>
                <a:effectLst/>
                <a:latin typeface="Menlo" panose="020B0609030804020204" pitchFamily="49" charset="0"/>
              </a:rPr>
              <a:t>.println</a:t>
            </a:r>
            <a:r>
              <a:rPr lang="en-IN" sz="1400" dirty="0">
                <a:solidFill>
                  <a:srgbClr val="000000"/>
                </a:solidFill>
                <a:effectLst/>
                <a:latin typeface="Menlo" panose="020B0609030804020204" pitchFamily="49" charset="0"/>
              </a:rPr>
              <a:t>(</a:t>
            </a:r>
            <a:r>
              <a:rPr lang="en-IN" sz="1400" dirty="0">
                <a:solidFill>
                  <a:srgbClr val="2A00FF"/>
                </a:solidFill>
                <a:effectLst/>
                <a:latin typeface="Menlo" panose="020B0609030804020204" pitchFamily="49" charset="0"/>
              </a:rPr>
              <a:t>"Inside m3"</a:t>
            </a:r>
            <a:r>
              <a:rPr lang="en-IN" sz="1400" dirty="0">
                <a:solidFill>
                  <a:srgbClr val="000000"/>
                </a:solidFill>
                <a:effectLst/>
                <a:latin typeface="Menlo" panose="020B0609030804020204" pitchFamily="49" charset="0"/>
              </a:rPr>
              <a:t>);</a:t>
            </a:r>
          </a:p>
          <a:p>
            <a:pPr marL="0" marR="0">
              <a:spcBef>
                <a:spcPts val="0"/>
              </a:spcBef>
              <a:spcAft>
                <a:spcPts val="0"/>
              </a:spcAft>
            </a:pPr>
            <a:r>
              <a:rPr lang="en-IN" sz="1400" dirty="0">
                <a:solidFill>
                  <a:srgbClr val="000000"/>
                </a:solidFill>
                <a:effectLst/>
                <a:latin typeface="Menlo" panose="020B0609030804020204" pitchFamily="49" charset="0"/>
              </a:rPr>
              <a:t>}</a:t>
            </a:r>
          </a:p>
          <a:p>
            <a:pPr marL="0" marR="0">
              <a:spcBef>
                <a:spcPts val="0"/>
              </a:spcBef>
              <a:spcAft>
                <a:spcPts val="0"/>
              </a:spcAft>
            </a:pPr>
            <a:r>
              <a:rPr lang="en-IN" sz="1400" dirty="0">
                <a:solidFill>
                  <a:srgbClr val="000000"/>
                </a:solidFill>
                <a:effectLst/>
                <a:latin typeface="Menlo" panose="020B0609030804020204" pitchFamily="49" charset="0"/>
              </a:rPr>
              <a:t>}</a:t>
            </a:r>
          </a:p>
          <a:p>
            <a:pPr marL="0" marR="0">
              <a:spcBef>
                <a:spcPts val="0"/>
              </a:spcBef>
              <a:spcAft>
                <a:spcPts val="0"/>
              </a:spcAft>
            </a:pPr>
            <a:endParaRPr lang="en-IN" sz="1400" dirty="0">
              <a:solidFill>
                <a:srgbClr val="000000"/>
              </a:solidFill>
              <a:effectLst/>
              <a:latin typeface="Menlo" panose="020B0609030804020204" pitchFamily="49" charset="0"/>
            </a:endParaRPr>
          </a:p>
          <a:p>
            <a:pPr marL="0" marR="0">
              <a:spcBef>
                <a:spcPts val="0"/>
              </a:spcBef>
              <a:spcAft>
                <a:spcPts val="0"/>
              </a:spcAft>
            </a:pPr>
            <a:r>
              <a:rPr lang="en-IN" sz="1400" b="1" dirty="0">
                <a:solidFill>
                  <a:srgbClr val="7F0055"/>
                </a:solidFill>
                <a:effectLst/>
                <a:latin typeface="Menlo" panose="020B0609030804020204" pitchFamily="49" charset="0"/>
              </a:rPr>
              <a:t>class</a:t>
            </a:r>
            <a:r>
              <a:rPr lang="en-IN" sz="1400" dirty="0">
                <a:solidFill>
                  <a:srgbClr val="000000"/>
                </a:solidFill>
                <a:effectLst/>
                <a:latin typeface="Menlo" panose="020B0609030804020204" pitchFamily="49" charset="0"/>
              </a:rPr>
              <a:t> Demo {</a:t>
            </a:r>
          </a:p>
          <a:p>
            <a:pPr marL="0" marR="0">
              <a:spcBef>
                <a:spcPts val="0"/>
              </a:spcBef>
              <a:spcAft>
                <a:spcPts val="0"/>
              </a:spcAft>
            </a:pPr>
            <a:r>
              <a:rPr lang="en-IN" sz="1400" b="1" dirty="0">
                <a:solidFill>
                  <a:srgbClr val="7F0055"/>
                </a:solidFill>
                <a:effectLst/>
                <a:latin typeface="Menlo" panose="020B0609030804020204" pitchFamily="49" charset="0"/>
              </a:rPr>
              <a:t>public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static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void</a:t>
            </a:r>
            <a:r>
              <a:rPr lang="en-IN" sz="1400" dirty="0">
                <a:solidFill>
                  <a:srgbClr val="000000"/>
                </a:solidFill>
                <a:effectLst/>
                <a:latin typeface="Menlo" panose="020B0609030804020204" pitchFamily="49" charset="0"/>
              </a:rPr>
              <a:t> main(String[] </a:t>
            </a:r>
            <a:r>
              <a:rPr lang="en-IN" sz="1400" dirty="0" err="1">
                <a:solidFill>
                  <a:srgbClr val="6A3E3E"/>
                </a:solidFill>
                <a:effectLst/>
                <a:latin typeface="Menlo" panose="020B0609030804020204" pitchFamily="49" charset="0"/>
              </a:rPr>
              <a:t>args</a:t>
            </a:r>
            <a:r>
              <a:rPr lang="en-IN" sz="1400" dirty="0">
                <a:solidFill>
                  <a:srgbClr val="000000"/>
                </a:solidFill>
                <a:effectLst/>
                <a:latin typeface="Menlo" panose="020B0609030804020204" pitchFamily="49" charset="0"/>
              </a:rPr>
              <a:t>)</a:t>
            </a:r>
          </a:p>
          <a:p>
            <a:pPr marL="0" marR="0">
              <a:spcBef>
                <a:spcPts val="0"/>
              </a:spcBef>
              <a:spcAft>
                <a:spcPts val="0"/>
              </a:spcAft>
            </a:pPr>
            <a:r>
              <a:rPr lang="en-IN" sz="1400" dirty="0">
                <a:solidFill>
                  <a:srgbClr val="000000"/>
                </a:solidFill>
                <a:effectLst/>
                <a:latin typeface="Menlo" panose="020B0609030804020204" pitchFamily="49" charset="0"/>
              </a:rPr>
              <a:t>{</a:t>
            </a:r>
          </a:p>
          <a:p>
            <a:pPr marL="0" marR="0">
              <a:spcBef>
                <a:spcPts val="0"/>
              </a:spcBef>
              <a:spcAft>
                <a:spcPts val="0"/>
              </a:spcAft>
            </a:pPr>
            <a:r>
              <a:rPr lang="en-IN" sz="1400" dirty="0">
                <a:solidFill>
                  <a:srgbClr val="3F7F5F"/>
                </a:solidFill>
                <a:effectLst/>
                <a:latin typeface="Menlo" panose="020B0609030804020204" pitchFamily="49" charset="0"/>
              </a:rPr>
              <a:t>// </a:t>
            </a:r>
            <a:r>
              <a:rPr lang="en-IN" sz="1400" dirty="0" err="1">
                <a:solidFill>
                  <a:srgbClr val="3F7F5F"/>
                </a:solidFill>
                <a:effectLst/>
                <a:latin typeface="Menlo" panose="020B0609030804020204" pitchFamily="49" charset="0"/>
              </a:rPr>
              <a:t>FirstChild</a:t>
            </a:r>
            <a:r>
              <a:rPr lang="en-IN" sz="1400" dirty="0">
                <a:solidFill>
                  <a:srgbClr val="3F7F5F"/>
                </a:solidFill>
                <a:effectLst/>
                <a:latin typeface="Menlo" panose="020B0609030804020204" pitchFamily="49" charset="0"/>
              </a:rPr>
              <a:t> f=new </a:t>
            </a:r>
            <a:r>
              <a:rPr lang="en-IN" sz="1400" dirty="0" err="1">
                <a:solidFill>
                  <a:srgbClr val="3F7F5F"/>
                </a:solidFill>
                <a:effectLst/>
                <a:latin typeface="Menlo" panose="020B0609030804020204" pitchFamily="49" charset="0"/>
              </a:rPr>
              <a:t>FirstChild</a:t>
            </a:r>
            <a:r>
              <a:rPr lang="en-IN" sz="1400" dirty="0">
                <a:solidFill>
                  <a:srgbClr val="3F7F5F"/>
                </a:solidFill>
                <a:effectLst/>
                <a:latin typeface="Menlo" panose="020B0609030804020204" pitchFamily="49" charset="0"/>
              </a:rPr>
              <a:t>();</a:t>
            </a:r>
            <a:endParaRPr lang="en-IN" sz="1400" dirty="0">
              <a:solidFill>
                <a:srgbClr val="000000"/>
              </a:solidFill>
              <a:effectLst/>
              <a:latin typeface="Menlo" panose="020B0609030804020204" pitchFamily="49" charset="0"/>
            </a:endParaRPr>
          </a:p>
          <a:p>
            <a:pPr marL="0" marR="0">
              <a:spcBef>
                <a:spcPts val="0"/>
              </a:spcBef>
              <a:spcAft>
                <a:spcPts val="0"/>
              </a:spcAft>
            </a:pPr>
            <a:r>
              <a:rPr lang="en-IN" sz="1400" dirty="0">
                <a:solidFill>
                  <a:srgbClr val="3F7F5F"/>
                </a:solidFill>
                <a:effectLst/>
                <a:latin typeface="Menlo" panose="020B0609030804020204" pitchFamily="49" charset="0"/>
              </a:rPr>
              <a:t>// f.m1();</a:t>
            </a:r>
            <a:endParaRPr lang="en-IN" sz="1400" dirty="0">
              <a:solidFill>
                <a:srgbClr val="000000"/>
              </a:solidFill>
              <a:effectLst/>
              <a:latin typeface="Menlo" panose="020B0609030804020204" pitchFamily="49" charset="0"/>
            </a:endParaRPr>
          </a:p>
          <a:p>
            <a:pPr marL="0" marR="0">
              <a:spcBef>
                <a:spcPts val="0"/>
              </a:spcBef>
              <a:spcAft>
                <a:spcPts val="0"/>
              </a:spcAft>
            </a:pPr>
            <a:endParaRPr lang="en-IN" sz="1400" dirty="0">
              <a:solidFill>
                <a:srgbClr val="000000"/>
              </a:solidFill>
              <a:effectLst/>
              <a:latin typeface="Menlo" panose="020B0609030804020204" pitchFamily="49" charset="0"/>
            </a:endParaRPr>
          </a:p>
          <a:p>
            <a:pPr marL="0" marR="0">
              <a:spcBef>
                <a:spcPts val="0"/>
              </a:spcBef>
              <a:spcAft>
                <a:spcPts val="0"/>
              </a:spcAft>
            </a:pPr>
            <a:r>
              <a:rPr lang="en-IN" sz="1400" dirty="0" err="1">
                <a:solidFill>
                  <a:srgbClr val="000000"/>
                </a:solidFill>
                <a:effectLst/>
                <a:latin typeface="Menlo" panose="020B0609030804020204" pitchFamily="49" charset="0"/>
              </a:rPr>
              <a:t>SecondChild</a:t>
            </a:r>
            <a:r>
              <a:rPr lang="en-IN" sz="1400" dirty="0">
                <a:solidFill>
                  <a:srgbClr val="000000"/>
                </a:solidFill>
                <a:effectLst/>
                <a:latin typeface="Menlo" panose="020B0609030804020204" pitchFamily="49" charset="0"/>
              </a:rPr>
              <a:t> </a:t>
            </a:r>
            <a:r>
              <a:rPr lang="en-IN" sz="1400" dirty="0">
                <a:solidFill>
                  <a:srgbClr val="6A3E3E"/>
                </a:solidFill>
                <a:effectLst/>
                <a:latin typeface="Menlo" panose="020B0609030804020204" pitchFamily="49" charset="0"/>
              </a:rPr>
              <a:t>s</a:t>
            </a:r>
            <a:r>
              <a:rPr lang="en-IN" sz="1400" dirty="0">
                <a:solidFill>
                  <a:srgbClr val="000000"/>
                </a:solidFill>
                <a:effectLst/>
                <a:latin typeface="Menlo" panose="020B0609030804020204" pitchFamily="49" charset="0"/>
              </a:rPr>
              <a:t> = </a:t>
            </a:r>
            <a:r>
              <a:rPr lang="en-IN" sz="1400" b="1" dirty="0">
                <a:solidFill>
                  <a:srgbClr val="7F0055"/>
                </a:solidFill>
                <a:effectLst/>
                <a:latin typeface="Menlo" panose="020B0609030804020204" pitchFamily="49" charset="0"/>
              </a:rPr>
              <a:t>new</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SecondChild</a:t>
            </a:r>
            <a:r>
              <a:rPr lang="en-IN" sz="1400" dirty="0">
                <a:solidFill>
                  <a:srgbClr val="000000"/>
                </a:solidFill>
                <a:effectLst/>
                <a:latin typeface="Menlo" panose="020B0609030804020204" pitchFamily="49" charset="0"/>
              </a:rPr>
              <a:t>();</a:t>
            </a:r>
          </a:p>
          <a:p>
            <a:pPr marL="0" marR="0">
              <a:spcBef>
                <a:spcPts val="0"/>
              </a:spcBef>
              <a:spcAft>
                <a:spcPts val="0"/>
              </a:spcAft>
            </a:pPr>
            <a:r>
              <a:rPr lang="en-IN" sz="1400" dirty="0">
                <a:solidFill>
                  <a:srgbClr val="6A3E3E"/>
                </a:solidFill>
                <a:effectLst/>
                <a:latin typeface="Menlo" panose="020B0609030804020204" pitchFamily="49" charset="0"/>
              </a:rPr>
              <a:t>s</a:t>
            </a:r>
            <a:r>
              <a:rPr lang="en-IN" sz="1400" dirty="0">
                <a:solidFill>
                  <a:srgbClr val="000000"/>
                </a:solidFill>
                <a:effectLst/>
                <a:latin typeface="Menlo" panose="020B0609030804020204" pitchFamily="49" charset="0"/>
              </a:rPr>
              <a:t>.m1();</a:t>
            </a:r>
          </a:p>
          <a:p>
            <a:pPr marL="0" marR="0">
              <a:spcBef>
                <a:spcPts val="0"/>
              </a:spcBef>
              <a:spcAft>
                <a:spcPts val="0"/>
              </a:spcAft>
            </a:pPr>
            <a:r>
              <a:rPr lang="en-IN" sz="1400" dirty="0">
                <a:solidFill>
                  <a:srgbClr val="6A3E3E"/>
                </a:solidFill>
                <a:effectLst/>
                <a:latin typeface="Menlo" panose="020B0609030804020204" pitchFamily="49" charset="0"/>
              </a:rPr>
              <a:t>s</a:t>
            </a:r>
            <a:r>
              <a:rPr lang="en-IN" sz="1400" dirty="0">
                <a:solidFill>
                  <a:srgbClr val="000000"/>
                </a:solidFill>
                <a:effectLst/>
                <a:latin typeface="Menlo" panose="020B0609030804020204" pitchFamily="49" charset="0"/>
              </a:rPr>
              <a:t>.m2();</a:t>
            </a:r>
          </a:p>
          <a:p>
            <a:pPr marL="0" marR="0">
              <a:spcBef>
                <a:spcPts val="0"/>
              </a:spcBef>
              <a:spcAft>
                <a:spcPts val="0"/>
              </a:spcAft>
            </a:pPr>
            <a:r>
              <a:rPr lang="en-IN" sz="1400" dirty="0">
                <a:solidFill>
                  <a:srgbClr val="6A3E3E"/>
                </a:solidFill>
                <a:effectLst/>
                <a:latin typeface="Menlo" panose="020B0609030804020204" pitchFamily="49" charset="0"/>
              </a:rPr>
              <a:t>s</a:t>
            </a:r>
            <a:r>
              <a:rPr lang="en-IN" sz="1400" dirty="0">
                <a:solidFill>
                  <a:srgbClr val="000000"/>
                </a:solidFill>
                <a:effectLst/>
                <a:latin typeface="Menlo" panose="020B0609030804020204" pitchFamily="49" charset="0"/>
              </a:rPr>
              <a:t>.m3();</a:t>
            </a:r>
          </a:p>
          <a:p>
            <a:pPr marL="0" marR="0">
              <a:spcBef>
                <a:spcPts val="0"/>
              </a:spcBef>
              <a:spcAft>
                <a:spcPts val="0"/>
              </a:spcAft>
            </a:pPr>
            <a:r>
              <a:rPr lang="en-IN" sz="1400" dirty="0">
                <a:solidFill>
                  <a:srgbClr val="000000"/>
                </a:solidFill>
                <a:effectLst/>
                <a:latin typeface="Menlo" panose="020B0609030804020204" pitchFamily="49" charset="0"/>
              </a:rPr>
              <a:t>}</a:t>
            </a:r>
          </a:p>
          <a:p>
            <a:pPr marL="0" marR="0">
              <a:spcBef>
                <a:spcPts val="0"/>
              </a:spcBef>
              <a:spcAft>
                <a:spcPts val="0"/>
              </a:spcAft>
            </a:pPr>
            <a:r>
              <a:rPr lang="en-IN" sz="1400" dirty="0">
                <a:solidFill>
                  <a:srgbClr val="000000"/>
                </a:solidFill>
                <a:effectLst/>
                <a:latin typeface="Menlo" panose="020B0609030804020204" pitchFamily="49" charset="0"/>
              </a:rPr>
              <a:t>}</a:t>
            </a:r>
          </a:p>
        </p:txBody>
      </p:sp>
      <p:sp>
        <p:nvSpPr>
          <p:cNvPr id="4" name="Footer Placeholder 3">
            <a:extLst>
              <a:ext uri="{FF2B5EF4-FFF2-40B4-BE49-F238E27FC236}">
                <a16:creationId xmlns:a16="http://schemas.microsoft.com/office/drawing/2014/main" id="{A388F45D-8B01-1450-C943-57D7DC6CC0B1}"/>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9249764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654DF-D71A-DB6C-9C15-C4A2A8D95559}"/>
              </a:ext>
            </a:extLst>
          </p:cNvPr>
          <p:cNvSpPr>
            <a:spLocks noGrp="1"/>
          </p:cNvSpPr>
          <p:nvPr>
            <p:ph type="title"/>
          </p:nvPr>
        </p:nvSpPr>
        <p:spPr/>
        <p:txBody>
          <a:bodyPr/>
          <a:lstStyle/>
          <a:p>
            <a:r>
              <a:rPr lang="en-US" dirty="0"/>
              <a:t>Interface</a:t>
            </a:r>
          </a:p>
        </p:txBody>
      </p:sp>
      <p:sp>
        <p:nvSpPr>
          <p:cNvPr id="3" name="Content Placeholder 2">
            <a:extLst>
              <a:ext uri="{FF2B5EF4-FFF2-40B4-BE49-F238E27FC236}">
                <a16:creationId xmlns:a16="http://schemas.microsoft.com/office/drawing/2014/main" id="{A83F6CC7-9999-4C16-0BE1-1CE20F9BEDA6}"/>
              </a:ext>
            </a:extLst>
          </p:cNvPr>
          <p:cNvSpPr>
            <a:spLocks noGrp="1"/>
          </p:cNvSpPr>
          <p:nvPr>
            <p:ph idx="1"/>
          </p:nvPr>
        </p:nvSpPr>
        <p:spPr/>
        <p:txBody>
          <a:bodyPr/>
          <a:lstStyle/>
          <a:p>
            <a:pPr algn="l" rtl="0" fontAlgn="base"/>
            <a:r>
              <a:rPr lang="en-IN" sz="2800" b="0" i="0" dirty="0">
                <a:solidFill>
                  <a:schemeClr val="tx1"/>
                </a:solidFill>
                <a:effectLst/>
                <a:latin typeface="Nunito" pitchFamily="2" charset="77"/>
              </a:rPr>
              <a:t>An </a:t>
            </a:r>
            <a:r>
              <a:rPr lang="en-IN" sz="2800" b="1" i="0" dirty="0">
                <a:solidFill>
                  <a:schemeClr val="tx1"/>
                </a:solidFill>
                <a:effectLst/>
                <a:latin typeface="Nunito" pitchFamily="2" charset="77"/>
              </a:rPr>
              <a:t>Interface is an</a:t>
            </a:r>
            <a:r>
              <a:rPr lang="en-IN" sz="2800" b="0" i="0" dirty="0">
                <a:solidFill>
                  <a:schemeClr val="tx1"/>
                </a:solidFill>
                <a:effectLst/>
                <a:latin typeface="Nunito" pitchFamily="2" charset="77"/>
              </a:rPr>
              <a:t> abstract type used to specify the </a:t>
            </a:r>
            <a:r>
              <a:rPr lang="en-IN" sz="2800" b="0" i="0" dirty="0" err="1">
                <a:solidFill>
                  <a:schemeClr val="tx1"/>
                </a:solidFill>
                <a:effectLst/>
                <a:latin typeface="Nunito" pitchFamily="2" charset="77"/>
              </a:rPr>
              <a:t>behavior</a:t>
            </a:r>
            <a:r>
              <a:rPr lang="en-IN" sz="2800" b="0" i="0" dirty="0">
                <a:solidFill>
                  <a:schemeClr val="tx1"/>
                </a:solidFill>
                <a:effectLst/>
                <a:latin typeface="Nunito" pitchFamily="2" charset="77"/>
              </a:rPr>
              <a:t> of a class. </a:t>
            </a:r>
          </a:p>
          <a:p>
            <a:pPr algn="l" rtl="0" fontAlgn="base"/>
            <a:r>
              <a:rPr lang="en-IN" sz="2800" b="0" i="0" dirty="0">
                <a:solidFill>
                  <a:schemeClr val="tx1"/>
                </a:solidFill>
                <a:effectLst/>
                <a:latin typeface="Nunito" pitchFamily="2" charset="77"/>
              </a:rPr>
              <a:t>An interface in Java is a blueprint of a </a:t>
            </a:r>
            <a:r>
              <a:rPr lang="en-IN" sz="2800" b="0" i="0" dirty="0" err="1">
                <a:solidFill>
                  <a:schemeClr val="tx1"/>
                </a:solidFill>
                <a:effectLst/>
                <a:latin typeface="Nunito" pitchFamily="2" charset="77"/>
              </a:rPr>
              <a:t>behavior</a:t>
            </a:r>
            <a:r>
              <a:rPr lang="en-IN" sz="2800" b="0" i="0" dirty="0">
                <a:solidFill>
                  <a:schemeClr val="tx1"/>
                </a:solidFill>
                <a:effectLst/>
                <a:latin typeface="Nunito" pitchFamily="2" charset="77"/>
              </a:rPr>
              <a:t>. </a:t>
            </a:r>
          </a:p>
          <a:p>
            <a:pPr algn="l" rtl="0" fontAlgn="base"/>
            <a:r>
              <a:rPr lang="en-IN" sz="2800" b="0" i="0" dirty="0">
                <a:solidFill>
                  <a:schemeClr val="tx1"/>
                </a:solidFill>
                <a:effectLst/>
                <a:latin typeface="Nunito" pitchFamily="2" charset="77"/>
              </a:rPr>
              <a:t>A Java interface contains static constants and abstract methods.</a:t>
            </a:r>
          </a:p>
          <a:p>
            <a:pPr algn="just" rtl="0" fontAlgn="base"/>
            <a:r>
              <a:rPr lang="en-IN" sz="2800" b="0" i="1" dirty="0">
                <a:solidFill>
                  <a:schemeClr val="tx1"/>
                </a:solidFill>
                <a:effectLst/>
                <a:latin typeface="Nunito" pitchFamily="2" charset="77"/>
              </a:rPr>
              <a:t>a </a:t>
            </a:r>
            <a:r>
              <a:rPr lang="en-IN" sz="2800" b="0" i="0" dirty="0">
                <a:solidFill>
                  <a:schemeClr val="tx1"/>
                </a:solidFill>
                <a:effectLst/>
                <a:latin typeface="Nunito" pitchFamily="2" charset="77"/>
              </a:rPr>
              <a:t>mechanism to achieve </a:t>
            </a:r>
            <a:r>
              <a:rPr lang="en-IN" sz="2800" b="1" i="0" dirty="0">
                <a:solidFill>
                  <a:schemeClr val="tx1"/>
                </a:solidFill>
                <a:effectLst/>
                <a:latin typeface="Nunito" pitchFamily="2" charset="77"/>
                <a:hlinkClick r:id="rId2">
                  <a:extLst>
                    <a:ext uri="{A12FA001-AC4F-418D-AE19-62706E023703}">
                      <ahyp:hlinkClr xmlns:ahyp="http://schemas.microsoft.com/office/drawing/2018/hyperlinkcolor" val="tx"/>
                    </a:ext>
                  </a:extLst>
                </a:hlinkClick>
              </a:rPr>
              <a:t>abstraction</a:t>
            </a:r>
            <a:r>
              <a:rPr lang="en-IN" sz="2800" dirty="0">
                <a:solidFill>
                  <a:schemeClr val="tx1"/>
                </a:solidFill>
                <a:latin typeface="Nunito" pitchFamily="2" charset="77"/>
              </a:rPr>
              <a:t> and multiple Inheritance.</a:t>
            </a:r>
            <a:endParaRPr lang="en-IN" sz="2800" b="0" i="0" dirty="0">
              <a:solidFill>
                <a:schemeClr val="tx1"/>
              </a:solidFill>
              <a:effectLst/>
              <a:latin typeface="Nunito" pitchFamily="2" charset="77"/>
            </a:endParaRPr>
          </a:p>
          <a:p>
            <a:pPr algn="just" rtl="0" fontAlgn="base"/>
            <a:r>
              <a:rPr lang="en-IN" sz="2800" b="0" i="0" dirty="0">
                <a:solidFill>
                  <a:schemeClr val="tx1"/>
                </a:solidFill>
                <a:effectLst/>
                <a:latin typeface="Nunito" pitchFamily="2" charset="77"/>
              </a:rPr>
              <a:t>Traditionally, an interface could only have abstract methods (methods without a body) and public, static, and final variables by default. </a:t>
            </a:r>
            <a:endParaRPr lang="en-US" sz="2800" dirty="0">
              <a:solidFill>
                <a:schemeClr val="tx1"/>
              </a:solidFill>
            </a:endParaRPr>
          </a:p>
        </p:txBody>
      </p:sp>
      <p:sp>
        <p:nvSpPr>
          <p:cNvPr id="4" name="Footer Placeholder 3">
            <a:extLst>
              <a:ext uri="{FF2B5EF4-FFF2-40B4-BE49-F238E27FC236}">
                <a16:creationId xmlns:a16="http://schemas.microsoft.com/office/drawing/2014/main" id="{27158414-A108-580D-728C-4262C5831155}"/>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8279947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3DFBC-2273-5264-1331-B9CDDF71872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36905E2-BE7F-53EE-6004-DF4D2644F87C}"/>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E84DA550-1F3C-819C-68FD-9A8FF6FE4182}"/>
              </a:ext>
            </a:extLst>
          </p:cNvPr>
          <p:cNvSpPr>
            <a:spLocks noGrp="1"/>
          </p:cNvSpPr>
          <p:nvPr>
            <p:ph type="ftr" sz="quarter" idx="11"/>
          </p:nvPr>
        </p:nvSpPr>
        <p:spPr/>
        <p:txBody>
          <a:bodyPr/>
          <a:lstStyle/>
          <a:p>
            <a:pPr>
              <a:defRPr/>
            </a:pPr>
            <a:r>
              <a:rPr lang="en-US"/>
              <a:t>Dr. Naveen Kumar, Associate Professor, AIIT, AUP</a:t>
            </a:r>
          </a:p>
        </p:txBody>
      </p:sp>
      <p:pic>
        <p:nvPicPr>
          <p:cNvPr id="1026" name="Picture 2" descr="Features of Interfaces">
            <a:extLst>
              <a:ext uri="{FF2B5EF4-FFF2-40B4-BE49-F238E27FC236}">
                <a16:creationId xmlns:a16="http://schemas.microsoft.com/office/drawing/2014/main" id="{81D958B7-B0FB-5105-AADF-CEF02E71E5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250" y="1073150"/>
            <a:ext cx="7683500" cy="471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69641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A3C6A-AF9D-1DAB-4F3D-CE113427FC2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1C833F-1CE2-2A34-82F7-D051CEAA26F5}"/>
              </a:ext>
            </a:extLst>
          </p:cNvPr>
          <p:cNvSpPr>
            <a:spLocks noGrp="1"/>
          </p:cNvSpPr>
          <p:nvPr>
            <p:ph idx="1"/>
          </p:nvPr>
        </p:nvSpPr>
        <p:spPr/>
        <p:txBody>
          <a:bodyPr/>
          <a:lstStyle/>
          <a:p>
            <a:pPr algn="just" rtl="0" fontAlgn="base"/>
            <a:r>
              <a:rPr lang="en-IN" sz="2800" b="0" i="0" dirty="0">
                <a:solidFill>
                  <a:schemeClr val="tx1"/>
                </a:solidFill>
                <a:effectLst/>
                <a:latin typeface="Nunito" pitchFamily="2" charset="77"/>
              </a:rPr>
              <a:t>When we decide on a type of entity by its </a:t>
            </a:r>
            <a:r>
              <a:rPr lang="en-IN" sz="2800" b="0" i="0" dirty="0" err="1">
                <a:solidFill>
                  <a:schemeClr val="tx1"/>
                </a:solidFill>
                <a:effectLst/>
                <a:latin typeface="Nunito" pitchFamily="2" charset="77"/>
              </a:rPr>
              <a:t>behavior</a:t>
            </a:r>
            <a:r>
              <a:rPr lang="en-IN" sz="2800" b="0" i="0" dirty="0">
                <a:solidFill>
                  <a:schemeClr val="tx1"/>
                </a:solidFill>
                <a:effectLst/>
                <a:latin typeface="Nunito" pitchFamily="2" charset="77"/>
              </a:rPr>
              <a:t> and not via attribute we should define it as an interface.</a:t>
            </a:r>
          </a:p>
          <a:p>
            <a:r>
              <a:rPr lang="en-IN" sz="2400" dirty="0">
                <a:effectLst/>
              </a:rPr>
              <a:t>interface {</a:t>
            </a:r>
            <a:br>
              <a:rPr lang="en-IN" sz="2400" dirty="0"/>
            </a:br>
            <a:r>
              <a:rPr lang="en-IN" sz="2400" dirty="0">
                <a:effectLst/>
              </a:rPr>
              <a:t>// declare constant fields</a:t>
            </a:r>
            <a:br>
              <a:rPr lang="en-IN" sz="2400" dirty="0"/>
            </a:br>
            <a:r>
              <a:rPr lang="en-IN" sz="2400" dirty="0">
                <a:effectLst/>
              </a:rPr>
              <a:t>// declare methods that abstract </a:t>
            </a:r>
            <a:br>
              <a:rPr lang="en-IN" sz="2400" dirty="0"/>
            </a:br>
            <a:r>
              <a:rPr lang="en-IN" sz="2400" dirty="0">
                <a:effectLst/>
              </a:rPr>
              <a:t>// by default. </a:t>
            </a:r>
            <a:br>
              <a:rPr lang="en-IN" sz="2400" dirty="0"/>
            </a:br>
            <a:r>
              <a:rPr lang="en-IN" sz="2400" dirty="0">
                <a:effectLst/>
              </a:rPr>
              <a:t>}</a:t>
            </a:r>
            <a:endParaRPr lang="en-IN" sz="2800" dirty="0">
              <a:solidFill>
                <a:schemeClr val="tx1"/>
              </a:solidFill>
              <a:effectLst/>
            </a:endParaRPr>
          </a:p>
          <a:p>
            <a:endParaRPr lang="en-US" sz="2800" dirty="0">
              <a:solidFill>
                <a:schemeClr val="tx1"/>
              </a:solidFill>
            </a:endParaRPr>
          </a:p>
          <a:p>
            <a:endParaRPr lang="en-US" sz="2800" dirty="0"/>
          </a:p>
        </p:txBody>
      </p:sp>
      <p:sp>
        <p:nvSpPr>
          <p:cNvPr id="4" name="Footer Placeholder 3">
            <a:extLst>
              <a:ext uri="{FF2B5EF4-FFF2-40B4-BE49-F238E27FC236}">
                <a16:creationId xmlns:a16="http://schemas.microsoft.com/office/drawing/2014/main" id="{0C21E9DB-5928-C9AA-1CD3-7A977CB01110}"/>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6151518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7B54A-98FE-EDFF-CC19-488BF4107BC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9AA8EBA-B88B-8245-E861-25F1FB24C2E0}"/>
              </a:ext>
            </a:extLst>
          </p:cNvPr>
          <p:cNvSpPr>
            <a:spLocks noGrp="1"/>
          </p:cNvSpPr>
          <p:nvPr>
            <p:ph idx="1"/>
          </p:nvPr>
        </p:nvSpPr>
        <p:spPr/>
        <p:txBody>
          <a:bodyPr/>
          <a:lstStyle/>
          <a:p>
            <a:pPr algn="l" rtl="0" fontAlgn="base"/>
            <a:r>
              <a:rPr lang="en-IN" sz="2400" b="0" i="1" dirty="0">
                <a:solidFill>
                  <a:schemeClr val="tx1"/>
                </a:solidFill>
                <a:effectLst/>
                <a:latin typeface="Nunito" pitchFamily="2" charset="77"/>
              </a:rPr>
              <a:t>Uses of Interfaces in Java are mentioned below:</a:t>
            </a:r>
          </a:p>
          <a:p>
            <a:pPr lvl="1">
              <a:buFont typeface="Arial" panose="020B0604020202020204" pitchFamily="34" charset="0"/>
              <a:buChar char="•"/>
            </a:pPr>
            <a:r>
              <a:rPr lang="en-IN" sz="2000" b="0" i="1" dirty="0">
                <a:solidFill>
                  <a:schemeClr val="tx1"/>
                </a:solidFill>
                <a:effectLst/>
                <a:latin typeface="Nunito" pitchFamily="2" charset="77"/>
              </a:rPr>
              <a:t>It is used to achieve total abstraction.</a:t>
            </a:r>
          </a:p>
          <a:p>
            <a:pPr lvl="1">
              <a:buFont typeface="Arial" panose="020B0604020202020204" pitchFamily="34" charset="0"/>
              <a:buChar char="•"/>
            </a:pPr>
            <a:r>
              <a:rPr lang="en-IN" sz="2000" b="0" i="1" dirty="0">
                <a:solidFill>
                  <a:schemeClr val="tx1"/>
                </a:solidFill>
                <a:effectLst/>
                <a:latin typeface="Nunito" pitchFamily="2" charset="77"/>
              </a:rPr>
              <a:t>Since java does not support multiple inheritances in the case of class, by using an interface it can achieve multiple inheritance.</a:t>
            </a:r>
          </a:p>
          <a:p>
            <a:pPr lvl="1">
              <a:buFont typeface="Arial" panose="020B0604020202020204" pitchFamily="34" charset="0"/>
              <a:buChar char="•"/>
            </a:pPr>
            <a:r>
              <a:rPr lang="en-IN" sz="2000" b="0" i="1" dirty="0">
                <a:solidFill>
                  <a:schemeClr val="tx1"/>
                </a:solidFill>
                <a:effectLst/>
                <a:latin typeface="Nunito" pitchFamily="2" charset="77"/>
              </a:rPr>
              <a:t>Any class can extend only one class, but can implement multiple interfaces.</a:t>
            </a:r>
          </a:p>
          <a:p>
            <a:pPr lvl="1">
              <a:buFont typeface="Arial" panose="020B0604020202020204" pitchFamily="34" charset="0"/>
              <a:buChar char="•"/>
            </a:pPr>
            <a:r>
              <a:rPr lang="en-IN" sz="2000" b="0" i="1" dirty="0">
                <a:solidFill>
                  <a:schemeClr val="tx1"/>
                </a:solidFill>
                <a:effectLst/>
                <a:latin typeface="Nunito" pitchFamily="2" charset="77"/>
              </a:rPr>
              <a:t>It is also used to achieve loose coupling.</a:t>
            </a:r>
          </a:p>
          <a:p>
            <a:pPr lvl="1">
              <a:buFont typeface="Arial" panose="020B0604020202020204" pitchFamily="34" charset="0"/>
              <a:buChar char="•"/>
            </a:pPr>
            <a:r>
              <a:rPr lang="en-IN" sz="2000" b="0" i="1" dirty="0">
                <a:solidFill>
                  <a:schemeClr val="tx1"/>
                </a:solidFill>
                <a:effectLst/>
                <a:latin typeface="Nunito" pitchFamily="2" charset="77"/>
              </a:rPr>
              <a:t>Interfaces are used to implement abstraction. </a:t>
            </a:r>
          </a:p>
          <a:p>
            <a:r>
              <a:rPr lang="en-IN" sz="2000" i="1" dirty="0">
                <a:solidFill>
                  <a:schemeClr val="tx1"/>
                </a:solidFill>
                <a:latin typeface="Nunito" pitchFamily="2" charset="77"/>
              </a:rPr>
              <a:t>abstract classes may contain non-final variables, whereas variables in the interface are final, public, and static.</a:t>
            </a:r>
          </a:p>
          <a:p>
            <a:r>
              <a:rPr lang="en-IN" sz="2000" dirty="0">
                <a:effectLst/>
              </a:rPr>
              <a:t>// A simple interface</a:t>
            </a:r>
            <a:br>
              <a:rPr lang="en-IN" sz="2000" dirty="0"/>
            </a:br>
            <a:r>
              <a:rPr lang="en-IN" sz="2000" dirty="0">
                <a:effectLst/>
              </a:rPr>
              <a:t>interface Player</a:t>
            </a:r>
            <a:br>
              <a:rPr lang="en-IN" sz="2000" dirty="0"/>
            </a:br>
            <a:r>
              <a:rPr lang="en-IN" sz="2000" dirty="0">
                <a:effectLst/>
              </a:rPr>
              <a:t>{</a:t>
            </a:r>
            <a:br>
              <a:rPr lang="en-IN" sz="2000" dirty="0"/>
            </a:br>
            <a:r>
              <a:rPr lang="en-IN" sz="2000" dirty="0">
                <a:effectLst/>
              </a:rPr>
              <a:t>final int id = 10;</a:t>
            </a:r>
            <a:br>
              <a:rPr lang="en-IN" sz="2000" dirty="0"/>
            </a:br>
            <a:r>
              <a:rPr lang="en-IN" sz="2000" dirty="0">
                <a:effectLst/>
              </a:rPr>
              <a:t>int move();</a:t>
            </a:r>
            <a:br>
              <a:rPr lang="en-IN" sz="2000" dirty="0"/>
            </a:br>
            <a:r>
              <a:rPr lang="en-IN" sz="2000" dirty="0">
                <a:effectLst/>
              </a:rPr>
              <a:t>}</a:t>
            </a:r>
            <a:endParaRPr lang="en-US" sz="2000" i="1" dirty="0">
              <a:solidFill>
                <a:schemeClr val="tx1"/>
              </a:solidFill>
              <a:latin typeface="Nunito" pitchFamily="2" charset="77"/>
            </a:endParaRPr>
          </a:p>
        </p:txBody>
      </p:sp>
      <p:sp>
        <p:nvSpPr>
          <p:cNvPr id="4" name="Footer Placeholder 3">
            <a:extLst>
              <a:ext uri="{FF2B5EF4-FFF2-40B4-BE49-F238E27FC236}">
                <a16:creationId xmlns:a16="http://schemas.microsoft.com/office/drawing/2014/main" id="{38AC0256-79E6-1BAD-94C1-EE20215C97B0}"/>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659654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FF2ED-88C9-5018-46FF-C4608BAF0183}"/>
              </a:ext>
            </a:extLst>
          </p:cNvPr>
          <p:cNvSpPr>
            <a:spLocks noGrp="1"/>
          </p:cNvSpPr>
          <p:nvPr>
            <p:ph type="title"/>
          </p:nvPr>
        </p:nvSpPr>
        <p:spPr/>
        <p:txBody>
          <a:bodyPr/>
          <a:lstStyle/>
          <a:p>
            <a:r>
              <a:rPr lang="en-US" dirty="0"/>
              <a:t>Class vs Interface</a:t>
            </a:r>
          </a:p>
        </p:txBody>
      </p:sp>
      <p:sp>
        <p:nvSpPr>
          <p:cNvPr id="3" name="Content Placeholder 2">
            <a:extLst>
              <a:ext uri="{FF2B5EF4-FFF2-40B4-BE49-F238E27FC236}">
                <a16:creationId xmlns:a16="http://schemas.microsoft.com/office/drawing/2014/main" id="{C6E982F3-5F64-FD82-DD37-23487CD18FDD}"/>
              </a:ext>
            </a:extLst>
          </p:cNvPr>
          <p:cNvSpPr>
            <a:spLocks noGrp="1"/>
          </p:cNvSpPr>
          <p:nvPr>
            <p:ph idx="1"/>
          </p:nvPr>
        </p:nvSpPr>
        <p:spPr/>
        <p:txBody>
          <a:bodyPr/>
          <a:lstStyle/>
          <a:p>
            <a:endParaRPr lang="en-US" dirty="0"/>
          </a:p>
        </p:txBody>
      </p:sp>
      <p:sp>
        <p:nvSpPr>
          <p:cNvPr id="4" name="Footer Placeholder 3">
            <a:extLst>
              <a:ext uri="{FF2B5EF4-FFF2-40B4-BE49-F238E27FC236}">
                <a16:creationId xmlns:a16="http://schemas.microsoft.com/office/drawing/2014/main" id="{BAD9A76A-358D-D71E-D07B-3C33E7552DCF}"/>
              </a:ext>
            </a:extLst>
          </p:cNvPr>
          <p:cNvSpPr>
            <a:spLocks noGrp="1"/>
          </p:cNvSpPr>
          <p:nvPr>
            <p:ph type="ftr" sz="quarter" idx="11"/>
          </p:nvPr>
        </p:nvSpPr>
        <p:spPr/>
        <p:txBody>
          <a:bodyPr/>
          <a:lstStyle/>
          <a:p>
            <a:pPr>
              <a:defRPr/>
            </a:pPr>
            <a:r>
              <a:rPr lang="en-US"/>
              <a:t>Dr. Naveen Kumar, Associate Professor, AIIT, AUP</a:t>
            </a:r>
          </a:p>
        </p:txBody>
      </p:sp>
      <p:pic>
        <p:nvPicPr>
          <p:cNvPr id="2050" name="Picture 2" descr="Relationship between Class and Interface">
            <a:extLst>
              <a:ext uri="{FF2B5EF4-FFF2-40B4-BE49-F238E27FC236}">
                <a16:creationId xmlns:a16="http://schemas.microsoft.com/office/drawing/2014/main" id="{31D605E7-D1AE-8921-173B-4CDA728A93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43075"/>
            <a:ext cx="9144000" cy="3370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29709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ADC8E-A5AC-F2AF-06E0-9397C8A63378}"/>
              </a:ext>
            </a:extLst>
          </p:cNvPr>
          <p:cNvSpPr>
            <a:spLocks noGrp="1"/>
          </p:cNvSpPr>
          <p:nvPr>
            <p:ph type="title"/>
          </p:nvPr>
        </p:nvSpPr>
        <p:spPr/>
        <p:txBody>
          <a:bodyPr/>
          <a:lstStyle/>
          <a:p>
            <a:endParaRPr lang="en-US"/>
          </a:p>
        </p:txBody>
      </p:sp>
      <p:graphicFrame>
        <p:nvGraphicFramePr>
          <p:cNvPr id="5" name="Content Placeholder 4">
            <a:extLst>
              <a:ext uri="{FF2B5EF4-FFF2-40B4-BE49-F238E27FC236}">
                <a16:creationId xmlns:a16="http://schemas.microsoft.com/office/drawing/2014/main" id="{D1D72ADE-96E4-BA6E-F159-CEF844CC15DD}"/>
              </a:ext>
            </a:extLst>
          </p:cNvPr>
          <p:cNvGraphicFramePr>
            <a:graphicFrameLocks noGrp="1"/>
          </p:cNvGraphicFramePr>
          <p:nvPr>
            <p:ph idx="1"/>
            <p:extLst>
              <p:ext uri="{D42A27DB-BD31-4B8C-83A1-F6EECF244321}">
                <p14:modId xmlns:p14="http://schemas.microsoft.com/office/powerpoint/2010/main" val="2841706257"/>
              </p:ext>
            </p:extLst>
          </p:nvPr>
        </p:nvGraphicFramePr>
        <p:xfrm>
          <a:off x="457200" y="1701800"/>
          <a:ext cx="7391400" cy="3608699"/>
        </p:xfrm>
        <a:graphic>
          <a:graphicData uri="http://schemas.openxmlformats.org/drawingml/2006/table">
            <a:tbl>
              <a:tblPr>
                <a:tableStyleId>{3C2FFA5D-87B4-456A-9821-1D502468CF0F}</a:tableStyleId>
              </a:tblPr>
              <a:tblGrid>
                <a:gridCol w="3695700">
                  <a:extLst>
                    <a:ext uri="{9D8B030D-6E8A-4147-A177-3AD203B41FA5}">
                      <a16:colId xmlns:a16="http://schemas.microsoft.com/office/drawing/2014/main" val="2595013678"/>
                    </a:ext>
                  </a:extLst>
                </a:gridCol>
                <a:gridCol w="3695700">
                  <a:extLst>
                    <a:ext uri="{9D8B030D-6E8A-4147-A177-3AD203B41FA5}">
                      <a16:colId xmlns:a16="http://schemas.microsoft.com/office/drawing/2014/main" val="1110792902"/>
                    </a:ext>
                  </a:extLst>
                </a:gridCol>
              </a:tblGrid>
              <a:tr h="557884">
                <a:tc>
                  <a:txBody>
                    <a:bodyPr/>
                    <a:lstStyle/>
                    <a:p>
                      <a:pPr algn="ctr" rtl="0" fontAlgn="base"/>
                      <a:r>
                        <a:rPr lang="en-IN" sz="1800" b="1" dirty="0">
                          <a:effectLst/>
                        </a:rPr>
                        <a:t>Class</a:t>
                      </a:r>
                    </a:p>
                  </a:txBody>
                  <a:tcPr marL="38100" marR="38100" marT="95250" marB="95250" anchor="ctr"/>
                </a:tc>
                <a:tc>
                  <a:txBody>
                    <a:bodyPr/>
                    <a:lstStyle/>
                    <a:p>
                      <a:pPr algn="ctr" rtl="0" fontAlgn="base"/>
                      <a:r>
                        <a:rPr lang="en-IN" sz="1800" b="1">
                          <a:effectLst/>
                        </a:rPr>
                        <a:t>Interface</a:t>
                      </a:r>
                    </a:p>
                  </a:txBody>
                  <a:tcPr marL="95250" marR="95250" marT="95250" marB="95250" anchor="ctr"/>
                </a:tc>
                <a:extLst>
                  <a:ext uri="{0D108BD9-81ED-4DB2-BD59-A6C34878D82A}">
                    <a16:rowId xmlns:a16="http://schemas.microsoft.com/office/drawing/2014/main" val="2886373712"/>
                  </a:ext>
                </a:extLst>
              </a:tr>
              <a:tr h="1157874">
                <a:tc>
                  <a:txBody>
                    <a:bodyPr/>
                    <a:lstStyle/>
                    <a:p>
                      <a:pPr algn="ctr" fontAlgn="ctr"/>
                      <a:r>
                        <a:rPr lang="en-IN" sz="1600" b="0" dirty="0">
                          <a:effectLst/>
                        </a:rPr>
                        <a:t>In class, you can instantiate variables and create an object.</a:t>
                      </a:r>
                    </a:p>
                  </a:txBody>
                  <a:tcPr marL="95250" marR="95250" marT="133350" marB="133350" anchor="ctr"/>
                </a:tc>
                <a:tc>
                  <a:txBody>
                    <a:bodyPr/>
                    <a:lstStyle/>
                    <a:p>
                      <a:pPr algn="ctr" fontAlgn="ctr"/>
                      <a:r>
                        <a:rPr lang="en-IN" sz="1600" b="0">
                          <a:effectLst/>
                        </a:rPr>
                        <a:t>In an interface, you must initialize variables as they are final but you can’t create an object.                       </a:t>
                      </a:r>
                    </a:p>
                  </a:txBody>
                  <a:tcPr marL="95250" marR="95250" marT="133350" marB="133350" anchor="ctr"/>
                </a:tc>
                <a:extLst>
                  <a:ext uri="{0D108BD9-81ED-4DB2-BD59-A6C34878D82A}">
                    <a16:rowId xmlns:a16="http://schemas.microsoft.com/office/drawing/2014/main" val="1244305871"/>
                  </a:ext>
                </a:extLst>
              </a:tr>
              <a:tr h="894721">
                <a:tc>
                  <a:txBody>
                    <a:bodyPr/>
                    <a:lstStyle/>
                    <a:p>
                      <a:pPr algn="ctr" fontAlgn="ctr"/>
                      <a:r>
                        <a:rPr lang="en-IN" sz="1600" b="0">
                          <a:effectLst/>
                        </a:rPr>
                        <a:t>A class can contain concrete (with implementation) methods</a:t>
                      </a:r>
                    </a:p>
                  </a:txBody>
                  <a:tcPr marL="95250" marR="95250" marT="133350" marB="133350" anchor="ctr"/>
                </a:tc>
                <a:tc>
                  <a:txBody>
                    <a:bodyPr/>
                    <a:lstStyle/>
                    <a:p>
                      <a:pPr algn="ctr" fontAlgn="ctr"/>
                      <a:r>
                        <a:rPr lang="en-IN" sz="1600" b="0">
                          <a:effectLst/>
                        </a:rPr>
                        <a:t>The interface cannot contain concrete (with implementation) methods.</a:t>
                      </a:r>
                    </a:p>
                  </a:txBody>
                  <a:tcPr marL="95250" marR="95250" marT="133350" marB="133350" anchor="ctr"/>
                </a:tc>
                <a:extLst>
                  <a:ext uri="{0D108BD9-81ED-4DB2-BD59-A6C34878D82A}">
                    <a16:rowId xmlns:a16="http://schemas.microsoft.com/office/drawing/2014/main" val="4049175871"/>
                  </a:ext>
                </a:extLst>
              </a:tr>
              <a:tr h="894721">
                <a:tc>
                  <a:txBody>
                    <a:bodyPr/>
                    <a:lstStyle/>
                    <a:p>
                      <a:pPr algn="ctr" fontAlgn="ctr"/>
                      <a:r>
                        <a:rPr lang="en-IN" sz="1600" b="0">
                          <a:effectLst/>
                        </a:rPr>
                        <a:t>The access specifiers used with classes are private, protected, and public.</a:t>
                      </a:r>
                    </a:p>
                  </a:txBody>
                  <a:tcPr marL="95250" marR="95250" marT="133350" marB="133350" anchor="ctr"/>
                </a:tc>
                <a:tc>
                  <a:txBody>
                    <a:bodyPr/>
                    <a:lstStyle/>
                    <a:p>
                      <a:pPr algn="ctr" fontAlgn="ctr"/>
                      <a:r>
                        <a:rPr lang="en-IN" sz="1600" b="0" dirty="0">
                          <a:effectLst/>
                        </a:rPr>
                        <a:t>In Interface only one specifier is used- Public.</a:t>
                      </a:r>
                    </a:p>
                  </a:txBody>
                  <a:tcPr marL="95250" marR="95250" marT="133350" marB="133350" anchor="ctr"/>
                </a:tc>
                <a:extLst>
                  <a:ext uri="{0D108BD9-81ED-4DB2-BD59-A6C34878D82A}">
                    <a16:rowId xmlns:a16="http://schemas.microsoft.com/office/drawing/2014/main" val="3867241733"/>
                  </a:ext>
                </a:extLst>
              </a:tr>
            </a:tbl>
          </a:graphicData>
        </a:graphic>
      </p:graphicFrame>
      <p:sp>
        <p:nvSpPr>
          <p:cNvPr id="4" name="Footer Placeholder 3">
            <a:extLst>
              <a:ext uri="{FF2B5EF4-FFF2-40B4-BE49-F238E27FC236}">
                <a16:creationId xmlns:a16="http://schemas.microsoft.com/office/drawing/2014/main" id="{694E110D-6500-2076-A4D7-BE8EE73C733C}"/>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5515151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4C291-D8E4-80F0-3B35-330941CF7DD4}"/>
              </a:ext>
            </a:extLst>
          </p:cNvPr>
          <p:cNvSpPr>
            <a:spLocks noGrp="1"/>
          </p:cNvSpPr>
          <p:nvPr>
            <p:ph type="title"/>
          </p:nvPr>
        </p:nvSpPr>
        <p:spPr/>
        <p:txBody>
          <a:bodyPr/>
          <a:lstStyle/>
          <a:p>
            <a:r>
              <a:rPr lang="en-US" dirty="0"/>
              <a:t>Abstract Class vs Interface</a:t>
            </a:r>
          </a:p>
        </p:txBody>
      </p:sp>
      <p:graphicFrame>
        <p:nvGraphicFramePr>
          <p:cNvPr id="5" name="Content Placeholder 4">
            <a:extLst>
              <a:ext uri="{FF2B5EF4-FFF2-40B4-BE49-F238E27FC236}">
                <a16:creationId xmlns:a16="http://schemas.microsoft.com/office/drawing/2014/main" id="{AB1B03CE-CE95-CB1C-3E5C-99C092D83111}"/>
              </a:ext>
            </a:extLst>
          </p:cNvPr>
          <p:cNvGraphicFramePr>
            <a:graphicFrameLocks noGrp="1"/>
          </p:cNvGraphicFramePr>
          <p:nvPr>
            <p:ph idx="1"/>
            <p:extLst>
              <p:ext uri="{D42A27DB-BD31-4B8C-83A1-F6EECF244321}">
                <p14:modId xmlns:p14="http://schemas.microsoft.com/office/powerpoint/2010/main" val="2881174718"/>
              </p:ext>
            </p:extLst>
          </p:nvPr>
        </p:nvGraphicFramePr>
        <p:xfrm>
          <a:off x="889697" y="1501140"/>
          <a:ext cx="7364606" cy="4617720"/>
        </p:xfrm>
        <a:graphic>
          <a:graphicData uri="http://schemas.openxmlformats.org/drawingml/2006/table">
            <a:tbl>
              <a:tblPr>
                <a:tableStyleId>{3C2FFA5D-87B4-456A-9821-1D502468CF0F}</a:tableStyleId>
              </a:tblPr>
              <a:tblGrid>
                <a:gridCol w="1880292">
                  <a:extLst>
                    <a:ext uri="{9D8B030D-6E8A-4147-A177-3AD203B41FA5}">
                      <a16:colId xmlns:a16="http://schemas.microsoft.com/office/drawing/2014/main" val="539510609"/>
                    </a:ext>
                  </a:extLst>
                </a:gridCol>
                <a:gridCol w="2742009">
                  <a:extLst>
                    <a:ext uri="{9D8B030D-6E8A-4147-A177-3AD203B41FA5}">
                      <a16:colId xmlns:a16="http://schemas.microsoft.com/office/drawing/2014/main" val="1495118775"/>
                    </a:ext>
                  </a:extLst>
                </a:gridCol>
                <a:gridCol w="2742305">
                  <a:extLst>
                    <a:ext uri="{9D8B030D-6E8A-4147-A177-3AD203B41FA5}">
                      <a16:colId xmlns:a16="http://schemas.microsoft.com/office/drawing/2014/main" val="1663844623"/>
                    </a:ext>
                  </a:extLst>
                </a:gridCol>
              </a:tblGrid>
              <a:tr h="0">
                <a:tc>
                  <a:txBody>
                    <a:bodyPr/>
                    <a:lstStyle/>
                    <a:p>
                      <a:pPr algn="ctr" rtl="0" fontAlgn="base"/>
                      <a:r>
                        <a:rPr lang="en-IN" sz="1400" b="1">
                          <a:effectLst/>
                        </a:rPr>
                        <a:t>Points</a:t>
                      </a:r>
                      <a:br>
                        <a:rPr lang="en-IN" sz="1400" b="1">
                          <a:effectLst/>
                        </a:rPr>
                      </a:br>
                      <a:endParaRPr lang="en-IN" sz="1400" b="1">
                        <a:effectLst/>
                      </a:endParaRPr>
                    </a:p>
                  </a:txBody>
                  <a:tcPr marL="38100" marR="38100" marT="95250" marB="95250" anchor="ctr"/>
                </a:tc>
                <a:tc>
                  <a:txBody>
                    <a:bodyPr/>
                    <a:lstStyle/>
                    <a:p>
                      <a:pPr algn="ctr" rtl="0" fontAlgn="base"/>
                      <a:r>
                        <a:rPr lang="en-IN" sz="1400" b="1">
                          <a:effectLst/>
                        </a:rPr>
                        <a:t>Abstract Class</a:t>
                      </a:r>
                    </a:p>
                  </a:txBody>
                  <a:tcPr marL="95250" marR="95250" marT="95250" marB="95250" anchor="ctr"/>
                </a:tc>
                <a:tc>
                  <a:txBody>
                    <a:bodyPr/>
                    <a:lstStyle/>
                    <a:p>
                      <a:pPr algn="ctr" rtl="0" fontAlgn="base"/>
                      <a:r>
                        <a:rPr lang="en-IN" sz="1400" b="1">
                          <a:effectLst/>
                        </a:rPr>
                        <a:t>Interface</a:t>
                      </a:r>
                    </a:p>
                  </a:txBody>
                  <a:tcPr marL="95250" marR="95250" marT="95250" marB="95250" anchor="ctr"/>
                </a:tc>
                <a:extLst>
                  <a:ext uri="{0D108BD9-81ED-4DB2-BD59-A6C34878D82A}">
                    <a16:rowId xmlns:a16="http://schemas.microsoft.com/office/drawing/2014/main" val="2622747076"/>
                  </a:ext>
                </a:extLst>
              </a:tr>
              <a:tr h="0">
                <a:tc>
                  <a:txBody>
                    <a:bodyPr/>
                    <a:lstStyle/>
                    <a:p>
                      <a:pPr algn="ctr" rtl="0" fontAlgn="base"/>
                      <a:r>
                        <a:rPr lang="en-IN" b="1">
                          <a:effectLst/>
                        </a:rPr>
                        <a:t>Definition</a:t>
                      </a:r>
                    </a:p>
                  </a:txBody>
                  <a:tcPr marL="38100" marR="38100" marT="73371" marB="73371" anchor="ctr"/>
                </a:tc>
                <a:tc>
                  <a:txBody>
                    <a:bodyPr/>
                    <a:lstStyle/>
                    <a:p>
                      <a:pPr algn="ctr" rtl="0" fontAlgn="base"/>
                      <a:r>
                        <a:rPr lang="en-IN" sz="1250" b="0">
                          <a:effectLst/>
                        </a:rPr>
                        <a:t>Cannot be instantiated; contains both abstract (without implementation) and concrete methods (with implementation)</a:t>
                      </a:r>
                    </a:p>
                  </a:txBody>
                  <a:tcPr marL="95250" marR="95250" marT="133350" marB="133350" anchor="ctr"/>
                </a:tc>
                <a:tc>
                  <a:txBody>
                    <a:bodyPr/>
                    <a:lstStyle/>
                    <a:p>
                      <a:pPr algn="ctr" rtl="0" fontAlgn="base"/>
                      <a:r>
                        <a:rPr lang="en-IN" sz="1250" b="0">
                          <a:effectLst/>
                        </a:rPr>
                        <a:t>Specifies a set of methods a class must implement; methods are abstract by default.</a:t>
                      </a:r>
                    </a:p>
                  </a:txBody>
                  <a:tcPr marL="95250" marR="95250" marT="133350" marB="133350" anchor="ctr"/>
                </a:tc>
                <a:extLst>
                  <a:ext uri="{0D108BD9-81ED-4DB2-BD59-A6C34878D82A}">
                    <a16:rowId xmlns:a16="http://schemas.microsoft.com/office/drawing/2014/main" val="1756480796"/>
                  </a:ext>
                </a:extLst>
              </a:tr>
              <a:tr h="0">
                <a:tc>
                  <a:txBody>
                    <a:bodyPr/>
                    <a:lstStyle/>
                    <a:p>
                      <a:pPr algn="ctr" rtl="0" fontAlgn="base"/>
                      <a:r>
                        <a:rPr lang="en-IN" b="1">
                          <a:effectLst/>
                        </a:rPr>
                        <a:t>Implementation Method</a:t>
                      </a:r>
                    </a:p>
                  </a:txBody>
                  <a:tcPr marL="38100" marR="38100" marT="73371" marB="73371" anchor="ctr"/>
                </a:tc>
                <a:tc>
                  <a:txBody>
                    <a:bodyPr/>
                    <a:lstStyle/>
                    <a:p>
                      <a:pPr algn="ctr" rtl="0" fontAlgn="base"/>
                      <a:r>
                        <a:rPr lang="en-IN" sz="1250" b="0">
                          <a:effectLst/>
                        </a:rPr>
                        <a:t>Can have both implemented and abstract methods.</a:t>
                      </a:r>
                    </a:p>
                  </a:txBody>
                  <a:tcPr marL="95250" marR="95250" marT="133350" marB="133350" anchor="ctr"/>
                </a:tc>
                <a:tc>
                  <a:txBody>
                    <a:bodyPr/>
                    <a:lstStyle/>
                    <a:p>
                      <a:pPr algn="ctr" rtl="0" fontAlgn="base"/>
                      <a:r>
                        <a:rPr lang="en-IN" sz="1250" b="0">
                          <a:effectLst/>
                        </a:rPr>
                        <a:t>Methods are abstract by default; Java 8, can have default and static methods.</a:t>
                      </a:r>
                    </a:p>
                  </a:txBody>
                  <a:tcPr marL="95250" marR="95250" marT="133350" marB="133350" anchor="ctr"/>
                </a:tc>
                <a:extLst>
                  <a:ext uri="{0D108BD9-81ED-4DB2-BD59-A6C34878D82A}">
                    <a16:rowId xmlns:a16="http://schemas.microsoft.com/office/drawing/2014/main" val="2988039533"/>
                  </a:ext>
                </a:extLst>
              </a:tr>
              <a:tr h="0">
                <a:tc>
                  <a:txBody>
                    <a:bodyPr/>
                    <a:lstStyle/>
                    <a:p>
                      <a:pPr algn="ctr" rtl="0" fontAlgn="base"/>
                      <a:r>
                        <a:rPr lang="en-IN" b="1">
                          <a:effectLst/>
                        </a:rPr>
                        <a:t>Inheritance</a:t>
                      </a:r>
                    </a:p>
                  </a:txBody>
                  <a:tcPr marL="38100" marR="38100" marT="73371" marB="73371" anchor="ctr"/>
                </a:tc>
                <a:tc>
                  <a:txBody>
                    <a:bodyPr/>
                    <a:lstStyle/>
                    <a:p>
                      <a:pPr algn="ctr" rtl="0" fontAlgn="base"/>
                      <a:r>
                        <a:rPr lang="en-IN" sz="1250" b="0">
                          <a:effectLst/>
                        </a:rPr>
                        <a:t>class can inherit from only one abstract class.</a:t>
                      </a:r>
                    </a:p>
                  </a:txBody>
                  <a:tcPr marL="95250" marR="95250" marT="133350" marB="133350" anchor="ctr"/>
                </a:tc>
                <a:tc>
                  <a:txBody>
                    <a:bodyPr/>
                    <a:lstStyle/>
                    <a:p>
                      <a:pPr algn="ctr" rtl="0" fontAlgn="base"/>
                      <a:r>
                        <a:rPr lang="en-IN" sz="1250" b="0">
                          <a:effectLst/>
                        </a:rPr>
                        <a:t>A class can implement multiple interfaces.</a:t>
                      </a:r>
                    </a:p>
                  </a:txBody>
                  <a:tcPr marL="95250" marR="95250" marT="133350" marB="133350" anchor="ctr"/>
                </a:tc>
                <a:extLst>
                  <a:ext uri="{0D108BD9-81ED-4DB2-BD59-A6C34878D82A}">
                    <a16:rowId xmlns:a16="http://schemas.microsoft.com/office/drawing/2014/main" val="4290156640"/>
                  </a:ext>
                </a:extLst>
              </a:tr>
              <a:tr h="0">
                <a:tc>
                  <a:txBody>
                    <a:bodyPr/>
                    <a:lstStyle/>
                    <a:p>
                      <a:pPr algn="ctr" rtl="0" fontAlgn="base"/>
                      <a:r>
                        <a:rPr lang="en-IN" b="1">
                          <a:effectLst/>
                        </a:rPr>
                        <a:t>Access Modifiers</a:t>
                      </a:r>
                    </a:p>
                  </a:txBody>
                  <a:tcPr marL="38100" marR="38100" marT="73371" marB="73371" anchor="ctr"/>
                </a:tc>
                <a:tc>
                  <a:txBody>
                    <a:bodyPr/>
                    <a:lstStyle/>
                    <a:p>
                      <a:pPr algn="ctr" rtl="0" fontAlgn="base"/>
                      <a:r>
                        <a:rPr lang="en-IN" sz="1250" b="0">
                          <a:effectLst/>
                        </a:rPr>
                        <a:t>Methods and properties can have any access modifier (public, protected, private).</a:t>
                      </a:r>
                    </a:p>
                  </a:txBody>
                  <a:tcPr marL="95250" marR="95250" marT="133350" marB="133350" anchor="ctr"/>
                </a:tc>
                <a:tc>
                  <a:txBody>
                    <a:bodyPr/>
                    <a:lstStyle/>
                    <a:p>
                      <a:pPr algn="ctr" rtl="0" fontAlgn="base"/>
                      <a:r>
                        <a:rPr lang="en-IN" sz="1250" b="0">
                          <a:effectLst/>
                        </a:rPr>
                        <a:t>Methods and properties are implicitly public.</a:t>
                      </a:r>
                    </a:p>
                  </a:txBody>
                  <a:tcPr marL="95250" marR="95250" marT="133350" marB="133350" anchor="ctr"/>
                </a:tc>
                <a:extLst>
                  <a:ext uri="{0D108BD9-81ED-4DB2-BD59-A6C34878D82A}">
                    <a16:rowId xmlns:a16="http://schemas.microsoft.com/office/drawing/2014/main" val="3880300727"/>
                  </a:ext>
                </a:extLst>
              </a:tr>
              <a:tr h="0">
                <a:tc>
                  <a:txBody>
                    <a:bodyPr/>
                    <a:lstStyle/>
                    <a:p>
                      <a:pPr algn="ctr" rtl="0" fontAlgn="base"/>
                      <a:r>
                        <a:rPr lang="en-IN" b="1">
                          <a:effectLst/>
                        </a:rPr>
                        <a:t>Variables</a:t>
                      </a:r>
                    </a:p>
                  </a:txBody>
                  <a:tcPr marL="38100" marR="38100" marT="73371" marB="73371" anchor="ctr"/>
                </a:tc>
                <a:tc>
                  <a:txBody>
                    <a:bodyPr/>
                    <a:lstStyle/>
                    <a:p>
                      <a:pPr algn="ctr" rtl="0" fontAlgn="base"/>
                      <a:r>
                        <a:rPr lang="en-IN" sz="1250" b="0">
                          <a:effectLst/>
                        </a:rPr>
                        <a:t>Can have member variables (final, non-final, static, non-static).</a:t>
                      </a:r>
                    </a:p>
                  </a:txBody>
                  <a:tcPr marL="95250" marR="95250" marT="133350" marB="133350" anchor="ctr"/>
                </a:tc>
                <a:tc>
                  <a:txBody>
                    <a:bodyPr/>
                    <a:lstStyle/>
                    <a:p>
                      <a:pPr algn="ctr" rtl="0" fontAlgn="base"/>
                      <a:r>
                        <a:rPr lang="en-IN" sz="1250" b="0" dirty="0">
                          <a:effectLst/>
                        </a:rPr>
                        <a:t>Variables are implicitly public, static, and final (constants).</a:t>
                      </a:r>
                    </a:p>
                  </a:txBody>
                  <a:tcPr marL="95250" marR="95250" marT="133350" marB="133350" anchor="ctr"/>
                </a:tc>
                <a:extLst>
                  <a:ext uri="{0D108BD9-81ED-4DB2-BD59-A6C34878D82A}">
                    <a16:rowId xmlns:a16="http://schemas.microsoft.com/office/drawing/2014/main" val="659623741"/>
                  </a:ext>
                </a:extLst>
              </a:tr>
            </a:tbl>
          </a:graphicData>
        </a:graphic>
      </p:graphicFrame>
      <p:sp>
        <p:nvSpPr>
          <p:cNvPr id="4" name="Footer Placeholder 3">
            <a:extLst>
              <a:ext uri="{FF2B5EF4-FFF2-40B4-BE49-F238E27FC236}">
                <a16:creationId xmlns:a16="http://schemas.microsoft.com/office/drawing/2014/main" id="{49156637-DB7D-A4AA-154E-3C8E04DB9E7C}"/>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8381165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AB093-7C88-C0B9-FD55-62BC6E74F8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1B04B7-0E3F-0699-C3F8-7FE785221BC6}"/>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AD1CFA0D-B509-0B62-8AF8-B91C3EE11DC0}"/>
              </a:ext>
            </a:extLst>
          </p:cNvPr>
          <p:cNvSpPr>
            <a:spLocks noGrp="1"/>
          </p:cNvSpPr>
          <p:nvPr>
            <p:ph type="ftr" sz="quarter" idx="11"/>
          </p:nvPr>
        </p:nvSpPr>
        <p:spPr/>
        <p:txBody>
          <a:bodyPr/>
          <a:lstStyle/>
          <a:p>
            <a:pPr>
              <a:defRPr/>
            </a:pPr>
            <a:r>
              <a:rPr lang="en-US"/>
              <a:t>Dr. Naveen Kumar, Associate Professor, AIIT, AUP</a:t>
            </a:r>
          </a:p>
        </p:txBody>
      </p:sp>
      <p:pic>
        <p:nvPicPr>
          <p:cNvPr id="6146" name="Picture 2" descr="Abstract Class vs Interface">
            <a:extLst>
              <a:ext uri="{FF2B5EF4-FFF2-40B4-BE49-F238E27FC236}">
                <a16:creationId xmlns:a16="http://schemas.microsoft.com/office/drawing/2014/main" id="{06F8C7FD-1657-CA25-5A3B-242492266C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950" y="1905000"/>
            <a:ext cx="76581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26870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D5833-9F7F-5782-2066-91EE63FC4F07}"/>
              </a:ext>
            </a:extLst>
          </p:cNvPr>
          <p:cNvSpPr>
            <a:spLocks noGrp="1"/>
          </p:cNvSpPr>
          <p:nvPr>
            <p:ph type="title"/>
          </p:nvPr>
        </p:nvSpPr>
        <p:spPr/>
        <p:txBody>
          <a:bodyPr/>
          <a:lstStyle/>
          <a:p>
            <a:r>
              <a:rPr lang="en-IN" sz="4400" b="1" i="0" dirty="0">
                <a:solidFill>
                  <a:schemeClr val="tx1"/>
                </a:solidFill>
                <a:effectLst/>
                <a:latin typeface="Nunito" pitchFamily="2" charset="77"/>
              </a:rPr>
              <a:t>Abstract Class</a:t>
            </a:r>
            <a:endParaRPr lang="en-US" dirty="0"/>
          </a:p>
        </p:txBody>
      </p:sp>
      <p:sp>
        <p:nvSpPr>
          <p:cNvPr id="3" name="Content Placeholder 2">
            <a:extLst>
              <a:ext uri="{FF2B5EF4-FFF2-40B4-BE49-F238E27FC236}">
                <a16:creationId xmlns:a16="http://schemas.microsoft.com/office/drawing/2014/main" id="{5375F924-056D-B99D-BC2E-F5A4F7E64016}"/>
              </a:ext>
            </a:extLst>
          </p:cNvPr>
          <p:cNvSpPr>
            <a:spLocks noGrp="1"/>
          </p:cNvSpPr>
          <p:nvPr>
            <p:ph idx="1"/>
          </p:nvPr>
        </p:nvSpPr>
        <p:spPr/>
        <p:txBody>
          <a:bodyPr/>
          <a:lstStyle/>
          <a:p>
            <a:pPr algn="l" rtl="0" fontAlgn="base"/>
            <a:r>
              <a:rPr lang="en-IN" sz="2000" b="0" i="0" dirty="0">
                <a:solidFill>
                  <a:schemeClr val="tx1"/>
                </a:solidFill>
                <a:effectLst/>
                <a:latin typeface="Nunito" pitchFamily="2" charset="77"/>
              </a:rPr>
              <a:t>An abstract class is a class that cannot be instantiated directly. It serves as a </a:t>
            </a:r>
            <a:r>
              <a:rPr lang="en-IN" sz="2000" b="1" i="0" dirty="0">
                <a:solidFill>
                  <a:schemeClr val="tx1"/>
                </a:solidFill>
                <a:effectLst/>
                <a:latin typeface="Nunito" pitchFamily="2" charset="77"/>
              </a:rPr>
              <a:t>blueprint</a:t>
            </a:r>
            <a:r>
              <a:rPr lang="en-IN" sz="2000" b="0" i="0" dirty="0">
                <a:solidFill>
                  <a:schemeClr val="tx1"/>
                </a:solidFill>
                <a:effectLst/>
                <a:latin typeface="Nunito" pitchFamily="2" charset="77"/>
              </a:rPr>
              <a:t> for other classes to derive from.</a:t>
            </a:r>
          </a:p>
          <a:p>
            <a:pPr algn="l" fontAlgn="base"/>
            <a:endParaRPr lang="en-IN" sz="2000" b="1" i="0" dirty="0">
              <a:solidFill>
                <a:schemeClr val="tx1"/>
              </a:solidFill>
              <a:effectLst/>
              <a:latin typeface="Nunito" pitchFamily="2" charset="77"/>
            </a:endParaRPr>
          </a:p>
          <a:p>
            <a:pPr algn="l" rtl="0" fontAlgn="base"/>
            <a:r>
              <a:rPr lang="en-IN" sz="2000" b="0" i="0" dirty="0">
                <a:solidFill>
                  <a:schemeClr val="tx1"/>
                </a:solidFill>
                <a:effectLst/>
                <a:latin typeface="Nunito" pitchFamily="2" charset="77"/>
              </a:rPr>
              <a:t>An abstract class can contain both </a:t>
            </a:r>
            <a:r>
              <a:rPr lang="en-IN" sz="2000" b="1" i="0" dirty="0">
                <a:solidFill>
                  <a:schemeClr val="tx1"/>
                </a:solidFill>
                <a:effectLst/>
                <a:latin typeface="Nunito" pitchFamily="2" charset="77"/>
              </a:rPr>
              <a:t>abstract methods</a:t>
            </a:r>
            <a:r>
              <a:rPr lang="en-IN" sz="2000" b="0" i="0" dirty="0">
                <a:solidFill>
                  <a:schemeClr val="tx1"/>
                </a:solidFill>
                <a:effectLst/>
                <a:latin typeface="Nunito" pitchFamily="2" charset="77"/>
              </a:rPr>
              <a:t> (methods without an implementation) and </a:t>
            </a:r>
            <a:r>
              <a:rPr lang="en-IN" sz="2000" b="1" i="0" dirty="0">
                <a:solidFill>
                  <a:schemeClr val="tx1"/>
                </a:solidFill>
                <a:effectLst/>
                <a:latin typeface="Nunito" pitchFamily="2" charset="77"/>
              </a:rPr>
              <a:t>concrete methods </a:t>
            </a:r>
            <a:r>
              <a:rPr lang="en-IN" sz="2000" b="0" i="0" dirty="0">
                <a:solidFill>
                  <a:schemeClr val="tx1"/>
                </a:solidFill>
                <a:effectLst/>
                <a:latin typeface="Nunito" pitchFamily="2" charset="77"/>
              </a:rPr>
              <a:t>(methods with an implementation).</a:t>
            </a:r>
          </a:p>
          <a:p>
            <a:pPr algn="l" fontAlgn="base"/>
            <a:endParaRPr lang="en-IN" sz="2000" b="1" i="0" dirty="0">
              <a:solidFill>
                <a:schemeClr val="tx1"/>
              </a:solidFill>
              <a:effectLst/>
              <a:latin typeface="Nunito" pitchFamily="2" charset="77"/>
            </a:endParaRPr>
          </a:p>
          <a:p>
            <a:pPr algn="l" rtl="0" fontAlgn="base"/>
            <a:r>
              <a:rPr lang="en-IN" sz="2000" b="0" i="0" dirty="0">
                <a:solidFill>
                  <a:schemeClr val="tx1"/>
                </a:solidFill>
                <a:effectLst/>
                <a:latin typeface="Nunito" pitchFamily="2" charset="77"/>
              </a:rPr>
              <a:t>Abstract classes can have member variables, including </a:t>
            </a:r>
            <a:r>
              <a:rPr lang="en-IN" sz="2000" b="1" i="0" dirty="0">
                <a:solidFill>
                  <a:schemeClr val="tx1"/>
                </a:solidFill>
                <a:effectLst/>
                <a:latin typeface="Nunito" pitchFamily="2" charset="77"/>
              </a:rPr>
              <a:t>final</a:t>
            </a:r>
            <a:r>
              <a:rPr lang="en-IN" sz="2000" b="0" i="0" dirty="0">
                <a:solidFill>
                  <a:schemeClr val="tx1"/>
                </a:solidFill>
                <a:effectLst/>
                <a:latin typeface="Nunito" pitchFamily="2" charset="77"/>
              </a:rPr>
              <a:t>, </a:t>
            </a:r>
            <a:r>
              <a:rPr lang="en-IN" sz="2000" b="1" i="0" dirty="0">
                <a:solidFill>
                  <a:schemeClr val="tx1"/>
                </a:solidFill>
                <a:effectLst/>
                <a:latin typeface="Nunito" pitchFamily="2" charset="77"/>
              </a:rPr>
              <a:t>non-final</a:t>
            </a:r>
            <a:r>
              <a:rPr lang="en-IN" sz="2000" b="0" i="0" dirty="0">
                <a:solidFill>
                  <a:schemeClr val="tx1"/>
                </a:solidFill>
                <a:effectLst/>
                <a:latin typeface="Nunito" pitchFamily="2" charset="77"/>
              </a:rPr>
              <a:t>, </a:t>
            </a:r>
            <a:r>
              <a:rPr lang="en-IN" sz="2000" b="1" i="0" dirty="0">
                <a:solidFill>
                  <a:schemeClr val="tx1"/>
                </a:solidFill>
                <a:effectLst/>
                <a:latin typeface="Nunito" pitchFamily="2" charset="77"/>
              </a:rPr>
              <a:t>static</a:t>
            </a:r>
            <a:r>
              <a:rPr lang="en-IN" sz="2000" b="0" i="0" dirty="0">
                <a:solidFill>
                  <a:schemeClr val="tx1"/>
                </a:solidFill>
                <a:effectLst/>
                <a:latin typeface="Nunito" pitchFamily="2" charset="77"/>
              </a:rPr>
              <a:t>, and </a:t>
            </a:r>
            <a:r>
              <a:rPr lang="en-IN" sz="2000" b="1" i="0" dirty="0">
                <a:solidFill>
                  <a:schemeClr val="tx1"/>
                </a:solidFill>
                <a:effectLst/>
                <a:latin typeface="Nunito" pitchFamily="2" charset="77"/>
              </a:rPr>
              <a:t>non-static </a:t>
            </a:r>
            <a:r>
              <a:rPr lang="en-IN" sz="2000" b="0" i="0" dirty="0">
                <a:solidFill>
                  <a:schemeClr val="tx1"/>
                </a:solidFill>
                <a:effectLst/>
                <a:latin typeface="Nunito" pitchFamily="2" charset="77"/>
              </a:rPr>
              <a:t>variables.</a:t>
            </a:r>
          </a:p>
          <a:p>
            <a:pPr algn="l" fontAlgn="base"/>
            <a:endParaRPr lang="en-IN" sz="2000" b="1" i="0" dirty="0">
              <a:solidFill>
                <a:schemeClr val="tx1"/>
              </a:solidFill>
              <a:effectLst/>
              <a:latin typeface="Nunito" pitchFamily="2" charset="77"/>
            </a:endParaRPr>
          </a:p>
          <a:p>
            <a:pPr algn="l" rtl="0" fontAlgn="base"/>
            <a:r>
              <a:rPr lang="en-IN" sz="2000" b="0" i="0" dirty="0">
                <a:solidFill>
                  <a:schemeClr val="tx1"/>
                </a:solidFill>
                <a:effectLst/>
                <a:latin typeface="Nunito" pitchFamily="2" charset="77"/>
              </a:rPr>
              <a:t>Abstract classes can have </a:t>
            </a:r>
            <a:r>
              <a:rPr lang="en-IN" sz="2000" b="1" i="0" dirty="0">
                <a:solidFill>
                  <a:schemeClr val="tx1"/>
                </a:solidFill>
                <a:effectLst/>
                <a:latin typeface="Nunito" pitchFamily="2" charset="77"/>
              </a:rPr>
              <a:t>constructors</a:t>
            </a:r>
            <a:r>
              <a:rPr lang="en-IN" sz="2000" b="0" i="0" dirty="0">
                <a:solidFill>
                  <a:schemeClr val="tx1"/>
                </a:solidFill>
                <a:effectLst/>
                <a:latin typeface="Nunito" pitchFamily="2" charset="77"/>
              </a:rPr>
              <a:t>, which can be used to initialize variables in the abstract class when it is instantiated by a subclass.</a:t>
            </a:r>
          </a:p>
          <a:p>
            <a:endParaRPr lang="en-US" sz="2000" dirty="0">
              <a:solidFill>
                <a:schemeClr val="tx1"/>
              </a:solidFill>
            </a:endParaRPr>
          </a:p>
        </p:txBody>
      </p:sp>
      <p:sp>
        <p:nvSpPr>
          <p:cNvPr id="4" name="Footer Placeholder 3">
            <a:extLst>
              <a:ext uri="{FF2B5EF4-FFF2-40B4-BE49-F238E27FC236}">
                <a16:creationId xmlns:a16="http://schemas.microsoft.com/office/drawing/2014/main" id="{94B570C0-85D1-D604-CD20-409C9F5DAAC5}"/>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9133354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BFEBB-4BE7-EC01-914F-758717033C8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8315D0B-3C88-C487-479A-A48E9313D26A}"/>
              </a:ext>
            </a:extLst>
          </p:cNvPr>
          <p:cNvSpPr>
            <a:spLocks noGrp="1"/>
          </p:cNvSpPr>
          <p:nvPr>
            <p:ph idx="1"/>
          </p:nvPr>
        </p:nvSpPr>
        <p:spPr>
          <a:xfrm>
            <a:off x="457200" y="487362"/>
            <a:ext cx="8229600" cy="5029200"/>
          </a:xfrm>
        </p:spPr>
        <p:txBody>
          <a:bodyPr/>
          <a:lstStyle/>
          <a:p>
            <a:pPr marL="0" marR="0" indent="0">
              <a:spcBef>
                <a:spcPts val="0"/>
              </a:spcBef>
              <a:spcAft>
                <a:spcPts val="0"/>
              </a:spcAft>
              <a:buNone/>
            </a:pPr>
            <a:r>
              <a:rPr lang="en-IN" sz="1400" dirty="0">
                <a:solidFill>
                  <a:srgbClr val="3F7F5F"/>
                </a:solidFill>
                <a:effectLst/>
                <a:latin typeface="Menlo" panose="020B0609030804020204" pitchFamily="49" charset="0"/>
              </a:rPr>
              <a:t>//A simple interface</a:t>
            </a:r>
            <a:endParaRPr lang="en-IN" sz="1400" dirty="0">
              <a:solidFill>
                <a:srgbClr val="000000"/>
              </a:solidFill>
              <a:effectLst/>
              <a:latin typeface="Menlo" panose="020B0609030804020204" pitchFamily="49" charset="0"/>
            </a:endParaRPr>
          </a:p>
          <a:p>
            <a:pPr marL="0" marR="0" indent="0">
              <a:spcBef>
                <a:spcPts val="0"/>
              </a:spcBef>
              <a:spcAft>
                <a:spcPts val="0"/>
              </a:spcAft>
              <a:buNone/>
            </a:pPr>
            <a:r>
              <a:rPr lang="en-IN" sz="1400" b="1" dirty="0">
                <a:solidFill>
                  <a:srgbClr val="7F0055"/>
                </a:solidFill>
                <a:effectLst/>
                <a:latin typeface="Menlo" panose="020B0609030804020204" pitchFamily="49" charset="0"/>
              </a:rPr>
              <a:t>interface</a:t>
            </a:r>
            <a:r>
              <a:rPr lang="en-IN" sz="1400" dirty="0">
                <a:solidFill>
                  <a:srgbClr val="000000"/>
                </a:solidFill>
                <a:effectLst/>
                <a:latin typeface="Menlo" panose="020B0609030804020204" pitchFamily="49" charset="0"/>
              </a:rPr>
              <a:t> In1 {</a:t>
            </a:r>
          </a:p>
          <a:p>
            <a:pPr marL="0" marR="0" indent="0">
              <a:spcBef>
                <a:spcPts val="0"/>
              </a:spcBef>
              <a:spcAft>
                <a:spcPts val="0"/>
              </a:spcAft>
              <a:buNone/>
            </a:pPr>
            <a:r>
              <a:rPr lang="en-IN" sz="1400" dirty="0">
                <a:solidFill>
                  <a:srgbClr val="3F7F5F"/>
                </a:solidFill>
                <a:effectLst/>
                <a:latin typeface="Menlo" panose="020B0609030804020204" pitchFamily="49" charset="0"/>
              </a:rPr>
              <a:t>// public, static and final</a:t>
            </a:r>
            <a:endParaRPr lang="en-IN" sz="1400" dirty="0">
              <a:solidFill>
                <a:srgbClr val="000000"/>
              </a:solidFill>
              <a:effectLst/>
              <a:latin typeface="Menlo" panose="020B0609030804020204" pitchFamily="49" charset="0"/>
            </a:endParaRPr>
          </a:p>
          <a:p>
            <a:pPr marL="0" marR="0" indent="0">
              <a:spcBef>
                <a:spcPts val="0"/>
              </a:spcBef>
              <a:spcAft>
                <a:spcPts val="0"/>
              </a:spcAft>
              <a:buNone/>
            </a:pPr>
            <a:r>
              <a:rPr lang="en-IN" sz="1400" b="1" dirty="0">
                <a:solidFill>
                  <a:srgbClr val="7F0055"/>
                </a:solidFill>
                <a:effectLst/>
                <a:latin typeface="Menlo" panose="020B0609030804020204" pitchFamily="49" charset="0"/>
              </a:rPr>
              <a:t>final</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int</a:t>
            </a:r>
            <a:r>
              <a:rPr lang="en-IN" sz="1400" dirty="0">
                <a:solidFill>
                  <a:srgbClr val="000000"/>
                </a:solidFill>
                <a:effectLst/>
                <a:latin typeface="Menlo" panose="020B0609030804020204" pitchFamily="49" charset="0"/>
              </a:rPr>
              <a:t> </a:t>
            </a:r>
            <a:r>
              <a:rPr lang="en-IN" sz="1400" b="1" i="1" dirty="0">
                <a:solidFill>
                  <a:srgbClr val="0000C0"/>
                </a:solidFill>
                <a:effectLst/>
                <a:latin typeface="Menlo" panose="020B0609030804020204" pitchFamily="49" charset="0"/>
              </a:rPr>
              <a:t>a</a:t>
            </a:r>
            <a:r>
              <a:rPr lang="en-IN" sz="1400" dirty="0">
                <a:solidFill>
                  <a:srgbClr val="000000"/>
                </a:solidFill>
                <a:effectLst/>
                <a:latin typeface="Menlo" panose="020B0609030804020204" pitchFamily="49" charset="0"/>
              </a:rPr>
              <a:t> = 10;</a:t>
            </a:r>
          </a:p>
          <a:p>
            <a:pPr marL="0" marR="0" indent="0">
              <a:spcBef>
                <a:spcPts val="0"/>
              </a:spcBef>
              <a:spcAft>
                <a:spcPts val="0"/>
              </a:spcAft>
              <a:buNone/>
            </a:pPr>
            <a:endParaRPr lang="en-IN" sz="1400" dirty="0">
              <a:solidFill>
                <a:srgbClr val="000000"/>
              </a:solidFill>
              <a:effectLst/>
              <a:latin typeface="Menlo" panose="020B0609030804020204" pitchFamily="49" charset="0"/>
            </a:endParaRPr>
          </a:p>
          <a:p>
            <a:pPr marL="0" marR="0" indent="0">
              <a:spcBef>
                <a:spcPts val="0"/>
              </a:spcBef>
              <a:spcAft>
                <a:spcPts val="0"/>
              </a:spcAft>
              <a:buNone/>
            </a:pPr>
            <a:r>
              <a:rPr lang="en-IN" sz="1400" dirty="0">
                <a:solidFill>
                  <a:srgbClr val="3F7F5F"/>
                </a:solidFill>
                <a:effectLst/>
                <a:latin typeface="Menlo" panose="020B0609030804020204" pitchFamily="49" charset="0"/>
              </a:rPr>
              <a:t>// public and abstract</a:t>
            </a:r>
            <a:endParaRPr lang="en-IN" sz="1400" dirty="0">
              <a:solidFill>
                <a:srgbClr val="000000"/>
              </a:solidFill>
              <a:effectLst/>
              <a:latin typeface="Menlo" panose="020B0609030804020204" pitchFamily="49" charset="0"/>
            </a:endParaRPr>
          </a:p>
          <a:p>
            <a:pPr marL="0" marR="0" indent="0">
              <a:spcBef>
                <a:spcPts val="0"/>
              </a:spcBef>
              <a:spcAft>
                <a:spcPts val="0"/>
              </a:spcAft>
              <a:buNone/>
            </a:pPr>
            <a:r>
              <a:rPr lang="en-IN" sz="1400" b="1" dirty="0">
                <a:solidFill>
                  <a:srgbClr val="7F0055"/>
                </a:solidFill>
                <a:effectLst/>
                <a:latin typeface="Menlo" panose="020B0609030804020204" pitchFamily="49" charset="0"/>
              </a:rPr>
              <a:t>void</a:t>
            </a:r>
            <a:r>
              <a:rPr lang="en-IN" sz="1400" dirty="0">
                <a:solidFill>
                  <a:srgbClr val="000000"/>
                </a:solidFill>
                <a:effectLst/>
                <a:latin typeface="Menlo" panose="020B0609030804020204" pitchFamily="49" charset="0"/>
              </a:rPr>
              <a:t> display();</a:t>
            </a:r>
          </a:p>
          <a:p>
            <a:pPr marL="0" marR="0" indent="0">
              <a:spcBef>
                <a:spcPts val="0"/>
              </a:spcBef>
              <a:spcAft>
                <a:spcPts val="0"/>
              </a:spcAft>
              <a:buNone/>
            </a:pPr>
            <a:r>
              <a:rPr lang="en-IN" sz="1400" dirty="0">
                <a:solidFill>
                  <a:srgbClr val="000000"/>
                </a:solidFill>
                <a:effectLst/>
                <a:latin typeface="Menlo" panose="020B0609030804020204" pitchFamily="49" charset="0"/>
              </a:rPr>
              <a:t>}</a:t>
            </a:r>
          </a:p>
          <a:p>
            <a:pPr marL="0" marR="0" indent="0">
              <a:spcBef>
                <a:spcPts val="0"/>
              </a:spcBef>
              <a:spcAft>
                <a:spcPts val="0"/>
              </a:spcAft>
              <a:buNone/>
            </a:pPr>
            <a:endParaRPr lang="en-IN" sz="1400" dirty="0">
              <a:solidFill>
                <a:srgbClr val="000000"/>
              </a:solidFill>
              <a:effectLst/>
              <a:latin typeface="Menlo" panose="020B0609030804020204" pitchFamily="49" charset="0"/>
            </a:endParaRPr>
          </a:p>
          <a:p>
            <a:pPr marL="0" marR="0" indent="0">
              <a:spcBef>
                <a:spcPts val="0"/>
              </a:spcBef>
              <a:spcAft>
                <a:spcPts val="0"/>
              </a:spcAft>
              <a:buNone/>
            </a:pPr>
            <a:r>
              <a:rPr lang="en-IN" sz="1400" dirty="0">
                <a:solidFill>
                  <a:srgbClr val="3F7F5F"/>
                </a:solidFill>
                <a:effectLst/>
                <a:latin typeface="Menlo" panose="020B0609030804020204" pitchFamily="49" charset="0"/>
              </a:rPr>
              <a:t>//A class that implements the interface.</a:t>
            </a:r>
            <a:endParaRPr lang="en-IN" sz="1400" dirty="0">
              <a:solidFill>
                <a:srgbClr val="000000"/>
              </a:solidFill>
              <a:effectLst/>
              <a:latin typeface="Menlo" panose="020B0609030804020204" pitchFamily="49" charset="0"/>
            </a:endParaRPr>
          </a:p>
          <a:p>
            <a:pPr marL="0" marR="0" indent="0">
              <a:spcBef>
                <a:spcPts val="0"/>
              </a:spcBef>
              <a:spcAft>
                <a:spcPts val="0"/>
              </a:spcAft>
              <a:buNone/>
            </a:pPr>
            <a:r>
              <a:rPr lang="en-IN" sz="1400" b="1" dirty="0">
                <a:solidFill>
                  <a:srgbClr val="7F0055"/>
                </a:solidFill>
                <a:effectLst/>
                <a:latin typeface="Menlo" panose="020B0609030804020204" pitchFamily="49" charset="0"/>
              </a:rPr>
              <a:t>class</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TestClass</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implements</a:t>
            </a:r>
            <a:r>
              <a:rPr lang="en-IN" sz="1400" dirty="0">
                <a:solidFill>
                  <a:srgbClr val="000000"/>
                </a:solidFill>
                <a:effectLst/>
                <a:latin typeface="Menlo" panose="020B0609030804020204" pitchFamily="49" charset="0"/>
              </a:rPr>
              <a:t> In1 {</a:t>
            </a:r>
          </a:p>
          <a:p>
            <a:pPr marL="0" marR="0" indent="0">
              <a:spcBef>
                <a:spcPts val="0"/>
              </a:spcBef>
              <a:spcAft>
                <a:spcPts val="0"/>
              </a:spcAft>
              <a:buNone/>
            </a:pPr>
            <a:endParaRPr lang="en-IN" sz="1400" dirty="0">
              <a:solidFill>
                <a:srgbClr val="000000"/>
              </a:solidFill>
              <a:effectLst/>
              <a:latin typeface="Menlo" panose="020B0609030804020204" pitchFamily="49" charset="0"/>
            </a:endParaRPr>
          </a:p>
          <a:p>
            <a:pPr marL="0" marR="0" indent="0">
              <a:spcBef>
                <a:spcPts val="0"/>
              </a:spcBef>
              <a:spcAft>
                <a:spcPts val="0"/>
              </a:spcAft>
              <a:buNone/>
            </a:pPr>
            <a:r>
              <a:rPr lang="en-IN" sz="1400" dirty="0">
                <a:solidFill>
                  <a:srgbClr val="3F7F5F"/>
                </a:solidFill>
                <a:effectLst/>
                <a:latin typeface="Menlo" panose="020B0609030804020204" pitchFamily="49" charset="0"/>
              </a:rPr>
              <a:t>// Implementing the capabilities of</a:t>
            </a:r>
            <a:endParaRPr lang="en-IN" sz="1400" dirty="0">
              <a:solidFill>
                <a:srgbClr val="000000"/>
              </a:solidFill>
              <a:effectLst/>
              <a:latin typeface="Menlo" panose="020B0609030804020204" pitchFamily="49" charset="0"/>
            </a:endParaRPr>
          </a:p>
          <a:p>
            <a:pPr marL="0" marR="0" indent="0">
              <a:spcBef>
                <a:spcPts val="0"/>
              </a:spcBef>
              <a:spcAft>
                <a:spcPts val="0"/>
              </a:spcAft>
              <a:buNone/>
            </a:pPr>
            <a:r>
              <a:rPr lang="en-IN" sz="1400" dirty="0">
                <a:solidFill>
                  <a:srgbClr val="3F7F5F"/>
                </a:solidFill>
                <a:effectLst/>
                <a:latin typeface="Menlo" panose="020B0609030804020204" pitchFamily="49" charset="0"/>
              </a:rPr>
              <a:t>// interface.</a:t>
            </a:r>
            <a:endParaRPr lang="en-IN" sz="1400" dirty="0">
              <a:solidFill>
                <a:srgbClr val="000000"/>
              </a:solidFill>
              <a:effectLst/>
              <a:latin typeface="Menlo" panose="020B0609030804020204" pitchFamily="49" charset="0"/>
            </a:endParaRPr>
          </a:p>
          <a:p>
            <a:pPr marL="0" marR="0" indent="0">
              <a:spcBef>
                <a:spcPts val="0"/>
              </a:spcBef>
              <a:spcAft>
                <a:spcPts val="0"/>
              </a:spcAft>
              <a:buNone/>
            </a:pPr>
            <a:r>
              <a:rPr lang="en-IN" sz="1400" b="1" dirty="0">
                <a:solidFill>
                  <a:srgbClr val="7F0055"/>
                </a:solidFill>
                <a:effectLst/>
                <a:latin typeface="Menlo" panose="020B0609030804020204" pitchFamily="49" charset="0"/>
              </a:rPr>
              <a:t>public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void</a:t>
            </a:r>
            <a:r>
              <a:rPr lang="en-IN" sz="1400" dirty="0">
                <a:solidFill>
                  <a:srgbClr val="000000"/>
                </a:solidFill>
                <a:effectLst/>
                <a:latin typeface="Menlo" panose="020B0609030804020204" pitchFamily="49" charset="0"/>
              </a:rPr>
              <a:t> display(){ </a:t>
            </a:r>
          </a:p>
          <a:p>
            <a:pPr marL="0" marR="0" indent="0">
              <a:spcBef>
                <a:spcPts val="0"/>
              </a:spcBef>
              <a:spcAft>
                <a:spcPts val="0"/>
              </a:spcAft>
              <a:buNone/>
            </a:pPr>
            <a:r>
              <a:rPr lang="en-IN" sz="1400" dirty="0" err="1">
                <a:solidFill>
                  <a:srgbClr val="000000"/>
                </a:solidFill>
                <a:effectLst/>
                <a:latin typeface="Menlo" panose="020B0609030804020204" pitchFamily="49" charset="0"/>
              </a:rPr>
              <a:t>System.</a:t>
            </a:r>
            <a:r>
              <a:rPr lang="en-IN" sz="1400" b="1" i="1" dirty="0" err="1">
                <a:solidFill>
                  <a:srgbClr val="0000C0"/>
                </a:solidFill>
                <a:effectLst/>
                <a:latin typeface="Menlo" panose="020B0609030804020204" pitchFamily="49" charset="0"/>
              </a:rPr>
              <a:t>out</a:t>
            </a:r>
            <a:r>
              <a:rPr lang="en-IN" sz="1400" dirty="0" err="1">
                <a:solidFill>
                  <a:srgbClr val="000000"/>
                </a:solidFill>
                <a:effectLst/>
                <a:latin typeface="Menlo" panose="020B0609030804020204" pitchFamily="49" charset="0"/>
              </a:rPr>
              <a:t>.println</a:t>
            </a:r>
            <a:r>
              <a:rPr lang="en-IN" sz="1400" dirty="0">
                <a:solidFill>
                  <a:srgbClr val="000000"/>
                </a:solidFill>
                <a:effectLst/>
                <a:latin typeface="Menlo" panose="020B0609030804020204" pitchFamily="49" charset="0"/>
              </a:rPr>
              <a:t>(</a:t>
            </a:r>
            <a:r>
              <a:rPr lang="en-IN" sz="1400" dirty="0">
                <a:solidFill>
                  <a:srgbClr val="2A00FF"/>
                </a:solidFill>
                <a:effectLst/>
                <a:latin typeface="Menlo" panose="020B0609030804020204" pitchFamily="49" charset="0"/>
              </a:rPr>
              <a:t>"Geek"</a:t>
            </a: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dirty="0">
                <a:solidFill>
                  <a:srgbClr val="000000"/>
                </a:solidFill>
                <a:effectLst/>
                <a:latin typeface="Menlo" panose="020B0609030804020204" pitchFamily="49" charset="0"/>
              </a:rPr>
              <a:t>}</a:t>
            </a:r>
          </a:p>
          <a:p>
            <a:pPr marL="0" marR="0" indent="0">
              <a:spcBef>
                <a:spcPts val="0"/>
              </a:spcBef>
              <a:spcAft>
                <a:spcPts val="0"/>
              </a:spcAft>
              <a:buNone/>
            </a:pPr>
            <a:endParaRPr lang="en-IN" sz="1400" dirty="0">
              <a:solidFill>
                <a:srgbClr val="000000"/>
              </a:solidFill>
              <a:effectLst/>
              <a:latin typeface="Menlo" panose="020B0609030804020204" pitchFamily="49" charset="0"/>
            </a:endParaRPr>
          </a:p>
          <a:p>
            <a:pPr marL="0" marR="0" indent="0">
              <a:spcBef>
                <a:spcPts val="0"/>
              </a:spcBef>
              <a:spcAft>
                <a:spcPts val="0"/>
              </a:spcAft>
              <a:buNone/>
            </a:pPr>
            <a:r>
              <a:rPr lang="en-IN" sz="1400" dirty="0">
                <a:solidFill>
                  <a:srgbClr val="3F7F5F"/>
                </a:solidFill>
                <a:effectLst/>
                <a:latin typeface="Menlo" panose="020B0609030804020204" pitchFamily="49" charset="0"/>
              </a:rPr>
              <a:t>// Driver Code</a:t>
            </a:r>
            <a:endParaRPr lang="en-IN" sz="1400" dirty="0">
              <a:solidFill>
                <a:srgbClr val="000000"/>
              </a:solidFill>
              <a:effectLst/>
              <a:latin typeface="Menlo" panose="020B0609030804020204" pitchFamily="49" charset="0"/>
            </a:endParaRPr>
          </a:p>
          <a:p>
            <a:pPr marL="0" marR="0" indent="0">
              <a:spcBef>
                <a:spcPts val="0"/>
              </a:spcBef>
              <a:spcAft>
                <a:spcPts val="0"/>
              </a:spcAft>
              <a:buNone/>
            </a:pPr>
            <a:r>
              <a:rPr lang="en-IN" sz="1400" b="1" dirty="0">
                <a:solidFill>
                  <a:srgbClr val="7F0055"/>
                </a:solidFill>
                <a:effectLst/>
                <a:latin typeface="Menlo" panose="020B0609030804020204" pitchFamily="49" charset="0"/>
              </a:rPr>
              <a:t>public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static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void</a:t>
            </a:r>
            <a:r>
              <a:rPr lang="en-IN" sz="1400" dirty="0">
                <a:solidFill>
                  <a:srgbClr val="000000"/>
                </a:solidFill>
                <a:effectLst/>
                <a:latin typeface="Menlo" panose="020B0609030804020204" pitchFamily="49" charset="0"/>
              </a:rPr>
              <a:t> main(String[] </a:t>
            </a:r>
            <a:r>
              <a:rPr lang="en-IN" sz="1400" dirty="0" err="1">
                <a:solidFill>
                  <a:srgbClr val="6A3E3E"/>
                </a:solidFill>
                <a:effectLst/>
                <a:latin typeface="Menlo" panose="020B0609030804020204" pitchFamily="49" charset="0"/>
              </a:rPr>
              <a:t>args</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err="1">
                <a:solidFill>
                  <a:srgbClr val="000000"/>
                </a:solidFill>
                <a:effectLst/>
                <a:latin typeface="Menlo" panose="020B0609030804020204" pitchFamily="49" charset="0"/>
              </a:rPr>
              <a:t>TestClass</a:t>
            </a:r>
            <a:r>
              <a:rPr lang="en-IN" sz="1400" dirty="0">
                <a:solidFill>
                  <a:srgbClr val="000000"/>
                </a:solidFill>
                <a:effectLst/>
                <a:latin typeface="Menlo" panose="020B0609030804020204" pitchFamily="49" charset="0"/>
              </a:rPr>
              <a:t> </a:t>
            </a:r>
            <a:r>
              <a:rPr lang="en-IN" sz="1400" dirty="0">
                <a:solidFill>
                  <a:srgbClr val="6A3E3E"/>
                </a:solidFill>
                <a:effectLst/>
                <a:latin typeface="Menlo" panose="020B0609030804020204" pitchFamily="49" charset="0"/>
              </a:rPr>
              <a:t>t</a:t>
            </a:r>
            <a:r>
              <a:rPr lang="en-IN" sz="1400" dirty="0">
                <a:solidFill>
                  <a:srgbClr val="000000"/>
                </a:solidFill>
                <a:effectLst/>
                <a:latin typeface="Menlo" panose="020B0609030804020204" pitchFamily="49" charset="0"/>
              </a:rPr>
              <a:t> = </a:t>
            </a:r>
            <a:r>
              <a:rPr lang="en-IN" sz="1400" b="1" dirty="0">
                <a:solidFill>
                  <a:srgbClr val="7F0055"/>
                </a:solidFill>
                <a:effectLst/>
                <a:latin typeface="Menlo" panose="020B0609030804020204" pitchFamily="49" charset="0"/>
              </a:rPr>
              <a:t>new</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TestClass</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err="1">
                <a:solidFill>
                  <a:srgbClr val="6A3E3E"/>
                </a:solidFill>
                <a:effectLst/>
                <a:latin typeface="Menlo" panose="020B0609030804020204" pitchFamily="49" charset="0"/>
              </a:rPr>
              <a:t>t</a:t>
            </a:r>
            <a:r>
              <a:rPr lang="en-IN" sz="1400" dirty="0" err="1">
                <a:solidFill>
                  <a:srgbClr val="000000"/>
                </a:solidFill>
                <a:effectLst/>
                <a:latin typeface="Menlo" panose="020B0609030804020204" pitchFamily="49" charset="0"/>
              </a:rPr>
              <a:t>.display</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err="1">
                <a:solidFill>
                  <a:srgbClr val="000000"/>
                </a:solidFill>
                <a:effectLst/>
                <a:latin typeface="Menlo" panose="020B0609030804020204" pitchFamily="49" charset="0"/>
              </a:rPr>
              <a:t>System.</a:t>
            </a:r>
            <a:r>
              <a:rPr lang="en-IN" sz="1400" b="1" i="1" dirty="0" err="1">
                <a:solidFill>
                  <a:srgbClr val="0000C0"/>
                </a:solidFill>
                <a:effectLst/>
                <a:latin typeface="Menlo" panose="020B0609030804020204" pitchFamily="49" charset="0"/>
              </a:rPr>
              <a:t>out</a:t>
            </a:r>
            <a:r>
              <a:rPr lang="en-IN" sz="1400" dirty="0" err="1">
                <a:solidFill>
                  <a:srgbClr val="000000"/>
                </a:solidFill>
                <a:effectLst/>
                <a:latin typeface="Menlo" panose="020B0609030804020204" pitchFamily="49" charset="0"/>
              </a:rPr>
              <a:t>.println</a:t>
            </a:r>
            <a:r>
              <a:rPr lang="en-IN" sz="1400" dirty="0">
                <a:solidFill>
                  <a:srgbClr val="000000"/>
                </a:solidFill>
                <a:effectLst/>
                <a:latin typeface="Menlo" panose="020B0609030804020204" pitchFamily="49" charset="0"/>
              </a:rPr>
              <a:t>(</a:t>
            </a:r>
            <a:r>
              <a:rPr lang="en-IN" sz="1400" dirty="0" err="1">
                <a:solidFill>
                  <a:srgbClr val="6A3E3E"/>
                </a:solidFill>
                <a:effectLst/>
                <a:latin typeface="Menlo" panose="020B0609030804020204" pitchFamily="49" charset="0"/>
              </a:rPr>
              <a:t>t</a:t>
            </a:r>
            <a:r>
              <a:rPr lang="en-IN" sz="1400" dirty="0" err="1">
                <a:solidFill>
                  <a:srgbClr val="000000"/>
                </a:solidFill>
                <a:effectLst/>
                <a:latin typeface="Menlo" panose="020B0609030804020204" pitchFamily="49" charset="0"/>
              </a:rPr>
              <a:t>.</a:t>
            </a:r>
            <a:r>
              <a:rPr lang="en-IN" sz="1400" b="1" i="1" u="sng" dirty="0" err="1">
                <a:solidFill>
                  <a:srgbClr val="0000C0"/>
                </a:solidFill>
                <a:effectLst/>
                <a:latin typeface="Menlo" panose="020B0609030804020204" pitchFamily="49" charset="0"/>
              </a:rPr>
              <a:t>a</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000000"/>
                </a:solidFill>
                <a:effectLst/>
                <a:latin typeface="Menlo" panose="020B0609030804020204" pitchFamily="49" charset="0"/>
              </a:rPr>
              <a:t>}</a:t>
            </a:r>
          </a:p>
        </p:txBody>
      </p:sp>
      <p:sp>
        <p:nvSpPr>
          <p:cNvPr id="4" name="Footer Placeholder 3">
            <a:extLst>
              <a:ext uri="{FF2B5EF4-FFF2-40B4-BE49-F238E27FC236}">
                <a16:creationId xmlns:a16="http://schemas.microsoft.com/office/drawing/2014/main" id="{E1ABA629-769B-B31B-5B73-9006ED9090C4}"/>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732992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7B4A6-8C70-D7FD-50FD-85051933671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6DFC6A3-3A58-2FFB-BE5B-6958DDCDFA36}"/>
              </a:ext>
            </a:extLst>
          </p:cNvPr>
          <p:cNvSpPr>
            <a:spLocks noGrp="1"/>
          </p:cNvSpPr>
          <p:nvPr>
            <p:ph idx="1"/>
          </p:nvPr>
        </p:nvSpPr>
        <p:spPr>
          <a:xfrm>
            <a:off x="457200" y="487362"/>
            <a:ext cx="8229600" cy="5029200"/>
          </a:xfrm>
        </p:spPr>
        <p:txBody>
          <a:bodyPr/>
          <a:lstStyle/>
          <a:p>
            <a:pPr marL="0" marR="0" indent="0">
              <a:spcBef>
                <a:spcPts val="0"/>
              </a:spcBef>
              <a:spcAft>
                <a:spcPts val="0"/>
              </a:spcAft>
              <a:buNone/>
            </a:pPr>
            <a:r>
              <a:rPr lang="en-IN" sz="1400" b="1" dirty="0">
                <a:solidFill>
                  <a:srgbClr val="7F0055"/>
                </a:solidFill>
                <a:effectLst/>
                <a:latin typeface="Menlo" panose="020B0609030804020204" pitchFamily="49" charset="0"/>
              </a:rPr>
              <a:t>interface</a:t>
            </a:r>
            <a:r>
              <a:rPr lang="en-IN" sz="1400" dirty="0">
                <a:solidFill>
                  <a:srgbClr val="000000"/>
                </a:solidFill>
                <a:effectLst/>
                <a:latin typeface="Menlo" panose="020B0609030804020204" pitchFamily="49" charset="0"/>
              </a:rPr>
              <a:t> Vehicle {</a:t>
            </a:r>
          </a:p>
          <a:p>
            <a:pPr marL="0" marR="0" indent="0">
              <a:spcBef>
                <a:spcPts val="0"/>
              </a:spcBef>
              <a:spcAft>
                <a:spcPts val="0"/>
              </a:spcAft>
              <a:buNone/>
            </a:pPr>
            <a:r>
              <a:rPr lang="en-IN" sz="1400" b="1" dirty="0">
                <a:solidFill>
                  <a:srgbClr val="7F0055"/>
                </a:solidFill>
                <a:effectLst/>
                <a:latin typeface="Menlo" panose="020B0609030804020204" pitchFamily="49" charset="0"/>
              </a:rPr>
              <a:t>void</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changeGear</a:t>
            </a:r>
            <a:r>
              <a:rPr lang="en-IN" sz="1400" dirty="0">
                <a:solidFill>
                  <a:srgbClr val="000000"/>
                </a:solidFill>
                <a:effectLst/>
                <a:latin typeface="Menlo" panose="020B0609030804020204" pitchFamily="49" charset="0"/>
              </a:rPr>
              <a:t>(</a:t>
            </a:r>
            <a:r>
              <a:rPr lang="en-IN" sz="1400" b="1" dirty="0">
                <a:solidFill>
                  <a:srgbClr val="7F0055"/>
                </a:solidFill>
                <a:effectLst/>
                <a:latin typeface="Menlo" panose="020B0609030804020204" pitchFamily="49" charset="0"/>
              </a:rPr>
              <a:t>int</a:t>
            </a:r>
            <a:r>
              <a:rPr lang="en-IN" sz="1400" dirty="0">
                <a:solidFill>
                  <a:srgbClr val="000000"/>
                </a:solidFill>
                <a:effectLst/>
                <a:latin typeface="Menlo" panose="020B0609030804020204" pitchFamily="49" charset="0"/>
              </a:rPr>
              <a:t> </a:t>
            </a:r>
            <a:r>
              <a:rPr lang="en-IN" sz="1400" dirty="0">
                <a:solidFill>
                  <a:srgbClr val="6A3E3E"/>
                </a:solidFill>
                <a:effectLst/>
                <a:latin typeface="Menlo" panose="020B0609030804020204" pitchFamily="49" charset="0"/>
              </a:rPr>
              <a:t>a</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b="1" dirty="0">
                <a:solidFill>
                  <a:srgbClr val="7F0055"/>
                </a:solidFill>
                <a:effectLst/>
                <a:latin typeface="Menlo" panose="020B0609030804020204" pitchFamily="49" charset="0"/>
              </a:rPr>
              <a:t>void</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speedUp</a:t>
            </a:r>
            <a:r>
              <a:rPr lang="en-IN" sz="1400" dirty="0">
                <a:solidFill>
                  <a:srgbClr val="000000"/>
                </a:solidFill>
                <a:effectLst/>
                <a:latin typeface="Menlo" panose="020B0609030804020204" pitchFamily="49" charset="0"/>
              </a:rPr>
              <a:t>(</a:t>
            </a:r>
            <a:r>
              <a:rPr lang="en-IN" sz="1400" b="1" dirty="0">
                <a:solidFill>
                  <a:srgbClr val="7F0055"/>
                </a:solidFill>
                <a:effectLst/>
                <a:latin typeface="Menlo" panose="020B0609030804020204" pitchFamily="49" charset="0"/>
              </a:rPr>
              <a:t>int</a:t>
            </a:r>
            <a:r>
              <a:rPr lang="en-IN" sz="1400" dirty="0">
                <a:solidFill>
                  <a:srgbClr val="000000"/>
                </a:solidFill>
                <a:effectLst/>
                <a:latin typeface="Menlo" panose="020B0609030804020204" pitchFamily="49" charset="0"/>
              </a:rPr>
              <a:t> </a:t>
            </a:r>
            <a:r>
              <a:rPr lang="en-IN" sz="1400" dirty="0">
                <a:solidFill>
                  <a:srgbClr val="6A3E3E"/>
                </a:solidFill>
                <a:effectLst/>
                <a:latin typeface="Menlo" panose="020B0609030804020204" pitchFamily="49" charset="0"/>
              </a:rPr>
              <a:t>a</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b="1" dirty="0">
                <a:solidFill>
                  <a:srgbClr val="7F0055"/>
                </a:solidFill>
                <a:effectLst/>
                <a:latin typeface="Menlo" panose="020B0609030804020204" pitchFamily="49" charset="0"/>
              </a:rPr>
              <a:t>void</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applyBrakes</a:t>
            </a:r>
            <a:r>
              <a:rPr lang="en-IN" sz="1400" dirty="0">
                <a:solidFill>
                  <a:srgbClr val="000000"/>
                </a:solidFill>
                <a:effectLst/>
                <a:latin typeface="Menlo" panose="020B0609030804020204" pitchFamily="49" charset="0"/>
              </a:rPr>
              <a:t>(</a:t>
            </a:r>
            <a:r>
              <a:rPr lang="en-IN" sz="1400" b="1" dirty="0">
                <a:solidFill>
                  <a:srgbClr val="7F0055"/>
                </a:solidFill>
                <a:effectLst/>
                <a:latin typeface="Menlo" panose="020B0609030804020204" pitchFamily="49" charset="0"/>
              </a:rPr>
              <a:t>int</a:t>
            </a:r>
            <a:r>
              <a:rPr lang="en-IN" sz="1400" dirty="0">
                <a:solidFill>
                  <a:srgbClr val="000000"/>
                </a:solidFill>
                <a:effectLst/>
                <a:latin typeface="Menlo" panose="020B0609030804020204" pitchFamily="49" charset="0"/>
              </a:rPr>
              <a:t> </a:t>
            </a:r>
            <a:r>
              <a:rPr lang="en-IN" sz="1400" dirty="0">
                <a:solidFill>
                  <a:srgbClr val="6A3E3E"/>
                </a:solidFill>
                <a:effectLst/>
                <a:latin typeface="Menlo" panose="020B0609030804020204" pitchFamily="49" charset="0"/>
              </a:rPr>
              <a:t>a</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b="1" dirty="0">
                <a:solidFill>
                  <a:srgbClr val="7F0055"/>
                </a:solidFill>
                <a:effectLst/>
                <a:latin typeface="Menlo" panose="020B0609030804020204" pitchFamily="49" charset="0"/>
              </a:rPr>
              <a:t>class</a:t>
            </a:r>
            <a:r>
              <a:rPr lang="en-IN" sz="1400" dirty="0">
                <a:solidFill>
                  <a:srgbClr val="000000"/>
                </a:solidFill>
                <a:effectLst/>
                <a:latin typeface="Menlo" panose="020B0609030804020204" pitchFamily="49" charset="0"/>
              </a:rPr>
              <a:t> Bicycle </a:t>
            </a:r>
            <a:r>
              <a:rPr lang="en-IN" sz="1400" b="1" dirty="0">
                <a:solidFill>
                  <a:srgbClr val="7F0055"/>
                </a:solidFill>
                <a:effectLst/>
                <a:latin typeface="Menlo" panose="020B0609030804020204" pitchFamily="49" charset="0"/>
              </a:rPr>
              <a:t>implements</a:t>
            </a:r>
            <a:r>
              <a:rPr lang="en-IN" sz="1400" dirty="0">
                <a:solidFill>
                  <a:srgbClr val="000000"/>
                </a:solidFill>
                <a:effectLst/>
                <a:latin typeface="Menlo" panose="020B0609030804020204" pitchFamily="49" charset="0"/>
              </a:rPr>
              <a:t> Vehicle{ </a:t>
            </a:r>
          </a:p>
          <a:p>
            <a:pPr marL="0" marR="0" indent="0">
              <a:spcBef>
                <a:spcPts val="0"/>
              </a:spcBef>
              <a:spcAft>
                <a:spcPts val="0"/>
              </a:spcAft>
              <a:buNone/>
            </a:pPr>
            <a:r>
              <a:rPr lang="en-IN" sz="1400" b="1" dirty="0">
                <a:solidFill>
                  <a:srgbClr val="7F0055"/>
                </a:solidFill>
                <a:effectLst/>
                <a:latin typeface="Menlo" panose="020B0609030804020204" pitchFamily="49" charset="0"/>
              </a:rPr>
              <a:t>int</a:t>
            </a:r>
            <a:r>
              <a:rPr lang="en-IN" sz="1400" dirty="0">
                <a:solidFill>
                  <a:srgbClr val="000000"/>
                </a:solidFill>
                <a:effectLst/>
                <a:latin typeface="Menlo" panose="020B0609030804020204" pitchFamily="49" charset="0"/>
              </a:rPr>
              <a:t> </a:t>
            </a:r>
            <a:r>
              <a:rPr lang="en-IN" sz="1400" dirty="0">
                <a:solidFill>
                  <a:srgbClr val="0000C0"/>
                </a:solidFill>
                <a:effectLst/>
                <a:latin typeface="Menlo" panose="020B0609030804020204" pitchFamily="49" charset="0"/>
              </a:rPr>
              <a:t>speed</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b="1" dirty="0">
                <a:solidFill>
                  <a:srgbClr val="7F0055"/>
                </a:solidFill>
                <a:effectLst/>
                <a:latin typeface="Menlo" panose="020B0609030804020204" pitchFamily="49" charset="0"/>
              </a:rPr>
              <a:t>int</a:t>
            </a:r>
            <a:r>
              <a:rPr lang="en-IN" sz="1400" dirty="0">
                <a:solidFill>
                  <a:srgbClr val="000000"/>
                </a:solidFill>
                <a:effectLst/>
                <a:latin typeface="Menlo" panose="020B0609030804020204" pitchFamily="49" charset="0"/>
              </a:rPr>
              <a:t> </a:t>
            </a:r>
            <a:r>
              <a:rPr lang="en-IN" sz="1400" dirty="0">
                <a:solidFill>
                  <a:srgbClr val="0000C0"/>
                </a:solidFill>
                <a:effectLst/>
                <a:latin typeface="Menlo" panose="020B0609030804020204" pitchFamily="49" charset="0"/>
              </a:rPr>
              <a:t>gear</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3F7F5F"/>
                </a:solidFill>
                <a:effectLst/>
                <a:latin typeface="Menlo" panose="020B0609030804020204" pitchFamily="49" charset="0"/>
              </a:rPr>
              <a:t>// to change gear</a:t>
            </a:r>
            <a:endParaRPr lang="en-IN" sz="1400" dirty="0">
              <a:solidFill>
                <a:srgbClr val="000000"/>
              </a:solidFill>
              <a:effectLst/>
              <a:latin typeface="Menlo" panose="020B0609030804020204" pitchFamily="49" charset="0"/>
            </a:endParaRPr>
          </a:p>
          <a:p>
            <a:pPr marL="0" marR="0" indent="0">
              <a:spcBef>
                <a:spcPts val="0"/>
              </a:spcBef>
              <a:spcAft>
                <a:spcPts val="0"/>
              </a:spcAft>
              <a:buNone/>
            </a:pPr>
            <a:r>
              <a:rPr lang="en-IN" sz="1400" dirty="0">
                <a:solidFill>
                  <a:srgbClr val="646464"/>
                </a:solidFill>
                <a:effectLst/>
                <a:latin typeface="Menlo" panose="020B0609030804020204" pitchFamily="49" charset="0"/>
              </a:rPr>
              <a:t>@Override</a:t>
            </a:r>
            <a:endParaRPr lang="en-IN" sz="1400" dirty="0">
              <a:solidFill>
                <a:srgbClr val="000000"/>
              </a:solidFill>
              <a:effectLst/>
              <a:latin typeface="Menlo" panose="020B0609030804020204" pitchFamily="49" charset="0"/>
            </a:endParaRPr>
          </a:p>
          <a:p>
            <a:pPr marL="0" marR="0" indent="0">
              <a:spcBef>
                <a:spcPts val="0"/>
              </a:spcBef>
              <a:spcAft>
                <a:spcPts val="0"/>
              </a:spcAft>
              <a:buNone/>
            </a:pPr>
            <a:r>
              <a:rPr lang="en-IN" sz="1400" b="1" dirty="0">
                <a:solidFill>
                  <a:srgbClr val="7F0055"/>
                </a:solidFill>
                <a:effectLst/>
                <a:latin typeface="Menlo" panose="020B0609030804020204" pitchFamily="49" charset="0"/>
              </a:rPr>
              <a:t>public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void</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changeGear</a:t>
            </a:r>
            <a:r>
              <a:rPr lang="en-IN" sz="1400" dirty="0">
                <a:solidFill>
                  <a:srgbClr val="000000"/>
                </a:solidFill>
                <a:effectLst/>
                <a:latin typeface="Menlo" panose="020B0609030804020204" pitchFamily="49" charset="0"/>
              </a:rPr>
              <a:t>(</a:t>
            </a:r>
            <a:r>
              <a:rPr lang="en-IN" sz="1400" b="1" dirty="0">
                <a:solidFill>
                  <a:srgbClr val="7F0055"/>
                </a:solidFill>
                <a:effectLst/>
                <a:latin typeface="Menlo" panose="020B0609030804020204" pitchFamily="49" charset="0"/>
              </a:rPr>
              <a:t>int</a:t>
            </a:r>
            <a:r>
              <a:rPr lang="en-IN" sz="1400" dirty="0">
                <a:solidFill>
                  <a:srgbClr val="000000"/>
                </a:solidFill>
                <a:effectLst/>
                <a:latin typeface="Menlo" panose="020B0609030804020204" pitchFamily="49" charset="0"/>
              </a:rPr>
              <a:t> </a:t>
            </a:r>
            <a:r>
              <a:rPr lang="en-IN" sz="1400" dirty="0" err="1">
                <a:solidFill>
                  <a:srgbClr val="6A3E3E"/>
                </a:solidFill>
                <a:effectLst/>
                <a:latin typeface="Menlo" panose="020B0609030804020204" pitchFamily="49" charset="0"/>
              </a:rPr>
              <a:t>newGear</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0000C0"/>
                </a:solidFill>
                <a:effectLst/>
                <a:latin typeface="Menlo" panose="020B0609030804020204" pitchFamily="49" charset="0"/>
              </a:rPr>
              <a:t>gear</a:t>
            </a:r>
            <a:r>
              <a:rPr lang="en-IN" sz="1400" dirty="0">
                <a:solidFill>
                  <a:srgbClr val="000000"/>
                </a:solidFill>
                <a:effectLst/>
                <a:latin typeface="Menlo" panose="020B0609030804020204" pitchFamily="49" charset="0"/>
              </a:rPr>
              <a:t> = </a:t>
            </a:r>
            <a:r>
              <a:rPr lang="en-IN" sz="1400" dirty="0" err="1">
                <a:solidFill>
                  <a:srgbClr val="6A3E3E"/>
                </a:solidFill>
                <a:effectLst/>
                <a:latin typeface="Menlo" panose="020B0609030804020204" pitchFamily="49" charset="0"/>
              </a:rPr>
              <a:t>newGear</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3F7F5F"/>
                </a:solidFill>
                <a:effectLst/>
                <a:latin typeface="Menlo" panose="020B0609030804020204" pitchFamily="49" charset="0"/>
              </a:rPr>
              <a:t>// to increase speed</a:t>
            </a:r>
            <a:endParaRPr lang="en-IN" sz="1400" dirty="0">
              <a:solidFill>
                <a:srgbClr val="000000"/>
              </a:solidFill>
              <a:effectLst/>
              <a:latin typeface="Menlo" panose="020B0609030804020204" pitchFamily="49" charset="0"/>
            </a:endParaRPr>
          </a:p>
          <a:p>
            <a:pPr marL="0" marR="0" indent="0">
              <a:spcBef>
                <a:spcPts val="0"/>
              </a:spcBef>
              <a:spcAft>
                <a:spcPts val="0"/>
              </a:spcAft>
              <a:buNone/>
            </a:pPr>
            <a:r>
              <a:rPr lang="en-IN" sz="1400" dirty="0">
                <a:solidFill>
                  <a:srgbClr val="646464"/>
                </a:solidFill>
                <a:effectLst/>
                <a:latin typeface="Menlo" panose="020B0609030804020204" pitchFamily="49" charset="0"/>
              </a:rPr>
              <a:t>@Override</a:t>
            </a:r>
            <a:endParaRPr lang="en-IN" sz="1400" dirty="0">
              <a:solidFill>
                <a:srgbClr val="000000"/>
              </a:solidFill>
              <a:effectLst/>
              <a:latin typeface="Menlo" panose="020B0609030804020204" pitchFamily="49" charset="0"/>
            </a:endParaRPr>
          </a:p>
          <a:p>
            <a:pPr marL="0" marR="0" indent="0">
              <a:spcBef>
                <a:spcPts val="0"/>
              </a:spcBef>
              <a:spcAft>
                <a:spcPts val="0"/>
              </a:spcAft>
              <a:buNone/>
            </a:pPr>
            <a:r>
              <a:rPr lang="en-IN" sz="1400" b="1" dirty="0">
                <a:solidFill>
                  <a:srgbClr val="7F0055"/>
                </a:solidFill>
                <a:effectLst/>
                <a:latin typeface="Menlo" panose="020B0609030804020204" pitchFamily="49" charset="0"/>
              </a:rPr>
              <a:t>public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void</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speedUp</a:t>
            </a:r>
            <a:r>
              <a:rPr lang="en-IN" sz="1400" dirty="0">
                <a:solidFill>
                  <a:srgbClr val="000000"/>
                </a:solidFill>
                <a:effectLst/>
                <a:latin typeface="Menlo" panose="020B0609030804020204" pitchFamily="49" charset="0"/>
              </a:rPr>
              <a:t>(</a:t>
            </a:r>
            <a:r>
              <a:rPr lang="en-IN" sz="1400" b="1" dirty="0">
                <a:solidFill>
                  <a:srgbClr val="7F0055"/>
                </a:solidFill>
                <a:effectLst/>
                <a:latin typeface="Menlo" panose="020B0609030804020204" pitchFamily="49" charset="0"/>
              </a:rPr>
              <a:t>int</a:t>
            </a:r>
            <a:r>
              <a:rPr lang="en-IN" sz="1400" dirty="0">
                <a:solidFill>
                  <a:srgbClr val="000000"/>
                </a:solidFill>
                <a:effectLst/>
                <a:latin typeface="Menlo" panose="020B0609030804020204" pitchFamily="49" charset="0"/>
              </a:rPr>
              <a:t> </a:t>
            </a:r>
            <a:r>
              <a:rPr lang="en-IN" sz="1400" dirty="0">
                <a:solidFill>
                  <a:srgbClr val="6A3E3E"/>
                </a:solidFill>
                <a:effectLst/>
                <a:latin typeface="Menlo" panose="020B0609030804020204" pitchFamily="49" charset="0"/>
              </a:rPr>
              <a:t>increment</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0000C0"/>
                </a:solidFill>
                <a:effectLst/>
                <a:latin typeface="Menlo" panose="020B0609030804020204" pitchFamily="49" charset="0"/>
              </a:rPr>
              <a:t>speed</a:t>
            </a:r>
            <a:r>
              <a:rPr lang="en-IN" sz="1400" dirty="0">
                <a:solidFill>
                  <a:srgbClr val="000000"/>
                </a:solidFill>
                <a:effectLst/>
                <a:latin typeface="Menlo" panose="020B0609030804020204" pitchFamily="49" charset="0"/>
              </a:rPr>
              <a:t> = </a:t>
            </a:r>
            <a:r>
              <a:rPr lang="en-IN" sz="1400" dirty="0">
                <a:solidFill>
                  <a:srgbClr val="0000C0"/>
                </a:solidFill>
                <a:effectLst/>
                <a:latin typeface="Menlo" panose="020B0609030804020204" pitchFamily="49" charset="0"/>
              </a:rPr>
              <a:t>speed</a:t>
            </a:r>
            <a:r>
              <a:rPr lang="en-IN" sz="1400" dirty="0">
                <a:solidFill>
                  <a:srgbClr val="000000"/>
                </a:solidFill>
                <a:effectLst/>
                <a:latin typeface="Menlo" panose="020B0609030804020204" pitchFamily="49" charset="0"/>
              </a:rPr>
              <a:t> + </a:t>
            </a:r>
            <a:r>
              <a:rPr lang="en-IN" sz="1400" dirty="0">
                <a:solidFill>
                  <a:srgbClr val="6A3E3E"/>
                </a:solidFill>
                <a:effectLst/>
                <a:latin typeface="Menlo" panose="020B0609030804020204" pitchFamily="49" charset="0"/>
              </a:rPr>
              <a:t>increment</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3F7F5F"/>
                </a:solidFill>
                <a:effectLst/>
                <a:latin typeface="Menlo" panose="020B0609030804020204" pitchFamily="49" charset="0"/>
              </a:rPr>
              <a:t>// to decrease speed</a:t>
            </a:r>
            <a:endParaRPr lang="en-IN" sz="1400" dirty="0">
              <a:solidFill>
                <a:srgbClr val="000000"/>
              </a:solidFill>
              <a:effectLst/>
              <a:latin typeface="Menlo" panose="020B0609030804020204" pitchFamily="49" charset="0"/>
            </a:endParaRPr>
          </a:p>
          <a:p>
            <a:pPr marL="0" marR="0" indent="0">
              <a:spcBef>
                <a:spcPts val="0"/>
              </a:spcBef>
              <a:spcAft>
                <a:spcPts val="0"/>
              </a:spcAft>
              <a:buNone/>
            </a:pPr>
            <a:r>
              <a:rPr lang="en-IN" sz="1400" dirty="0">
                <a:solidFill>
                  <a:srgbClr val="646464"/>
                </a:solidFill>
                <a:effectLst/>
                <a:latin typeface="Menlo" panose="020B0609030804020204" pitchFamily="49" charset="0"/>
              </a:rPr>
              <a:t>@Override</a:t>
            </a:r>
            <a:endParaRPr lang="en-IN" sz="1400" dirty="0">
              <a:solidFill>
                <a:srgbClr val="000000"/>
              </a:solidFill>
              <a:effectLst/>
              <a:latin typeface="Menlo" panose="020B0609030804020204" pitchFamily="49" charset="0"/>
            </a:endParaRPr>
          </a:p>
          <a:p>
            <a:pPr marL="0" marR="0" indent="0">
              <a:spcBef>
                <a:spcPts val="0"/>
              </a:spcBef>
              <a:spcAft>
                <a:spcPts val="0"/>
              </a:spcAft>
              <a:buNone/>
            </a:pPr>
            <a:r>
              <a:rPr lang="en-IN" sz="1400" b="1" dirty="0">
                <a:solidFill>
                  <a:srgbClr val="7F0055"/>
                </a:solidFill>
                <a:effectLst/>
                <a:latin typeface="Menlo" panose="020B0609030804020204" pitchFamily="49" charset="0"/>
              </a:rPr>
              <a:t>public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void</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applyBrakes</a:t>
            </a:r>
            <a:r>
              <a:rPr lang="en-IN" sz="1400" dirty="0">
                <a:solidFill>
                  <a:srgbClr val="000000"/>
                </a:solidFill>
                <a:effectLst/>
                <a:latin typeface="Menlo" panose="020B0609030804020204" pitchFamily="49" charset="0"/>
              </a:rPr>
              <a:t>(</a:t>
            </a:r>
            <a:r>
              <a:rPr lang="en-IN" sz="1400" b="1" dirty="0">
                <a:solidFill>
                  <a:srgbClr val="7F0055"/>
                </a:solidFill>
                <a:effectLst/>
                <a:latin typeface="Menlo" panose="020B0609030804020204" pitchFamily="49" charset="0"/>
              </a:rPr>
              <a:t>int</a:t>
            </a:r>
            <a:r>
              <a:rPr lang="en-IN" sz="1400" dirty="0">
                <a:solidFill>
                  <a:srgbClr val="000000"/>
                </a:solidFill>
                <a:effectLst/>
                <a:latin typeface="Menlo" panose="020B0609030804020204" pitchFamily="49" charset="0"/>
              </a:rPr>
              <a:t> </a:t>
            </a:r>
            <a:r>
              <a:rPr lang="en-IN" sz="1400" dirty="0">
                <a:solidFill>
                  <a:srgbClr val="6A3E3E"/>
                </a:solidFill>
                <a:effectLst/>
                <a:latin typeface="Menlo" panose="020B0609030804020204" pitchFamily="49" charset="0"/>
              </a:rPr>
              <a:t>decrement</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0000C0"/>
                </a:solidFill>
                <a:effectLst/>
                <a:latin typeface="Menlo" panose="020B0609030804020204" pitchFamily="49" charset="0"/>
              </a:rPr>
              <a:t>speed</a:t>
            </a:r>
            <a:r>
              <a:rPr lang="en-IN" sz="1400" dirty="0">
                <a:solidFill>
                  <a:srgbClr val="000000"/>
                </a:solidFill>
                <a:effectLst/>
                <a:latin typeface="Menlo" panose="020B0609030804020204" pitchFamily="49" charset="0"/>
              </a:rPr>
              <a:t> = </a:t>
            </a:r>
            <a:r>
              <a:rPr lang="en-IN" sz="1400" dirty="0">
                <a:solidFill>
                  <a:srgbClr val="0000C0"/>
                </a:solidFill>
                <a:effectLst/>
                <a:latin typeface="Menlo" panose="020B0609030804020204" pitchFamily="49" charset="0"/>
              </a:rPr>
              <a:t>speed</a:t>
            </a:r>
            <a:r>
              <a:rPr lang="en-IN" sz="1400" dirty="0">
                <a:solidFill>
                  <a:srgbClr val="000000"/>
                </a:solidFill>
                <a:effectLst/>
                <a:latin typeface="Menlo" panose="020B0609030804020204" pitchFamily="49" charset="0"/>
              </a:rPr>
              <a:t> - </a:t>
            </a:r>
            <a:r>
              <a:rPr lang="en-IN" sz="1400" dirty="0">
                <a:solidFill>
                  <a:srgbClr val="6A3E3E"/>
                </a:solidFill>
                <a:effectLst/>
                <a:latin typeface="Menlo" panose="020B0609030804020204" pitchFamily="49" charset="0"/>
              </a:rPr>
              <a:t>decrement</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b="1" dirty="0">
                <a:solidFill>
                  <a:srgbClr val="7F0055"/>
                </a:solidFill>
                <a:effectLst/>
                <a:latin typeface="Menlo" panose="020B0609030804020204" pitchFamily="49" charset="0"/>
              </a:rPr>
              <a:t>public</a:t>
            </a:r>
            <a:r>
              <a:rPr lang="en-IN" sz="1400" dirty="0">
                <a:solidFill>
                  <a:srgbClr val="000000"/>
                </a:solidFill>
                <a:effectLst/>
                <a:latin typeface="Menlo" panose="020B0609030804020204" pitchFamily="49" charset="0"/>
              </a:rPr>
              <a:t> </a:t>
            </a:r>
            <a:r>
              <a:rPr lang="en-IN" sz="1400" b="1" dirty="0">
                <a:solidFill>
                  <a:srgbClr val="7F0055"/>
                </a:solidFill>
                <a:effectLst/>
                <a:latin typeface="Menlo" panose="020B0609030804020204" pitchFamily="49" charset="0"/>
              </a:rPr>
              <a:t>void</a:t>
            </a:r>
            <a:r>
              <a:rPr lang="en-IN" sz="1400" dirty="0">
                <a:solidFill>
                  <a:srgbClr val="000000"/>
                </a:solidFill>
                <a:effectLst/>
                <a:latin typeface="Menlo" panose="020B0609030804020204" pitchFamily="49" charset="0"/>
              </a:rPr>
              <a:t> </a:t>
            </a:r>
            <a:r>
              <a:rPr lang="en-IN" sz="1400" dirty="0" err="1">
                <a:solidFill>
                  <a:srgbClr val="000000"/>
                </a:solidFill>
                <a:effectLst/>
                <a:latin typeface="Menlo" panose="020B0609030804020204" pitchFamily="49" charset="0"/>
              </a:rPr>
              <a:t>printStates</a:t>
            </a:r>
            <a:r>
              <a:rPr lang="en-IN" sz="1400" dirty="0">
                <a:solidFill>
                  <a:srgbClr val="000000"/>
                </a:solidFill>
                <a:effectLst/>
                <a:latin typeface="Menlo" panose="020B0609030804020204" pitchFamily="49" charset="0"/>
              </a:rPr>
              <a:t>() {</a:t>
            </a:r>
          </a:p>
          <a:p>
            <a:pPr marL="0" marR="0" indent="0">
              <a:spcBef>
                <a:spcPts val="0"/>
              </a:spcBef>
              <a:spcAft>
                <a:spcPts val="0"/>
              </a:spcAft>
              <a:buNone/>
            </a:pPr>
            <a:r>
              <a:rPr lang="en-IN" sz="1400" dirty="0" err="1">
                <a:solidFill>
                  <a:srgbClr val="000000"/>
                </a:solidFill>
                <a:effectLst/>
                <a:latin typeface="Menlo" panose="020B0609030804020204" pitchFamily="49" charset="0"/>
              </a:rPr>
              <a:t>System.</a:t>
            </a:r>
            <a:r>
              <a:rPr lang="en-IN" sz="1400" b="1" i="1" dirty="0" err="1">
                <a:solidFill>
                  <a:srgbClr val="0000C0"/>
                </a:solidFill>
                <a:effectLst/>
                <a:latin typeface="Menlo" panose="020B0609030804020204" pitchFamily="49" charset="0"/>
              </a:rPr>
              <a:t>out</a:t>
            </a:r>
            <a:r>
              <a:rPr lang="en-IN" sz="1400" dirty="0" err="1">
                <a:solidFill>
                  <a:srgbClr val="000000"/>
                </a:solidFill>
                <a:effectLst/>
                <a:latin typeface="Menlo" panose="020B0609030804020204" pitchFamily="49" charset="0"/>
              </a:rPr>
              <a:t>.println</a:t>
            </a:r>
            <a:r>
              <a:rPr lang="en-IN" sz="1400" dirty="0">
                <a:solidFill>
                  <a:srgbClr val="000000"/>
                </a:solidFill>
                <a:effectLst/>
                <a:latin typeface="Menlo" panose="020B0609030804020204" pitchFamily="49" charset="0"/>
              </a:rPr>
              <a:t>(</a:t>
            </a:r>
            <a:r>
              <a:rPr lang="en-IN" sz="1400" dirty="0">
                <a:solidFill>
                  <a:srgbClr val="2A00FF"/>
                </a:solidFill>
                <a:effectLst/>
                <a:latin typeface="Menlo" panose="020B0609030804020204" pitchFamily="49" charset="0"/>
              </a:rPr>
              <a:t>"speed: "</a:t>
            </a:r>
            <a:r>
              <a:rPr lang="en-IN" sz="1400" dirty="0">
                <a:solidFill>
                  <a:srgbClr val="000000"/>
                </a:solidFill>
                <a:effectLst/>
                <a:latin typeface="Menlo" panose="020B0609030804020204" pitchFamily="49" charset="0"/>
              </a:rPr>
              <a:t> + </a:t>
            </a:r>
            <a:r>
              <a:rPr lang="en-IN" sz="1400" dirty="0">
                <a:solidFill>
                  <a:srgbClr val="0000C0"/>
                </a:solidFill>
                <a:effectLst/>
                <a:latin typeface="Menlo" panose="020B0609030804020204" pitchFamily="49" charset="0"/>
              </a:rPr>
              <a:t>speed</a:t>
            </a:r>
            <a:endParaRPr lang="en-IN" sz="1400" dirty="0">
              <a:solidFill>
                <a:srgbClr val="000000"/>
              </a:solidFill>
              <a:effectLst/>
              <a:latin typeface="Menlo" panose="020B0609030804020204" pitchFamily="49" charset="0"/>
            </a:endParaRPr>
          </a:p>
          <a:p>
            <a:pPr marL="0" marR="0" indent="0">
              <a:spcBef>
                <a:spcPts val="0"/>
              </a:spcBef>
              <a:spcAft>
                <a:spcPts val="0"/>
              </a:spcAft>
              <a:buNone/>
            </a:pPr>
            <a:r>
              <a:rPr lang="en-IN" sz="1400" dirty="0">
                <a:solidFill>
                  <a:srgbClr val="000000"/>
                </a:solidFill>
                <a:effectLst/>
                <a:latin typeface="Menlo" panose="020B0609030804020204" pitchFamily="49" charset="0"/>
              </a:rPr>
              <a:t>+ </a:t>
            </a:r>
            <a:r>
              <a:rPr lang="en-IN" sz="1400" dirty="0">
                <a:solidFill>
                  <a:srgbClr val="2A00FF"/>
                </a:solidFill>
                <a:effectLst/>
                <a:latin typeface="Menlo" panose="020B0609030804020204" pitchFamily="49" charset="0"/>
              </a:rPr>
              <a:t>" gear: "</a:t>
            </a:r>
            <a:r>
              <a:rPr lang="en-IN" sz="1400" dirty="0">
                <a:solidFill>
                  <a:srgbClr val="000000"/>
                </a:solidFill>
                <a:effectLst/>
                <a:latin typeface="Menlo" panose="020B0609030804020204" pitchFamily="49" charset="0"/>
              </a:rPr>
              <a:t> + </a:t>
            </a:r>
            <a:r>
              <a:rPr lang="en-IN" sz="1400" dirty="0">
                <a:solidFill>
                  <a:srgbClr val="0000C0"/>
                </a:solidFill>
                <a:effectLst/>
                <a:latin typeface="Menlo" panose="020B0609030804020204" pitchFamily="49" charset="0"/>
              </a:rPr>
              <a:t>gear</a:t>
            </a: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000000"/>
                </a:solidFill>
                <a:effectLst/>
                <a:latin typeface="Menlo" panose="020B0609030804020204" pitchFamily="49" charset="0"/>
              </a:rPr>
              <a:t>}</a:t>
            </a:r>
          </a:p>
          <a:p>
            <a:pPr marL="0" marR="0" indent="0">
              <a:spcBef>
                <a:spcPts val="0"/>
              </a:spcBef>
              <a:spcAft>
                <a:spcPts val="0"/>
              </a:spcAft>
              <a:buNone/>
            </a:pPr>
            <a:r>
              <a:rPr lang="en-IN" sz="1400" dirty="0">
                <a:solidFill>
                  <a:srgbClr val="000000"/>
                </a:solidFill>
                <a:latin typeface="Menlo" panose="020B0609030804020204" pitchFamily="49" charset="0"/>
              </a:rPr>
              <a:t>}</a:t>
            </a:r>
            <a:endParaRPr lang="en-IN" sz="1400" dirty="0">
              <a:solidFill>
                <a:srgbClr val="000000"/>
              </a:solidFill>
              <a:effectLst/>
              <a:latin typeface="Menlo" panose="020B0609030804020204" pitchFamily="49" charset="0"/>
            </a:endParaRPr>
          </a:p>
        </p:txBody>
      </p:sp>
      <p:sp>
        <p:nvSpPr>
          <p:cNvPr id="4" name="Footer Placeholder 3">
            <a:extLst>
              <a:ext uri="{FF2B5EF4-FFF2-40B4-BE49-F238E27FC236}">
                <a16:creationId xmlns:a16="http://schemas.microsoft.com/office/drawing/2014/main" id="{E8B24702-4C00-97D8-7C6D-D24C48C4364B}"/>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8175651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26E0B-9A1E-9E2A-406E-06FCAC7B293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A8281BB-A062-C922-EC39-6A3290FBC448}"/>
              </a:ext>
            </a:extLst>
          </p:cNvPr>
          <p:cNvSpPr>
            <a:spLocks noGrp="1"/>
          </p:cNvSpPr>
          <p:nvPr>
            <p:ph idx="1"/>
          </p:nvPr>
        </p:nvSpPr>
        <p:spPr>
          <a:xfrm>
            <a:off x="457200" y="487362"/>
            <a:ext cx="8229600" cy="5029200"/>
          </a:xfrm>
        </p:spPr>
        <p:txBody>
          <a:bodyPr/>
          <a:lstStyle/>
          <a:p>
            <a:pPr marL="0" marR="0" indent="0">
              <a:spcBef>
                <a:spcPts val="0"/>
              </a:spcBef>
              <a:spcAft>
                <a:spcPts val="0"/>
              </a:spcAft>
              <a:buNone/>
            </a:pP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Bike </a:t>
            </a:r>
            <a:r>
              <a:rPr lang="en-IN" sz="1800" b="1" dirty="0">
                <a:solidFill>
                  <a:srgbClr val="7F0055"/>
                </a:solidFill>
                <a:effectLst/>
                <a:latin typeface="Menlo" panose="020B0609030804020204" pitchFamily="49" charset="0"/>
              </a:rPr>
              <a:t>implements</a:t>
            </a:r>
            <a:r>
              <a:rPr lang="en-IN" sz="1800" dirty="0">
                <a:solidFill>
                  <a:srgbClr val="000000"/>
                </a:solidFill>
                <a:effectLst/>
                <a:latin typeface="Menlo" panose="020B0609030804020204" pitchFamily="49" charset="0"/>
              </a:rPr>
              <a:t> Vehicle {</a:t>
            </a:r>
          </a:p>
          <a:p>
            <a:pPr marL="0" marR="0" indent="0">
              <a:spcBef>
                <a:spcPts val="0"/>
              </a:spcBef>
              <a:spcAft>
                <a:spcPts val="0"/>
              </a:spcAft>
              <a:buNone/>
            </a:pPr>
            <a:r>
              <a:rPr lang="en-IN" sz="1800" b="1" dirty="0">
                <a:solidFill>
                  <a:srgbClr val="7F0055"/>
                </a:solidFill>
                <a:effectLst/>
                <a:latin typeface="Menlo" panose="020B0609030804020204" pitchFamily="49" charset="0"/>
              </a:rPr>
              <a:t>int</a:t>
            </a: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speed</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int</a:t>
            </a:r>
            <a:r>
              <a:rPr lang="en-IN" sz="1800" dirty="0">
                <a:solidFill>
                  <a:srgbClr val="000000"/>
                </a:solidFill>
                <a:effectLst/>
                <a:latin typeface="Menlo" panose="020B0609030804020204" pitchFamily="49" charset="0"/>
              </a:rPr>
              <a:t> </a:t>
            </a:r>
            <a:r>
              <a:rPr lang="en-IN" sz="1800" dirty="0">
                <a:solidFill>
                  <a:srgbClr val="0000C0"/>
                </a:solidFill>
                <a:effectLst/>
                <a:latin typeface="Menlo" panose="020B0609030804020204" pitchFamily="49" charset="0"/>
              </a:rPr>
              <a:t>gear</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3F7F5F"/>
                </a:solidFill>
                <a:effectLst/>
                <a:latin typeface="Menlo" panose="020B0609030804020204" pitchFamily="49" charset="0"/>
              </a:rPr>
              <a:t>// to change gear</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dirty="0">
                <a:solidFill>
                  <a:srgbClr val="646464"/>
                </a:solidFill>
                <a:effectLst/>
                <a:latin typeface="Menlo" panose="020B0609030804020204" pitchFamily="49" charset="0"/>
              </a:rPr>
              <a:t>@Override</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changeGear</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int</a:t>
            </a:r>
            <a:r>
              <a:rPr lang="en-IN" sz="1800" dirty="0">
                <a:solidFill>
                  <a:srgbClr val="000000"/>
                </a:solidFill>
                <a:effectLst/>
                <a:latin typeface="Menlo" panose="020B0609030804020204" pitchFamily="49" charset="0"/>
              </a:rPr>
              <a:t> </a:t>
            </a:r>
            <a:r>
              <a:rPr lang="en-IN" sz="1800" dirty="0" err="1">
                <a:solidFill>
                  <a:srgbClr val="6A3E3E"/>
                </a:solidFill>
                <a:effectLst/>
                <a:latin typeface="Menlo" panose="020B0609030804020204" pitchFamily="49" charset="0"/>
              </a:rPr>
              <a:t>newGear</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C0"/>
                </a:solidFill>
                <a:effectLst/>
                <a:latin typeface="Menlo" panose="020B0609030804020204" pitchFamily="49" charset="0"/>
              </a:rPr>
              <a:t>gear</a:t>
            </a:r>
            <a:r>
              <a:rPr lang="en-IN" sz="1800" dirty="0">
                <a:solidFill>
                  <a:srgbClr val="000000"/>
                </a:solidFill>
                <a:effectLst/>
                <a:latin typeface="Menlo" panose="020B0609030804020204" pitchFamily="49" charset="0"/>
              </a:rPr>
              <a:t> = </a:t>
            </a:r>
            <a:r>
              <a:rPr lang="en-IN" sz="1800" dirty="0" err="1">
                <a:solidFill>
                  <a:srgbClr val="6A3E3E"/>
                </a:solidFill>
                <a:effectLst/>
                <a:latin typeface="Menlo" panose="020B0609030804020204" pitchFamily="49" charset="0"/>
              </a:rPr>
              <a:t>newGear</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3F7F5F"/>
                </a:solidFill>
                <a:effectLst/>
                <a:latin typeface="Menlo" panose="020B0609030804020204" pitchFamily="49" charset="0"/>
              </a:rPr>
              <a:t>// to increase speed</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dirty="0">
                <a:solidFill>
                  <a:srgbClr val="646464"/>
                </a:solidFill>
                <a:effectLst/>
                <a:latin typeface="Menlo" panose="020B0609030804020204" pitchFamily="49" charset="0"/>
              </a:rPr>
              <a:t>@Override</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speedUp</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int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increment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C0"/>
                </a:solidFill>
                <a:effectLst/>
                <a:latin typeface="Menlo" panose="020B0609030804020204" pitchFamily="49" charset="0"/>
              </a:rPr>
              <a:t>speed</a:t>
            </a:r>
            <a:r>
              <a:rPr lang="en-IN" sz="1800" dirty="0">
                <a:solidFill>
                  <a:srgbClr val="000000"/>
                </a:solidFill>
                <a:effectLst/>
                <a:latin typeface="Menlo" panose="020B0609030804020204" pitchFamily="49" charset="0"/>
              </a:rPr>
              <a:t> = </a:t>
            </a:r>
            <a:r>
              <a:rPr lang="en-IN" sz="1800" dirty="0">
                <a:solidFill>
                  <a:srgbClr val="0000C0"/>
                </a:solidFill>
                <a:effectLst/>
                <a:latin typeface="Menlo" panose="020B0609030804020204" pitchFamily="49" charset="0"/>
              </a:rPr>
              <a:t>speed</a:t>
            </a:r>
            <a:r>
              <a:rPr lang="en-IN" sz="1800" dirty="0">
                <a:solidFill>
                  <a:srgbClr val="000000"/>
                </a:solidFill>
                <a:effectLst/>
                <a:latin typeface="Menlo" panose="020B0609030804020204" pitchFamily="49" charset="0"/>
              </a:rPr>
              <a:t> + </a:t>
            </a:r>
            <a:r>
              <a:rPr lang="en-IN" sz="1800" dirty="0">
                <a:solidFill>
                  <a:srgbClr val="6A3E3E"/>
                </a:solidFill>
                <a:effectLst/>
                <a:latin typeface="Menlo" panose="020B0609030804020204" pitchFamily="49" charset="0"/>
              </a:rPr>
              <a:t>increment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3F7F5F"/>
                </a:solidFill>
                <a:effectLst/>
                <a:latin typeface="Menlo" panose="020B0609030804020204" pitchFamily="49" charset="0"/>
              </a:rPr>
              <a:t>// to decrease speed</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dirty="0">
                <a:solidFill>
                  <a:srgbClr val="646464"/>
                </a:solidFill>
                <a:effectLst/>
                <a:latin typeface="Menlo" panose="020B0609030804020204" pitchFamily="49" charset="0"/>
              </a:rPr>
              <a:t>@Override</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applyBrakes</a:t>
            </a:r>
            <a:r>
              <a:rPr lang="en-IN" sz="1800" dirty="0">
                <a:solidFill>
                  <a:srgbClr val="000000"/>
                </a:solidFill>
                <a:effectLst/>
                <a:latin typeface="Menlo" panose="020B0609030804020204" pitchFamily="49" charset="0"/>
              </a:rPr>
              <a:t>(</a:t>
            </a:r>
            <a:r>
              <a:rPr lang="en-IN" sz="1800" b="1" dirty="0">
                <a:solidFill>
                  <a:srgbClr val="7F0055"/>
                </a:solidFill>
                <a:effectLst/>
                <a:latin typeface="Menlo" panose="020B0609030804020204" pitchFamily="49" charset="0"/>
              </a:rPr>
              <a:t>int</a:t>
            </a:r>
            <a:r>
              <a:rPr lang="en-IN" sz="1800" dirty="0">
                <a:solidFill>
                  <a:srgbClr val="000000"/>
                </a:solidFill>
                <a:effectLst/>
                <a:latin typeface="Menlo" panose="020B0609030804020204" pitchFamily="49" charset="0"/>
              </a:rPr>
              <a:t> </a:t>
            </a:r>
            <a:r>
              <a:rPr lang="en-IN" sz="1800" dirty="0">
                <a:solidFill>
                  <a:srgbClr val="6A3E3E"/>
                </a:solidFill>
                <a:effectLst/>
                <a:latin typeface="Menlo" panose="020B0609030804020204" pitchFamily="49" charset="0"/>
              </a:rPr>
              <a:t>decrement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C0"/>
                </a:solidFill>
                <a:effectLst/>
                <a:latin typeface="Menlo" panose="020B0609030804020204" pitchFamily="49" charset="0"/>
              </a:rPr>
              <a:t>speed</a:t>
            </a:r>
            <a:r>
              <a:rPr lang="en-IN" sz="1800" dirty="0">
                <a:solidFill>
                  <a:srgbClr val="000000"/>
                </a:solidFill>
                <a:effectLst/>
                <a:latin typeface="Menlo" panose="020B0609030804020204" pitchFamily="49" charset="0"/>
              </a:rPr>
              <a:t> = </a:t>
            </a:r>
            <a:r>
              <a:rPr lang="en-IN" sz="1800" dirty="0">
                <a:solidFill>
                  <a:srgbClr val="0000C0"/>
                </a:solidFill>
                <a:effectLst/>
                <a:latin typeface="Menlo" panose="020B0609030804020204" pitchFamily="49" charset="0"/>
              </a:rPr>
              <a:t>speed</a:t>
            </a:r>
            <a:r>
              <a:rPr lang="en-IN" sz="1800" dirty="0">
                <a:solidFill>
                  <a:srgbClr val="000000"/>
                </a:solidFill>
                <a:effectLst/>
                <a:latin typeface="Menlo" panose="020B0609030804020204" pitchFamily="49" charset="0"/>
              </a:rPr>
              <a:t> - </a:t>
            </a:r>
            <a:r>
              <a:rPr lang="en-IN" sz="1800" dirty="0">
                <a:solidFill>
                  <a:srgbClr val="6A3E3E"/>
                </a:solidFill>
                <a:effectLst/>
                <a:latin typeface="Menlo" panose="020B0609030804020204" pitchFamily="49" charset="0"/>
              </a:rPr>
              <a:t>decrement</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t>
            </a:r>
            <a:r>
              <a:rPr lang="en-IN" sz="1800" dirty="0" err="1">
                <a:solidFill>
                  <a:srgbClr val="000000"/>
                </a:solidFill>
                <a:effectLst/>
                <a:latin typeface="Menlo" panose="020B0609030804020204" pitchFamily="49" charset="0"/>
              </a:rPr>
              <a:t>printStates</a:t>
            </a:r>
            <a:r>
              <a:rPr lang="en-IN" sz="1800" dirty="0">
                <a:solidFill>
                  <a:srgbClr val="000000"/>
                </a:solidFill>
                <a:effectLst/>
                <a:latin typeface="Menlo" panose="020B0609030804020204" pitchFamily="49" charset="0"/>
              </a:rPr>
              <a:t>() {</a:t>
            </a:r>
          </a:p>
          <a:p>
            <a:pPr marL="0" marR="0" indent="0">
              <a:spcBef>
                <a:spcPts val="0"/>
              </a:spcBef>
              <a:spcAft>
                <a:spcPts val="0"/>
              </a:spcAft>
              <a:buNone/>
            </a:pPr>
            <a:r>
              <a:rPr lang="en-IN" sz="1800" dirty="0" err="1">
                <a:solidFill>
                  <a:srgbClr val="000000"/>
                </a:solidFill>
                <a:effectLst/>
                <a:latin typeface="Menlo" panose="020B0609030804020204" pitchFamily="49" charset="0"/>
              </a:rPr>
              <a:t>System.</a:t>
            </a:r>
            <a:r>
              <a:rPr lang="en-IN" sz="1800" b="1" i="1" dirty="0" err="1">
                <a:solidFill>
                  <a:srgbClr val="0000C0"/>
                </a:solidFill>
                <a:effectLst/>
                <a:latin typeface="Menlo" panose="020B0609030804020204" pitchFamily="49" charset="0"/>
              </a:rPr>
              <a:t>out</a:t>
            </a:r>
            <a:r>
              <a:rPr lang="en-IN" sz="1800" dirty="0" err="1">
                <a:solidFill>
                  <a:srgbClr val="000000"/>
                </a:solidFill>
                <a:effectLst/>
                <a:latin typeface="Menlo" panose="020B0609030804020204" pitchFamily="49" charset="0"/>
              </a:rPr>
              <a:t>.println</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"speed: "</a:t>
            </a:r>
            <a:r>
              <a:rPr lang="en-IN" sz="1800" dirty="0">
                <a:solidFill>
                  <a:srgbClr val="000000"/>
                </a:solidFill>
                <a:effectLst/>
                <a:latin typeface="Menlo" panose="020B0609030804020204" pitchFamily="49" charset="0"/>
              </a:rPr>
              <a:t> + </a:t>
            </a:r>
            <a:r>
              <a:rPr lang="en-IN" sz="1800" dirty="0">
                <a:solidFill>
                  <a:srgbClr val="0000C0"/>
                </a:solidFill>
                <a:effectLst/>
                <a:latin typeface="Menlo" panose="020B0609030804020204" pitchFamily="49" charset="0"/>
              </a:rPr>
              <a:t>speed</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dirty="0">
                <a:solidFill>
                  <a:srgbClr val="000000"/>
                </a:solidFill>
                <a:effectLst/>
                <a:latin typeface="Menlo" panose="020B0609030804020204" pitchFamily="49" charset="0"/>
              </a:rPr>
              <a:t>+ </a:t>
            </a:r>
            <a:r>
              <a:rPr lang="en-IN" sz="1800" dirty="0">
                <a:solidFill>
                  <a:srgbClr val="2A00FF"/>
                </a:solidFill>
                <a:effectLst/>
                <a:latin typeface="Menlo" panose="020B0609030804020204" pitchFamily="49" charset="0"/>
              </a:rPr>
              <a:t>" gear: "</a:t>
            </a:r>
            <a:r>
              <a:rPr lang="en-IN" sz="1800" dirty="0">
                <a:solidFill>
                  <a:srgbClr val="000000"/>
                </a:solidFill>
                <a:effectLst/>
                <a:latin typeface="Menlo" panose="020B0609030804020204" pitchFamily="49" charset="0"/>
              </a:rPr>
              <a:t> + </a:t>
            </a:r>
            <a:r>
              <a:rPr lang="en-IN" sz="1800" dirty="0">
                <a:solidFill>
                  <a:srgbClr val="0000C0"/>
                </a:solidFill>
                <a:effectLst/>
                <a:latin typeface="Menlo" panose="020B0609030804020204" pitchFamily="49" charset="0"/>
              </a:rPr>
              <a:t>gear</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endParaRPr lang="en-US" sz="1800" dirty="0"/>
          </a:p>
        </p:txBody>
      </p:sp>
      <p:sp>
        <p:nvSpPr>
          <p:cNvPr id="4" name="Footer Placeholder 3">
            <a:extLst>
              <a:ext uri="{FF2B5EF4-FFF2-40B4-BE49-F238E27FC236}">
                <a16:creationId xmlns:a16="http://schemas.microsoft.com/office/drawing/2014/main" id="{A97E539E-0002-C34E-7822-8A4A21ABB742}"/>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42939197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8169F-FED7-6FC6-DDB2-AB5C72BD3F2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E9AA3B-4CFA-3CD1-6CC5-5455FB7B4639}"/>
              </a:ext>
            </a:extLst>
          </p:cNvPr>
          <p:cNvSpPr>
            <a:spLocks noGrp="1"/>
          </p:cNvSpPr>
          <p:nvPr>
            <p:ph idx="1"/>
          </p:nvPr>
        </p:nvSpPr>
        <p:spPr>
          <a:xfrm>
            <a:off x="457200" y="487362"/>
            <a:ext cx="8229600" cy="5029200"/>
          </a:xfrm>
        </p:spPr>
        <p:txBody>
          <a:bodyPr/>
          <a:lstStyle/>
          <a:p>
            <a:pPr marL="0" marR="0" indent="0">
              <a:spcBef>
                <a:spcPts val="0"/>
              </a:spcBef>
              <a:spcAft>
                <a:spcPts val="0"/>
              </a:spcAft>
              <a:buNone/>
            </a:pPr>
            <a:endParaRPr lang="en-IN" sz="2000" dirty="0">
              <a:solidFill>
                <a:srgbClr val="000000"/>
              </a:solidFill>
              <a:effectLst/>
              <a:latin typeface="Menlo" panose="020B0609030804020204" pitchFamily="49" charset="0"/>
            </a:endParaRPr>
          </a:p>
          <a:p>
            <a:pPr marL="0" marR="0" indent="0">
              <a:spcBef>
                <a:spcPts val="0"/>
              </a:spcBef>
              <a:spcAft>
                <a:spcPts val="0"/>
              </a:spcAft>
              <a:buNone/>
            </a:pPr>
            <a:r>
              <a:rPr lang="en-IN" sz="2000" b="1" dirty="0">
                <a:solidFill>
                  <a:srgbClr val="7F0055"/>
                </a:solidFill>
                <a:effectLst/>
                <a:latin typeface="Menlo" panose="020B0609030804020204" pitchFamily="49" charset="0"/>
              </a:rPr>
              <a:t>class</a:t>
            </a:r>
            <a:r>
              <a:rPr lang="en-IN" sz="2000" dirty="0">
                <a:solidFill>
                  <a:srgbClr val="000000"/>
                </a:solidFill>
                <a:effectLst/>
                <a:latin typeface="Menlo" panose="020B0609030804020204" pitchFamily="49" charset="0"/>
              </a:rPr>
              <a:t> Demo {</a:t>
            </a:r>
          </a:p>
          <a:p>
            <a:pPr marL="0" marR="0" indent="0">
              <a:spcBef>
                <a:spcPts val="0"/>
              </a:spcBef>
              <a:spcAft>
                <a:spcPts val="0"/>
              </a:spcAft>
              <a:buNone/>
            </a:pPr>
            <a:r>
              <a:rPr lang="en-IN" sz="2000" b="1" dirty="0">
                <a:solidFill>
                  <a:srgbClr val="7F0055"/>
                </a:solidFill>
                <a:effectLst/>
                <a:latin typeface="Menlo" panose="020B0609030804020204" pitchFamily="49" charset="0"/>
              </a:rPr>
              <a:t>public</a:t>
            </a:r>
            <a:r>
              <a:rPr lang="en-IN" sz="2000" dirty="0">
                <a:solidFill>
                  <a:srgbClr val="000000"/>
                </a:solidFill>
                <a:effectLst/>
                <a:latin typeface="Menlo" panose="020B0609030804020204" pitchFamily="49" charset="0"/>
              </a:rPr>
              <a:t> </a:t>
            </a:r>
            <a:r>
              <a:rPr lang="en-IN" sz="2000" b="1" dirty="0">
                <a:solidFill>
                  <a:srgbClr val="7F0055"/>
                </a:solidFill>
                <a:effectLst/>
                <a:latin typeface="Menlo" panose="020B0609030804020204" pitchFamily="49" charset="0"/>
              </a:rPr>
              <a:t>static</a:t>
            </a:r>
            <a:r>
              <a:rPr lang="en-IN" sz="2000" dirty="0">
                <a:solidFill>
                  <a:srgbClr val="000000"/>
                </a:solidFill>
                <a:effectLst/>
                <a:latin typeface="Menlo" panose="020B0609030804020204" pitchFamily="49" charset="0"/>
              </a:rPr>
              <a:t> </a:t>
            </a:r>
            <a:r>
              <a:rPr lang="en-IN" sz="2000" b="1" dirty="0">
                <a:solidFill>
                  <a:srgbClr val="7F0055"/>
                </a:solidFill>
                <a:effectLst/>
                <a:latin typeface="Menlo" panose="020B0609030804020204" pitchFamily="49" charset="0"/>
              </a:rPr>
              <a:t>void</a:t>
            </a:r>
            <a:r>
              <a:rPr lang="en-IN" sz="2000" dirty="0">
                <a:solidFill>
                  <a:srgbClr val="000000"/>
                </a:solidFill>
                <a:effectLst/>
                <a:latin typeface="Menlo" panose="020B0609030804020204" pitchFamily="49" charset="0"/>
              </a:rPr>
              <a:t> main (String[] </a:t>
            </a:r>
            <a:r>
              <a:rPr lang="en-IN" sz="2000" dirty="0" err="1">
                <a:solidFill>
                  <a:srgbClr val="6A3E3E"/>
                </a:solidFill>
                <a:effectLst/>
                <a:latin typeface="Menlo" panose="020B0609030804020204" pitchFamily="49" charset="0"/>
              </a:rPr>
              <a:t>args</a:t>
            </a:r>
            <a:r>
              <a:rPr lang="en-IN" sz="2000" dirty="0">
                <a:solidFill>
                  <a:srgbClr val="000000"/>
                </a:solidFill>
                <a:effectLst/>
                <a:latin typeface="Menlo" panose="020B0609030804020204" pitchFamily="49" charset="0"/>
              </a:rPr>
              <a:t>) {</a:t>
            </a:r>
          </a:p>
          <a:p>
            <a:pPr marL="0" marR="0" indent="0">
              <a:spcBef>
                <a:spcPts val="0"/>
              </a:spcBef>
              <a:spcAft>
                <a:spcPts val="0"/>
              </a:spcAft>
              <a:buNone/>
            </a:pPr>
            <a:r>
              <a:rPr lang="en-IN" sz="2000" dirty="0">
                <a:solidFill>
                  <a:srgbClr val="3F7F5F"/>
                </a:solidFill>
                <a:effectLst/>
                <a:latin typeface="Menlo" panose="020B0609030804020204" pitchFamily="49" charset="0"/>
              </a:rPr>
              <a:t>// creating an instance of Bicycle</a:t>
            </a:r>
            <a:endParaRPr lang="en-IN" sz="2000" dirty="0">
              <a:solidFill>
                <a:srgbClr val="000000"/>
              </a:solidFill>
              <a:effectLst/>
              <a:latin typeface="Menlo" panose="020B0609030804020204" pitchFamily="49" charset="0"/>
            </a:endParaRPr>
          </a:p>
          <a:p>
            <a:pPr marL="0" marR="0" indent="0">
              <a:spcBef>
                <a:spcPts val="0"/>
              </a:spcBef>
              <a:spcAft>
                <a:spcPts val="0"/>
              </a:spcAft>
              <a:buNone/>
            </a:pPr>
            <a:r>
              <a:rPr lang="en-IN" sz="2000" dirty="0">
                <a:solidFill>
                  <a:srgbClr val="3F7F5F"/>
                </a:solidFill>
                <a:effectLst/>
                <a:latin typeface="Menlo" panose="020B0609030804020204" pitchFamily="49" charset="0"/>
              </a:rPr>
              <a:t>// doing some operations</a:t>
            </a:r>
            <a:endParaRPr lang="en-IN" sz="2000" dirty="0">
              <a:solidFill>
                <a:srgbClr val="000000"/>
              </a:solidFill>
              <a:effectLst/>
              <a:latin typeface="Menlo" panose="020B0609030804020204" pitchFamily="49" charset="0"/>
            </a:endParaRPr>
          </a:p>
          <a:p>
            <a:pPr marL="0" marR="0" indent="0">
              <a:spcBef>
                <a:spcPts val="0"/>
              </a:spcBef>
              <a:spcAft>
                <a:spcPts val="0"/>
              </a:spcAft>
              <a:buNone/>
            </a:pPr>
            <a:r>
              <a:rPr lang="en-IN" sz="2000" dirty="0">
                <a:solidFill>
                  <a:srgbClr val="000000"/>
                </a:solidFill>
                <a:effectLst/>
                <a:latin typeface="Menlo" panose="020B0609030804020204" pitchFamily="49" charset="0"/>
              </a:rPr>
              <a:t>Bicycle </a:t>
            </a:r>
            <a:r>
              <a:rPr lang="en-IN" sz="2000" dirty="0">
                <a:solidFill>
                  <a:srgbClr val="6A3E3E"/>
                </a:solidFill>
                <a:effectLst/>
                <a:latin typeface="Menlo" panose="020B0609030804020204" pitchFamily="49" charset="0"/>
              </a:rPr>
              <a:t>bicycle</a:t>
            </a:r>
            <a:r>
              <a:rPr lang="en-IN" sz="2000" dirty="0">
                <a:solidFill>
                  <a:srgbClr val="000000"/>
                </a:solidFill>
                <a:effectLst/>
                <a:latin typeface="Menlo" panose="020B0609030804020204" pitchFamily="49" charset="0"/>
              </a:rPr>
              <a:t> = </a:t>
            </a:r>
            <a:r>
              <a:rPr lang="en-IN" sz="2000" b="1" dirty="0">
                <a:solidFill>
                  <a:srgbClr val="7F0055"/>
                </a:solidFill>
                <a:effectLst/>
                <a:latin typeface="Menlo" panose="020B0609030804020204" pitchFamily="49" charset="0"/>
              </a:rPr>
              <a:t>new</a:t>
            </a:r>
            <a:r>
              <a:rPr lang="en-IN" sz="2000" dirty="0">
                <a:solidFill>
                  <a:srgbClr val="000000"/>
                </a:solidFill>
                <a:effectLst/>
                <a:latin typeface="Menlo" panose="020B0609030804020204" pitchFamily="49" charset="0"/>
              </a:rPr>
              <a:t> Bicycle();</a:t>
            </a:r>
          </a:p>
          <a:p>
            <a:pPr marL="0" marR="0" indent="0">
              <a:spcBef>
                <a:spcPts val="0"/>
              </a:spcBef>
              <a:spcAft>
                <a:spcPts val="0"/>
              </a:spcAft>
              <a:buNone/>
            </a:pPr>
            <a:r>
              <a:rPr lang="en-IN" sz="2000" dirty="0" err="1">
                <a:solidFill>
                  <a:srgbClr val="6A3E3E"/>
                </a:solidFill>
                <a:effectLst/>
                <a:latin typeface="Menlo" panose="020B0609030804020204" pitchFamily="49" charset="0"/>
              </a:rPr>
              <a:t>bicycle</a:t>
            </a:r>
            <a:r>
              <a:rPr lang="en-IN" sz="2000" dirty="0" err="1">
                <a:solidFill>
                  <a:srgbClr val="000000"/>
                </a:solidFill>
                <a:effectLst/>
                <a:latin typeface="Menlo" panose="020B0609030804020204" pitchFamily="49" charset="0"/>
              </a:rPr>
              <a:t>.changeGear</a:t>
            </a:r>
            <a:r>
              <a:rPr lang="en-IN" sz="2000" dirty="0">
                <a:solidFill>
                  <a:srgbClr val="000000"/>
                </a:solidFill>
                <a:effectLst/>
                <a:latin typeface="Menlo" panose="020B0609030804020204" pitchFamily="49" charset="0"/>
              </a:rPr>
              <a:t>(2);</a:t>
            </a:r>
          </a:p>
          <a:p>
            <a:pPr marL="0" marR="0" indent="0">
              <a:spcBef>
                <a:spcPts val="0"/>
              </a:spcBef>
              <a:spcAft>
                <a:spcPts val="0"/>
              </a:spcAft>
              <a:buNone/>
            </a:pPr>
            <a:r>
              <a:rPr lang="en-IN" sz="2000" dirty="0" err="1">
                <a:solidFill>
                  <a:srgbClr val="6A3E3E"/>
                </a:solidFill>
                <a:effectLst/>
                <a:latin typeface="Menlo" panose="020B0609030804020204" pitchFamily="49" charset="0"/>
              </a:rPr>
              <a:t>bicycle</a:t>
            </a:r>
            <a:r>
              <a:rPr lang="en-IN" sz="2000" dirty="0" err="1">
                <a:solidFill>
                  <a:srgbClr val="000000"/>
                </a:solidFill>
                <a:effectLst/>
                <a:latin typeface="Menlo" panose="020B0609030804020204" pitchFamily="49" charset="0"/>
              </a:rPr>
              <a:t>.speedUp</a:t>
            </a:r>
            <a:r>
              <a:rPr lang="en-IN" sz="2000" dirty="0">
                <a:solidFill>
                  <a:srgbClr val="000000"/>
                </a:solidFill>
                <a:effectLst/>
                <a:latin typeface="Menlo" panose="020B0609030804020204" pitchFamily="49" charset="0"/>
              </a:rPr>
              <a:t>(3);</a:t>
            </a:r>
          </a:p>
          <a:p>
            <a:pPr marL="0" marR="0" indent="0">
              <a:spcBef>
                <a:spcPts val="0"/>
              </a:spcBef>
              <a:spcAft>
                <a:spcPts val="0"/>
              </a:spcAft>
              <a:buNone/>
            </a:pPr>
            <a:r>
              <a:rPr lang="en-IN" sz="2000" dirty="0" err="1">
                <a:solidFill>
                  <a:srgbClr val="6A3E3E"/>
                </a:solidFill>
                <a:effectLst/>
                <a:latin typeface="Menlo" panose="020B0609030804020204" pitchFamily="49" charset="0"/>
              </a:rPr>
              <a:t>bicycle</a:t>
            </a:r>
            <a:r>
              <a:rPr lang="en-IN" sz="2000" dirty="0" err="1">
                <a:solidFill>
                  <a:srgbClr val="000000"/>
                </a:solidFill>
                <a:effectLst/>
                <a:latin typeface="Menlo" panose="020B0609030804020204" pitchFamily="49" charset="0"/>
              </a:rPr>
              <a:t>.applyBrakes</a:t>
            </a:r>
            <a:r>
              <a:rPr lang="en-IN" sz="2000" dirty="0">
                <a:solidFill>
                  <a:srgbClr val="000000"/>
                </a:solidFill>
                <a:effectLst/>
                <a:latin typeface="Menlo" panose="020B0609030804020204" pitchFamily="49" charset="0"/>
              </a:rPr>
              <a:t>(1);</a:t>
            </a:r>
          </a:p>
          <a:p>
            <a:pPr marL="0" marR="0" indent="0">
              <a:spcBef>
                <a:spcPts val="0"/>
              </a:spcBef>
              <a:spcAft>
                <a:spcPts val="0"/>
              </a:spcAft>
              <a:buNone/>
            </a:pPr>
            <a:r>
              <a:rPr lang="en-IN" sz="2000" dirty="0" err="1">
                <a:solidFill>
                  <a:srgbClr val="000000"/>
                </a:solidFill>
                <a:effectLst/>
                <a:latin typeface="Menlo" panose="020B0609030804020204" pitchFamily="49" charset="0"/>
              </a:rPr>
              <a:t>System.</a:t>
            </a:r>
            <a:r>
              <a:rPr lang="en-IN" sz="2000" b="1" i="1" dirty="0" err="1">
                <a:solidFill>
                  <a:srgbClr val="0000C0"/>
                </a:solidFill>
                <a:effectLst/>
                <a:latin typeface="Menlo" panose="020B0609030804020204" pitchFamily="49" charset="0"/>
              </a:rPr>
              <a:t>out</a:t>
            </a:r>
            <a:r>
              <a:rPr lang="en-IN" sz="2000" dirty="0" err="1">
                <a:solidFill>
                  <a:srgbClr val="000000"/>
                </a:solidFill>
                <a:effectLst/>
                <a:latin typeface="Menlo" panose="020B0609030804020204" pitchFamily="49" charset="0"/>
              </a:rPr>
              <a:t>.println</a:t>
            </a:r>
            <a:r>
              <a:rPr lang="en-IN" sz="2000" dirty="0">
                <a:solidFill>
                  <a:srgbClr val="000000"/>
                </a:solidFill>
                <a:effectLst/>
                <a:latin typeface="Menlo" panose="020B0609030804020204" pitchFamily="49" charset="0"/>
              </a:rPr>
              <a:t>(</a:t>
            </a:r>
            <a:r>
              <a:rPr lang="en-IN" sz="2000" dirty="0">
                <a:solidFill>
                  <a:srgbClr val="2A00FF"/>
                </a:solidFill>
                <a:effectLst/>
                <a:latin typeface="Menlo" panose="020B0609030804020204" pitchFamily="49" charset="0"/>
              </a:rPr>
              <a:t>"Bicycle present state :"</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err="1">
                <a:solidFill>
                  <a:srgbClr val="6A3E3E"/>
                </a:solidFill>
                <a:effectLst/>
                <a:latin typeface="Menlo" panose="020B0609030804020204" pitchFamily="49" charset="0"/>
              </a:rPr>
              <a:t>bicycle</a:t>
            </a:r>
            <a:r>
              <a:rPr lang="en-IN" sz="2000" dirty="0" err="1">
                <a:solidFill>
                  <a:srgbClr val="000000"/>
                </a:solidFill>
                <a:effectLst/>
                <a:latin typeface="Menlo" panose="020B0609030804020204" pitchFamily="49" charset="0"/>
              </a:rPr>
              <a:t>.printStates</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3F7F5F"/>
                </a:solidFill>
                <a:effectLst/>
                <a:latin typeface="Menlo" panose="020B0609030804020204" pitchFamily="49" charset="0"/>
              </a:rPr>
              <a:t>// creating instance of the bike.</a:t>
            </a:r>
            <a:endParaRPr lang="en-IN" sz="2000" dirty="0">
              <a:solidFill>
                <a:srgbClr val="000000"/>
              </a:solidFill>
              <a:effectLst/>
              <a:latin typeface="Menlo" panose="020B0609030804020204" pitchFamily="49" charset="0"/>
            </a:endParaRPr>
          </a:p>
          <a:p>
            <a:pPr marL="0" marR="0" indent="0">
              <a:spcBef>
                <a:spcPts val="0"/>
              </a:spcBef>
              <a:spcAft>
                <a:spcPts val="0"/>
              </a:spcAft>
              <a:buNone/>
            </a:pPr>
            <a:r>
              <a:rPr lang="en-IN" sz="2000" dirty="0">
                <a:solidFill>
                  <a:srgbClr val="000000"/>
                </a:solidFill>
                <a:effectLst/>
                <a:latin typeface="Menlo" panose="020B0609030804020204" pitchFamily="49" charset="0"/>
              </a:rPr>
              <a:t>Bike </a:t>
            </a:r>
            <a:r>
              <a:rPr lang="en-IN" sz="2000" dirty="0">
                <a:solidFill>
                  <a:srgbClr val="6A3E3E"/>
                </a:solidFill>
                <a:effectLst/>
                <a:latin typeface="Menlo" panose="020B0609030804020204" pitchFamily="49" charset="0"/>
              </a:rPr>
              <a:t>bike</a:t>
            </a:r>
            <a:r>
              <a:rPr lang="en-IN" sz="2000" dirty="0">
                <a:solidFill>
                  <a:srgbClr val="000000"/>
                </a:solidFill>
                <a:effectLst/>
                <a:latin typeface="Menlo" panose="020B0609030804020204" pitchFamily="49" charset="0"/>
              </a:rPr>
              <a:t> = </a:t>
            </a:r>
            <a:r>
              <a:rPr lang="en-IN" sz="2000" b="1" dirty="0">
                <a:solidFill>
                  <a:srgbClr val="7F0055"/>
                </a:solidFill>
                <a:effectLst/>
                <a:latin typeface="Menlo" panose="020B0609030804020204" pitchFamily="49" charset="0"/>
              </a:rPr>
              <a:t>new</a:t>
            </a:r>
            <a:r>
              <a:rPr lang="en-IN" sz="2000" dirty="0">
                <a:solidFill>
                  <a:srgbClr val="000000"/>
                </a:solidFill>
                <a:effectLst/>
                <a:latin typeface="Menlo" panose="020B0609030804020204" pitchFamily="49" charset="0"/>
              </a:rPr>
              <a:t> Bike();</a:t>
            </a:r>
          </a:p>
          <a:p>
            <a:pPr marL="0" marR="0" indent="0">
              <a:spcBef>
                <a:spcPts val="0"/>
              </a:spcBef>
              <a:spcAft>
                <a:spcPts val="0"/>
              </a:spcAft>
              <a:buNone/>
            </a:pPr>
            <a:r>
              <a:rPr lang="en-IN" sz="2000" dirty="0" err="1">
                <a:solidFill>
                  <a:srgbClr val="6A3E3E"/>
                </a:solidFill>
                <a:effectLst/>
                <a:latin typeface="Menlo" panose="020B0609030804020204" pitchFamily="49" charset="0"/>
              </a:rPr>
              <a:t>bike</a:t>
            </a:r>
            <a:r>
              <a:rPr lang="en-IN" sz="2000" dirty="0" err="1">
                <a:solidFill>
                  <a:srgbClr val="000000"/>
                </a:solidFill>
                <a:effectLst/>
                <a:latin typeface="Menlo" panose="020B0609030804020204" pitchFamily="49" charset="0"/>
              </a:rPr>
              <a:t>.changeGear</a:t>
            </a:r>
            <a:r>
              <a:rPr lang="en-IN" sz="2000" dirty="0">
                <a:solidFill>
                  <a:srgbClr val="000000"/>
                </a:solidFill>
                <a:effectLst/>
                <a:latin typeface="Menlo" panose="020B0609030804020204" pitchFamily="49" charset="0"/>
              </a:rPr>
              <a:t>(1);</a:t>
            </a:r>
          </a:p>
          <a:p>
            <a:pPr marL="0" marR="0" indent="0">
              <a:spcBef>
                <a:spcPts val="0"/>
              </a:spcBef>
              <a:spcAft>
                <a:spcPts val="0"/>
              </a:spcAft>
              <a:buNone/>
            </a:pPr>
            <a:r>
              <a:rPr lang="en-IN" sz="2000" dirty="0" err="1">
                <a:solidFill>
                  <a:srgbClr val="6A3E3E"/>
                </a:solidFill>
                <a:effectLst/>
                <a:latin typeface="Menlo" panose="020B0609030804020204" pitchFamily="49" charset="0"/>
              </a:rPr>
              <a:t>bike</a:t>
            </a:r>
            <a:r>
              <a:rPr lang="en-IN" sz="2000" dirty="0" err="1">
                <a:solidFill>
                  <a:srgbClr val="000000"/>
                </a:solidFill>
                <a:effectLst/>
                <a:latin typeface="Menlo" panose="020B0609030804020204" pitchFamily="49" charset="0"/>
              </a:rPr>
              <a:t>.speedUp</a:t>
            </a:r>
            <a:r>
              <a:rPr lang="en-IN" sz="2000" dirty="0">
                <a:solidFill>
                  <a:srgbClr val="000000"/>
                </a:solidFill>
                <a:effectLst/>
                <a:latin typeface="Menlo" panose="020B0609030804020204" pitchFamily="49" charset="0"/>
              </a:rPr>
              <a:t>(4);</a:t>
            </a:r>
          </a:p>
          <a:p>
            <a:pPr marL="0" marR="0" indent="0">
              <a:spcBef>
                <a:spcPts val="0"/>
              </a:spcBef>
              <a:spcAft>
                <a:spcPts val="0"/>
              </a:spcAft>
              <a:buNone/>
            </a:pPr>
            <a:r>
              <a:rPr lang="en-IN" sz="2000" dirty="0" err="1">
                <a:solidFill>
                  <a:srgbClr val="6A3E3E"/>
                </a:solidFill>
                <a:effectLst/>
                <a:latin typeface="Menlo" panose="020B0609030804020204" pitchFamily="49" charset="0"/>
              </a:rPr>
              <a:t>bike</a:t>
            </a:r>
            <a:r>
              <a:rPr lang="en-IN" sz="2000" dirty="0" err="1">
                <a:solidFill>
                  <a:srgbClr val="000000"/>
                </a:solidFill>
                <a:effectLst/>
                <a:latin typeface="Menlo" panose="020B0609030804020204" pitchFamily="49" charset="0"/>
              </a:rPr>
              <a:t>.applyBrakes</a:t>
            </a:r>
            <a:r>
              <a:rPr lang="en-IN" sz="2000" dirty="0">
                <a:solidFill>
                  <a:srgbClr val="000000"/>
                </a:solidFill>
                <a:effectLst/>
                <a:latin typeface="Menlo" panose="020B0609030804020204" pitchFamily="49" charset="0"/>
              </a:rPr>
              <a:t>(3);</a:t>
            </a:r>
          </a:p>
          <a:p>
            <a:pPr marL="0" marR="0" indent="0">
              <a:spcBef>
                <a:spcPts val="0"/>
              </a:spcBef>
              <a:spcAft>
                <a:spcPts val="0"/>
              </a:spcAft>
              <a:buNone/>
            </a:pPr>
            <a:r>
              <a:rPr lang="en-IN" sz="2000" dirty="0" err="1">
                <a:solidFill>
                  <a:srgbClr val="000000"/>
                </a:solidFill>
                <a:effectLst/>
                <a:latin typeface="Menlo" panose="020B0609030804020204" pitchFamily="49" charset="0"/>
              </a:rPr>
              <a:t>System.</a:t>
            </a:r>
            <a:r>
              <a:rPr lang="en-IN" sz="2000" b="1" i="1" dirty="0" err="1">
                <a:solidFill>
                  <a:srgbClr val="0000C0"/>
                </a:solidFill>
                <a:effectLst/>
                <a:latin typeface="Menlo" panose="020B0609030804020204" pitchFamily="49" charset="0"/>
              </a:rPr>
              <a:t>out</a:t>
            </a:r>
            <a:r>
              <a:rPr lang="en-IN" sz="2000" dirty="0" err="1">
                <a:solidFill>
                  <a:srgbClr val="000000"/>
                </a:solidFill>
                <a:effectLst/>
                <a:latin typeface="Menlo" panose="020B0609030804020204" pitchFamily="49" charset="0"/>
              </a:rPr>
              <a:t>.println</a:t>
            </a:r>
            <a:r>
              <a:rPr lang="en-IN" sz="2000" dirty="0">
                <a:solidFill>
                  <a:srgbClr val="000000"/>
                </a:solidFill>
                <a:effectLst/>
                <a:latin typeface="Menlo" panose="020B0609030804020204" pitchFamily="49" charset="0"/>
              </a:rPr>
              <a:t>(</a:t>
            </a:r>
            <a:r>
              <a:rPr lang="en-IN" sz="2000" dirty="0">
                <a:solidFill>
                  <a:srgbClr val="2A00FF"/>
                </a:solidFill>
                <a:effectLst/>
                <a:latin typeface="Menlo" panose="020B0609030804020204" pitchFamily="49" charset="0"/>
              </a:rPr>
              <a:t>"Bike present state :"</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err="1">
                <a:solidFill>
                  <a:srgbClr val="6A3E3E"/>
                </a:solidFill>
                <a:effectLst/>
                <a:latin typeface="Menlo" panose="020B0609030804020204" pitchFamily="49" charset="0"/>
              </a:rPr>
              <a:t>bike</a:t>
            </a:r>
            <a:r>
              <a:rPr lang="en-IN" sz="2000" dirty="0" err="1">
                <a:solidFill>
                  <a:srgbClr val="000000"/>
                </a:solidFill>
                <a:effectLst/>
                <a:latin typeface="Menlo" panose="020B0609030804020204" pitchFamily="49" charset="0"/>
              </a:rPr>
              <a:t>.printStates</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000000"/>
                </a:solidFill>
                <a:effectLst/>
                <a:latin typeface="Menlo" panose="020B0609030804020204" pitchFamily="49" charset="0"/>
              </a:rPr>
              <a:t>}</a:t>
            </a:r>
          </a:p>
        </p:txBody>
      </p:sp>
      <p:sp>
        <p:nvSpPr>
          <p:cNvPr id="4" name="Footer Placeholder 3">
            <a:extLst>
              <a:ext uri="{FF2B5EF4-FFF2-40B4-BE49-F238E27FC236}">
                <a16:creationId xmlns:a16="http://schemas.microsoft.com/office/drawing/2014/main" id="{6EF5F61D-E678-D441-E2E6-99D9F6B43885}"/>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034927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0990D-3576-E091-46E1-DCE926D53E2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C52A59E-07D9-5C03-AD25-F999D3937EEC}"/>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0227498D-3D91-6D95-55FA-7166D88FCC3A}"/>
              </a:ext>
            </a:extLst>
          </p:cNvPr>
          <p:cNvSpPr>
            <a:spLocks noGrp="1"/>
          </p:cNvSpPr>
          <p:nvPr>
            <p:ph type="ftr" sz="quarter" idx="11"/>
          </p:nvPr>
        </p:nvSpPr>
        <p:spPr/>
        <p:txBody>
          <a:bodyPr/>
          <a:lstStyle/>
          <a:p>
            <a:pPr>
              <a:defRPr/>
            </a:pPr>
            <a:r>
              <a:rPr lang="en-US"/>
              <a:t>Dr. Naveen Kumar, Associate Professor, AIIT, AUP</a:t>
            </a:r>
          </a:p>
        </p:txBody>
      </p:sp>
      <p:pic>
        <p:nvPicPr>
          <p:cNvPr id="4098" name="Picture 2" descr="Intefaces-in-Java-2-">
            <a:extLst>
              <a:ext uri="{FF2B5EF4-FFF2-40B4-BE49-F238E27FC236}">
                <a16:creationId xmlns:a16="http://schemas.microsoft.com/office/drawing/2014/main" id="{DCD1AD06-97C4-2DB9-7ABB-B0C3E3868A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43075"/>
            <a:ext cx="9144000" cy="3370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83565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0D516-2178-E516-E5E6-121941C81CC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4885F11-EB58-553A-5AF3-1038956A2A59}"/>
              </a:ext>
            </a:extLst>
          </p:cNvPr>
          <p:cNvSpPr>
            <a:spLocks noGrp="1"/>
          </p:cNvSpPr>
          <p:nvPr>
            <p:ph idx="1"/>
          </p:nvPr>
        </p:nvSpPr>
        <p:spPr>
          <a:xfrm>
            <a:off x="457200" y="487362"/>
            <a:ext cx="8229600" cy="5837238"/>
          </a:xfrm>
        </p:spPr>
        <p:txBody>
          <a:bodyPr/>
          <a:lstStyle/>
          <a:p>
            <a:pPr marL="0" marR="0" indent="0">
              <a:spcBef>
                <a:spcPts val="0"/>
              </a:spcBef>
              <a:spcAft>
                <a:spcPts val="0"/>
              </a:spcAft>
              <a:buNone/>
            </a:pPr>
            <a:r>
              <a:rPr lang="en-IN" sz="1800" dirty="0">
                <a:solidFill>
                  <a:srgbClr val="3F7F5F"/>
                </a:solidFill>
                <a:effectLst/>
                <a:latin typeface="Menlo" panose="020B0609030804020204" pitchFamily="49" charset="0"/>
              </a:rPr>
              <a:t>//Interface 1</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b="1" dirty="0">
                <a:solidFill>
                  <a:srgbClr val="7F0055"/>
                </a:solidFill>
                <a:effectLst/>
                <a:latin typeface="Menlo" panose="020B0609030804020204" pitchFamily="49" charset="0"/>
              </a:rPr>
              <a:t>interface</a:t>
            </a:r>
            <a:r>
              <a:rPr lang="en-IN" sz="1800" dirty="0">
                <a:solidFill>
                  <a:srgbClr val="000000"/>
                </a:solidFill>
                <a:effectLst/>
                <a:latin typeface="Menlo" panose="020B0609030804020204" pitchFamily="49" charset="0"/>
              </a:rPr>
              <a:t> API {</a:t>
            </a:r>
          </a:p>
          <a:p>
            <a:pPr marL="0" marR="0" indent="0">
              <a:spcBef>
                <a:spcPts val="0"/>
              </a:spcBef>
              <a:spcAft>
                <a:spcPts val="0"/>
              </a:spcAft>
              <a:buNone/>
            </a:pPr>
            <a:r>
              <a:rPr lang="en-IN" sz="1800" b="1" dirty="0">
                <a:solidFill>
                  <a:srgbClr val="7F0055"/>
                </a:solidFill>
                <a:effectLst/>
                <a:latin typeface="Menlo" panose="020B0609030804020204" pitchFamily="49" charset="0"/>
              </a:rPr>
              <a:t>default</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show()</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000000"/>
                </a:solidFill>
                <a:effectLst/>
                <a:latin typeface="Menlo" panose="020B0609030804020204" pitchFamily="49" charset="0"/>
              </a:rPr>
              <a:t>System.</a:t>
            </a:r>
            <a:r>
              <a:rPr lang="en-IN" sz="1800" b="1" i="1" dirty="0" err="1">
                <a:solidFill>
                  <a:srgbClr val="0000C0"/>
                </a:solidFill>
                <a:effectLst/>
                <a:latin typeface="Menlo" panose="020B0609030804020204" pitchFamily="49" charset="0"/>
              </a:rPr>
              <a:t>out</a:t>
            </a:r>
            <a:r>
              <a:rPr lang="en-IN" sz="1800" dirty="0" err="1">
                <a:solidFill>
                  <a:srgbClr val="000000"/>
                </a:solidFill>
                <a:effectLst/>
                <a:latin typeface="Menlo" panose="020B0609030804020204" pitchFamily="49" charset="0"/>
              </a:rPr>
              <a:t>.println</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"Default API"</a:t>
            </a: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dirty="0">
                <a:solidFill>
                  <a:srgbClr val="3F7F5F"/>
                </a:solidFill>
                <a:effectLst/>
                <a:latin typeface="Menlo" panose="020B0609030804020204" pitchFamily="49" charset="0"/>
              </a:rPr>
              <a:t>//Interface 2</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dirty="0">
                <a:solidFill>
                  <a:srgbClr val="3F7F5F"/>
                </a:solidFill>
                <a:effectLst/>
                <a:latin typeface="Menlo" panose="020B0609030804020204" pitchFamily="49" charset="0"/>
              </a:rPr>
              <a:t>//Extending the above interface</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b="1" dirty="0">
                <a:solidFill>
                  <a:srgbClr val="7F0055"/>
                </a:solidFill>
                <a:effectLst/>
                <a:latin typeface="Menlo" panose="020B0609030804020204" pitchFamily="49" charset="0"/>
              </a:rPr>
              <a:t>interface</a:t>
            </a:r>
            <a:r>
              <a:rPr lang="en-IN" sz="1800" dirty="0">
                <a:solidFill>
                  <a:srgbClr val="000000"/>
                </a:solidFill>
                <a:effectLst/>
                <a:latin typeface="Menlo" panose="020B0609030804020204" pitchFamily="49" charset="0"/>
              </a:rPr>
              <a:t> Interface1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API {</a:t>
            </a:r>
          </a:p>
          <a:p>
            <a:pPr marL="0" marR="0" indent="0">
              <a:spcBef>
                <a:spcPts val="0"/>
              </a:spcBef>
              <a:spcAft>
                <a:spcPts val="0"/>
              </a:spcAft>
              <a:buNone/>
            </a:pPr>
            <a:r>
              <a:rPr lang="en-IN" sz="1800" dirty="0">
                <a:solidFill>
                  <a:srgbClr val="3F7F5F"/>
                </a:solidFill>
                <a:effectLst/>
                <a:latin typeface="Menlo" panose="020B0609030804020204" pitchFamily="49" charset="0"/>
              </a:rPr>
              <a:t>// Abstract method</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display();</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indent="0">
              <a:spcBef>
                <a:spcPts val="0"/>
              </a:spcBef>
              <a:spcAft>
                <a:spcPts val="0"/>
              </a:spcAft>
              <a:buNone/>
            </a:pP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dirty="0">
                <a:solidFill>
                  <a:srgbClr val="3F7F5F"/>
                </a:solidFill>
                <a:effectLst/>
                <a:latin typeface="Menlo" panose="020B0609030804020204" pitchFamily="49" charset="0"/>
              </a:rPr>
              <a:t>//Interface 3</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dirty="0">
                <a:solidFill>
                  <a:srgbClr val="3F7F5F"/>
                </a:solidFill>
                <a:effectLst/>
                <a:latin typeface="Menlo" panose="020B0609030804020204" pitchFamily="49" charset="0"/>
              </a:rPr>
              <a:t>//Extending the above interface</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b="1" dirty="0">
                <a:solidFill>
                  <a:srgbClr val="7F0055"/>
                </a:solidFill>
                <a:effectLst/>
                <a:latin typeface="Menlo" panose="020B0609030804020204" pitchFamily="49" charset="0"/>
              </a:rPr>
              <a:t>interface</a:t>
            </a:r>
            <a:r>
              <a:rPr lang="en-IN" sz="1800" dirty="0">
                <a:solidFill>
                  <a:srgbClr val="000000"/>
                </a:solidFill>
                <a:effectLst/>
                <a:latin typeface="Menlo" panose="020B0609030804020204" pitchFamily="49" charset="0"/>
              </a:rPr>
              <a:t> Interface2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API {</a:t>
            </a:r>
          </a:p>
          <a:p>
            <a:pPr marL="0" marR="0" indent="0">
              <a:spcBef>
                <a:spcPts val="0"/>
              </a:spcBef>
              <a:spcAft>
                <a:spcPts val="0"/>
              </a:spcAft>
              <a:buNone/>
            </a:pPr>
            <a:r>
              <a:rPr lang="en-IN" sz="1800" dirty="0">
                <a:solidFill>
                  <a:srgbClr val="3F7F5F"/>
                </a:solidFill>
                <a:effectLst/>
                <a:latin typeface="Menlo" panose="020B0609030804020204" pitchFamily="49" charset="0"/>
              </a:rPr>
              <a:t>// Abstract method</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print();</a:t>
            </a:r>
          </a:p>
          <a:p>
            <a:pPr marL="0" marR="0" indent="0">
              <a:spcBef>
                <a:spcPts val="0"/>
              </a:spcBef>
              <a:spcAft>
                <a:spcPts val="0"/>
              </a:spcAft>
              <a:buNone/>
            </a:pPr>
            <a:r>
              <a:rPr lang="en-IN" sz="1800" dirty="0">
                <a:solidFill>
                  <a:srgbClr val="000000"/>
                </a:solidFill>
                <a:effectLst/>
                <a:latin typeface="Menlo" panose="020B0609030804020204" pitchFamily="49" charset="0"/>
              </a:rPr>
              <a:t>}</a:t>
            </a:r>
          </a:p>
        </p:txBody>
      </p:sp>
      <p:sp>
        <p:nvSpPr>
          <p:cNvPr id="4" name="Footer Placeholder 3">
            <a:extLst>
              <a:ext uri="{FF2B5EF4-FFF2-40B4-BE49-F238E27FC236}">
                <a16:creationId xmlns:a16="http://schemas.microsoft.com/office/drawing/2014/main" id="{759AE199-44D6-A7F3-2E47-5419BA4F17FA}"/>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423984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7F80B-F686-1FCB-E590-DA5AC78C06E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8E7FF88-495E-495D-A77E-63CA4E9DE881}"/>
              </a:ext>
            </a:extLst>
          </p:cNvPr>
          <p:cNvSpPr>
            <a:spLocks noGrp="1"/>
          </p:cNvSpPr>
          <p:nvPr>
            <p:ph idx="1"/>
          </p:nvPr>
        </p:nvSpPr>
        <p:spPr>
          <a:xfrm>
            <a:off x="457200" y="368300"/>
            <a:ext cx="8229600" cy="5956300"/>
          </a:xfrm>
        </p:spPr>
        <p:txBody>
          <a:bodyPr/>
          <a:lstStyle/>
          <a:p>
            <a:pPr marL="0" marR="0" indent="0">
              <a:spcBef>
                <a:spcPts val="0"/>
              </a:spcBef>
              <a:spcAft>
                <a:spcPts val="0"/>
              </a:spcAft>
              <a:buNone/>
            </a:pPr>
            <a:r>
              <a:rPr lang="en-IN" sz="2000" b="1" dirty="0">
                <a:solidFill>
                  <a:srgbClr val="7F0055"/>
                </a:solidFill>
                <a:effectLst/>
                <a:latin typeface="Menlo" panose="020B0609030804020204" pitchFamily="49" charset="0"/>
              </a:rPr>
              <a:t>class</a:t>
            </a:r>
            <a:r>
              <a:rPr lang="en-IN" sz="2000" dirty="0">
                <a:solidFill>
                  <a:srgbClr val="000000"/>
                </a:solidFill>
                <a:effectLst/>
                <a:latin typeface="Menlo" panose="020B0609030804020204" pitchFamily="49" charset="0"/>
              </a:rPr>
              <a:t> </a:t>
            </a:r>
            <a:r>
              <a:rPr lang="en-IN" sz="2000" dirty="0" err="1">
                <a:solidFill>
                  <a:srgbClr val="000000"/>
                </a:solidFill>
                <a:effectLst/>
                <a:latin typeface="Menlo" panose="020B0609030804020204" pitchFamily="49" charset="0"/>
              </a:rPr>
              <a:t>TestClass</a:t>
            </a:r>
            <a:r>
              <a:rPr lang="en-IN" sz="2000" dirty="0">
                <a:solidFill>
                  <a:srgbClr val="000000"/>
                </a:solidFill>
                <a:effectLst/>
                <a:latin typeface="Menlo" panose="020B0609030804020204" pitchFamily="49" charset="0"/>
              </a:rPr>
              <a:t> </a:t>
            </a:r>
            <a:r>
              <a:rPr lang="en-IN" sz="2000" b="1" dirty="0">
                <a:solidFill>
                  <a:srgbClr val="7F0055"/>
                </a:solidFill>
                <a:effectLst/>
                <a:latin typeface="Menlo" panose="020B0609030804020204" pitchFamily="49" charset="0"/>
              </a:rPr>
              <a:t>implements</a:t>
            </a:r>
            <a:r>
              <a:rPr lang="en-IN" sz="2000" dirty="0">
                <a:solidFill>
                  <a:srgbClr val="000000"/>
                </a:solidFill>
                <a:effectLst/>
                <a:latin typeface="Menlo" panose="020B0609030804020204" pitchFamily="49" charset="0"/>
              </a:rPr>
              <a:t> Interface1, Interface2 {</a:t>
            </a:r>
          </a:p>
          <a:p>
            <a:pPr marL="0" marR="0" indent="0">
              <a:spcBef>
                <a:spcPts val="0"/>
              </a:spcBef>
              <a:spcAft>
                <a:spcPts val="0"/>
              </a:spcAft>
              <a:buNone/>
            </a:pPr>
            <a:r>
              <a:rPr lang="en-IN" sz="2000" dirty="0">
                <a:solidFill>
                  <a:srgbClr val="3F7F5F"/>
                </a:solidFill>
                <a:effectLst/>
                <a:latin typeface="Menlo" panose="020B0609030804020204" pitchFamily="49" charset="0"/>
              </a:rPr>
              <a:t>// Overriding the abstract method from Interface1</a:t>
            </a:r>
            <a:endParaRPr lang="en-IN" sz="2000" dirty="0">
              <a:solidFill>
                <a:srgbClr val="000000"/>
              </a:solidFill>
              <a:effectLst/>
              <a:latin typeface="Menlo" panose="020B0609030804020204" pitchFamily="49" charset="0"/>
            </a:endParaRPr>
          </a:p>
          <a:p>
            <a:pPr marL="0" marR="0" indent="0">
              <a:spcBef>
                <a:spcPts val="0"/>
              </a:spcBef>
              <a:spcAft>
                <a:spcPts val="0"/>
              </a:spcAft>
              <a:buNone/>
            </a:pPr>
            <a:r>
              <a:rPr lang="en-IN" sz="2000" b="1" dirty="0">
                <a:solidFill>
                  <a:srgbClr val="7F0055"/>
                </a:solidFill>
                <a:effectLst/>
                <a:latin typeface="Menlo" panose="020B0609030804020204" pitchFamily="49" charset="0"/>
              </a:rPr>
              <a:t>public</a:t>
            </a:r>
            <a:r>
              <a:rPr lang="en-IN" sz="2000" dirty="0">
                <a:solidFill>
                  <a:srgbClr val="000000"/>
                </a:solidFill>
                <a:effectLst/>
                <a:latin typeface="Menlo" panose="020B0609030804020204" pitchFamily="49" charset="0"/>
              </a:rPr>
              <a:t> </a:t>
            </a:r>
            <a:r>
              <a:rPr lang="en-IN" sz="2000" b="1" dirty="0">
                <a:solidFill>
                  <a:srgbClr val="7F0055"/>
                </a:solidFill>
                <a:effectLst/>
                <a:latin typeface="Menlo" panose="020B0609030804020204" pitchFamily="49" charset="0"/>
              </a:rPr>
              <a:t>void</a:t>
            </a:r>
            <a:r>
              <a:rPr lang="en-IN" sz="2000" dirty="0">
                <a:solidFill>
                  <a:srgbClr val="000000"/>
                </a:solidFill>
                <a:effectLst/>
                <a:latin typeface="Menlo" panose="020B0609030804020204" pitchFamily="49" charset="0"/>
              </a:rPr>
              <a:t> display()</a:t>
            </a:r>
          </a:p>
          <a:p>
            <a:pPr marL="0" marR="0" indent="0">
              <a:spcBef>
                <a:spcPts val="0"/>
              </a:spcBef>
              <a:spcAft>
                <a:spcPts val="0"/>
              </a:spcAft>
              <a:buNone/>
            </a:pP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err="1">
                <a:solidFill>
                  <a:srgbClr val="000000"/>
                </a:solidFill>
                <a:effectLst/>
                <a:latin typeface="Menlo" panose="020B0609030804020204" pitchFamily="49" charset="0"/>
              </a:rPr>
              <a:t>System.</a:t>
            </a:r>
            <a:r>
              <a:rPr lang="en-IN" sz="2000" b="1" i="1" dirty="0" err="1">
                <a:solidFill>
                  <a:srgbClr val="0000C0"/>
                </a:solidFill>
                <a:effectLst/>
                <a:latin typeface="Menlo" panose="020B0609030804020204" pitchFamily="49" charset="0"/>
              </a:rPr>
              <a:t>out</a:t>
            </a:r>
            <a:r>
              <a:rPr lang="en-IN" sz="2000" dirty="0" err="1">
                <a:solidFill>
                  <a:srgbClr val="000000"/>
                </a:solidFill>
                <a:effectLst/>
                <a:latin typeface="Menlo" panose="020B0609030804020204" pitchFamily="49" charset="0"/>
              </a:rPr>
              <a:t>.println</a:t>
            </a:r>
            <a:r>
              <a:rPr lang="en-IN" sz="2000" dirty="0">
                <a:solidFill>
                  <a:srgbClr val="000000"/>
                </a:solidFill>
                <a:effectLst/>
                <a:latin typeface="Menlo" panose="020B0609030804020204" pitchFamily="49" charset="0"/>
              </a:rPr>
              <a:t>(</a:t>
            </a:r>
            <a:r>
              <a:rPr lang="en-IN" sz="2000" dirty="0">
                <a:solidFill>
                  <a:srgbClr val="2A00FF"/>
                </a:solidFill>
                <a:effectLst/>
                <a:latin typeface="Menlo" panose="020B0609030804020204" pitchFamily="49" charset="0"/>
              </a:rPr>
              <a:t>"Display from Interface1"</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3F7F5F"/>
                </a:solidFill>
                <a:effectLst/>
                <a:latin typeface="Menlo" panose="020B0609030804020204" pitchFamily="49" charset="0"/>
              </a:rPr>
              <a:t>// Overriding the abstract method from Interface2</a:t>
            </a:r>
            <a:endParaRPr lang="en-IN" sz="2000" dirty="0">
              <a:solidFill>
                <a:srgbClr val="000000"/>
              </a:solidFill>
              <a:effectLst/>
              <a:latin typeface="Menlo" panose="020B0609030804020204" pitchFamily="49" charset="0"/>
            </a:endParaRPr>
          </a:p>
          <a:p>
            <a:pPr marL="0" marR="0" indent="0">
              <a:spcBef>
                <a:spcPts val="0"/>
              </a:spcBef>
              <a:spcAft>
                <a:spcPts val="0"/>
              </a:spcAft>
              <a:buNone/>
            </a:pPr>
            <a:r>
              <a:rPr lang="en-IN" sz="2000" b="1" dirty="0">
                <a:solidFill>
                  <a:srgbClr val="7F0055"/>
                </a:solidFill>
                <a:effectLst/>
                <a:latin typeface="Menlo" panose="020B0609030804020204" pitchFamily="49" charset="0"/>
              </a:rPr>
              <a:t>public</a:t>
            </a:r>
            <a:r>
              <a:rPr lang="en-IN" sz="2000" dirty="0">
                <a:solidFill>
                  <a:srgbClr val="000000"/>
                </a:solidFill>
                <a:effectLst/>
                <a:latin typeface="Menlo" panose="020B0609030804020204" pitchFamily="49" charset="0"/>
              </a:rPr>
              <a:t> </a:t>
            </a:r>
            <a:r>
              <a:rPr lang="en-IN" sz="2000" b="1" dirty="0">
                <a:solidFill>
                  <a:srgbClr val="7F0055"/>
                </a:solidFill>
                <a:effectLst/>
                <a:latin typeface="Menlo" panose="020B0609030804020204" pitchFamily="49" charset="0"/>
              </a:rPr>
              <a:t>void</a:t>
            </a:r>
            <a:r>
              <a:rPr lang="en-IN" sz="2000" dirty="0">
                <a:solidFill>
                  <a:srgbClr val="000000"/>
                </a:solidFill>
                <a:effectLst/>
                <a:latin typeface="Menlo" panose="020B0609030804020204" pitchFamily="49" charset="0"/>
              </a:rPr>
              <a:t> print()</a:t>
            </a:r>
          </a:p>
          <a:p>
            <a:pPr marL="0" marR="0" indent="0">
              <a:spcBef>
                <a:spcPts val="0"/>
              </a:spcBef>
              <a:spcAft>
                <a:spcPts val="0"/>
              </a:spcAft>
              <a:buNone/>
            </a:pP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err="1">
                <a:solidFill>
                  <a:srgbClr val="000000"/>
                </a:solidFill>
                <a:effectLst/>
                <a:latin typeface="Menlo" panose="020B0609030804020204" pitchFamily="49" charset="0"/>
              </a:rPr>
              <a:t>System.</a:t>
            </a:r>
            <a:r>
              <a:rPr lang="en-IN" sz="2000" b="1" i="1" dirty="0" err="1">
                <a:solidFill>
                  <a:srgbClr val="0000C0"/>
                </a:solidFill>
                <a:effectLst/>
                <a:latin typeface="Menlo" panose="020B0609030804020204" pitchFamily="49" charset="0"/>
              </a:rPr>
              <a:t>out</a:t>
            </a:r>
            <a:r>
              <a:rPr lang="en-IN" sz="2000" dirty="0" err="1">
                <a:solidFill>
                  <a:srgbClr val="000000"/>
                </a:solidFill>
                <a:effectLst/>
                <a:latin typeface="Menlo" panose="020B0609030804020204" pitchFamily="49" charset="0"/>
              </a:rPr>
              <a:t>.println</a:t>
            </a:r>
            <a:r>
              <a:rPr lang="en-IN" sz="2000" dirty="0">
                <a:solidFill>
                  <a:srgbClr val="000000"/>
                </a:solidFill>
                <a:effectLst/>
                <a:latin typeface="Menlo" panose="020B0609030804020204" pitchFamily="49" charset="0"/>
              </a:rPr>
              <a:t>(</a:t>
            </a:r>
            <a:r>
              <a:rPr lang="en-IN" sz="2000" dirty="0">
                <a:solidFill>
                  <a:srgbClr val="2A00FF"/>
                </a:solidFill>
                <a:effectLst/>
                <a:latin typeface="Menlo" panose="020B0609030804020204" pitchFamily="49" charset="0"/>
              </a:rPr>
              <a:t>"Print from Interface2"</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000000"/>
                </a:solidFill>
                <a:effectLst/>
                <a:latin typeface="Menlo" panose="020B0609030804020204" pitchFamily="49" charset="0"/>
              </a:rPr>
              <a:t>}</a:t>
            </a:r>
          </a:p>
          <a:p>
            <a:pPr marL="0" marR="0" indent="0">
              <a:spcBef>
                <a:spcPts val="0"/>
              </a:spcBef>
              <a:spcAft>
                <a:spcPts val="0"/>
              </a:spcAft>
              <a:buNone/>
            </a:pPr>
            <a:endParaRPr lang="en-IN" sz="2000" dirty="0">
              <a:solidFill>
                <a:srgbClr val="000000"/>
              </a:solidFill>
              <a:effectLst/>
              <a:latin typeface="Menlo" panose="020B0609030804020204" pitchFamily="49" charset="0"/>
            </a:endParaRPr>
          </a:p>
          <a:p>
            <a:pPr marL="0" marR="0" indent="0">
              <a:spcBef>
                <a:spcPts val="0"/>
              </a:spcBef>
              <a:spcAft>
                <a:spcPts val="0"/>
              </a:spcAft>
              <a:buNone/>
            </a:pPr>
            <a:r>
              <a:rPr lang="en-IN" sz="2000" b="1" dirty="0">
                <a:solidFill>
                  <a:srgbClr val="7F0055"/>
                </a:solidFill>
                <a:effectLst/>
                <a:latin typeface="Menlo" panose="020B0609030804020204" pitchFamily="49" charset="0"/>
              </a:rPr>
              <a:t>public</a:t>
            </a:r>
            <a:r>
              <a:rPr lang="en-IN" sz="2000" dirty="0">
                <a:solidFill>
                  <a:srgbClr val="000000"/>
                </a:solidFill>
                <a:effectLst/>
                <a:latin typeface="Menlo" panose="020B0609030804020204" pitchFamily="49" charset="0"/>
              </a:rPr>
              <a:t> </a:t>
            </a:r>
            <a:r>
              <a:rPr lang="en-IN" sz="2000" b="1" dirty="0">
                <a:solidFill>
                  <a:srgbClr val="7F0055"/>
                </a:solidFill>
                <a:effectLst/>
                <a:latin typeface="Menlo" panose="020B0609030804020204" pitchFamily="49" charset="0"/>
              </a:rPr>
              <a:t>static</a:t>
            </a:r>
            <a:r>
              <a:rPr lang="en-IN" sz="2000" dirty="0">
                <a:solidFill>
                  <a:srgbClr val="000000"/>
                </a:solidFill>
                <a:effectLst/>
                <a:latin typeface="Menlo" panose="020B0609030804020204" pitchFamily="49" charset="0"/>
              </a:rPr>
              <a:t> </a:t>
            </a:r>
            <a:r>
              <a:rPr lang="en-IN" sz="2000" b="1" dirty="0">
                <a:solidFill>
                  <a:srgbClr val="7F0055"/>
                </a:solidFill>
                <a:effectLst/>
                <a:latin typeface="Menlo" panose="020B0609030804020204" pitchFamily="49" charset="0"/>
              </a:rPr>
              <a:t>void</a:t>
            </a:r>
            <a:r>
              <a:rPr lang="en-IN" sz="2000" dirty="0">
                <a:solidFill>
                  <a:srgbClr val="000000"/>
                </a:solidFill>
                <a:effectLst/>
                <a:latin typeface="Menlo" panose="020B0609030804020204" pitchFamily="49" charset="0"/>
              </a:rPr>
              <a:t> main(String </a:t>
            </a:r>
            <a:r>
              <a:rPr lang="en-IN" sz="2000" dirty="0" err="1">
                <a:solidFill>
                  <a:srgbClr val="6A3E3E"/>
                </a:solidFill>
                <a:effectLst/>
                <a:latin typeface="Menlo" panose="020B0609030804020204" pitchFamily="49" charset="0"/>
              </a:rPr>
              <a:t>args</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err="1">
                <a:solidFill>
                  <a:srgbClr val="000000"/>
                </a:solidFill>
                <a:effectLst/>
                <a:latin typeface="Menlo" panose="020B0609030804020204" pitchFamily="49" charset="0"/>
              </a:rPr>
              <a:t>TestClass</a:t>
            </a:r>
            <a:r>
              <a:rPr lang="en-IN" sz="2000" dirty="0">
                <a:solidFill>
                  <a:srgbClr val="000000"/>
                </a:solidFill>
                <a:effectLst/>
                <a:latin typeface="Menlo" panose="020B0609030804020204" pitchFamily="49" charset="0"/>
              </a:rPr>
              <a:t> </a:t>
            </a:r>
            <a:r>
              <a:rPr lang="en-IN" sz="2000" dirty="0">
                <a:solidFill>
                  <a:srgbClr val="6A3E3E"/>
                </a:solidFill>
                <a:effectLst/>
                <a:latin typeface="Menlo" panose="020B0609030804020204" pitchFamily="49" charset="0"/>
              </a:rPr>
              <a:t>d</a:t>
            </a:r>
            <a:r>
              <a:rPr lang="en-IN" sz="2000" dirty="0">
                <a:solidFill>
                  <a:srgbClr val="000000"/>
                </a:solidFill>
                <a:effectLst/>
                <a:latin typeface="Menlo" panose="020B0609030804020204" pitchFamily="49" charset="0"/>
              </a:rPr>
              <a:t> = </a:t>
            </a:r>
            <a:r>
              <a:rPr lang="en-IN" sz="2000" b="1" dirty="0">
                <a:solidFill>
                  <a:srgbClr val="7F0055"/>
                </a:solidFill>
                <a:effectLst/>
                <a:latin typeface="Menlo" panose="020B0609030804020204" pitchFamily="49" charset="0"/>
              </a:rPr>
              <a:t>new</a:t>
            </a:r>
            <a:r>
              <a:rPr lang="en-IN" sz="2000" dirty="0">
                <a:solidFill>
                  <a:srgbClr val="000000"/>
                </a:solidFill>
                <a:effectLst/>
                <a:latin typeface="Menlo" panose="020B0609030804020204" pitchFamily="49" charset="0"/>
              </a:rPr>
              <a:t> </a:t>
            </a:r>
            <a:r>
              <a:rPr lang="en-IN" sz="2000" dirty="0" err="1">
                <a:solidFill>
                  <a:srgbClr val="000000"/>
                </a:solidFill>
                <a:effectLst/>
                <a:latin typeface="Menlo" panose="020B0609030804020204" pitchFamily="49" charset="0"/>
              </a:rPr>
              <a:t>TestClass</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err="1">
                <a:solidFill>
                  <a:srgbClr val="6A3E3E"/>
                </a:solidFill>
                <a:effectLst/>
                <a:latin typeface="Menlo" panose="020B0609030804020204" pitchFamily="49" charset="0"/>
              </a:rPr>
              <a:t>d</a:t>
            </a:r>
            <a:r>
              <a:rPr lang="en-IN" sz="2000" dirty="0" err="1">
                <a:solidFill>
                  <a:srgbClr val="000000"/>
                </a:solidFill>
                <a:effectLst/>
                <a:latin typeface="Menlo" panose="020B0609030804020204" pitchFamily="49" charset="0"/>
              </a:rPr>
              <a:t>.show</a:t>
            </a:r>
            <a:r>
              <a:rPr lang="en-IN" sz="2000" dirty="0">
                <a:solidFill>
                  <a:srgbClr val="000000"/>
                </a:solidFill>
                <a:effectLst/>
                <a:latin typeface="Menlo" panose="020B0609030804020204" pitchFamily="49" charset="0"/>
              </a:rPr>
              <a:t>(); </a:t>
            </a:r>
            <a:r>
              <a:rPr lang="en-IN" sz="2000" dirty="0">
                <a:solidFill>
                  <a:srgbClr val="3F7F5F"/>
                </a:solidFill>
                <a:effectLst/>
                <a:latin typeface="Menlo" panose="020B0609030804020204" pitchFamily="49" charset="0"/>
              </a:rPr>
              <a:t>// Default method from API</a:t>
            </a:r>
            <a:endParaRPr lang="en-IN" sz="2000" dirty="0">
              <a:solidFill>
                <a:srgbClr val="000000"/>
              </a:solidFill>
              <a:effectLst/>
              <a:latin typeface="Menlo" panose="020B0609030804020204" pitchFamily="49" charset="0"/>
            </a:endParaRPr>
          </a:p>
          <a:p>
            <a:pPr marL="0" marR="0" indent="0">
              <a:spcBef>
                <a:spcPts val="0"/>
              </a:spcBef>
              <a:spcAft>
                <a:spcPts val="0"/>
              </a:spcAft>
              <a:buNone/>
            </a:pPr>
            <a:r>
              <a:rPr lang="en-IN" sz="2000" dirty="0" err="1">
                <a:solidFill>
                  <a:srgbClr val="6A3E3E"/>
                </a:solidFill>
                <a:effectLst/>
                <a:latin typeface="Menlo" panose="020B0609030804020204" pitchFamily="49" charset="0"/>
              </a:rPr>
              <a:t>d</a:t>
            </a:r>
            <a:r>
              <a:rPr lang="en-IN" sz="2000" dirty="0" err="1">
                <a:solidFill>
                  <a:srgbClr val="000000"/>
                </a:solidFill>
                <a:effectLst/>
                <a:latin typeface="Menlo" panose="020B0609030804020204" pitchFamily="49" charset="0"/>
              </a:rPr>
              <a:t>.display</a:t>
            </a:r>
            <a:r>
              <a:rPr lang="en-IN" sz="2000" dirty="0">
                <a:solidFill>
                  <a:srgbClr val="000000"/>
                </a:solidFill>
                <a:effectLst/>
                <a:latin typeface="Menlo" panose="020B0609030804020204" pitchFamily="49" charset="0"/>
              </a:rPr>
              <a:t>(); </a:t>
            </a:r>
            <a:r>
              <a:rPr lang="en-IN" sz="2000" dirty="0">
                <a:solidFill>
                  <a:srgbClr val="3F7F5F"/>
                </a:solidFill>
                <a:effectLst/>
                <a:latin typeface="Menlo" panose="020B0609030804020204" pitchFamily="49" charset="0"/>
              </a:rPr>
              <a:t>// Overridden method from Interface1</a:t>
            </a:r>
            <a:endParaRPr lang="en-IN" sz="2000" dirty="0">
              <a:solidFill>
                <a:srgbClr val="000000"/>
              </a:solidFill>
              <a:effectLst/>
              <a:latin typeface="Menlo" panose="020B0609030804020204" pitchFamily="49" charset="0"/>
            </a:endParaRPr>
          </a:p>
          <a:p>
            <a:pPr marL="0" marR="0" indent="0">
              <a:spcBef>
                <a:spcPts val="0"/>
              </a:spcBef>
              <a:spcAft>
                <a:spcPts val="0"/>
              </a:spcAft>
              <a:buNone/>
            </a:pPr>
            <a:r>
              <a:rPr lang="en-IN" sz="2000" dirty="0" err="1">
                <a:solidFill>
                  <a:srgbClr val="6A3E3E"/>
                </a:solidFill>
                <a:effectLst/>
                <a:latin typeface="Menlo" panose="020B0609030804020204" pitchFamily="49" charset="0"/>
              </a:rPr>
              <a:t>d</a:t>
            </a:r>
            <a:r>
              <a:rPr lang="en-IN" sz="2000" dirty="0" err="1">
                <a:solidFill>
                  <a:srgbClr val="000000"/>
                </a:solidFill>
                <a:effectLst/>
                <a:latin typeface="Menlo" panose="020B0609030804020204" pitchFamily="49" charset="0"/>
              </a:rPr>
              <a:t>.print</a:t>
            </a:r>
            <a:r>
              <a:rPr lang="en-IN" sz="2000" dirty="0">
                <a:solidFill>
                  <a:srgbClr val="000000"/>
                </a:solidFill>
                <a:effectLst/>
                <a:latin typeface="Menlo" panose="020B0609030804020204" pitchFamily="49" charset="0"/>
              </a:rPr>
              <a:t>(); </a:t>
            </a:r>
            <a:r>
              <a:rPr lang="en-IN" sz="2000" dirty="0">
                <a:solidFill>
                  <a:srgbClr val="3F7F5F"/>
                </a:solidFill>
                <a:effectLst/>
                <a:latin typeface="Menlo" panose="020B0609030804020204" pitchFamily="49" charset="0"/>
              </a:rPr>
              <a:t>// Overridden method from Interface2</a:t>
            </a:r>
            <a:endParaRPr lang="en-IN" sz="2000" dirty="0">
              <a:solidFill>
                <a:srgbClr val="000000"/>
              </a:solidFill>
              <a:effectLst/>
              <a:latin typeface="Menlo" panose="020B0609030804020204" pitchFamily="49" charset="0"/>
            </a:endParaRPr>
          </a:p>
          <a:p>
            <a:pPr marL="0" marR="0" indent="0">
              <a:spcBef>
                <a:spcPts val="0"/>
              </a:spcBef>
              <a:spcAft>
                <a:spcPts val="0"/>
              </a:spcAft>
              <a:buNone/>
            </a:pP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000000"/>
                </a:solidFill>
                <a:effectLst/>
                <a:latin typeface="Menlo" panose="020B0609030804020204" pitchFamily="49" charset="0"/>
              </a:rPr>
              <a:t>}</a:t>
            </a:r>
            <a:endParaRPr lang="en-US" sz="2000" dirty="0"/>
          </a:p>
        </p:txBody>
      </p:sp>
      <p:sp>
        <p:nvSpPr>
          <p:cNvPr id="4" name="Footer Placeholder 3">
            <a:extLst>
              <a:ext uri="{FF2B5EF4-FFF2-40B4-BE49-F238E27FC236}">
                <a16:creationId xmlns:a16="http://schemas.microsoft.com/office/drawing/2014/main" id="{7DE826B6-95D3-F50A-B8CF-35AD7DD7438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9681679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A98B9-740A-30AC-E268-ED571DDCA1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E8EEBF8-9010-EE73-78D2-78BA4A92EE87}"/>
              </a:ext>
            </a:extLst>
          </p:cNvPr>
          <p:cNvSpPr>
            <a:spLocks noGrp="1"/>
          </p:cNvSpPr>
          <p:nvPr>
            <p:ph idx="1"/>
          </p:nvPr>
        </p:nvSpPr>
        <p:spPr>
          <a:xfrm>
            <a:off x="457200" y="487362"/>
            <a:ext cx="8229600" cy="5029200"/>
          </a:xfrm>
        </p:spPr>
        <p:txBody>
          <a:bodyPr/>
          <a:lstStyle/>
          <a:p>
            <a:pPr marL="0" marR="0" indent="0">
              <a:spcBef>
                <a:spcPts val="0"/>
              </a:spcBef>
              <a:spcAft>
                <a:spcPts val="0"/>
              </a:spcAft>
              <a:buNone/>
            </a:pPr>
            <a:r>
              <a:rPr lang="en-IN" sz="1600" b="1" dirty="0">
                <a:solidFill>
                  <a:srgbClr val="7F0055"/>
                </a:solidFill>
                <a:effectLst/>
                <a:latin typeface="Menlo" panose="020B0609030804020204" pitchFamily="49" charset="0"/>
              </a:rPr>
              <a:t>interface</a:t>
            </a:r>
            <a:r>
              <a:rPr lang="en-IN" sz="1600" dirty="0">
                <a:solidFill>
                  <a:srgbClr val="000000"/>
                </a:solidFill>
                <a:effectLst/>
                <a:latin typeface="Menlo" panose="020B0609030804020204" pitchFamily="49" charset="0"/>
              </a:rPr>
              <a:t> </a:t>
            </a:r>
            <a:r>
              <a:rPr lang="en-IN" sz="1600" u="sng" dirty="0">
                <a:solidFill>
                  <a:srgbClr val="000000"/>
                </a:solidFill>
                <a:effectLst/>
                <a:latin typeface="Menlo" panose="020B0609030804020204" pitchFamily="49" charset="0"/>
              </a:rPr>
              <a:t>A</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method1();</a:t>
            </a:r>
          </a:p>
          <a:p>
            <a:pPr marL="0" marR="0" indent="0">
              <a:spcBef>
                <a:spcPts val="0"/>
              </a:spcBef>
              <a:spcAft>
                <a:spcPts val="0"/>
              </a:spcAft>
              <a:buNone/>
            </a:pP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method2();</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3F7F5F"/>
                </a:solidFill>
                <a:effectLst/>
                <a:latin typeface="Menlo" panose="020B0609030804020204" pitchFamily="49" charset="0"/>
              </a:rPr>
              <a:t>// B now includes method1 and method2</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b="1" dirty="0">
                <a:solidFill>
                  <a:srgbClr val="7F0055"/>
                </a:solidFill>
                <a:effectLst/>
                <a:latin typeface="Menlo" panose="020B0609030804020204" pitchFamily="49" charset="0"/>
              </a:rPr>
              <a:t>interface</a:t>
            </a:r>
            <a:r>
              <a:rPr lang="en-IN" sz="1600" dirty="0">
                <a:solidFill>
                  <a:srgbClr val="000000"/>
                </a:solidFill>
                <a:effectLst/>
                <a:latin typeface="Menlo" panose="020B0609030804020204" pitchFamily="49" charset="0"/>
              </a:rPr>
              <a:t> B </a:t>
            </a:r>
            <a:r>
              <a:rPr lang="en-IN" sz="1600" b="1" dirty="0">
                <a:solidFill>
                  <a:srgbClr val="7F0055"/>
                </a:solidFill>
                <a:effectLst/>
                <a:latin typeface="Menlo" panose="020B0609030804020204" pitchFamily="49" charset="0"/>
              </a:rPr>
              <a:t>extends</a:t>
            </a:r>
            <a:r>
              <a:rPr lang="en-IN" sz="1600" dirty="0">
                <a:solidFill>
                  <a:srgbClr val="000000"/>
                </a:solidFill>
                <a:effectLst/>
                <a:latin typeface="Menlo" panose="020B0609030804020204" pitchFamily="49" charset="0"/>
              </a:rPr>
              <a:t> </a:t>
            </a:r>
            <a:r>
              <a:rPr lang="en-IN" sz="1600" u="sng" dirty="0">
                <a:solidFill>
                  <a:srgbClr val="000000"/>
                </a:solidFill>
                <a:effectLst/>
                <a:latin typeface="Menlo" panose="020B0609030804020204" pitchFamily="49" charset="0"/>
              </a:rPr>
              <a:t>A</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method3();</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3F7F5F"/>
                </a:solidFill>
                <a:effectLst/>
                <a:latin typeface="Menlo" panose="020B0609030804020204" pitchFamily="49" charset="0"/>
              </a:rPr>
              <a:t>// the class must implement all method of A and B.</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a:t>
            </a:r>
            <a:r>
              <a:rPr lang="en-IN" sz="1600" u="sng" dirty="0" err="1">
                <a:solidFill>
                  <a:srgbClr val="000000"/>
                </a:solidFill>
                <a:effectLst/>
                <a:latin typeface="Menlo" panose="020B0609030804020204" pitchFamily="49" charset="0"/>
              </a:rPr>
              <a:t>ClassA</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implements</a:t>
            </a:r>
            <a:r>
              <a:rPr lang="en-IN" sz="1600" dirty="0">
                <a:solidFill>
                  <a:srgbClr val="000000"/>
                </a:solidFill>
                <a:effectLst/>
                <a:latin typeface="Menlo" panose="020B0609030804020204" pitchFamily="49" charset="0"/>
              </a:rPr>
              <a:t> B {</a:t>
            </a:r>
          </a:p>
          <a:p>
            <a:pPr marL="0" marR="0" indent="0">
              <a:spcBef>
                <a:spcPts val="0"/>
              </a:spcBef>
              <a:spcAft>
                <a:spcPts val="0"/>
              </a:spcAft>
              <a:buNone/>
            </a:pPr>
            <a:r>
              <a:rPr lang="en-IN" sz="1600" b="1" dirty="0">
                <a:solidFill>
                  <a:srgbClr val="7F0055"/>
                </a:solidFill>
                <a:effectLst/>
                <a:latin typeface="Menlo" panose="020B0609030804020204" pitchFamily="49" charset="0"/>
              </a:rPr>
              <a:t>public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method1()</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err="1">
                <a:solidFill>
                  <a:srgbClr val="000000"/>
                </a:solidFill>
                <a:effectLst/>
                <a:latin typeface="Menlo" panose="020B0609030804020204" pitchFamily="49" charset="0"/>
              </a:rPr>
              <a:t>System.out.println</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"Method 1"</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b="1" dirty="0">
                <a:solidFill>
                  <a:srgbClr val="7F0055"/>
                </a:solidFill>
                <a:effectLst/>
                <a:latin typeface="Menlo" panose="020B0609030804020204" pitchFamily="49" charset="0"/>
              </a:rPr>
              <a:t>public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method2()</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err="1">
                <a:solidFill>
                  <a:srgbClr val="000000"/>
                </a:solidFill>
                <a:effectLst/>
                <a:latin typeface="Menlo" panose="020B0609030804020204" pitchFamily="49" charset="0"/>
              </a:rPr>
              <a:t>System.out.println</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"Method 2"</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b="1" dirty="0">
                <a:solidFill>
                  <a:srgbClr val="7F0055"/>
                </a:solidFill>
                <a:effectLst/>
                <a:latin typeface="Menlo" panose="020B0609030804020204" pitchFamily="49" charset="0"/>
              </a:rPr>
              <a:t>public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method3()</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err="1">
                <a:solidFill>
                  <a:srgbClr val="000000"/>
                </a:solidFill>
                <a:effectLst/>
                <a:latin typeface="Menlo" panose="020B0609030804020204" pitchFamily="49" charset="0"/>
              </a:rPr>
              <a:t>System.out.println</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"Method 3"</a:t>
            </a: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a:p>
            <a:pPr marL="0" marR="0" indent="0">
              <a:spcBef>
                <a:spcPts val="0"/>
              </a:spcBef>
              <a:spcAft>
                <a:spcPts val="0"/>
              </a:spcAft>
              <a:buNone/>
            </a:pPr>
            <a:r>
              <a:rPr lang="en-IN" sz="1600" dirty="0">
                <a:solidFill>
                  <a:srgbClr val="000000"/>
                </a:solidFill>
                <a:effectLst/>
                <a:latin typeface="Menlo" panose="020B0609030804020204" pitchFamily="49" charset="0"/>
              </a:rPr>
              <a:t>}</a:t>
            </a:r>
          </a:p>
        </p:txBody>
      </p:sp>
      <p:sp>
        <p:nvSpPr>
          <p:cNvPr id="4" name="Footer Placeholder 3">
            <a:extLst>
              <a:ext uri="{FF2B5EF4-FFF2-40B4-BE49-F238E27FC236}">
                <a16:creationId xmlns:a16="http://schemas.microsoft.com/office/drawing/2014/main" id="{1E3323B5-5023-A916-8CA5-C519198061B5}"/>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5080657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F2DC4-4290-ED5D-59FF-E0E1374BB04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9BAD7FA-83A2-B8EA-05E0-56B93E7F4E24}"/>
              </a:ext>
            </a:extLst>
          </p:cNvPr>
          <p:cNvSpPr>
            <a:spLocks noGrp="1"/>
          </p:cNvSpPr>
          <p:nvPr>
            <p:ph idx="1"/>
          </p:nvPr>
        </p:nvSpPr>
        <p:spPr>
          <a:xfrm>
            <a:off x="457200" y="487362"/>
            <a:ext cx="8229600" cy="5837238"/>
          </a:xfrm>
        </p:spPr>
        <p:txBody>
          <a:bodyPr/>
          <a:lstStyle/>
          <a:p>
            <a:pPr marL="0" marR="0" indent="0">
              <a:spcBef>
                <a:spcPts val="0"/>
              </a:spcBef>
              <a:spcAft>
                <a:spcPts val="0"/>
              </a:spcAft>
              <a:buNone/>
            </a:pPr>
            <a:r>
              <a:rPr lang="en-IN" sz="1800" dirty="0">
                <a:solidFill>
                  <a:srgbClr val="3F7F5F"/>
                </a:solidFill>
                <a:effectLst/>
                <a:latin typeface="Menlo" panose="020B0609030804020204" pitchFamily="49" charset="0"/>
              </a:rPr>
              <a:t>//Level 1</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b="1" dirty="0">
                <a:solidFill>
                  <a:srgbClr val="7F0055"/>
                </a:solidFill>
                <a:effectLst/>
                <a:latin typeface="Menlo" panose="020B0609030804020204" pitchFamily="49" charset="0"/>
              </a:rPr>
              <a:t>interface</a:t>
            </a:r>
            <a:r>
              <a:rPr lang="en-IN" sz="1800" dirty="0">
                <a:solidFill>
                  <a:srgbClr val="000000"/>
                </a:solidFill>
                <a:effectLst/>
                <a:latin typeface="Menlo" panose="020B0609030804020204" pitchFamily="49" charset="0"/>
              </a:rPr>
              <a:t> Bank {</a:t>
            </a:r>
          </a:p>
          <a:p>
            <a:pPr marL="0" marR="0" indent="0">
              <a:spcBef>
                <a:spcPts val="0"/>
              </a:spcBef>
              <a:spcAft>
                <a:spcPts val="0"/>
              </a:spcAft>
              <a:buNone/>
            </a:pP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deposit();</a:t>
            </a:r>
          </a:p>
          <a:p>
            <a:pPr marL="0" marR="0" indent="0">
              <a:spcBef>
                <a:spcPts val="0"/>
              </a:spcBef>
              <a:spcAft>
                <a:spcPts val="0"/>
              </a:spcAft>
              <a:buNone/>
            </a:pP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withdraw();</a:t>
            </a:r>
          </a:p>
          <a:p>
            <a:pPr marL="0" marR="0" indent="0">
              <a:spcBef>
                <a:spcPts val="0"/>
              </a:spcBef>
              <a:spcAft>
                <a:spcPts val="0"/>
              </a:spcAft>
              <a:buNone/>
            </a:pP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loan();</a:t>
            </a:r>
          </a:p>
          <a:p>
            <a:pPr marL="0" marR="0" indent="0">
              <a:spcBef>
                <a:spcPts val="0"/>
              </a:spcBef>
              <a:spcAft>
                <a:spcPts val="0"/>
              </a:spcAft>
              <a:buNone/>
            </a:pP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account();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dirty="0">
                <a:solidFill>
                  <a:srgbClr val="3F7F5F"/>
                </a:solidFill>
                <a:effectLst/>
                <a:latin typeface="Menlo" panose="020B0609030804020204" pitchFamily="49" charset="0"/>
              </a:rPr>
              <a:t>//Level 2</a:t>
            </a: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b="1" dirty="0">
                <a:solidFill>
                  <a:srgbClr val="7F0055"/>
                </a:solidFill>
                <a:effectLst/>
                <a:latin typeface="Menlo" panose="020B0609030804020204" pitchFamily="49" charset="0"/>
              </a:rPr>
              <a:t>abstract</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Dev1 </a:t>
            </a:r>
            <a:r>
              <a:rPr lang="en-IN" sz="1800" b="1" dirty="0">
                <a:solidFill>
                  <a:srgbClr val="7F0055"/>
                </a:solidFill>
                <a:effectLst/>
                <a:latin typeface="Menlo" panose="020B0609030804020204" pitchFamily="49" charset="0"/>
              </a:rPr>
              <a:t>implements</a:t>
            </a:r>
            <a:r>
              <a:rPr lang="en-IN" sz="1800" dirty="0">
                <a:solidFill>
                  <a:srgbClr val="000000"/>
                </a:solidFill>
                <a:effectLst/>
                <a:latin typeface="Menlo" panose="020B0609030804020204" pitchFamily="49" charset="0"/>
              </a:rPr>
              <a:t> Bank {</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deposit()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000000"/>
                </a:solidFill>
                <a:effectLst/>
                <a:latin typeface="Menlo" panose="020B0609030804020204" pitchFamily="49" charset="0"/>
              </a:rPr>
              <a:t>System.</a:t>
            </a:r>
            <a:r>
              <a:rPr lang="en-IN" sz="1800" b="1" i="1" dirty="0" err="1">
                <a:solidFill>
                  <a:srgbClr val="0000C0"/>
                </a:solidFill>
                <a:effectLst/>
                <a:latin typeface="Menlo" panose="020B0609030804020204" pitchFamily="49" charset="0"/>
              </a:rPr>
              <a:t>out</a:t>
            </a:r>
            <a:r>
              <a:rPr lang="en-IN" sz="1800" dirty="0" err="1">
                <a:solidFill>
                  <a:srgbClr val="000000"/>
                </a:solidFill>
                <a:effectLst/>
                <a:latin typeface="Menlo" panose="020B0609030804020204" pitchFamily="49" charset="0"/>
              </a:rPr>
              <a:t>.println</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"Your deposit Amount :"</a:t>
            </a:r>
            <a:r>
              <a:rPr lang="en-IN" sz="1800" dirty="0">
                <a:solidFill>
                  <a:srgbClr val="000000"/>
                </a:solidFill>
                <a:effectLst/>
                <a:latin typeface="Menlo" panose="020B0609030804020204" pitchFamily="49" charset="0"/>
              </a:rPr>
              <a:t> + 100);</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endParaRPr lang="en-IN" sz="1800" dirty="0">
              <a:solidFill>
                <a:srgbClr val="000000"/>
              </a:solidFill>
              <a:effectLst/>
              <a:latin typeface="Menlo" panose="020B0609030804020204" pitchFamily="49" charset="0"/>
            </a:endParaRPr>
          </a:p>
          <a:p>
            <a:pPr marL="0" marR="0" indent="0">
              <a:spcBef>
                <a:spcPts val="0"/>
              </a:spcBef>
              <a:spcAft>
                <a:spcPts val="0"/>
              </a:spcAft>
              <a:buNone/>
            </a:pPr>
            <a:r>
              <a:rPr lang="en-IN" sz="1800" b="1" dirty="0">
                <a:solidFill>
                  <a:srgbClr val="7F0055"/>
                </a:solidFill>
                <a:effectLst/>
                <a:latin typeface="Menlo" panose="020B0609030804020204" pitchFamily="49" charset="0"/>
              </a:rPr>
              <a:t>abstract</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class</a:t>
            </a:r>
            <a:r>
              <a:rPr lang="en-IN" sz="1800" dirty="0">
                <a:solidFill>
                  <a:srgbClr val="000000"/>
                </a:solidFill>
                <a:effectLst/>
                <a:latin typeface="Menlo" panose="020B0609030804020204" pitchFamily="49" charset="0"/>
              </a:rPr>
              <a:t> Dev2 </a:t>
            </a:r>
            <a:r>
              <a:rPr lang="en-IN" sz="1800" b="1" dirty="0">
                <a:solidFill>
                  <a:srgbClr val="7F0055"/>
                </a:solidFill>
                <a:effectLst/>
                <a:latin typeface="Menlo" panose="020B0609030804020204" pitchFamily="49" charset="0"/>
              </a:rPr>
              <a:t>extends</a:t>
            </a:r>
            <a:r>
              <a:rPr lang="en-IN" sz="1800" dirty="0">
                <a:solidFill>
                  <a:srgbClr val="000000"/>
                </a:solidFill>
                <a:effectLst/>
                <a:latin typeface="Menlo" panose="020B0609030804020204" pitchFamily="49" charset="0"/>
              </a:rPr>
              <a:t> Dev1 {</a:t>
            </a:r>
          </a:p>
          <a:p>
            <a:pPr marL="0" marR="0" indent="0">
              <a:spcBef>
                <a:spcPts val="0"/>
              </a:spcBef>
              <a:spcAft>
                <a:spcPts val="0"/>
              </a:spcAft>
              <a:buNone/>
            </a:pPr>
            <a:r>
              <a:rPr lang="en-IN" sz="1800" b="1" dirty="0">
                <a:solidFill>
                  <a:srgbClr val="7F0055"/>
                </a:solidFill>
                <a:effectLst/>
                <a:latin typeface="Menlo" panose="020B0609030804020204" pitchFamily="49" charset="0"/>
              </a:rPr>
              <a:t>public</a:t>
            </a:r>
            <a:r>
              <a:rPr lang="en-IN" sz="1800" dirty="0">
                <a:solidFill>
                  <a:srgbClr val="000000"/>
                </a:solidFill>
                <a:effectLst/>
                <a:latin typeface="Menlo" panose="020B0609030804020204" pitchFamily="49" charset="0"/>
              </a:rPr>
              <a:t> </a:t>
            </a:r>
            <a:r>
              <a:rPr lang="en-IN" sz="1800" b="1" dirty="0">
                <a:solidFill>
                  <a:srgbClr val="7F0055"/>
                </a:solidFill>
                <a:effectLst/>
                <a:latin typeface="Menlo" panose="020B0609030804020204" pitchFamily="49" charset="0"/>
              </a:rPr>
              <a:t>void</a:t>
            </a:r>
            <a:r>
              <a:rPr lang="en-IN" sz="1800" dirty="0">
                <a:solidFill>
                  <a:srgbClr val="000000"/>
                </a:solidFill>
                <a:effectLst/>
                <a:latin typeface="Menlo" panose="020B0609030804020204" pitchFamily="49" charset="0"/>
              </a:rPr>
              <a:t> withdraw()</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err="1">
                <a:solidFill>
                  <a:srgbClr val="000000"/>
                </a:solidFill>
                <a:effectLst/>
                <a:latin typeface="Menlo" panose="020B0609030804020204" pitchFamily="49" charset="0"/>
              </a:rPr>
              <a:t>System.</a:t>
            </a:r>
            <a:r>
              <a:rPr lang="en-IN" sz="1800" b="1" i="1" dirty="0" err="1">
                <a:solidFill>
                  <a:srgbClr val="0000C0"/>
                </a:solidFill>
                <a:effectLst/>
                <a:latin typeface="Menlo" panose="020B0609030804020204" pitchFamily="49" charset="0"/>
              </a:rPr>
              <a:t>out</a:t>
            </a:r>
            <a:r>
              <a:rPr lang="en-IN" sz="1800" dirty="0" err="1">
                <a:solidFill>
                  <a:srgbClr val="000000"/>
                </a:solidFill>
                <a:effectLst/>
                <a:latin typeface="Menlo" panose="020B0609030804020204" pitchFamily="49" charset="0"/>
              </a:rPr>
              <a:t>.println</a:t>
            </a:r>
            <a:r>
              <a:rPr lang="en-IN" sz="1800" dirty="0">
                <a:solidFill>
                  <a:srgbClr val="000000"/>
                </a:solidFill>
                <a:effectLst/>
                <a:latin typeface="Menlo" panose="020B0609030804020204" pitchFamily="49" charset="0"/>
              </a:rPr>
              <a:t>(</a:t>
            </a:r>
            <a:r>
              <a:rPr lang="en-IN" sz="1800" dirty="0">
                <a:solidFill>
                  <a:srgbClr val="2A00FF"/>
                </a:solidFill>
                <a:effectLst/>
                <a:latin typeface="Menlo" panose="020B0609030804020204" pitchFamily="49" charset="0"/>
              </a:rPr>
              <a:t>"Your withdraw Amount :"</a:t>
            </a:r>
            <a:r>
              <a:rPr lang="en-IN" sz="1800" dirty="0">
                <a:solidFill>
                  <a:srgbClr val="000000"/>
                </a:solidFill>
                <a:effectLst/>
                <a:latin typeface="Menlo" panose="020B0609030804020204" pitchFamily="49" charset="0"/>
              </a:rPr>
              <a:t> + 50);</a:t>
            </a:r>
          </a:p>
          <a:p>
            <a:pPr marL="0" marR="0" indent="0">
              <a:spcBef>
                <a:spcPts val="0"/>
              </a:spcBef>
              <a:spcAft>
                <a:spcPts val="0"/>
              </a:spcAft>
              <a:buNone/>
            </a:pPr>
            <a:r>
              <a:rPr lang="en-IN" sz="1800" dirty="0">
                <a:solidFill>
                  <a:srgbClr val="000000"/>
                </a:solidFill>
                <a:effectLst/>
                <a:latin typeface="Menlo" panose="020B0609030804020204" pitchFamily="49" charset="0"/>
              </a:rPr>
              <a:t>}</a:t>
            </a:r>
          </a:p>
          <a:p>
            <a:pPr marL="0" marR="0" indent="0">
              <a:spcBef>
                <a:spcPts val="0"/>
              </a:spcBef>
              <a:spcAft>
                <a:spcPts val="0"/>
              </a:spcAft>
              <a:buNone/>
            </a:pPr>
            <a:r>
              <a:rPr lang="en-IN" sz="1800" dirty="0">
                <a:solidFill>
                  <a:srgbClr val="000000"/>
                </a:solidFill>
                <a:effectLst/>
                <a:latin typeface="Menlo" panose="020B0609030804020204" pitchFamily="49" charset="0"/>
              </a:rPr>
              <a:t>}</a:t>
            </a:r>
          </a:p>
        </p:txBody>
      </p:sp>
      <p:sp>
        <p:nvSpPr>
          <p:cNvPr id="4" name="Footer Placeholder 3">
            <a:extLst>
              <a:ext uri="{FF2B5EF4-FFF2-40B4-BE49-F238E27FC236}">
                <a16:creationId xmlns:a16="http://schemas.microsoft.com/office/drawing/2014/main" id="{B1A28547-5D3C-D654-D790-D2A3339AF2E0}"/>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0645621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3CBD7-6C63-2B76-1043-C86EB917719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83104E-F992-1B6F-430A-AA56272F88E7}"/>
              </a:ext>
            </a:extLst>
          </p:cNvPr>
          <p:cNvSpPr>
            <a:spLocks noGrp="1"/>
          </p:cNvSpPr>
          <p:nvPr>
            <p:ph idx="1"/>
          </p:nvPr>
        </p:nvSpPr>
        <p:spPr/>
        <p:txBody>
          <a:bodyPr/>
          <a:lstStyle/>
          <a:p>
            <a:pPr marL="0" marR="0" indent="0">
              <a:spcBef>
                <a:spcPts val="0"/>
              </a:spcBef>
              <a:spcAft>
                <a:spcPts val="0"/>
              </a:spcAft>
              <a:buNone/>
            </a:pPr>
            <a:r>
              <a:rPr lang="en-IN" sz="2000" dirty="0">
                <a:solidFill>
                  <a:srgbClr val="3F7F5F"/>
                </a:solidFill>
                <a:effectLst/>
                <a:latin typeface="Menlo" panose="020B0609030804020204" pitchFamily="49" charset="0"/>
              </a:rPr>
              <a:t>//Level 3</a:t>
            </a:r>
            <a:endParaRPr lang="en-IN" sz="2000" dirty="0">
              <a:solidFill>
                <a:srgbClr val="000000"/>
              </a:solidFill>
              <a:effectLst/>
              <a:latin typeface="Menlo" panose="020B0609030804020204" pitchFamily="49" charset="0"/>
            </a:endParaRPr>
          </a:p>
          <a:p>
            <a:pPr marL="0" marR="0" indent="0">
              <a:spcBef>
                <a:spcPts val="0"/>
              </a:spcBef>
              <a:spcAft>
                <a:spcPts val="0"/>
              </a:spcAft>
              <a:buNone/>
            </a:pPr>
            <a:r>
              <a:rPr lang="en-IN" sz="2000" b="1" dirty="0">
                <a:solidFill>
                  <a:srgbClr val="7F0055"/>
                </a:solidFill>
                <a:effectLst/>
                <a:latin typeface="Menlo" panose="020B0609030804020204" pitchFamily="49" charset="0"/>
              </a:rPr>
              <a:t>class</a:t>
            </a:r>
            <a:r>
              <a:rPr lang="en-IN" sz="2000" dirty="0">
                <a:solidFill>
                  <a:srgbClr val="000000"/>
                </a:solidFill>
                <a:effectLst/>
                <a:latin typeface="Menlo" panose="020B0609030804020204" pitchFamily="49" charset="0"/>
              </a:rPr>
              <a:t> Dev3 </a:t>
            </a:r>
            <a:r>
              <a:rPr lang="en-IN" sz="2000" b="1" dirty="0">
                <a:solidFill>
                  <a:srgbClr val="7F0055"/>
                </a:solidFill>
                <a:effectLst/>
                <a:latin typeface="Menlo" panose="020B0609030804020204" pitchFamily="49" charset="0"/>
              </a:rPr>
              <a:t>extends</a:t>
            </a:r>
            <a:r>
              <a:rPr lang="en-IN" sz="2000" dirty="0">
                <a:solidFill>
                  <a:srgbClr val="000000"/>
                </a:solidFill>
                <a:effectLst/>
                <a:latin typeface="Menlo" panose="020B0609030804020204" pitchFamily="49" charset="0"/>
              </a:rPr>
              <a:t> Dev2 {</a:t>
            </a:r>
          </a:p>
          <a:p>
            <a:pPr marL="0" marR="0" indent="0">
              <a:spcBef>
                <a:spcPts val="0"/>
              </a:spcBef>
              <a:spcAft>
                <a:spcPts val="0"/>
              </a:spcAft>
              <a:buNone/>
            </a:pPr>
            <a:r>
              <a:rPr lang="en-IN" sz="2000" b="1" dirty="0">
                <a:solidFill>
                  <a:srgbClr val="7F0055"/>
                </a:solidFill>
                <a:effectLst/>
                <a:latin typeface="Menlo" panose="020B0609030804020204" pitchFamily="49" charset="0"/>
              </a:rPr>
              <a:t>public</a:t>
            </a:r>
            <a:r>
              <a:rPr lang="en-IN" sz="2000" dirty="0">
                <a:solidFill>
                  <a:srgbClr val="000000"/>
                </a:solidFill>
                <a:effectLst/>
                <a:latin typeface="Menlo" panose="020B0609030804020204" pitchFamily="49" charset="0"/>
              </a:rPr>
              <a:t> </a:t>
            </a:r>
            <a:r>
              <a:rPr lang="en-IN" sz="2000" b="1" dirty="0">
                <a:solidFill>
                  <a:srgbClr val="7F0055"/>
                </a:solidFill>
                <a:effectLst/>
                <a:latin typeface="Menlo" panose="020B0609030804020204" pitchFamily="49" charset="0"/>
              </a:rPr>
              <a:t>void</a:t>
            </a:r>
            <a:r>
              <a:rPr lang="en-IN" sz="2000" dirty="0">
                <a:solidFill>
                  <a:srgbClr val="000000"/>
                </a:solidFill>
                <a:effectLst/>
                <a:latin typeface="Menlo" panose="020B0609030804020204" pitchFamily="49" charset="0"/>
              </a:rPr>
              <a:t> loan() {}</a:t>
            </a:r>
          </a:p>
          <a:p>
            <a:pPr marL="0" marR="0" indent="0">
              <a:spcBef>
                <a:spcPts val="0"/>
              </a:spcBef>
              <a:spcAft>
                <a:spcPts val="0"/>
              </a:spcAft>
              <a:buNone/>
            </a:pPr>
            <a:r>
              <a:rPr lang="en-IN" sz="2000" b="1" dirty="0">
                <a:solidFill>
                  <a:srgbClr val="7F0055"/>
                </a:solidFill>
                <a:effectLst/>
                <a:latin typeface="Menlo" panose="020B0609030804020204" pitchFamily="49" charset="0"/>
              </a:rPr>
              <a:t>public</a:t>
            </a:r>
            <a:r>
              <a:rPr lang="en-IN" sz="2000" dirty="0">
                <a:solidFill>
                  <a:srgbClr val="000000"/>
                </a:solidFill>
                <a:effectLst/>
                <a:latin typeface="Menlo" panose="020B0609030804020204" pitchFamily="49" charset="0"/>
              </a:rPr>
              <a:t> </a:t>
            </a:r>
            <a:r>
              <a:rPr lang="en-IN" sz="2000" b="1" dirty="0">
                <a:solidFill>
                  <a:srgbClr val="7F0055"/>
                </a:solidFill>
                <a:effectLst/>
                <a:latin typeface="Menlo" panose="020B0609030804020204" pitchFamily="49" charset="0"/>
              </a:rPr>
              <a:t>void</a:t>
            </a:r>
            <a:r>
              <a:rPr lang="en-IN" sz="2000" dirty="0">
                <a:solidFill>
                  <a:srgbClr val="000000"/>
                </a:solidFill>
                <a:effectLst/>
                <a:latin typeface="Menlo" panose="020B0609030804020204" pitchFamily="49" charset="0"/>
              </a:rPr>
              <a:t> account() {}</a:t>
            </a:r>
          </a:p>
          <a:p>
            <a:pPr marL="0" marR="0" indent="0">
              <a:spcBef>
                <a:spcPts val="0"/>
              </a:spcBef>
              <a:spcAft>
                <a:spcPts val="0"/>
              </a:spcAft>
              <a:buNone/>
            </a:pPr>
            <a:r>
              <a:rPr lang="en-IN" sz="2000" dirty="0">
                <a:solidFill>
                  <a:srgbClr val="000000"/>
                </a:solidFill>
                <a:effectLst/>
                <a:latin typeface="Menlo" panose="020B0609030804020204" pitchFamily="49" charset="0"/>
              </a:rPr>
              <a:t>}</a:t>
            </a:r>
          </a:p>
          <a:p>
            <a:pPr marL="0" marR="0" indent="0">
              <a:spcBef>
                <a:spcPts val="0"/>
              </a:spcBef>
              <a:spcAft>
                <a:spcPts val="0"/>
              </a:spcAft>
              <a:buNone/>
            </a:pPr>
            <a:endParaRPr lang="en-IN" sz="2000" dirty="0">
              <a:solidFill>
                <a:srgbClr val="000000"/>
              </a:solidFill>
              <a:effectLst/>
              <a:latin typeface="Menlo" panose="020B0609030804020204" pitchFamily="49" charset="0"/>
            </a:endParaRPr>
          </a:p>
          <a:p>
            <a:pPr marL="0" marR="0" indent="0">
              <a:spcBef>
                <a:spcPts val="0"/>
              </a:spcBef>
              <a:spcAft>
                <a:spcPts val="0"/>
              </a:spcAft>
              <a:buNone/>
            </a:pPr>
            <a:r>
              <a:rPr lang="en-IN" sz="2000" dirty="0">
                <a:solidFill>
                  <a:srgbClr val="3F7F5F"/>
                </a:solidFill>
                <a:effectLst/>
                <a:latin typeface="Menlo" panose="020B0609030804020204" pitchFamily="49" charset="0"/>
              </a:rPr>
              <a:t>//Level 4</a:t>
            </a:r>
            <a:endParaRPr lang="en-IN" sz="2000" dirty="0">
              <a:solidFill>
                <a:srgbClr val="000000"/>
              </a:solidFill>
              <a:effectLst/>
              <a:latin typeface="Menlo" panose="020B0609030804020204" pitchFamily="49" charset="0"/>
            </a:endParaRPr>
          </a:p>
          <a:p>
            <a:pPr marL="0" marR="0" indent="0">
              <a:spcBef>
                <a:spcPts val="0"/>
              </a:spcBef>
              <a:spcAft>
                <a:spcPts val="0"/>
              </a:spcAft>
              <a:buNone/>
            </a:pPr>
            <a:r>
              <a:rPr lang="en-IN" sz="2000" b="1" dirty="0">
                <a:solidFill>
                  <a:srgbClr val="7F0055"/>
                </a:solidFill>
                <a:effectLst/>
                <a:latin typeface="Menlo" panose="020B0609030804020204" pitchFamily="49" charset="0"/>
              </a:rPr>
              <a:t>class</a:t>
            </a:r>
            <a:r>
              <a:rPr lang="en-IN" sz="2000" dirty="0">
                <a:solidFill>
                  <a:srgbClr val="000000"/>
                </a:solidFill>
                <a:effectLst/>
                <a:latin typeface="Menlo" panose="020B0609030804020204" pitchFamily="49" charset="0"/>
              </a:rPr>
              <a:t> Demo {</a:t>
            </a:r>
          </a:p>
          <a:p>
            <a:pPr marL="0" marR="0" indent="0">
              <a:spcBef>
                <a:spcPts val="0"/>
              </a:spcBef>
              <a:spcAft>
                <a:spcPts val="0"/>
              </a:spcAft>
              <a:buNone/>
            </a:pPr>
            <a:r>
              <a:rPr lang="en-IN" sz="2000" b="1" dirty="0">
                <a:solidFill>
                  <a:srgbClr val="7F0055"/>
                </a:solidFill>
                <a:effectLst/>
                <a:latin typeface="Menlo" panose="020B0609030804020204" pitchFamily="49" charset="0"/>
              </a:rPr>
              <a:t>public</a:t>
            </a:r>
            <a:r>
              <a:rPr lang="en-IN" sz="2000" dirty="0">
                <a:solidFill>
                  <a:srgbClr val="000000"/>
                </a:solidFill>
                <a:effectLst/>
                <a:latin typeface="Menlo" panose="020B0609030804020204" pitchFamily="49" charset="0"/>
              </a:rPr>
              <a:t> </a:t>
            </a:r>
            <a:r>
              <a:rPr lang="en-IN" sz="2000" b="1" dirty="0">
                <a:solidFill>
                  <a:srgbClr val="7F0055"/>
                </a:solidFill>
                <a:effectLst/>
                <a:latin typeface="Menlo" panose="020B0609030804020204" pitchFamily="49" charset="0"/>
              </a:rPr>
              <a:t>static</a:t>
            </a:r>
            <a:r>
              <a:rPr lang="en-IN" sz="2000" dirty="0">
                <a:solidFill>
                  <a:srgbClr val="000000"/>
                </a:solidFill>
                <a:effectLst/>
                <a:latin typeface="Menlo" panose="020B0609030804020204" pitchFamily="49" charset="0"/>
              </a:rPr>
              <a:t> </a:t>
            </a:r>
            <a:r>
              <a:rPr lang="en-IN" sz="2000" b="1" dirty="0">
                <a:solidFill>
                  <a:srgbClr val="7F0055"/>
                </a:solidFill>
                <a:effectLst/>
                <a:latin typeface="Menlo" panose="020B0609030804020204" pitchFamily="49" charset="0"/>
              </a:rPr>
              <a:t>void</a:t>
            </a:r>
            <a:r>
              <a:rPr lang="en-IN" sz="2000" dirty="0">
                <a:solidFill>
                  <a:srgbClr val="000000"/>
                </a:solidFill>
                <a:effectLst/>
                <a:latin typeface="Menlo" panose="020B0609030804020204" pitchFamily="49" charset="0"/>
              </a:rPr>
              <a:t> main(String[] </a:t>
            </a:r>
            <a:r>
              <a:rPr lang="en-IN" sz="2000" dirty="0" err="1">
                <a:solidFill>
                  <a:srgbClr val="6A3E3E"/>
                </a:solidFill>
                <a:effectLst/>
                <a:latin typeface="Menlo" panose="020B0609030804020204" pitchFamily="49" charset="0"/>
              </a:rPr>
              <a:t>args</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000000"/>
                </a:solidFill>
                <a:effectLst/>
                <a:latin typeface="Menlo" panose="020B0609030804020204" pitchFamily="49" charset="0"/>
              </a:rPr>
              <a:t>Dev3 </a:t>
            </a:r>
            <a:r>
              <a:rPr lang="en-IN" sz="2000" dirty="0">
                <a:solidFill>
                  <a:srgbClr val="6A3E3E"/>
                </a:solidFill>
                <a:effectLst/>
                <a:latin typeface="Menlo" panose="020B0609030804020204" pitchFamily="49" charset="0"/>
              </a:rPr>
              <a:t>d</a:t>
            </a:r>
            <a:r>
              <a:rPr lang="en-IN" sz="2000" dirty="0">
                <a:solidFill>
                  <a:srgbClr val="000000"/>
                </a:solidFill>
                <a:effectLst/>
                <a:latin typeface="Menlo" panose="020B0609030804020204" pitchFamily="49" charset="0"/>
              </a:rPr>
              <a:t> = </a:t>
            </a:r>
            <a:r>
              <a:rPr lang="en-IN" sz="2000" b="1" dirty="0">
                <a:solidFill>
                  <a:srgbClr val="7F0055"/>
                </a:solidFill>
                <a:effectLst/>
                <a:latin typeface="Menlo" panose="020B0609030804020204" pitchFamily="49" charset="0"/>
              </a:rPr>
              <a:t>new</a:t>
            </a:r>
            <a:r>
              <a:rPr lang="en-IN" sz="2000" dirty="0">
                <a:solidFill>
                  <a:srgbClr val="000000"/>
                </a:solidFill>
                <a:effectLst/>
                <a:latin typeface="Menlo" panose="020B0609030804020204" pitchFamily="49" charset="0"/>
              </a:rPr>
              <a:t> Dev3();</a:t>
            </a:r>
          </a:p>
          <a:p>
            <a:pPr marL="0" marR="0" indent="0">
              <a:spcBef>
                <a:spcPts val="0"/>
              </a:spcBef>
              <a:spcAft>
                <a:spcPts val="0"/>
              </a:spcAft>
              <a:buNone/>
            </a:pPr>
            <a:r>
              <a:rPr lang="en-IN" sz="2000" dirty="0" err="1">
                <a:solidFill>
                  <a:srgbClr val="6A3E3E"/>
                </a:solidFill>
                <a:effectLst/>
                <a:latin typeface="Menlo" panose="020B0609030804020204" pitchFamily="49" charset="0"/>
              </a:rPr>
              <a:t>d</a:t>
            </a:r>
            <a:r>
              <a:rPr lang="en-IN" sz="2000" dirty="0" err="1">
                <a:solidFill>
                  <a:srgbClr val="000000"/>
                </a:solidFill>
                <a:effectLst/>
                <a:latin typeface="Menlo" panose="020B0609030804020204" pitchFamily="49" charset="0"/>
              </a:rPr>
              <a:t>.account</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err="1">
                <a:solidFill>
                  <a:srgbClr val="6A3E3E"/>
                </a:solidFill>
                <a:effectLst/>
                <a:latin typeface="Menlo" panose="020B0609030804020204" pitchFamily="49" charset="0"/>
              </a:rPr>
              <a:t>d</a:t>
            </a:r>
            <a:r>
              <a:rPr lang="en-IN" sz="2000" dirty="0" err="1">
                <a:solidFill>
                  <a:srgbClr val="000000"/>
                </a:solidFill>
                <a:effectLst/>
                <a:latin typeface="Menlo" panose="020B0609030804020204" pitchFamily="49" charset="0"/>
              </a:rPr>
              <a:t>.loan</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err="1">
                <a:solidFill>
                  <a:srgbClr val="6A3E3E"/>
                </a:solidFill>
                <a:effectLst/>
                <a:latin typeface="Menlo" panose="020B0609030804020204" pitchFamily="49" charset="0"/>
              </a:rPr>
              <a:t>d</a:t>
            </a:r>
            <a:r>
              <a:rPr lang="en-IN" sz="2000" dirty="0" err="1">
                <a:solidFill>
                  <a:srgbClr val="000000"/>
                </a:solidFill>
                <a:effectLst/>
                <a:latin typeface="Menlo" panose="020B0609030804020204" pitchFamily="49" charset="0"/>
              </a:rPr>
              <a:t>.deposit</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err="1">
                <a:solidFill>
                  <a:srgbClr val="6A3E3E"/>
                </a:solidFill>
                <a:effectLst/>
                <a:latin typeface="Menlo" panose="020B0609030804020204" pitchFamily="49" charset="0"/>
              </a:rPr>
              <a:t>d</a:t>
            </a:r>
            <a:r>
              <a:rPr lang="en-IN" sz="2000" dirty="0" err="1">
                <a:solidFill>
                  <a:srgbClr val="000000"/>
                </a:solidFill>
                <a:effectLst/>
                <a:latin typeface="Menlo" panose="020B0609030804020204" pitchFamily="49" charset="0"/>
              </a:rPr>
              <a:t>.withdraw</a:t>
            </a: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000000"/>
                </a:solidFill>
                <a:effectLst/>
                <a:latin typeface="Menlo" panose="020B0609030804020204" pitchFamily="49" charset="0"/>
              </a:rPr>
              <a:t>}</a:t>
            </a:r>
          </a:p>
          <a:p>
            <a:pPr marL="0" marR="0" indent="0">
              <a:spcBef>
                <a:spcPts val="0"/>
              </a:spcBef>
              <a:spcAft>
                <a:spcPts val="0"/>
              </a:spcAft>
              <a:buNone/>
            </a:pPr>
            <a:r>
              <a:rPr lang="en-IN" sz="2000" dirty="0">
                <a:solidFill>
                  <a:srgbClr val="000000"/>
                </a:solidFill>
                <a:effectLst/>
                <a:latin typeface="Menlo" panose="020B0609030804020204" pitchFamily="49" charset="0"/>
              </a:rPr>
              <a:t>}</a:t>
            </a:r>
          </a:p>
        </p:txBody>
      </p:sp>
      <p:sp>
        <p:nvSpPr>
          <p:cNvPr id="4" name="Footer Placeholder 3">
            <a:extLst>
              <a:ext uri="{FF2B5EF4-FFF2-40B4-BE49-F238E27FC236}">
                <a16:creationId xmlns:a16="http://schemas.microsoft.com/office/drawing/2014/main" id="{C89D4ADB-0839-973B-3EA1-D5C427E65D4B}"/>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2485626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760F5-0D51-3A40-0093-A2B55DB5D88F}"/>
              </a:ext>
            </a:extLst>
          </p:cNvPr>
          <p:cNvSpPr>
            <a:spLocks noGrp="1"/>
          </p:cNvSpPr>
          <p:nvPr>
            <p:ph type="title"/>
          </p:nvPr>
        </p:nvSpPr>
        <p:spPr/>
        <p:txBody>
          <a:bodyPr/>
          <a:lstStyle/>
          <a:p>
            <a:r>
              <a:rPr lang="en-US" dirty="0"/>
              <a:t>Super keyword</a:t>
            </a:r>
          </a:p>
        </p:txBody>
      </p:sp>
      <p:sp>
        <p:nvSpPr>
          <p:cNvPr id="3" name="Content Placeholder 2">
            <a:extLst>
              <a:ext uri="{FF2B5EF4-FFF2-40B4-BE49-F238E27FC236}">
                <a16:creationId xmlns:a16="http://schemas.microsoft.com/office/drawing/2014/main" id="{8BD2AC8D-727D-2056-CF50-C4E541AB2E1C}"/>
              </a:ext>
            </a:extLst>
          </p:cNvPr>
          <p:cNvSpPr>
            <a:spLocks noGrp="1"/>
          </p:cNvSpPr>
          <p:nvPr>
            <p:ph idx="1"/>
          </p:nvPr>
        </p:nvSpPr>
        <p:spPr/>
        <p:txBody>
          <a:bodyPr/>
          <a:lstStyle/>
          <a:p>
            <a:pPr algn="l" fontAlgn="base">
              <a:buFont typeface="Arial" panose="020B0604020202020204" pitchFamily="34" charset="0"/>
              <a:buChar char="•"/>
            </a:pPr>
            <a:r>
              <a:rPr lang="en-IN" b="0" i="0" u="sng" dirty="0">
                <a:solidFill>
                  <a:srgbClr val="FFFFFF"/>
                </a:solidFill>
                <a:effectLst/>
                <a:latin typeface="Nunito" pitchFamily="2" charset="77"/>
                <a:hlinkClick r:id="rId2"/>
              </a:rPr>
              <a:t>Characteristics of Super Keyword in Java</a:t>
            </a:r>
            <a:endParaRPr lang="en-IN" b="0" i="0" dirty="0">
              <a:solidFill>
                <a:srgbClr val="FFFFFF"/>
              </a:solidFill>
              <a:effectLst/>
              <a:latin typeface="Nunito" pitchFamily="2" charset="77"/>
            </a:endParaRPr>
          </a:p>
          <a:p>
            <a:pPr algn="l" fontAlgn="base">
              <a:buFont typeface="Arial" panose="020B0604020202020204" pitchFamily="34" charset="0"/>
              <a:buChar char="•"/>
            </a:pPr>
            <a:r>
              <a:rPr lang="en-IN" b="0" i="0" u="sng" dirty="0">
                <a:solidFill>
                  <a:srgbClr val="FFFFFF"/>
                </a:solidFill>
                <a:effectLst/>
                <a:latin typeface="Nunito" pitchFamily="2" charset="77"/>
                <a:hlinkClick r:id="rId3"/>
              </a:rPr>
              <a:t>Use of super keyword in Java</a:t>
            </a:r>
            <a:endParaRPr lang="en-IN" b="0" i="0" dirty="0">
              <a:solidFill>
                <a:srgbClr val="FFFFFF"/>
              </a:solidFill>
              <a:effectLst/>
              <a:latin typeface="Nunito" pitchFamily="2" charset="77"/>
            </a:endParaRPr>
          </a:p>
          <a:p>
            <a:pPr algn="l" fontAlgn="base">
              <a:buFont typeface="Arial" panose="020B0604020202020204" pitchFamily="34" charset="0"/>
              <a:buChar char="•"/>
            </a:pPr>
            <a:r>
              <a:rPr lang="en-IN" b="0" i="0" u="sng" dirty="0">
                <a:solidFill>
                  <a:srgbClr val="FFFFFF"/>
                </a:solidFill>
                <a:effectLst/>
                <a:latin typeface="Nunito" pitchFamily="2" charset="77"/>
                <a:hlinkClick r:id="rId4"/>
              </a:rPr>
              <a:t>1. Use of super with Variables</a:t>
            </a:r>
            <a:endParaRPr lang="en-IN" b="0" i="0" dirty="0">
              <a:solidFill>
                <a:srgbClr val="FFFFFF"/>
              </a:solidFill>
              <a:effectLst/>
              <a:latin typeface="Nunito" pitchFamily="2" charset="77"/>
            </a:endParaRPr>
          </a:p>
          <a:p>
            <a:pPr algn="l" fontAlgn="base">
              <a:buFont typeface="Arial" panose="020B0604020202020204" pitchFamily="34" charset="0"/>
              <a:buChar char="•"/>
            </a:pPr>
            <a:r>
              <a:rPr lang="en-IN" b="0" i="0" u="sng" dirty="0">
                <a:solidFill>
                  <a:srgbClr val="FFFFFF"/>
                </a:solidFill>
                <a:effectLst/>
                <a:latin typeface="Nunito" pitchFamily="2" charset="77"/>
                <a:hlinkClick r:id="rId5"/>
              </a:rPr>
              <a:t>2. Use of super with Methods</a:t>
            </a:r>
            <a:endParaRPr lang="en-IN" b="0" i="0" dirty="0">
              <a:solidFill>
                <a:srgbClr val="FFFFFF"/>
              </a:solidFill>
              <a:effectLst/>
              <a:latin typeface="Nunito" pitchFamily="2" charset="77"/>
            </a:endParaRPr>
          </a:p>
          <a:p>
            <a:pPr algn="l" fontAlgn="base">
              <a:buFont typeface="Arial" panose="020B0604020202020204" pitchFamily="34" charset="0"/>
              <a:buChar char="•"/>
            </a:pPr>
            <a:r>
              <a:rPr lang="en-IN" b="0" i="0" u="sng" dirty="0">
                <a:solidFill>
                  <a:srgbClr val="FFFFFF"/>
                </a:solidFill>
                <a:effectLst/>
                <a:latin typeface="Nunito" pitchFamily="2" charset="77"/>
                <a:hlinkClick r:id="rId6"/>
              </a:rPr>
              <a:t>3. Use of super with constructors</a:t>
            </a:r>
            <a:endParaRPr lang="en-IN" b="0" i="0" dirty="0">
              <a:solidFill>
                <a:srgbClr val="FFFFFF"/>
              </a:solidFill>
              <a:effectLst/>
              <a:latin typeface="Nunito" pitchFamily="2" charset="77"/>
            </a:endParaRPr>
          </a:p>
          <a:p>
            <a:pPr algn="l" fontAlgn="base">
              <a:buFont typeface="Arial" panose="020B0604020202020204" pitchFamily="34" charset="0"/>
              <a:buChar char="•"/>
            </a:pPr>
            <a:r>
              <a:rPr lang="en-IN" b="0" i="0" u="sng" dirty="0">
                <a:solidFill>
                  <a:srgbClr val="FFFFFF"/>
                </a:solidFill>
                <a:effectLst/>
                <a:latin typeface="Nunito" pitchFamily="2" charset="77"/>
                <a:hlinkClick r:id="rId7"/>
              </a:rPr>
              <a:t>Advantages of Using Java Super Keyword</a:t>
            </a:r>
            <a:endParaRPr lang="en-IN" b="0" i="0" dirty="0">
              <a:solidFill>
                <a:srgbClr val="FFFFFF"/>
              </a:solidFill>
              <a:effectLst/>
              <a:latin typeface="Nunito" pitchFamily="2" charset="77"/>
            </a:endParaRPr>
          </a:p>
          <a:p>
            <a:endParaRPr lang="en-US" dirty="0"/>
          </a:p>
        </p:txBody>
      </p:sp>
      <p:sp>
        <p:nvSpPr>
          <p:cNvPr id="4" name="Footer Placeholder 3">
            <a:extLst>
              <a:ext uri="{FF2B5EF4-FFF2-40B4-BE49-F238E27FC236}">
                <a16:creationId xmlns:a16="http://schemas.microsoft.com/office/drawing/2014/main" id="{4DE4A0AE-2899-E069-971C-4608E9B8FDDE}"/>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5808272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E2734-9930-D769-8473-449529F65FFE}"/>
              </a:ext>
            </a:extLst>
          </p:cNvPr>
          <p:cNvSpPr>
            <a:spLocks noGrp="1"/>
          </p:cNvSpPr>
          <p:nvPr>
            <p:ph type="title"/>
          </p:nvPr>
        </p:nvSpPr>
        <p:spPr/>
        <p:txBody>
          <a:bodyPr/>
          <a:lstStyle/>
          <a:p>
            <a:r>
              <a:rPr lang="en-US" dirty="0"/>
              <a:t>Characteristics of super</a:t>
            </a:r>
          </a:p>
        </p:txBody>
      </p:sp>
      <p:sp>
        <p:nvSpPr>
          <p:cNvPr id="3" name="Content Placeholder 2">
            <a:extLst>
              <a:ext uri="{FF2B5EF4-FFF2-40B4-BE49-F238E27FC236}">
                <a16:creationId xmlns:a16="http://schemas.microsoft.com/office/drawing/2014/main" id="{7C341FAF-F718-E58D-7C17-F7224A4AAEF4}"/>
              </a:ext>
            </a:extLst>
          </p:cNvPr>
          <p:cNvSpPr>
            <a:spLocks noGrp="1"/>
          </p:cNvSpPr>
          <p:nvPr>
            <p:ph idx="1"/>
          </p:nvPr>
        </p:nvSpPr>
        <p:spPr/>
        <p:txBody>
          <a:bodyPr/>
          <a:lstStyle/>
          <a:p>
            <a:pPr algn="l" fontAlgn="base">
              <a:buFont typeface="Arial" panose="020B0604020202020204" pitchFamily="34" charset="0"/>
              <a:buChar char="•"/>
            </a:pPr>
            <a:r>
              <a:rPr lang="en-IN" sz="2000" b="1" i="0" dirty="0">
                <a:solidFill>
                  <a:schemeClr val="tx1"/>
                </a:solidFill>
                <a:effectLst/>
                <a:latin typeface="Nunito" pitchFamily="2" charset="77"/>
              </a:rPr>
              <a:t>super is used to call a superclass constructor:</a:t>
            </a:r>
            <a:r>
              <a:rPr lang="en-IN" sz="2000" b="0" i="0" dirty="0">
                <a:solidFill>
                  <a:schemeClr val="tx1"/>
                </a:solidFill>
                <a:effectLst/>
                <a:latin typeface="Nunito" pitchFamily="2" charset="77"/>
              </a:rPr>
              <a:t> </a:t>
            </a:r>
          </a:p>
          <a:p>
            <a:pPr algn="l" fontAlgn="base">
              <a:buFont typeface="Arial" panose="020B0604020202020204" pitchFamily="34" charset="0"/>
              <a:buChar char="•"/>
            </a:pPr>
            <a:r>
              <a:rPr lang="en-IN" sz="2000" b="0" i="0" dirty="0">
                <a:solidFill>
                  <a:schemeClr val="tx1"/>
                </a:solidFill>
                <a:effectLst/>
                <a:latin typeface="Nunito" pitchFamily="2" charset="77"/>
              </a:rPr>
              <a:t>When a subclass is created, its constructor must call the constructor of its parent class. This is done using the </a:t>
            </a:r>
            <a:r>
              <a:rPr lang="en-IN" sz="2000" b="1" i="0" dirty="0">
                <a:solidFill>
                  <a:schemeClr val="tx1"/>
                </a:solidFill>
                <a:effectLst/>
                <a:latin typeface="Nunito" pitchFamily="2" charset="77"/>
              </a:rPr>
              <a:t>super()</a:t>
            </a:r>
            <a:r>
              <a:rPr lang="en-IN" sz="2000" b="0" i="0" dirty="0">
                <a:solidFill>
                  <a:schemeClr val="tx1"/>
                </a:solidFill>
                <a:effectLst/>
                <a:latin typeface="Nunito" pitchFamily="2" charset="77"/>
              </a:rPr>
              <a:t> keyword, which calls the constructor of the parent class.</a:t>
            </a:r>
          </a:p>
          <a:p>
            <a:pPr algn="l" fontAlgn="base">
              <a:buFont typeface="Arial" panose="020B0604020202020204" pitchFamily="34" charset="0"/>
              <a:buChar char="•"/>
            </a:pPr>
            <a:r>
              <a:rPr lang="en-IN" sz="2000" b="1" i="0" dirty="0">
                <a:solidFill>
                  <a:schemeClr val="tx1"/>
                </a:solidFill>
                <a:effectLst/>
                <a:latin typeface="Nunito" pitchFamily="2" charset="77"/>
              </a:rPr>
              <a:t>super is used to call a superclass method:</a:t>
            </a:r>
            <a:r>
              <a:rPr lang="en-IN" sz="2000" b="0" i="0" dirty="0">
                <a:solidFill>
                  <a:schemeClr val="tx1"/>
                </a:solidFill>
                <a:effectLst/>
                <a:latin typeface="Nunito" pitchFamily="2" charset="77"/>
              </a:rPr>
              <a:t> </a:t>
            </a:r>
          </a:p>
          <a:p>
            <a:pPr algn="l" fontAlgn="base">
              <a:buFont typeface="Arial" panose="020B0604020202020204" pitchFamily="34" charset="0"/>
              <a:buChar char="•"/>
            </a:pPr>
            <a:r>
              <a:rPr lang="en-IN" sz="2000" b="0" i="0" dirty="0">
                <a:solidFill>
                  <a:schemeClr val="tx1"/>
                </a:solidFill>
                <a:effectLst/>
                <a:latin typeface="Nunito" pitchFamily="2" charset="77"/>
              </a:rPr>
              <a:t>A subclass can call a method defined in its parent class using the super keyword. This is useful when the subclass wants to invoke the parent class’s implementation of the method in addition to its own.</a:t>
            </a:r>
          </a:p>
          <a:p>
            <a:pPr algn="l" fontAlgn="base">
              <a:buFont typeface="Arial" panose="020B0604020202020204" pitchFamily="34" charset="0"/>
              <a:buChar char="•"/>
            </a:pPr>
            <a:r>
              <a:rPr lang="en-IN" sz="2000" b="1" i="0" dirty="0">
                <a:solidFill>
                  <a:schemeClr val="tx1"/>
                </a:solidFill>
                <a:effectLst/>
                <a:latin typeface="Nunito" pitchFamily="2" charset="77"/>
              </a:rPr>
              <a:t>super is used to access a superclass field: </a:t>
            </a:r>
          </a:p>
          <a:p>
            <a:pPr algn="l" fontAlgn="base">
              <a:buFont typeface="Arial" panose="020B0604020202020204" pitchFamily="34" charset="0"/>
              <a:buChar char="•"/>
            </a:pPr>
            <a:r>
              <a:rPr lang="en-IN" sz="2000" b="0" i="0" dirty="0">
                <a:solidFill>
                  <a:schemeClr val="tx1"/>
                </a:solidFill>
                <a:effectLst/>
                <a:latin typeface="Nunito" pitchFamily="2" charset="77"/>
              </a:rPr>
              <a:t>A subclass can access a field defined in its parent class using the super keyword. This is useful when the subclass wants to reference the parent class’s version of a field.</a:t>
            </a:r>
          </a:p>
          <a:p>
            <a:pPr algn="l" fontAlgn="base">
              <a:buFont typeface="Arial" panose="020B0604020202020204" pitchFamily="34" charset="0"/>
              <a:buChar char="•"/>
            </a:pPr>
            <a:r>
              <a:rPr lang="en-IN" sz="2000" b="1" i="0" dirty="0">
                <a:solidFill>
                  <a:schemeClr val="tx1"/>
                </a:solidFill>
                <a:effectLst/>
                <a:latin typeface="Nunito" pitchFamily="2" charset="77"/>
              </a:rPr>
              <a:t>super must be the first statement in a constructor: </a:t>
            </a:r>
          </a:p>
          <a:p>
            <a:pPr algn="l" fontAlgn="base">
              <a:buFont typeface="Arial" panose="020B0604020202020204" pitchFamily="34" charset="0"/>
              <a:buChar char="•"/>
            </a:pPr>
            <a:r>
              <a:rPr lang="en-IN" sz="2000" b="0" i="0" dirty="0">
                <a:solidFill>
                  <a:schemeClr val="tx1"/>
                </a:solidFill>
                <a:effectLst/>
                <a:latin typeface="Nunito" pitchFamily="2" charset="77"/>
              </a:rPr>
              <a:t>When calling a superclass constructor, the super() statement must be the first statement in the constructor of the subclass.</a:t>
            </a:r>
          </a:p>
        </p:txBody>
      </p:sp>
      <p:sp>
        <p:nvSpPr>
          <p:cNvPr id="4" name="Footer Placeholder 3">
            <a:extLst>
              <a:ext uri="{FF2B5EF4-FFF2-40B4-BE49-F238E27FC236}">
                <a16:creationId xmlns:a16="http://schemas.microsoft.com/office/drawing/2014/main" id="{C3CD90A8-448A-B159-934E-8FC9976F29AB}"/>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4147875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09FAB-09CA-20F2-6EF1-A706A772208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FEBB4EF-7EDA-E8D6-D3CF-C20B7D815E40}"/>
              </a:ext>
            </a:extLst>
          </p:cNvPr>
          <p:cNvSpPr>
            <a:spLocks noGrp="1"/>
          </p:cNvSpPr>
          <p:nvPr>
            <p:ph idx="1"/>
          </p:nvPr>
        </p:nvSpPr>
        <p:spPr/>
        <p:txBody>
          <a:bodyPr/>
          <a:lstStyle/>
          <a:p>
            <a:pPr algn="l" fontAlgn="base">
              <a:buFont typeface="Arial" panose="020B0604020202020204" pitchFamily="34" charset="0"/>
              <a:buChar char="•"/>
            </a:pPr>
            <a:r>
              <a:rPr lang="en-IN" sz="2400" b="1" i="0" dirty="0">
                <a:solidFill>
                  <a:schemeClr val="tx1"/>
                </a:solidFill>
                <a:effectLst/>
                <a:latin typeface="Nunito" pitchFamily="2" charset="77"/>
              </a:rPr>
              <a:t>super cannot be used in a static context:</a:t>
            </a:r>
            <a:r>
              <a:rPr lang="en-IN" sz="2400" b="0" i="0" dirty="0">
                <a:solidFill>
                  <a:schemeClr val="tx1"/>
                </a:solidFill>
                <a:effectLst/>
                <a:latin typeface="Nunito" pitchFamily="2" charset="77"/>
              </a:rPr>
              <a:t> </a:t>
            </a:r>
          </a:p>
          <a:p>
            <a:pPr algn="l" fontAlgn="base">
              <a:buFont typeface="Arial" panose="020B0604020202020204" pitchFamily="34" charset="0"/>
              <a:buChar char="•"/>
            </a:pPr>
            <a:r>
              <a:rPr lang="en-IN" sz="2400" b="0" i="0" dirty="0">
                <a:solidFill>
                  <a:schemeClr val="tx1"/>
                </a:solidFill>
                <a:effectLst/>
                <a:latin typeface="Nunito" pitchFamily="2" charset="77"/>
              </a:rPr>
              <a:t>The super keyword cannot be used in a static context, such as in a static method or a static variable initializer.</a:t>
            </a:r>
          </a:p>
          <a:p>
            <a:pPr algn="l" fontAlgn="base">
              <a:buFont typeface="Arial" panose="020B0604020202020204" pitchFamily="34" charset="0"/>
              <a:buChar char="•"/>
            </a:pPr>
            <a:r>
              <a:rPr lang="en-IN" sz="2400" b="1" i="0" dirty="0">
                <a:solidFill>
                  <a:schemeClr val="tx1"/>
                </a:solidFill>
                <a:effectLst/>
                <a:latin typeface="Nunito" pitchFamily="2" charset="77"/>
              </a:rPr>
              <a:t>super is not required to call a superclass method: </a:t>
            </a:r>
          </a:p>
          <a:p>
            <a:pPr algn="l" fontAlgn="base">
              <a:buFont typeface="Arial" panose="020B0604020202020204" pitchFamily="34" charset="0"/>
              <a:buChar char="•"/>
            </a:pPr>
            <a:r>
              <a:rPr lang="en-IN" sz="2400" b="0" i="0" dirty="0">
                <a:solidFill>
                  <a:schemeClr val="tx1"/>
                </a:solidFill>
                <a:effectLst/>
                <a:latin typeface="Nunito" pitchFamily="2" charset="77"/>
              </a:rPr>
              <a:t>While it is possible to use the super keyword to call a method in the parent class, it is not required. If a method is not overridden in the subclass, then calling it without the super keyword will invoke the parent class’s implementation.</a:t>
            </a:r>
          </a:p>
          <a:p>
            <a:endParaRPr lang="en-US" sz="2400" dirty="0">
              <a:solidFill>
                <a:schemeClr val="tx1"/>
              </a:solidFill>
            </a:endParaRPr>
          </a:p>
          <a:p>
            <a:endParaRPr lang="en-US" sz="2400" dirty="0"/>
          </a:p>
        </p:txBody>
      </p:sp>
      <p:sp>
        <p:nvSpPr>
          <p:cNvPr id="4" name="Footer Placeholder 3">
            <a:extLst>
              <a:ext uri="{FF2B5EF4-FFF2-40B4-BE49-F238E27FC236}">
                <a16:creationId xmlns:a16="http://schemas.microsoft.com/office/drawing/2014/main" id="{45450AA0-488B-7216-5EEC-10362BC296FE}"/>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461419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C4DB2-565D-8A8E-B891-C0E643F14B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AED033A-75C5-7C6E-5A8A-4AEC5186F65B}"/>
              </a:ext>
            </a:extLst>
          </p:cNvPr>
          <p:cNvSpPr>
            <a:spLocks noGrp="1"/>
          </p:cNvSpPr>
          <p:nvPr>
            <p:ph idx="1"/>
          </p:nvPr>
        </p:nvSpPr>
        <p:spPr/>
        <p:txBody>
          <a:bodyPr/>
          <a:lstStyle/>
          <a:p>
            <a:pPr algn="l" fontAlgn="base"/>
            <a:r>
              <a:rPr lang="en-IN" b="1" i="0" dirty="0">
                <a:solidFill>
                  <a:schemeClr val="tx1"/>
                </a:solidFill>
                <a:effectLst/>
                <a:latin typeface="Nunito" pitchFamily="2" charset="77"/>
              </a:rPr>
              <a:t>Use of super keyword in Java</a:t>
            </a:r>
          </a:p>
          <a:p>
            <a:pPr algn="just" rtl="0" fontAlgn="base"/>
            <a:r>
              <a:rPr lang="en-IN" b="0" i="0" dirty="0">
                <a:solidFill>
                  <a:schemeClr val="tx1"/>
                </a:solidFill>
                <a:effectLst/>
                <a:latin typeface="Nunito" pitchFamily="2" charset="77"/>
              </a:rPr>
              <a:t>It is majorly used in the following contexts as mentioned below:</a:t>
            </a:r>
          </a:p>
          <a:p>
            <a:pPr marL="514350" indent="-514350" algn="l" fontAlgn="base">
              <a:buFont typeface="+mj-lt"/>
              <a:buAutoNum type="arabicPeriod"/>
            </a:pPr>
            <a:r>
              <a:rPr lang="en-IN" b="1" i="0" dirty="0">
                <a:solidFill>
                  <a:schemeClr val="tx1"/>
                </a:solidFill>
                <a:effectLst/>
                <a:latin typeface="Nunito" pitchFamily="2" charset="77"/>
              </a:rPr>
              <a:t>Use of super with Variables</a:t>
            </a:r>
            <a:endParaRPr lang="en-IN" b="0" i="0" dirty="0">
              <a:solidFill>
                <a:schemeClr val="tx1"/>
              </a:solidFill>
              <a:effectLst/>
              <a:latin typeface="Nunito" pitchFamily="2" charset="77"/>
            </a:endParaRPr>
          </a:p>
          <a:p>
            <a:pPr marL="514350" indent="-514350" algn="l" fontAlgn="base">
              <a:buFont typeface="+mj-lt"/>
              <a:buAutoNum type="arabicPeriod"/>
            </a:pPr>
            <a:r>
              <a:rPr lang="en-IN" b="1" i="0" dirty="0">
                <a:solidFill>
                  <a:schemeClr val="tx1"/>
                </a:solidFill>
                <a:effectLst/>
                <a:latin typeface="Nunito" pitchFamily="2" charset="77"/>
              </a:rPr>
              <a:t>Use of super with Methods</a:t>
            </a:r>
            <a:endParaRPr lang="en-IN" b="0" i="0" dirty="0">
              <a:solidFill>
                <a:schemeClr val="tx1"/>
              </a:solidFill>
              <a:effectLst/>
              <a:latin typeface="Nunito" pitchFamily="2" charset="77"/>
            </a:endParaRPr>
          </a:p>
          <a:p>
            <a:pPr marL="514350" indent="-514350" algn="l" fontAlgn="base">
              <a:buFont typeface="+mj-lt"/>
              <a:buAutoNum type="arabicPeriod"/>
            </a:pPr>
            <a:r>
              <a:rPr lang="en-IN" b="1" i="0" dirty="0">
                <a:solidFill>
                  <a:schemeClr val="tx1"/>
                </a:solidFill>
                <a:effectLst/>
                <a:latin typeface="Nunito" pitchFamily="2" charset="77"/>
              </a:rPr>
              <a:t>Use of super with Constructors</a:t>
            </a:r>
            <a:endParaRPr lang="en-IN" b="0" i="0" dirty="0">
              <a:solidFill>
                <a:schemeClr val="tx1"/>
              </a:solidFill>
              <a:effectLst/>
              <a:latin typeface="Nunito" pitchFamily="2" charset="77"/>
            </a:endParaRPr>
          </a:p>
          <a:p>
            <a:endParaRPr lang="en-US" dirty="0">
              <a:solidFill>
                <a:schemeClr val="tx1"/>
              </a:solidFill>
            </a:endParaRPr>
          </a:p>
        </p:txBody>
      </p:sp>
      <p:sp>
        <p:nvSpPr>
          <p:cNvPr id="4" name="Footer Placeholder 3">
            <a:extLst>
              <a:ext uri="{FF2B5EF4-FFF2-40B4-BE49-F238E27FC236}">
                <a16:creationId xmlns:a16="http://schemas.microsoft.com/office/drawing/2014/main" id="{C870AF4C-0ED0-04A9-4B09-C01812DF23C1}"/>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8183001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E727D-A7AB-7525-17FD-A5CB4BA6483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76AE28C-7762-BF7C-5746-29B66159E01F}"/>
              </a:ext>
            </a:extLst>
          </p:cNvPr>
          <p:cNvSpPr>
            <a:spLocks noGrp="1"/>
          </p:cNvSpPr>
          <p:nvPr>
            <p:ph idx="1"/>
          </p:nvPr>
        </p:nvSpPr>
        <p:spPr>
          <a:xfrm>
            <a:off x="457200" y="487362"/>
            <a:ext cx="8229600" cy="5029200"/>
          </a:xfrm>
        </p:spPr>
        <p:txBody>
          <a:bodyPr/>
          <a:lstStyle/>
          <a:p>
            <a:pPr marL="0" marR="0" indent="0">
              <a:spcBef>
                <a:spcPts val="0"/>
              </a:spcBef>
              <a:spcAft>
                <a:spcPts val="0"/>
              </a:spcAft>
              <a:buNone/>
            </a:pPr>
            <a:r>
              <a:rPr lang="en-IN" sz="1600" dirty="0">
                <a:solidFill>
                  <a:srgbClr val="3F7F5F"/>
                </a:solidFill>
                <a:effectLst/>
                <a:latin typeface="Menlo" panose="020B0609030804020204" pitchFamily="49" charset="0"/>
              </a:rPr>
              <a:t>//Base class vehicle </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Vehicle { </a:t>
            </a:r>
          </a:p>
          <a:p>
            <a:pPr marL="0" marR="0" indent="0">
              <a:spcBef>
                <a:spcPts val="0"/>
              </a:spcBef>
              <a:spcAft>
                <a:spcPts val="0"/>
              </a:spcAft>
              <a:buNone/>
            </a:pPr>
            <a:r>
              <a:rPr lang="en-IN" sz="1600" b="1" dirty="0">
                <a:solidFill>
                  <a:srgbClr val="7F0055"/>
                </a:solidFill>
                <a:effectLst/>
                <a:latin typeface="Menlo" panose="020B0609030804020204" pitchFamily="49" charset="0"/>
              </a:rPr>
              <a:t>int</a:t>
            </a:r>
            <a:r>
              <a:rPr lang="en-IN" sz="1600" dirty="0">
                <a:solidFill>
                  <a:srgbClr val="000000"/>
                </a:solidFill>
                <a:effectLst/>
                <a:latin typeface="Menlo" panose="020B0609030804020204" pitchFamily="49" charset="0"/>
              </a:rPr>
              <a:t> </a:t>
            </a:r>
            <a:r>
              <a:rPr lang="en-IN" sz="1600" dirty="0" err="1">
                <a:solidFill>
                  <a:srgbClr val="0000C0"/>
                </a:solidFill>
                <a:effectLst/>
                <a:latin typeface="Menlo" panose="020B0609030804020204" pitchFamily="49" charset="0"/>
              </a:rPr>
              <a:t>maxSpeed</a:t>
            </a:r>
            <a:r>
              <a:rPr lang="en-IN" sz="1600" dirty="0">
                <a:solidFill>
                  <a:srgbClr val="000000"/>
                </a:solidFill>
                <a:effectLst/>
                <a:latin typeface="Menlo" panose="020B0609030804020204" pitchFamily="49" charset="0"/>
              </a:rPr>
              <a:t> = 120;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dirty="0">
                <a:solidFill>
                  <a:srgbClr val="3F7F5F"/>
                </a:solidFill>
                <a:effectLst/>
                <a:latin typeface="Menlo" panose="020B0609030804020204" pitchFamily="49" charset="0"/>
              </a:rPr>
              <a:t>//sub class Car extending vehicle </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Car </a:t>
            </a:r>
            <a:r>
              <a:rPr lang="en-IN" sz="1600" b="1" dirty="0">
                <a:solidFill>
                  <a:srgbClr val="7F0055"/>
                </a:solidFill>
                <a:effectLst/>
                <a:latin typeface="Menlo" panose="020B0609030804020204" pitchFamily="49" charset="0"/>
              </a:rPr>
              <a:t>extends</a:t>
            </a:r>
            <a:r>
              <a:rPr lang="en-IN" sz="1600" dirty="0">
                <a:solidFill>
                  <a:srgbClr val="000000"/>
                </a:solidFill>
                <a:effectLst/>
                <a:latin typeface="Menlo" panose="020B0609030804020204" pitchFamily="49" charset="0"/>
              </a:rPr>
              <a:t> Vehicle { </a:t>
            </a:r>
          </a:p>
          <a:p>
            <a:pPr marL="0" marR="0" indent="0">
              <a:spcBef>
                <a:spcPts val="0"/>
              </a:spcBef>
              <a:spcAft>
                <a:spcPts val="0"/>
              </a:spcAft>
              <a:buNone/>
            </a:pPr>
            <a:r>
              <a:rPr lang="en-IN" sz="1600" b="1" dirty="0">
                <a:solidFill>
                  <a:srgbClr val="7F0055"/>
                </a:solidFill>
                <a:effectLst/>
                <a:latin typeface="Menlo" panose="020B0609030804020204" pitchFamily="49" charset="0"/>
              </a:rPr>
              <a:t>int</a:t>
            </a:r>
            <a:r>
              <a:rPr lang="en-IN" sz="1600" dirty="0">
                <a:solidFill>
                  <a:srgbClr val="000000"/>
                </a:solidFill>
                <a:effectLst/>
                <a:latin typeface="Menlo" panose="020B0609030804020204" pitchFamily="49" charset="0"/>
              </a:rPr>
              <a:t> </a:t>
            </a:r>
            <a:r>
              <a:rPr lang="en-IN" sz="1600" dirty="0" err="1">
                <a:solidFill>
                  <a:srgbClr val="0000C0"/>
                </a:solidFill>
                <a:effectLst/>
                <a:latin typeface="Menlo" panose="020B0609030804020204" pitchFamily="49" charset="0"/>
              </a:rPr>
              <a:t>maxSpeed</a:t>
            </a:r>
            <a:r>
              <a:rPr lang="en-IN" sz="1600" dirty="0">
                <a:solidFill>
                  <a:srgbClr val="000000"/>
                </a:solidFill>
                <a:effectLst/>
                <a:latin typeface="Menlo" panose="020B0609030804020204" pitchFamily="49" charset="0"/>
              </a:rPr>
              <a:t> = 180; </a:t>
            </a:r>
          </a:p>
          <a:p>
            <a:pPr marL="0" marR="0" indent="0">
              <a:spcBef>
                <a:spcPts val="0"/>
              </a:spcBef>
              <a:spcAft>
                <a:spcPts val="0"/>
              </a:spcAft>
              <a:buNone/>
            </a:pP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display()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3F7F5F"/>
                </a:solidFill>
                <a:effectLst/>
                <a:latin typeface="Menlo" panose="020B0609030804020204" pitchFamily="49" charset="0"/>
              </a:rPr>
              <a:t>// print </a:t>
            </a:r>
            <a:r>
              <a:rPr lang="en-IN" sz="1600" dirty="0" err="1">
                <a:solidFill>
                  <a:srgbClr val="3F7F5F"/>
                </a:solidFill>
                <a:effectLst/>
                <a:latin typeface="Menlo" panose="020B0609030804020204" pitchFamily="49" charset="0"/>
              </a:rPr>
              <a:t>maxSpeed</a:t>
            </a:r>
            <a:r>
              <a:rPr lang="en-IN" sz="1600" dirty="0">
                <a:solidFill>
                  <a:srgbClr val="3F7F5F"/>
                </a:solidFill>
                <a:effectLst/>
                <a:latin typeface="Menlo" panose="020B0609030804020204" pitchFamily="49" charset="0"/>
              </a:rPr>
              <a:t> of base class (vehicle) </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dirty="0" err="1">
                <a:solidFill>
                  <a:srgbClr val="000000"/>
                </a:solidFill>
                <a:effectLst/>
                <a:latin typeface="Menlo" panose="020B0609030804020204" pitchFamily="49" charset="0"/>
              </a:rPr>
              <a:t>System.</a:t>
            </a:r>
            <a:r>
              <a:rPr lang="en-IN" sz="1600" b="1" i="1" dirty="0" err="1">
                <a:solidFill>
                  <a:srgbClr val="0000C0"/>
                </a:solidFill>
                <a:effectLst/>
                <a:latin typeface="Menlo" panose="020B0609030804020204" pitchFamily="49" charset="0"/>
              </a:rPr>
              <a:t>out</a:t>
            </a:r>
            <a:r>
              <a:rPr lang="en-IN" sz="1600" dirty="0" err="1">
                <a:solidFill>
                  <a:srgbClr val="000000"/>
                </a:solidFill>
                <a:effectLst/>
                <a:latin typeface="Menlo" panose="020B0609030804020204" pitchFamily="49" charset="0"/>
              </a:rPr>
              <a:t>.println</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"Maximum Speed: "</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dirty="0">
                <a:solidFill>
                  <a:srgbClr val="000000"/>
                </a:solidFill>
                <a:effectLst/>
                <a:latin typeface="Menlo" panose="020B0609030804020204" pitchFamily="49" charset="0"/>
              </a:rPr>
              <a:t>+ </a:t>
            </a:r>
            <a:r>
              <a:rPr lang="en-IN" sz="1600" b="1" dirty="0" err="1">
                <a:solidFill>
                  <a:srgbClr val="7F0055"/>
                </a:solidFill>
                <a:effectLst/>
                <a:latin typeface="Menlo" panose="020B0609030804020204" pitchFamily="49" charset="0"/>
              </a:rPr>
              <a:t>super</a:t>
            </a:r>
            <a:r>
              <a:rPr lang="en-IN" sz="1600" dirty="0" err="1">
                <a:solidFill>
                  <a:srgbClr val="000000"/>
                </a:solidFill>
                <a:effectLst/>
                <a:latin typeface="Menlo" panose="020B0609030804020204" pitchFamily="49" charset="0"/>
              </a:rPr>
              <a:t>.</a:t>
            </a:r>
            <a:r>
              <a:rPr lang="en-IN" sz="1600" dirty="0" err="1">
                <a:solidFill>
                  <a:srgbClr val="0000C0"/>
                </a:solidFill>
                <a:effectLst/>
                <a:latin typeface="Menlo" panose="020B0609030804020204" pitchFamily="49" charset="0"/>
              </a:rPr>
              <a:t>maxSpeed</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dirty="0">
                <a:solidFill>
                  <a:srgbClr val="3F7F5F"/>
                </a:solidFill>
                <a:effectLst/>
                <a:latin typeface="Menlo" panose="020B0609030804020204" pitchFamily="49" charset="0"/>
              </a:rPr>
              <a:t>//Driver Program </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Test { </a:t>
            </a:r>
          </a:p>
          <a:p>
            <a:pPr marL="0" marR="0" indent="0">
              <a:spcBef>
                <a:spcPts val="0"/>
              </a:spcBef>
              <a:spcAft>
                <a:spcPts val="0"/>
              </a:spcAft>
              <a:buNone/>
            </a:pPr>
            <a:r>
              <a:rPr lang="en-IN" sz="1600" b="1" dirty="0">
                <a:solidFill>
                  <a:srgbClr val="7F0055"/>
                </a:solidFill>
                <a:effectLst/>
                <a:latin typeface="Menlo" panose="020B0609030804020204" pitchFamily="49" charset="0"/>
              </a:rPr>
              <a:t>public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static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main(String[] </a:t>
            </a:r>
            <a:r>
              <a:rPr lang="en-IN" sz="1600" dirty="0" err="1">
                <a:solidFill>
                  <a:srgbClr val="6A3E3E"/>
                </a:solidFill>
                <a:effectLst/>
                <a:latin typeface="Menlo" panose="020B0609030804020204" pitchFamily="49" charset="0"/>
              </a:rPr>
              <a:t>args</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Car </a:t>
            </a:r>
            <a:r>
              <a:rPr lang="en-IN" sz="1600" dirty="0">
                <a:solidFill>
                  <a:srgbClr val="6A3E3E"/>
                </a:solidFill>
                <a:effectLst/>
                <a:latin typeface="Menlo" panose="020B0609030804020204" pitchFamily="49" charset="0"/>
              </a:rPr>
              <a:t>small</a:t>
            </a:r>
            <a:r>
              <a:rPr lang="en-IN" sz="1600" dirty="0">
                <a:solidFill>
                  <a:srgbClr val="000000"/>
                </a:solidFill>
                <a:effectLst/>
                <a:latin typeface="Menlo" panose="020B0609030804020204" pitchFamily="49" charset="0"/>
              </a:rPr>
              <a:t> = </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Car(); </a:t>
            </a:r>
          </a:p>
          <a:p>
            <a:pPr marL="0" marR="0" indent="0">
              <a:spcBef>
                <a:spcPts val="0"/>
              </a:spcBef>
              <a:spcAft>
                <a:spcPts val="0"/>
              </a:spcAft>
              <a:buNone/>
            </a:pPr>
            <a:r>
              <a:rPr lang="en-IN" sz="1600" dirty="0" err="1">
                <a:solidFill>
                  <a:srgbClr val="6A3E3E"/>
                </a:solidFill>
                <a:effectLst/>
                <a:latin typeface="Menlo" panose="020B0609030804020204" pitchFamily="49" charset="0"/>
              </a:rPr>
              <a:t>small</a:t>
            </a:r>
            <a:r>
              <a:rPr lang="en-IN" sz="1600" dirty="0" err="1">
                <a:solidFill>
                  <a:srgbClr val="000000"/>
                </a:solidFill>
                <a:effectLst/>
                <a:latin typeface="Menlo" panose="020B0609030804020204" pitchFamily="49" charset="0"/>
              </a:rPr>
              <a:t>.display</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a:t>
            </a:r>
          </a:p>
        </p:txBody>
      </p:sp>
      <p:sp>
        <p:nvSpPr>
          <p:cNvPr id="4" name="Footer Placeholder 3">
            <a:extLst>
              <a:ext uri="{FF2B5EF4-FFF2-40B4-BE49-F238E27FC236}">
                <a16:creationId xmlns:a16="http://schemas.microsoft.com/office/drawing/2014/main" id="{62377D41-0EBB-1F5B-ACF2-874A4E7C9590}"/>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4075037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927CA-2A15-A1EE-6963-0DD1896BC39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4294DF-6CBF-98D0-2C54-C3950653980E}"/>
              </a:ext>
            </a:extLst>
          </p:cNvPr>
          <p:cNvSpPr>
            <a:spLocks noGrp="1"/>
          </p:cNvSpPr>
          <p:nvPr>
            <p:ph idx="1"/>
          </p:nvPr>
        </p:nvSpPr>
        <p:spPr>
          <a:xfrm>
            <a:off x="457200" y="487362"/>
            <a:ext cx="8229600" cy="5029200"/>
          </a:xfrm>
        </p:spPr>
        <p:txBody>
          <a:bodyPr/>
          <a:lstStyle/>
          <a:p>
            <a:pPr marL="0" marR="0" indent="0">
              <a:spcBef>
                <a:spcPts val="0"/>
              </a:spcBef>
              <a:spcAft>
                <a:spcPts val="0"/>
              </a:spcAft>
              <a:buNone/>
            </a:pP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Person { </a:t>
            </a:r>
          </a:p>
          <a:p>
            <a:pPr marL="0" marR="0" indent="0">
              <a:spcBef>
                <a:spcPts val="0"/>
              </a:spcBef>
              <a:spcAft>
                <a:spcPts val="0"/>
              </a:spcAft>
              <a:buNone/>
            </a:pP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message()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System.</a:t>
            </a:r>
            <a:r>
              <a:rPr lang="en-IN" sz="1600" b="1" i="1" dirty="0" err="1">
                <a:solidFill>
                  <a:srgbClr val="0000C0"/>
                </a:solidFill>
                <a:effectLst/>
                <a:latin typeface="Menlo" panose="020B0609030804020204" pitchFamily="49" charset="0"/>
              </a:rPr>
              <a:t>out</a:t>
            </a:r>
            <a:r>
              <a:rPr lang="en-IN" sz="1600" dirty="0" err="1">
                <a:solidFill>
                  <a:srgbClr val="000000"/>
                </a:solidFill>
                <a:effectLst/>
                <a:latin typeface="Menlo" panose="020B0609030804020204" pitchFamily="49" charset="0"/>
              </a:rPr>
              <a:t>.println</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"This is person class\n"</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Student </a:t>
            </a:r>
            <a:r>
              <a:rPr lang="en-IN" sz="1600" b="1" dirty="0">
                <a:solidFill>
                  <a:srgbClr val="7F0055"/>
                </a:solidFill>
                <a:effectLst/>
                <a:latin typeface="Menlo" panose="020B0609030804020204" pitchFamily="49" charset="0"/>
              </a:rPr>
              <a:t>extends</a:t>
            </a:r>
            <a:r>
              <a:rPr lang="en-IN" sz="1600" dirty="0">
                <a:solidFill>
                  <a:srgbClr val="000000"/>
                </a:solidFill>
                <a:effectLst/>
                <a:latin typeface="Menlo" panose="020B0609030804020204" pitchFamily="49" charset="0"/>
              </a:rPr>
              <a:t> Person { </a:t>
            </a:r>
          </a:p>
          <a:p>
            <a:pPr marL="0" marR="0" indent="0">
              <a:spcBef>
                <a:spcPts val="0"/>
              </a:spcBef>
              <a:spcAft>
                <a:spcPts val="0"/>
              </a:spcAft>
              <a:buNone/>
            </a:pP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message()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System.</a:t>
            </a:r>
            <a:r>
              <a:rPr lang="en-IN" sz="1600" b="1" i="1" dirty="0" err="1">
                <a:solidFill>
                  <a:srgbClr val="0000C0"/>
                </a:solidFill>
                <a:effectLst/>
                <a:latin typeface="Menlo" panose="020B0609030804020204" pitchFamily="49" charset="0"/>
              </a:rPr>
              <a:t>out</a:t>
            </a:r>
            <a:r>
              <a:rPr lang="en-IN" sz="1600" dirty="0" err="1">
                <a:solidFill>
                  <a:srgbClr val="000000"/>
                </a:solidFill>
                <a:effectLst/>
                <a:latin typeface="Menlo" panose="020B0609030804020204" pitchFamily="49" charset="0"/>
              </a:rPr>
              <a:t>.println</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"This is student class"</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3F7F5F"/>
                </a:solidFill>
                <a:effectLst/>
                <a:latin typeface="Menlo" panose="020B0609030804020204" pitchFamily="49" charset="0"/>
              </a:rPr>
              <a:t>// Note that display() is only in Student class </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display()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message(); </a:t>
            </a:r>
            <a:r>
              <a:rPr lang="en-IN" sz="1600" dirty="0">
                <a:solidFill>
                  <a:srgbClr val="3F7F5F"/>
                </a:solidFill>
                <a:effectLst/>
                <a:latin typeface="Menlo" panose="020B0609030804020204" pitchFamily="49" charset="0"/>
              </a:rPr>
              <a:t>//call current class message() method  </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b="1" dirty="0" err="1">
                <a:solidFill>
                  <a:srgbClr val="7F0055"/>
                </a:solidFill>
                <a:effectLst/>
                <a:latin typeface="Menlo" panose="020B0609030804020204" pitchFamily="49" charset="0"/>
              </a:rPr>
              <a:t>super</a:t>
            </a:r>
            <a:r>
              <a:rPr lang="en-IN" sz="1600" dirty="0" err="1">
                <a:solidFill>
                  <a:srgbClr val="000000"/>
                </a:solidFill>
                <a:effectLst/>
                <a:latin typeface="Menlo" panose="020B0609030804020204" pitchFamily="49" charset="0"/>
              </a:rPr>
              <a:t>.message</a:t>
            </a:r>
            <a:r>
              <a:rPr lang="en-IN" sz="1600" dirty="0">
                <a:solidFill>
                  <a:srgbClr val="000000"/>
                </a:solidFill>
                <a:effectLst/>
                <a:latin typeface="Menlo" panose="020B0609030804020204" pitchFamily="49" charset="0"/>
              </a:rPr>
              <a:t>(); </a:t>
            </a:r>
            <a:r>
              <a:rPr lang="en-IN" sz="1600" dirty="0">
                <a:solidFill>
                  <a:srgbClr val="3F7F5F"/>
                </a:solidFill>
                <a:effectLst/>
                <a:latin typeface="Menlo" panose="020B0609030804020204" pitchFamily="49" charset="0"/>
              </a:rPr>
              <a:t>//call parent class message() method</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3F7F5F"/>
                </a:solidFill>
                <a:effectLst/>
                <a:latin typeface="Menlo" panose="020B0609030804020204" pitchFamily="49" charset="0"/>
              </a:rPr>
              <a:t>//Driver Program </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Test { </a:t>
            </a:r>
          </a:p>
          <a:p>
            <a:pPr marL="0" marR="0" indent="0">
              <a:spcBef>
                <a:spcPts val="0"/>
              </a:spcBef>
              <a:spcAft>
                <a:spcPts val="0"/>
              </a:spcAft>
              <a:buNone/>
            </a:pPr>
            <a:r>
              <a:rPr lang="en-IN" sz="1600" b="1" dirty="0">
                <a:solidFill>
                  <a:srgbClr val="7F0055"/>
                </a:solidFill>
                <a:effectLst/>
                <a:latin typeface="Menlo" panose="020B0609030804020204" pitchFamily="49" charset="0"/>
              </a:rPr>
              <a:t>public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static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main(String </a:t>
            </a:r>
            <a:r>
              <a:rPr lang="en-IN" sz="1600" dirty="0" err="1">
                <a:solidFill>
                  <a:srgbClr val="6A3E3E"/>
                </a:solidFill>
                <a:effectLst/>
                <a:latin typeface="Menlo" panose="020B0609030804020204" pitchFamily="49" charset="0"/>
              </a:rPr>
              <a:t>args</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Student </a:t>
            </a:r>
            <a:r>
              <a:rPr lang="en-IN" sz="1600" dirty="0">
                <a:solidFill>
                  <a:srgbClr val="6A3E3E"/>
                </a:solidFill>
                <a:effectLst/>
                <a:latin typeface="Menlo" panose="020B0609030804020204" pitchFamily="49" charset="0"/>
              </a:rPr>
              <a:t>s</a:t>
            </a:r>
            <a:r>
              <a:rPr lang="en-IN" sz="1600" dirty="0">
                <a:solidFill>
                  <a:srgbClr val="000000"/>
                </a:solidFill>
                <a:effectLst/>
                <a:latin typeface="Menlo" panose="020B0609030804020204" pitchFamily="49" charset="0"/>
              </a:rPr>
              <a:t> = </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Student(); </a:t>
            </a:r>
          </a:p>
          <a:p>
            <a:pPr marL="0" marR="0" indent="0">
              <a:spcBef>
                <a:spcPts val="0"/>
              </a:spcBef>
              <a:spcAft>
                <a:spcPts val="0"/>
              </a:spcAft>
              <a:buNone/>
            </a:pPr>
            <a:r>
              <a:rPr lang="en-IN" sz="1600" dirty="0" err="1">
                <a:solidFill>
                  <a:srgbClr val="6A3E3E"/>
                </a:solidFill>
                <a:effectLst/>
                <a:latin typeface="Menlo" panose="020B0609030804020204" pitchFamily="49" charset="0"/>
              </a:rPr>
              <a:t>s</a:t>
            </a:r>
            <a:r>
              <a:rPr lang="en-IN" sz="1600" dirty="0" err="1">
                <a:solidFill>
                  <a:srgbClr val="000000"/>
                </a:solidFill>
                <a:effectLst/>
                <a:latin typeface="Menlo" panose="020B0609030804020204" pitchFamily="49" charset="0"/>
              </a:rPr>
              <a:t>.display</a:t>
            </a:r>
            <a:r>
              <a:rPr lang="en-IN" sz="1600" dirty="0">
                <a:solidFill>
                  <a:srgbClr val="000000"/>
                </a:solidFill>
                <a:effectLst/>
                <a:latin typeface="Menlo" panose="020B0609030804020204" pitchFamily="49" charset="0"/>
              </a:rPr>
              <a:t>(); </a:t>
            </a:r>
            <a:r>
              <a:rPr lang="en-IN" sz="1600" dirty="0">
                <a:solidFill>
                  <a:srgbClr val="3F7F5F"/>
                </a:solidFill>
                <a:effectLst/>
                <a:latin typeface="Menlo" panose="020B0609030804020204" pitchFamily="49" charset="0"/>
              </a:rPr>
              <a:t>// calling display() of Student </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a:t>
            </a:r>
          </a:p>
        </p:txBody>
      </p:sp>
      <p:sp>
        <p:nvSpPr>
          <p:cNvPr id="4" name="Footer Placeholder 3">
            <a:extLst>
              <a:ext uri="{FF2B5EF4-FFF2-40B4-BE49-F238E27FC236}">
                <a16:creationId xmlns:a16="http://schemas.microsoft.com/office/drawing/2014/main" id="{9C66ADA0-BC92-E9D6-BAB6-477F6352C3EB}"/>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8476835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A0572-D265-2847-A2D7-50521CE4D3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714D007-2382-57BF-9EA6-B00E1BCD6DE6}"/>
              </a:ext>
            </a:extLst>
          </p:cNvPr>
          <p:cNvSpPr>
            <a:spLocks noGrp="1"/>
          </p:cNvSpPr>
          <p:nvPr>
            <p:ph idx="1"/>
          </p:nvPr>
        </p:nvSpPr>
        <p:spPr/>
        <p:txBody>
          <a:bodyPr/>
          <a:lstStyle/>
          <a:p>
            <a:pPr marL="0" marR="0" indent="0">
              <a:spcBef>
                <a:spcPts val="0"/>
              </a:spcBef>
              <a:spcAft>
                <a:spcPts val="0"/>
              </a:spcAft>
              <a:buNone/>
            </a:pP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Person { </a:t>
            </a:r>
          </a:p>
          <a:p>
            <a:pPr marL="0" marR="0" indent="0">
              <a:spcBef>
                <a:spcPts val="0"/>
              </a:spcBef>
              <a:spcAft>
                <a:spcPts val="0"/>
              </a:spcAft>
              <a:buNone/>
            </a:pPr>
            <a:r>
              <a:rPr lang="en-IN" sz="1600" dirty="0">
                <a:solidFill>
                  <a:srgbClr val="000000"/>
                </a:solidFill>
                <a:effectLst/>
                <a:latin typeface="Menlo" panose="020B0609030804020204" pitchFamily="49" charset="0"/>
              </a:rPr>
              <a:t>Person()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System.</a:t>
            </a:r>
            <a:r>
              <a:rPr lang="en-IN" sz="1600" b="1" i="1" dirty="0" err="1">
                <a:solidFill>
                  <a:srgbClr val="0000C0"/>
                </a:solidFill>
                <a:effectLst/>
                <a:latin typeface="Menlo" panose="020B0609030804020204" pitchFamily="49" charset="0"/>
              </a:rPr>
              <a:t>out</a:t>
            </a:r>
            <a:r>
              <a:rPr lang="en-IN" sz="1600" dirty="0" err="1">
                <a:solidFill>
                  <a:srgbClr val="000000"/>
                </a:solidFill>
                <a:effectLst/>
                <a:latin typeface="Menlo" panose="020B0609030804020204" pitchFamily="49" charset="0"/>
              </a:rPr>
              <a:t>.println</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"Person class Constructor"</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3F7F5F"/>
                </a:solidFill>
                <a:effectLst/>
                <a:latin typeface="Menlo" panose="020B0609030804020204" pitchFamily="49" charset="0"/>
              </a:rPr>
              <a:t>//subclass Student extending the Person class </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Student </a:t>
            </a:r>
            <a:r>
              <a:rPr lang="en-IN" sz="1600" b="1" dirty="0">
                <a:solidFill>
                  <a:srgbClr val="7F0055"/>
                </a:solidFill>
                <a:effectLst/>
                <a:latin typeface="Menlo" panose="020B0609030804020204" pitchFamily="49" charset="0"/>
              </a:rPr>
              <a:t>extends</a:t>
            </a:r>
            <a:r>
              <a:rPr lang="en-IN" sz="1600" dirty="0">
                <a:solidFill>
                  <a:srgbClr val="000000"/>
                </a:solidFill>
                <a:effectLst/>
                <a:latin typeface="Menlo" panose="020B0609030804020204" pitchFamily="49" charset="0"/>
              </a:rPr>
              <a:t> Person { </a:t>
            </a:r>
          </a:p>
          <a:p>
            <a:pPr marL="0" marR="0" indent="0">
              <a:spcBef>
                <a:spcPts val="0"/>
              </a:spcBef>
              <a:spcAft>
                <a:spcPts val="0"/>
              </a:spcAft>
              <a:buNone/>
            </a:pPr>
            <a:r>
              <a:rPr lang="en-IN" sz="1600" dirty="0">
                <a:solidFill>
                  <a:srgbClr val="000000"/>
                </a:solidFill>
                <a:effectLst/>
                <a:latin typeface="Menlo" panose="020B0609030804020204" pitchFamily="49" charset="0"/>
              </a:rPr>
              <a:t>Student()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3F7F5F"/>
                </a:solidFill>
                <a:effectLst/>
                <a:latin typeface="Menlo" panose="020B0609030804020204" pitchFamily="49" charset="0"/>
              </a:rPr>
              <a:t>// invoke or call parent class constructor </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b="1" dirty="0">
                <a:solidFill>
                  <a:srgbClr val="7F0055"/>
                </a:solidFill>
                <a:effectLst/>
                <a:latin typeface="Menlo" panose="020B0609030804020204" pitchFamily="49" charset="0"/>
              </a:rPr>
              <a:t>super</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err="1">
                <a:solidFill>
                  <a:srgbClr val="000000"/>
                </a:solidFill>
                <a:effectLst/>
                <a:latin typeface="Menlo" panose="020B0609030804020204" pitchFamily="49" charset="0"/>
              </a:rPr>
              <a:t>System.</a:t>
            </a:r>
            <a:r>
              <a:rPr lang="en-IN" sz="1600" b="1" i="1" dirty="0" err="1">
                <a:solidFill>
                  <a:srgbClr val="0000C0"/>
                </a:solidFill>
                <a:effectLst/>
                <a:latin typeface="Menlo" panose="020B0609030804020204" pitchFamily="49" charset="0"/>
              </a:rPr>
              <a:t>out</a:t>
            </a:r>
            <a:r>
              <a:rPr lang="en-IN" sz="1600" dirty="0" err="1">
                <a:solidFill>
                  <a:srgbClr val="000000"/>
                </a:solidFill>
                <a:effectLst/>
                <a:latin typeface="Menlo" panose="020B0609030804020204" pitchFamily="49" charset="0"/>
              </a:rPr>
              <a:t>.println</a:t>
            </a:r>
            <a:r>
              <a:rPr lang="en-IN" sz="1600" dirty="0">
                <a:solidFill>
                  <a:srgbClr val="000000"/>
                </a:solidFill>
                <a:effectLst/>
                <a:latin typeface="Menlo" panose="020B0609030804020204" pitchFamily="49" charset="0"/>
              </a:rPr>
              <a:t>(</a:t>
            </a:r>
            <a:r>
              <a:rPr lang="en-IN" sz="1600" dirty="0">
                <a:solidFill>
                  <a:srgbClr val="2A00FF"/>
                </a:solidFill>
                <a:effectLst/>
                <a:latin typeface="Menlo" panose="020B0609030804020204" pitchFamily="49" charset="0"/>
              </a:rPr>
              <a:t>"Student class Constructor"</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3F7F5F"/>
                </a:solidFill>
                <a:effectLst/>
                <a:latin typeface="Menlo" panose="020B0609030804020204" pitchFamily="49" charset="0"/>
              </a:rPr>
              <a:t>//Driver Program </a:t>
            </a:r>
            <a:endParaRPr lang="en-IN" sz="1600" dirty="0">
              <a:solidFill>
                <a:srgbClr val="000000"/>
              </a:solidFill>
              <a:effectLst/>
              <a:latin typeface="Menlo" panose="020B0609030804020204" pitchFamily="49" charset="0"/>
            </a:endParaRPr>
          </a:p>
          <a:p>
            <a:pPr marL="0" marR="0" indent="0">
              <a:spcBef>
                <a:spcPts val="0"/>
              </a:spcBef>
              <a:spcAft>
                <a:spcPts val="0"/>
              </a:spcAft>
              <a:buNone/>
            </a:pPr>
            <a:r>
              <a:rPr lang="en-IN" sz="1600" b="1" dirty="0">
                <a:solidFill>
                  <a:srgbClr val="7F0055"/>
                </a:solidFill>
                <a:effectLst/>
                <a:latin typeface="Menlo" panose="020B0609030804020204" pitchFamily="49" charset="0"/>
              </a:rPr>
              <a:t>class</a:t>
            </a:r>
            <a:r>
              <a:rPr lang="en-IN" sz="1600" dirty="0">
                <a:solidFill>
                  <a:srgbClr val="000000"/>
                </a:solidFill>
                <a:effectLst/>
                <a:latin typeface="Menlo" panose="020B0609030804020204" pitchFamily="49" charset="0"/>
              </a:rPr>
              <a:t> Test { </a:t>
            </a:r>
          </a:p>
          <a:p>
            <a:pPr marL="0" marR="0" indent="0">
              <a:spcBef>
                <a:spcPts val="0"/>
              </a:spcBef>
              <a:spcAft>
                <a:spcPts val="0"/>
              </a:spcAft>
              <a:buNone/>
            </a:pPr>
            <a:r>
              <a:rPr lang="en-IN" sz="1600" b="1" dirty="0">
                <a:solidFill>
                  <a:srgbClr val="7F0055"/>
                </a:solidFill>
                <a:effectLst/>
                <a:latin typeface="Menlo" panose="020B0609030804020204" pitchFamily="49" charset="0"/>
              </a:rPr>
              <a:t>public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static</a:t>
            </a:r>
            <a:r>
              <a:rPr lang="en-IN" sz="1600" dirty="0">
                <a:solidFill>
                  <a:srgbClr val="000000"/>
                </a:solidFill>
                <a:effectLst/>
                <a:latin typeface="Menlo" panose="020B0609030804020204" pitchFamily="49" charset="0"/>
              </a:rPr>
              <a:t> </a:t>
            </a:r>
            <a:r>
              <a:rPr lang="en-IN" sz="1600" b="1" dirty="0">
                <a:solidFill>
                  <a:srgbClr val="7F0055"/>
                </a:solidFill>
                <a:effectLst/>
                <a:latin typeface="Menlo" panose="020B0609030804020204" pitchFamily="49" charset="0"/>
              </a:rPr>
              <a:t>void</a:t>
            </a:r>
            <a:r>
              <a:rPr lang="en-IN" sz="1600" dirty="0">
                <a:solidFill>
                  <a:srgbClr val="000000"/>
                </a:solidFill>
                <a:effectLst/>
                <a:latin typeface="Menlo" panose="020B0609030804020204" pitchFamily="49" charset="0"/>
              </a:rPr>
              <a:t> main(String[] </a:t>
            </a:r>
            <a:r>
              <a:rPr lang="en-IN" sz="1600" dirty="0" err="1">
                <a:solidFill>
                  <a:srgbClr val="6A3E3E"/>
                </a:solidFill>
                <a:effectLst/>
                <a:latin typeface="Menlo" panose="020B0609030804020204" pitchFamily="49" charset="0"/>
              </a:rPr>
              <a:t>args</a:t>
            </a: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Student </a:t>
            </a:r>
            <a:r>
              <a:rPr lang="en-IN" sz="1600" u="sng" dirty="0">
                <a:solidFill>
                  <a:srgbClr val="6A3E3E"/>
                </a:solidFill>
                <a:effectLst/>
                <a:latin typeface="Menlo" panose="020B0609030804020204" pitchFamily="49" charset="0"/>
              </a:rPr>
              <a:t>s</a:t>
            </a:r>
            <a:r>
              <a:rPr lang="en-IN" sz="1600" dirty="0">
                <a:solidFill>
                  <a:srgbClr val="000000"/>
                </a:solidFill>
                <a:effectLst/>
                <a:latin typeface="Menlo" panose="020B0609030804020204" pitchFamily="49" charset="0"/>
              </a:rPr>
              <a:t> = </a:t>
            </a:r>
            <a:r>
              <a:rPr lang="en-IN" sz="1600" b="1" dirty="0">
                <a:solidFill>
                  <a:srgbClr val="7F0055"/>
                </a:solidFill>
                <a:effectLst/>
                <a:latin typeface="Menlo" panose="020B0609030804020204" pitchFamily="49" charset="0"/>
              </a:rPr>
              <a:t>new</a:t>
            </a:r>
            <a:r>
              <a:rPr lang="en-IN" sz="1600" dirty="0">
                <a:solidFill>
                  <a:srgbClr val="000000"/>
                </a:solidFill>
                <a:effectLst/>
                <a:latin typeface="Menlo" panose="020B0609030804020204" pitchFamily="49" charset="0"/>
              </a:rPr>
              <a:t> Student(); </a:t>
            </a:r>
          </a:p>
          <a:p>
            <a:pPr marL="0" marR="0" indent="0">
              <a:spcBef>
                <a:spcPts val="0"/>
              </a:spcBef>
              <a:spcAft>
                <a:spcPts val="0"/>
              </a:spcAft>
              <a:buNone/>
            </a:pPr>
            <a:r>
              <a:rPr lang="en-IN" sz="1600" dirty="0">
                <a:solidFill>
                  <a:srgbClr val="000000"/>
                </a:solidFill>
                <a:effectLst/>
                <a:latin typeface="Menlo" panose="020B0609030804020204" pitchFamily="49" charset="0"/>
              </a:rPr>
              <a:t>} </a:t>
            </a:r>
          </a:p>
          <a:p>
            <a:pPr marL="0" marR="0" indent="0">
              <a:spcBef>
                <a:spcPts val="0"/>
              </a:spcBef>
              <a:spcAft>
                <a:spcPts val="0"/>
              </a:spcAft>
              <a:buNone/>
            </a:pPr>
            <a:r>
              <a:rPr lang="en-IN" sz="1600" dirty="0">
                <a:solidFill>
                  <a:srgbClr val="000000"/>
                </a:solidFill>
                <a:effectLst/>
                <a:latin typeface="Menlo" panose="020B0609030804020204" pitchFamily="49" charset="0"/>
              </a:rPr>
              <a:t>}</a:t>
            </a:r>
          </a:p>
        </p:txBody>
      </p:sp>
      <p:sp>
        <p:nvSpPr>
          <p:cNvPr id="4" name="Footer Placeholder 3">
            <a:extLst>
              <a:ext uri="{FF2B5EF4-FFF2-40B4-BE49-F238E27FC236}">
                <a16:creationId xmlns:a16="http://schemas.microsoft.com/office/drawing/2014/main" id="{0E65853B-2BB9-D316-6050-D23EE8827915}"/>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18380766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C78A5-99B0-82AE-E06C-A69C35D6C378}"/>
              </a:ext>
            </a:extLst>
          </p:cNvPr>
          <p:cNvSpPr>
            <a:spLocks noGrp="1"/>
          </p:cNvSpPr>
          <p:nvPr>
            <p:ph type="title"/>
          </p:nvPr>
        </p:nvSpPr>
        <p:spPr/>
        <p:txBody>
          <a:bodyPr/>
          <a:lstStyle/>
          <a:p>
            <a:r>
              <a:rPr lang="en-IN" sz="3600" b="1" i="0" dirty="0">
                <a:solidFill>
                  <a:schemeClr val="tx1"/>
                </a:solidFill>
                <a:effectLst/>
                <a:latin typeface="Nunito" pitchFamily="2" charset="77"/>
              </a:rPr>
              <a:t>Advantages of Super Keyword</a:t>
            </a:r>
            <a:endParaRPr lang="en-US" sz="3600" dirty="0"/>
          </a:p>
        </p:txBody>
      </p:sp>
      <p:sp>
        <p:nvSpPr>
          <p:cNvPr id="3" name="Content Placeholder 2">
            <a:extLst>
              <a:ext uri="{FF2B5EF4-FFF2-40B4-BE49-F238E27FC236}">
                <a16:creationId xmlns:a16="http://schemas.microsoft.com/office/drawing/2014/main" id="{26E5D9B7-83B3-FD72-D991-FDBB01BE87CF}"/>
              </a:ext>
            </a:extLst>
          </p:cNvPr>
          <p:cNvSpPr>
            <a:spLocks noGrp="1"/>
          </p:cNvSpPr>
          <p:nvPr>
            <p:ph idx="1"/>
          </p:nvPr>
        </p:nvSpPr>
        <p:spPr/>
        <p:txBody>
          <a:bodyPr/>
          <a:lstStyle/>
          <a:p>
            <a:pPr algn="l" fontAlgn="base">
              <a:buFont typeface="Arial" panose="020B0604020202020204" pitchFamily="34" charset="0"/>
              <a:buChar char="•"/>
            </a:pPr>
            <a:r>
              <a:rPr lang="en-IN" sz="1600" b="1" i="0" dirty="0">
                <a:solidFill>
                  <a:schemeClr val="tx1"/>
                </a:solidFill>
                <a:effectLst/>
                <a:latin typeface="Nunito" pitchFamily="2" charset="77"/>
              </a:rPr>
              <a:t>Enables reuse of code</a:t>
            </a:r>
            <a:r>
              <a:rPr lang="en-IN" sz="1600" b="0" i="0" dirty="0">
                <a:solidFill>
                  <a:schemeClr val="tx1"/>
                </a:solidFill>
                <a:effectLst/>
                <a:latin typeface="Nunito" pitchFamily="2" charset="77"/>
              </a:rPr>
              <a:t>: </a:t>
            </a:r>
          </a:p>
          <a:p>
            <a:pPr algn="l" fontAlgn="base">
              <a:buFont typeface="Arial" panose="020B0604020202020204" pitchFamily="34" charset="0"/>
              <a:buChar char="•"/>
            </a:pPr>
            <a:r>
              <a:rPr lang="en-IN" sz="1600" b="0" i="0" dirty="0">
                <a:solidFill>
                  <a:schemeClr val="tx1"/>
                </a:solidFill>
                <a:effectLst/>
                <a:latin typeface="Nunito" pitchFamily="2" charset="77"/>
              </a:rPr>
              <a:t>Using the super keyword allows subclasses to inherit functionality from their parent classes, which promotes the reuse of code and reduces duplication.</a:t>
            </a:r>
          </a:p>
          <a:p>
            <a:pPr algn="l" fontAlgn="base">
              <a:buFont typeface="Arial" panose="020B0604020202020204" pitchFamily="34" charset="0"/>
              <a:buChar char="•"/>
            </a:pPr>
            <a:r>
              <a:rPr lang="en-IN" sz="1600" b="1" i="0" dirty="0">
                <a:solidFill>
                  <a:schemeClr val="tx1"/>
                </a:solidFill>
                <a:effectLst/>
                <a:latin typeface="Nunito" pitchFamily="2" charset="77"/>
              </a:rPr>
              <a:t>Supports polymorphism</a:t>
            </a:r>
            <a:r>
              <a:rPr lang="en-IN" sz="1600" b="0" i="0" dirty="0">
                <a:solidFill>
                  <a:schemeClr val="tx1"/>
                </a:solidFill>
                <a:effectLst/>
                <a:latin typeface="Nunito" pitchFamily="2" charset="77"/>
              </a:rPr>
              <a:t>: </a:t>
            </a:r>
          </a:p>
          <a:p>
            <a:pPr algn="l" fontAlgn="base">
              <a:buFont typeface="Arial" panose="020B0604020202020204" pitchFamily="34" charset="0"/>
              <a:buChar char="•"/>
            </a:pPr>
            <a:r>
              <a:rPr lang="en-IN" sz="1600" b="0" i="0" dirty="0">
                <a:solidFill>
                  <a:schemeClr val="tx1"/>
                </a:solidFill>
                <a:effectLst/>
                <a:latin typeface="Nunito" pitchFamily="2" charset="77"/>
              </a:rPr>
              <a:t>Because subclasses can override methods and access fields from their parent classes using super, polymorphism is possible. This allows for more flexible and extensible code.</a:t>
            </a:r>
          </a:p>
          <a:p>
            <a:pPr algn="l" fontAlgn="base">
              <a:buFont typeface="Arial" panose="020B0604020202020204" pitchFamily="34" charset="0"/>
              <a:buChar char="•"/>
            </a:pPr>
            <a:r>
              <a:rPr lang="en-IN" sz="1600" b="1" i="0" dirty="0">
                <a:solidFill>
                  <a:schemeClr val="tx1"/>
                </a:solidFill>
                <a:effectLst/>
                <a:latin typeface="Nunito" pitchFamily="2" charset="77"/>
              </a:rPr>
              <a:t>Provides access to parent class behaviour</a:t>
            </a:r>
            <a:r>
              <a:rPr lang="en-IN" sz="1600" b="0" i="0" dirty="0">
                <a:solidFill>
                  <a:schemeClr val="tx1"/>
                </a:solidFill>
                <a:effectLst/>
                <a:latin typeface="Nunito" pitchFamily="2" charset="77"/>
              </a:rPr>
              <a:t>: </a:t>
            </a:r>
          </a:p>
          <a:p>
            <a:pPr algn="l" fontAlgn="base">
              <a:buFont typeface="Arial" panose="020B0604020202020204" pitchFamily="34" charset="0"/>
              <a:buChar char="•"/>
            </a:pPr>
            <a:r>
              <a:rPr lang="en-IN" sz="1600" b="0" i="0" dirty="0">
                <a:solidFill>
                  <a:schemeClr val="tx1"/>
                </a:solidFill>
                <a:effectLst/>
                <a:latin typeface="Nunito" pitchFamily="2" charset="77"/>
              </a:rPr>
              <a:t>Subclasses can access and use methods and fields defined in their parent classes through the super keyword, which allows them to take advantage of existing behaviour without having to reimplement it.</a:t>
            </a:r>
          </a:p>
          <a:p>
            <a:pPr algn="l" fontAlgn="base">
              <a:buFont typeface="Arial" panose="020B0604020202020204" pitchFamily="34" charset="0"/>
              <a:buChar char="•"/>
            </a:pPr>
            <a:r>
              <a:rPr lang="en-IN" sz="1600" b="1" i="0" dirty="0">
                <a:solidFill>
                  <a:schemeClr val="tx1"/>
                </a:solidFill>
                <a:effectLst/>
                <a:latin typeface="Nunito" pitchFamily="2" charset="77"/>
              </a:rPr>
              <a:t>Allows for customization of behaviour:</a:t>
            </a:r>
            <a:r>
              <a:rPr lang="en-IN" sz="1600" b="0" i="0" dirty="0">
                <a:solidFill>
                  <a:schemeClr val="tx1"/>
                </a:solidFill>
                <a:effectLst/>
                <a:latin typeface="Nunito" pitchFamily="2" charset="77"/>
              </a:rPr>
              <a:t> </a:t>
            </a:r>
          </a:p>
          <a:p>
            <a:pPr algn="l" fontAlgn="base">
              <a:buFont typeface="Arial" panose="020B0604020202020204" pitchFamily="34" charset="0"/>
              <a:buChar char="•"/>
            </a:pPr>
            <a:r>
              <a:rPr lang="en-IN" sz="1600" b="0" i="0" dirty="0">
                <a:solidFill>
                  <a:schemeClr val="tx1"/>
                </a:solidFill>
                <a:effectLst/>
                <a:latin typeface="Nunito" pitchFamily="2" charset="77"/>
              </a:rPr>
              <a:t>By overriding methods and using super to call the parent implementation, subclasses can customize and extend the behaviour of their parent classes.</a:t>
            </a:r>
          </a:p>
          <a:p>
            <a:pPr algn="l" fontAlgn="base">
              <a:buFont typeface="Arial" panose="020B0604020202020204" pitchFamily="34" charset="0"/>
              <a:buChar char="•"/>
            </a:pPr>
            <a:r>
              <a:rPr lang="en-IN" sz="1600" b="1" i="0" dirty="0">
                <a:solidFill>
                  <a:schemeClr val="tx1"/>
                </a:solidFill>
                <a:effectLst/>
                <a:latin typeface="Nunito" pitchFamily="2" charset="77"/>
              </a:rPr>
              <a:t>Facilitates abstraction and encapsulation:</a:t>
            </a:r>
            <a:r>
              <a:rPr lang="en-IN" sz="1600" b="0" i="0" dirty="0">
                <a:solidFill>
                  <a:schemeClr val="tx1"/>
                </a:solidFill>
                <a:effectLst/>
                <a:latin typeface="Nunito" pitchFamily="2" charset="77"/>
              </a:rPr>
              <a:t> </a:t>
            </a:r>
          </a:p>
          <a:p>
            <a:pPr algn="l" fontAlgn="base">
              <a:buFont typeface="Arial" panose="020B0604020202020204" pitchFamily="34" charset="0"/>
              <a:buChar char="•"/>
            </a:pPr>
            <a:r>
              <a:rPr lang="en-IN" sz="1600" b="0" i="0" dirty="0">
                <a:solidFill>
                  <a:schemeClr val="tx1"/>
                </a:solidFill>
                <a:effectLst/>
                <a:latin typeface="Nunito" pitchFamily="2" charset="77"/>
              </a:rPr>
              <a:t>The use of super promotes encapsulation and abstraction by allowing subclasses to focus on their behaviour while relying on the parent class to handle lower-level details.</a:t>
            </a:r>
          </a:p>
        </p:txBody>
      </p:sp>
      <p:sp>
        <p:nvSpPr>
          <p:cNvPr id="4" name="Footer Placeholder 3">
            <a:extLst>
              <a:ext uri="{FF2B5EF4-FFF2-40B4-BE49-F238E27FC236}">
                <a16:creationId xmlns:a16="http://schemas.microsoft.com/office/drawing/2014/main" id="{7F50EF39-D694-1BB6-B78A-60B8E4911031}"/>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8034563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0C1B5-9270-260C-5E79-72644D93B685}"/>
              </a:ext>
            </a:extLst>
          </p:cNvPr>
          <p:cNvSpPr>
            <a:spLocks noGrp="1"/>
          </p:cNvSpPr>
          <p:nvPr>
            <p:ph type="title"/>
          </p:nvPr>
        </p:nvSpPr>
        <p:spPr/>
        <p:txBody>
          <a:bodyPr/>
          <a:lstStyle/>
          <a:p>
            <a:r>
              <a:rPr lang="en-US" dirty="0"/>
              <a:t>Anonymous Class</a:t>
            </a:r>
          </a:p>
        </p:txBody>
      </p:sp>
      <p:sp>
        <p:nvSpPr>
          <p:cNvPr id="3" name="Content Placeholder 2">
            <a:extLst>
              <a:ext uri="{FF2B5EF4-FFF2-40B4-BE49-F238E27FC236}">
                <a16:creationId xmlns:a16="http://schemas.microsoft.com/office/drawing/2014/main" id="{FB3EEE99-C103-38BF-7A8C-E9987F1EC62D}"/>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4FE877C7-9F78-2C38-6C2C-A0E0A60C383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48184187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2311C-2327-45BA-8A94-AB7E0F949BF0}"/>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5F0F73F3-0445-4917-8154-FA39514F8269}"/>
              </a:ext>
            </a:extLst>
          </p:cNvPr>
          <p:cNvSpPr>
            <a:spLocks noGrp="1"/>
          </p:cNvSpPr>
          <p:nvPr>
            <p:ph idx="1"/>
          </p:nvPr>
        </p:nvSpPr>
        <p:spPr>
          <a:xfrm>
            <a:off x="457200" y="1869440"/>
            <a:ext cx="8229600" cy="2966720"/>
          </a:xfrm>
        </p:spPr>
        <p:txBody>
          <a:bodyPr/>
          <a:lstStyle/>
          <a:p>
            <a:pPr marL="0" indent="0" algn="ctr">
              <a:buNone/>
            </a:pPr>
            <a:r>
              <a:rPr lang="en-IN" sz="6600" dirty="0">
                <a:solidFill>
                  <a:srgbClr val="002060"/>
                </a:solidFill>
                <a:latin typeface="Times New Roman" panose="02020603050405020304" pitchFamily="18" charset="0"/>
                <a:cs typeface="Times New Roman" panose="02020603050405020304" pitchFamily="18" charset="0"/>
              </a:rPr>
              <a:t>THANK</a:t>
            </a:r>
          </a:p>
          <a:p>
            <a:pPr marL="0" indent="0" algn="ctr">
              <a:buNone/>
            </a:pPr>
            <a:r>
              <a:rPr lang="en-IN" sz="6600" dirty="0">
                <a:solidFill>
                  <a:srgbClr val="002060"/>
                </a:solidFill>
                <a:latin typeface="Times New Roman" panose="02020603050405020304" pitchFamily="18" charset="0"/>
                <a:cs typeface="Times New Roman" panose="02020603050405020304" pitchFamily="18" charset="0"/>
              </a:rPr>
              <a:t>YOU</a:t>
            </a:r>
          </a:p>
        </p:txBody>
      </p:sp>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1000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klu">
  <a:themeElements>
    <a:clrScheme name="Custom 4">
      <a:dk1>
        <a:sysClr val="windowText" lastClr="000000"/>
      </a:dk1>
      <a:lt1>
        <a:sysClr val="window" lastClr="FFFFFF"/>
      </a:lt1>
      <a:dk2>
        <a:srgbClr val="1F497D"/>
      </a:dk2>
      <a:lt2>
        <a:srgbClr val="EEECE1"/>
      </a:lt2>
      <a:accent1>
        <a:srgbClr val="000000"/>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56896</TotalTime>
  <Words>5821</Words>
  <Application>Microsoft Macintosh PowerPoint</Application>
  <PresentationFormat>On-screen Show (4:3)</PresentationFormat>
  <Paragraphs>923</Paragraphs>
  <Slides>77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77</vt:i4>
      </vt:variant>
    </vt:vector>
  </HeadingPairs>
  <TitlesOfParts>
    <vt:vector size="87" baseType="lpstr">
      <vt:lpstr>Arial</vt:lpstr>
      <vt:lpstr>Calibri</vt:lpstr>
      <vt:lpstr>Cambria</vt:lpstr>
      <vt:lpstr>CourierNewPS</vt:lpstr>
      <vt:lpstr>Menlo</vt:lpstr>
      <vt:lpstr>Nunito</vt:lpstr>
      <vt:lpstr>SymbolMT</vt:lpstr>
      <vt:lpstr>Times New Roman</vt:lpstr>
      <vt:lpstr>TimesNewRomanPS</vt:lpstr>
      <vt:lpstr>klu</vt:lpstr>
      <vt:lpstr> </vt:lpstr>
      <vt:lpstr>Data Hinding</vt:lpstr>
      <vt:lpstr>Abstraction</vt:lpstr>
      <vt:lpstr>Encapsulation</vt:lpstr>
      <vt:lpstr>PowerPoint Presentation</vt:lpstr>
      <vt:lpstr>Tightly Encapsulated Class</vt:lpstr>
      <vt:lpstr>PowerPoint Presentation</vt:lpstr>
      <vt:lpstr>Inheritance</vt:lpstr>
      <vt:lpstr>PowerPoint Presentation</vt:lpstr>
      <vt:lpstr>Interpretation</vt:lpstr>
      <vt:lpstr>PowerPoint Presentation</vt:lpstr>
      <vt:lpstr>PowerPoint Presentation</vt:lpstr>
      <vt:lpstr>PowerPoint Presentation</vt:lpstr>
      <vt:lpstr>PowerPoint Presentation</vt:lpstr>
      <vt:lpstr>Multiple Inheritance</vt:lpstr>
      <vt:lpstr>PowerPoint Presentation</vt:lpstr>
      <vt:lpstr>PowerPoint Presentation</vt:lpstr>
      <vt:lpstr>PowerPoint Presentation</vt:lpstr>
      <vt:lpstr>Cyclic Inheritance</vt:lpstr>
      <vt:lpstr>HAS-A Relationship</vt:lpstr>
      <vt:lpstr>Composition vs Aggregation:</vt:lpstr>
      <vt:lpstr>Aggregation</vt:lpstr>
      <vt:lpstr>PowerPoint Presentation</vt:lpstr>
      <vt:lpstr>Method Signature</vt:lpstr>
      <vt:lpstr>Polymorphism</vt:lpstr>
      <vt:lpstr>PowerPoint Presentation</vt:lpstr>
      <vt:lpstr>Most Important Features</vt:lpstr>
      <vt:lpstr>Method Overloading</vt:lpstr>
      <vt:lpstr>PowerPoint Presentation</vt:lpstr>
      <vt:lpstr>PowerPoint Presentation</vt:lpstr>
      <vt:lpstr>1. Example of Abstract Class that has Abstract method</vt:lpstr>
      <vt:lpstr>2. Abstract Class having constructor, data member, and methods</vt:lpstr>
      <vt:lpstr>PowerPoint Presentation</vt:lpstr>
      <vt:lpstr>Properties of Abstract class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Interface</vt:lpstr>
      <vt:lpstr>PowerPoint Presentation</vt:lpstr>
      <vt:lpstr>PowerPoint Presentation</vt:lpstr>
      <vt:lpstr>PowerPoint Presentation</vt:lpstr>
      <vt:lpstr>Class vs Interface</vt:lpstr>
      <vt:lpstr>PowerPoint Presentation</vt:lpstr>
      <vt:lpstr>Abstract Class vs Interface</vt:lpstr>
      <vt:lpstr>PowerPoint Presentation</vt:lpstr>
      <vt:lpstr>Abstract Class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Super keyword</vt:lpstr>
      <vt:lpstr>Characteristics of super</vt:lpstr>
      <vt:lpstr>PowerPoint Presentation</vt:lpstr>
      <vt:lpstr>PowerPoint Presentation</vt:lpstr>
      <vt:lpstr>PowerPoint Presentation</vt:lpstr>
      <vt:lpstr>PowerPoint Presentation</vt:lpstr>
      <vt:lpstr>PowerPoint Presentation</vt:lpstr>
      <vt:lpstr>Advantages of Super Keyword</vt:lpstr>
      <vt:lpstr>Anonymous Class</vt:lpstr>
      <vt:lpstr>                           </vt:lpstr>
    </vt:vector>
  </TitlesOfParts>
  <Company>FAMU-FSU College of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Extended Surfaces/Fins</dc:title>
  <dc:creator>C. Shih</dc:creator>
  <cp:lastModifiedBy>NAVEEN KUMAR</cp:lastModifiedBy>
  <cp:revision>1277</cp:revision>
  <cp:lastPrinted>1999-01-11T10:11:19Z</cp:lastPrinted>
  <dcterms:created xsi:type="dcterms:W3CDTF">1999-01-07T21:51:57Z</dcterms:created>
  <dcterms:modified xsi:type="dcterms:W3CDTF">2024-09-25T07:12:55Z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1</vt:i4>
  </property>
  <property fmtid="{D5CDD505-2E9C-101B-9397-08002B2CF9AE}" pid="7" name="MailAddress">
    <vt:lpwstr/>
  </property>
  <property fmtid="{D5CDD505-2E9C-101B-9397-08002B2CF9AE}" pid="8" name="HomePage">
    <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1</vt:i4>
  </property>
  <property fmtid="{D5CDD505-2E9C-101B-9397-08002B2CF9AE}" pid="19" name="ShowNotes">
    <vt:bool>false</vt:bool>
  </property>
  <property fmtid="{D5CDD505-2E9C-101B-9397-08002B2CF9AE}" pid="20" name="NavBtnPos">
    <vt:i4>1</vt:i4>
  </property>
  <property fmtid="{D5CDD505-2E9C-101B-9397-08002B2CF9AE}" pid="21" name="OutputDir">
    <vt:lpwstr>E:\public_html\eml3016\lecture-notes</vt:lpwstr>
  </property>
</Properties>
</file>