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Lst>
  <p:notesMasterIdLst>
    <p:notesMasterId r:id="rId16"/>
  </p:notesMasterIdLst>
  <p:sldIdLst>
    <p:sldId id="856" r:id="rId2"/>
    <p:sldId id="913" r:id="rId3"/>
    <p:sldId id="914" r:id="rId4"/>
    <p:sldId id="915" r:id="rId5"/>
    <p:sldId id="916" r:id="rId6"/>
    <p:sldId id="917" r:id="rId7"/>
    <p:sldId id="918" r:id="rId8"/>
    <p:sldId id="919" r:id="rId9"/>
    <p:sldId id="920" r:id="rId10"/>
    <p:sldId id="921" r:id="rId11"/>
    <p:sldId id="922" r:id="rId12"/>
    <p:sldId id="923" r:id="rId13"/>
    <p:sldId id="924" r:id="rId14"/>
    <p:sldId id="912" r:id="rId1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244" autoAdjust="0"/>
    <p:restoredTop sz="94560"/>
  </p:normalViewPr>
  <p:slideViewPr>
    <p:cSldViewPr snapToGrid="0">
      <p:cViewPr varScale="1">
        <p:scale>
          <a:sx n="102" d="100"/>
          <a:sy n="102" d="100"/>
        </p:scale>
        <p:origin x="1368" y="168"/>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C08F098-34A8-4532-9C69-38DECEB33B3C}" type="datetimeFigureOut">
              <a:rPr lang="en-US"/>
              <a:pPr>
                <a:defRPr/>
              </a:pPr>
              <a:t>10/28/24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31F2AAD-F00E-4B2B-A58E-1BBB4854317A}" type="slidenum">
              <a:rPr lang="en-US"/>
              <a:pPr>
                <a:defRPr/>
              </a:pPr>
              <a:t>‹#›</a:t>
            </a:fld>
            <a:endParaRPr lang="en-US"/>
          </a:p>
        </p:txBody>
      </p:sp>
    </p:spTree>
    <p:extLst>
      <p:ext uri="{BB962C8B-B14F-4D97-AF65-F5344CB8AC3E}">
        <p14:creationId xmlns:p14="http://schemas.microsoft.com/office/powerpoint/2010/main" val="14109185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D47EF12-65BD-7C4F-9F7B-34D4C4081BE4}" type="datetime2">
              <a:rPr lang="en-IN" smtClean="0"/>
              <a:t>Monday, 28 October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48B129DB-8D41-4066-AA93-1DAF03F26EA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p>
            <a:r>
              <a:rPr lang="en-US"/>
              <a:t>Click to edit Master title style</a:t>
            </a:r>
          </a:p>
        </p:txBody>
      </p:sp>
      <p:sp>
        <p:nvSpPr>
          <p:cNvPr id="3" name="Content Placeholder 2"/>
          <p:cNvSpPr>
            <a:spLocks noGrp="1"/>
          </p:cNvSpPr>
          <p:nvPr>
            <p:ph idx="1"/>
          </p:nvPr>
        </p:nvSpPr>
        <p:spPr>
          <a:xfrm>
            <a:off x="457200" y="1295400"/>
            <a:ext cx="82296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1C2E714-9726-5648-9805-25298B5CD9CE}" type="datetime2">
              <a:rPr lang="en-IN" smtClean="0"/>
              <a:t>Monday, 28 October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78BFD8EC-3A04-483A-AD2E-8D598A4DA8C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8F9BDA7-1C76-B64C-BFBB-2DD8FC0B0462}" type="datetime2">
              <a:rPr lang="en-IN" smtClean="0"/>
              <a:t>Monday, 28 October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86589411-C56C-40F4-B66E-D512662E7E6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391400" cy="609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98B5F28-82C4-1145-9D91-07DC8A145CD6}" type="datetime2">
              <a:rPr lang="en-IN" smtClean="0"/>
              <a:t>Monday, 28 October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6E29E7CF-FAD9-49DF-99E0-EAA77C32AE7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95400"/>
            <a:ext cx="4040188"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4"/>
            <a:ext cx="4040188"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295400"/>
            <a:ext cx="4041775"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4"/>
            <a:ext cx="4041775"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269DB47-0C5F-214C-984E-9FA2FDCE5959}" type="datetime2">
              <a:rPr lang="en-IN" smtClean="0"/>
              <a:t>Monday, 28 October 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9" name="Slide Number Placeholder 5"/>
          <p:cNvSpPr>
            <a:spLocks noGrp="1"/>
          </p:cNvSpPr>
          <p:nvPr>
            <p:ph type="sldNum" sz="quarter" idx="12"/>
          </p:nvPr>
        </p:nvSpPr>
        <p:spPr/>
        <p:txBody>
          <a:bodyPr/>
          <a:lstStyle>
            <a:lvl1pPr>
              <a:defRPr/>
            </a:lvl1pPr>
          </a:lstStyle>
          <a:p>
            <a:pPr>
              <a:defRPr/>
            </a:pPr>
            <a:fld id="{9167AD7C-0654-469F-AEFA-E806C2E8418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115A5C6-3EDE-F34D-8A0B-B78A5ED65DBC}" type="datetime2">
              <a:rPr lang="en-IN" smtClean="0"/>
              <a:t>Monday, 28 October 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5" name="Slide Number Placeholder 5"/>
          <p:cNvSpPr>
            <a:spLocks noGrp="1"/>
          </p:cNvSpPr>
          <p:nvPr>
            <p:ph type="sldNum" sz="quarter" idx="12"/>
          </p:nvPr>
        </p:nvSpPr>
        <p:spPr/>
        <p:txBody>
          <a:bodyPr/>
          <a:lstStyle>
            <a:lvl1pPr>
              <a:defRPr/>
            </a:lvl1pPr>
          </a:lstStyle>
          <a:p>
            <a:pPr>
              <a:defRPr/>
            </a:pPr>
            <a:fld id="{947A0E5E-4093-4CD3-BA7B-F97E5E4A519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3E72BB3-4F7C-364E-8373-EEF309789028}" type="datetime2">
              <a:rPr lang="en-IN" smtClean="0"/>
              <a:t>Monday, 28 October 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4" name="Slide Number Placeholder 5"/>
          <p:cNvSpPr>
            <a:spLocks noGrp="1"/>
          </p:cNvSpPr>
          <p:nvPr>
            <p:ph type="sldNum" sz="quarter" idx="12"/>
          </p:nvPr>
        </p:nvSpPr>
        <p:spPr/>
        <p:txBody>
          <a:bodyPr/>
          <a:lstStyle>
            <a:lvl1pPr>
              <a:defRPr/>
            </a:lvl1pPr>
          </a:lstStyle>
          <a:p>
            <a:pPr>
              <a:defRPr/>
            </a:pPr>
            <a:fld id="{0EB6A58B-23FE-4F42-857E-74F19373BE9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3008313" cy="6731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914400"/>
            <a:ext cx="5111750" cy="54322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889500"/>
          </a:xfrm>
        </p:spPr>
        <p:txBody>
          <a:bodyPr/>
          <a:lstStyle>
            <a:lvl1pPr marL="0" indent="0">
              <a:buNone/>
              <a:defRPr sz="1400">
                <a:solidFill>
                  <a:srgbClr val="00B0F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098D0D7-D7EC-A246-AF20-4745B06F0BA4}" type="datetime2">
              <a:rPr lang="en-IN" smtClean="0"/>
              <a:t>Monday, 28 October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86C1302C-7341-4EFD-A7BE-94A6EA3ED81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BA9B953-6580-D14A-A678-2705D9C7652D}" type="datetime2">
              <a:rPr lang="en-IN" smtClean="0"/>
              <a:t>Monday, 28 October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C7BEE4BA-9FC8-42B3-9170-29EB1644726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Vertical Text Placeholder 2"/>
          <p:cNvSpPr>
            <a:spLocks noGrp="1"/>
          </p:cNvSpPr>
          <p:nvPr>
            <p:ph type="body" orient="vert" idx="1"/>
          </p:nvPr>
        </p:nvSpPr>
        <p:spPr>
          <a:xfrm>
            <a:off x="457200" y="1295400"/>
            <a:ext cx="822960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63EAFF8-687A-514E-B383-6E43393718A3}" type="datetime2">
              <a:rPr lang="en-IN" smtClean="0"/>
              <a:t>Monday, 28 October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16A11CB4-3CE4-427D-9B5B-DA68271F1FF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66800"/>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0"/>
            <a:ext cx="6019800" cy="5592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74D9C74-6258-E24C-8933-2C029557A4C8}" type="datetime2">
              <a:rPr lang="en-IN" smtClean="0"/>
              <a:t>Monday, 28 October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D04C8231-EDB7-4A03-BDA6-FF052D201C2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457200"/>
            <a:ext cx="7391400"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95400"/>
            <a:ext cx="82296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16675"/>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bg1">
                    <a:lumMod val="50000"/>
                  </a:schemeClr>
                </a:solidFill>
                <a:latin typeface="+mn-lt"/>
              </a:defRPr>
            </a:lvl1pPr>
          </a:lstStyle>
          <a:p>
            <a:pPr>
              <a:defRPr/>
            </a:pPr>
            <a:fld id="{309DFE74-1456-C246-9145-41276736739F}" type="datetime2">
              <a:rPr lang="en-IN" smtClean="0"/>
              <a:t>Monday, 28 October 2024</a:t>
            </a:fld>
            <a:endParaRPr lang="en-US"/>
          </a:p>
        </p:txBody>
      </p:sp>
      <p:sp>
        <p:nvSpPr>
          <p:cNvPr id="5" name="Footer Placeholder 4"/>
          <p:cNvSpPr>
            <a:spLocks noGrp="1"/>
          </p:cNvSpPr>
          <p:nvPr>
            <p:ph type="ftr" sz="quarter" idx="3"/>
          </p:nvPr>
        </p:nvSpPr>
        <p:spPr>
          <a:xfrm>
            <a:off x="3124200" y="6416675"/>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r>
              <a:rPr lang="en-US"/>
              <a:t>Dr. Naveen Kumar, Associate Professor, AIIT, AUP</a:t>
            </a:r>
          </a:p>
        </p:txBody>
      </p:sp>
      <p:sp>
        <p:nvSpPr>
          <p:cNvPr id="6" name="Slide Number Placeholder 5"/>
          <p:cNvSpPr>
            <a:spLocks noGrp="1"/>
          </p:cNvSpPr>
          <p:nvPr>
            <p:ph type="sldNum" sz="quarter" idx="4"/>
          </p:nvPr>
        </p:nvSpPr>
        <p:spPr>
          <a:xfrm>
            <a:off x="6553200" y="6416675"/>
            <a:ext cx="2133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fld id="{F27807A9-12E1-47F0-9E96-6DDF5CA19C2D}" type="slidenum">
              <a:rPr lang="en-US"/>
              <a:pPr>
                <a:defRPr/>
              </a:pPr>
              <a:t>‹#›</a:t>
            </a:fld>
            <a:endParaRPr lang="en-US"/>
          </a:p>
        </p:txBody>
      </p:sp>
      <p:cxnSp>
        <p:nvCxnSpPr>
          <p:cNvPr id="15" name="Straight Connector 14"/>
          <p:cNvCxnSpPr/>
          <p:nvPr/>
        </p:nvCxnSpPr>
        <p:spPr>
          <a:xfrm>
            <a:off x="7981950" y="977900"/>
            <a:ext cx="1143000" cy="0"/>
          </a:xfrm>
          <a:prstGeom prst="line">
            <a:avLst/>
          </a:prstGeom>
        </p:spPr>
        <p:style>
          <a:lnRef idx="3">
            <a:schemeClr val="accent2"/>
          </a:lnRef>
          <a:fillRef idx="0">
            <a:schemeClr val="accent2"/>
          </a:fillRef>
          <a:effectRef idx="2">
            <a:schemeClr val="accent2"/>
          </a:effectRef>
          <a:fontRef idx="minor">
            <a:schemeClr val="tx1"/>
          </a:fontRef>
        </p:style>
      </p:cxnSp>
      <p:sp>
        <p:nvSpPr>
          <p:cNvPr id="16" name="Arc 15"/>
          <p:cNvSpPr/>
          <p:nvPr/>
        </p:nvSpPr>
        <p:spPr>
          <a:xfrm>
            <a:off x="7010400" y="444500"/>
            <a:ext cx="990600" cy="1066800"/>
          </a:xfrm>
          <a:prstGeom prst="arc">
            <a:avLst/>
          </a:prstGeom>
        </p:spPr>
        <p:style>
          <a:lnRef idx="3">
            <a:schemeClr val="accent2"/>
          </a:lnRef>
          <a:fillRef idx="0">
            <a:schemeClr val="accent2"/>
          </a:fillRef>
          <a:effectRef idx="2">
            <a:schemeClr val="accent2"/>
          </a:effectRef>
          <a:fontRef idx="minor">
            <a:schemeClr val="tx1"/>
          </a:fontRef>
        </p:style>
        <p:txBody>
          <a:bodyPr anchor="ctr"/>
          <a:lstStyle/>
          <a:p>
            <a:pPr fontAlgn="auto">
              <a:spcBef>
                <a:spcPts val="0"/>
              </a:spcBef>
              <a:spcAft>
                <a:spcPts val="0"/>
              </a:spcAft>
              <a:defRPr/>
            </a:pPr>
            <a:endParaRPr lang="en-US"/>
          </a:p>
        </p:txBody>
      </p:sp>
      <p:cxnSp>
        <p:nvCxnSpPr>
          <p:cNvPr id="17" name="Straight Connector 16"/>
          <p:cNvCxnSpPr>
            <a:stCxn id="16" idx="0"/>
          </p:cNvCxnSpPr>
          <p:nvPr/>
        </p:nvCxnSpPr>
        <p:spPr>
          <a:xfrm flipH="1">
            <a:off x="228600" y="444500"/>
            <a:ext cx="7277100" cy="0"/>
          </a:xfrm>
          <a:prstGeom prst="line">
            <a:avLst/>
          </a:prstGeom>
        </p:spPr>
        <p:style>
          <a:lnRef idx="3">
            <a:schemeClr val="accent2"/>
          </a:lnRef>
          <a:fillRef idx="0">
            <a:schemeClr val="accent2"/>
          </a:fillRef>
          <a:effectRef idx="2">
            <a:schemeClr val="accent2"/>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t>
            </a:r>
          </a:p>
        </p:txBody>
      </p:sp>
      <p:sp>
        <p:nvSpPr>
          <p:cNvPr id="5" name="Content Placeholder 4"/>
          <p:cNvSpPr>
            <a:spLocks noGrp="1"/>
          </p:cNvSpPr>
          <p:nvPr>
            <p:ph idx="1"/>
          </p:nvPr>
        </p:nvSpPr>
        <p:spPr/>
        <p:txBody>
          <a:bodyPr/>
          <a:lstStyle/>
          <a:p>
            <a:pPr marL="0" indent="0" algn="just">
              <a:lnSpc>
                <a:spcPct val="150000"/>
              </a:lnSpc>
              <a:spcBef>
                <a:spcPts val="300"/>
              </a:spcBef>
              <a:spcAft>
                <a:spcPts val="300"/>
              </a:spcAft>
              <a:buNone/>
            </a:pPr>
            <a:r>
              <a:rPr lang="en-IN" sz="2400" dirty="0"/>
              <a:t>                      </a:t>
            </a:r>
          </a:p>
        </p:txBody>
      </p:sp>
      <p:sp>
        <p:nvSpPr>
          <p:cNvPr id="3" name="TextBox 2">
            <a:extLst>
              <a:ext uri="{FF2B5EF4-FFF2-40B4-BE49-F238E27FC236}">
                <a16:creationId xmlns:a16="http://schemas.microsoft.com/office/drawing/2014/main" id="{D7FD7860-D0D8-4767-99A5-DFFBF448064D}"/>
              </a:ext>
            </a:extLst>
          </p:cNvPr>
          <p:cNvSpPr txBox="1"/>
          <p:nvPr/>
        </p:nvSpPr>
        <p:spPr>
          <a:xfrm>
            <a:off x="457200" y="1685542"/>
            <a:ext cx="8229600" cy="830997"/>
          </a:xfrm>
          <a:prstGeom prst="rect">
            <a:avLst/>
          </a:prstGeom>
          <a:noFill/>
        </p:spPr>
        <p:txBody>
          <a:bodyPr wrap="square" rtlCol="0">
            <a:spAutoFit/>
          </a:bodyPr>
          <a:lstStyle/>
          <a:p>
            <a:r>
              <a:rPr lang="en-IN" sz="4800" dirty="0">
                <a:solidFill>
                  <a:srgbClr val="C00000"/>
                </a:solidFill>
                <a:ea typeface="Cambria" panose="02040503050406030204" pitchFamily="18" charset="0"/>
                <a:cs typeface="Times New Roman" panose="02020603050405020304" pitchFamily="18" charset="0"/>
              </a:rPr>
              <a:t>Session 26: Garbage Collector</a:t>
            </a:r>
          </a:p>
        </p:txBody>
      </p:sp>
      <p:sp>
        <p:nvSpPr>
          <p:cNvPr id="6" name="TextBox 5">
            <a:extLst>
              <a:ext uri="{FF2B5EF4-FFF2-40B4-BE49-F238E27FC236}">
                <a16:creationId xmlns:a16="http://schemas.microsoft.com/office/drawing/2014/main" id="{A36DF755-1DE6-424B-B8B9-C195C91D5CC5}"/>
              </a:ext>
            </a:extLst>
          </p:cNvPr>
          <p:cNvSpPr txBox="1"/>
          <p:nvPr/>
        </p:nvSpPr>
        <p:spPr>
          <a:xfrm>
            <a:off x="739036" y="3235049"/>
            <a:ext cx="7540668" cy="1323439"/>
          </a:xfrm>
          <a:prstGeom prst="rect">
            <a:avLst/>
          </a:prstGeom>
          <a:noFill/>
        </p:spPr>
        <p:txBody>
          <a:bodyPr wrap="square" rtlCol="0">
            <a:spAutoFit/>
          </a:bodyPr>
          <a:lstStyle/>
          <a:p>
            <a:pPr algn="ctr"/>
            <a:r>
              <a:rPr lang="en-US" sz="2000" b="1" dirty="0"/>
              <a:t>Dr. Naveen Kumar</a:t>
            </a:r>
          </a:p>
          <a:p>
            <a:pPr algn="ctr"/>
            <a:r>
              <a:rPr lang="en-US" sz="2000" b="1" dirty="0"/>
              <a:t>Associate Professor</a:t>
            </a:r>
          </a:p>
          <a:p>
            <a:pPr algn="ctr"/>
            <a:r>
              <a:rPr lang="en-US" sz="2000" b="1" dirty="0"/>
              <a:t>Amity Institute of Information Technology</a:t>
            </a:r>
          </a:p>
          <a:p>
            <a:pPr algn="ctr"/>
            <a:r>
              <a:rPr lang="en-US" sz="2000" b="1" dirty="0"/>
              <a:t>Amity University Patna</a:t>
            </a:r>
            <a:endParaRPr lang="en-IN" sz="2000" b="1" dirty="0"/>
          </a:p>
        </p:txBody>
      </p:sp>
      <p:sp>
        <p:nvSpPr>
          <p:cNvPr id="4" name="Footer Placeholder 3">
            <a:extLst>
              <a:ext uri="{FF2B5EF4-FFF2-40B4-BE49-F238E27FC236}">
                <a16:creationId xmlns:a16="http://schemas.microsoft.com/office/drawing/2014/main" id="{83E41F89-2F46-263A-7BD5-4B60238E2C9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366266935"/>
      </p:ext>
    </p:extLst>
  </p:cSld>
  <p:clrMapOvr>
    <a:masterClrMapping/>
  </p:clrMapOvr>
  <mc:AlternateContent xmlns:mc="http://schemas.openxmlformats.org/markup-compatibility/2006" xmlns:p14="http://schemas.microsoft.com/office/powerpoint/2010/main">
    <mc:Choice Requires="p14">
      <p:transition spd="slow" p14:dur="2000" advTm="35226"/>
    </mc:Choice>
    <mc:Fallback xmlns="">
      <p:transition spd="slow" advTm="3522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103A9-AFC5-5F30-18D4-E29372E4CA4A}"/>
              </a:ext>
            </a:extLst>
          </p:cNvPr>
          <p:cNvSpPr>
            <a:spLocks noGrp="1"/>
          </p:cNvSpPr>
          <p:nvPr>
            <p:ph type="title"/>
          </p:nvPr>
        </p:nvSpPr>
        <p:spPr/>
        <p:txBody>
          <a:bodyPr/>
          <a:lstStyle/>
          <a:p>
            <a:r>
              <a:rPr lang="en-US" dirty="0"/>
              <a:t>Garbage Collector</a:t>
            </a:r>
          </a:p>
        </p:txBody>
      </p:sp>
      <p:sp>
        <p:nvSpPr>
          <p:cNvPr id="3" name="Content Placeholder 2">
            <a:extLst>
              <a:ext uri="{FF2B5EF4-FFF2-40B4-BE49-F238E27FC236}">
                <a16:creationId xmlns:a16="http://schemas.microsoft.com/office/drawing/2014/main" id="{97C6F8FD-ABBF-05E2-2B21-9E83B5500FE9}"/>
              </a:ext>
            </a:extLst>
          </p:cNvPr>
          <p:cNvSpPr>
            <a:spLocks noGrp="1"/>
          </p:cNvSpPr>
          <p:nvPr>
            <p:ph idx="1"/>
          </p:nvPr>
        </p:nvSpPr>
        <p:spPr/>
        <p:txBody>
          <a:bodyPr/>
          <a:lstStyle/>
          <a:p>
            <a:r>
              <a:rPr lang="en-IN" sz="1800" dirty="0">
                <a:solidFill>
                  <a:schemeClr val="tx1"/>
                </a:solidFill>
                <a:effectLst/>
                <a:latin typeface="Calibri" panose="020F0502020204030204" pitchFamily="34" charset="0"/>
              </a:rPr>
              <a:t>Garbage collector is used </a:t>
            </a:r>
            <a:r>
              <a:rPr lang="en-IN" sz="1800" dirty="0">
                <a:solidFill>
                  <a:schemeClr val="tx1"/>
                </a:solidFill>
                <a:latin typeface="Calibri" panose="020F0502020204030204" pitchFamily="34" charset="0"/>
              </a:rPr>
              <a:t>for </a:t>
            </a:r>
            <a:r>
              <a:rPr lang="en-IN" sz="1800" dirty="0">
                <a:solidFill>
                  <a:schemeClr val="tx1"/>
                </a:solidFill>
                <a:effectLst/>
                <a:latin typeface="Calibri" panose="020F0502020204030204" pitchFamily="34" charset="0"/>
              </a:rPr>
              <a:t>destroying the useless object and it is a part of the JVM. </a:t>
            </a:r>
            <a:endParaRPr lang="en-IN" sz="1800" dirty="0">
              <a:solidFill>
                <a:schemeClr val="tx1"/>
              </a:solidFill>
              <a:effectLst/>
              <a:latin typeface="Wingdings" pitchFamily="2" charset="2"/>
            </a:endParaRPr>
          </a:p>
          <a:p>
            <a:r>
              <a:rPr lang="en-IN" sz="1800" dirty="0">
                <a:solidFill>
                  <a:schemeClr val="tx1"/>
                </a:solidFill>
                <a:effectLst/>
                <a:latin typeface="Calibri" panose="020F0502020204030204" pitchFamily="34" charset="0"/>
              </a:rPr>
              <a:t>There are three ways to make eligible objects to garbage collector.</a:t>
            </a:r>
            <a:endParaRPr lang="en-IN" dirty="0">
              <a:solidFill>
                <a:schemeClr val="tx1"/>
              </a:solidFill>
            </a:endParaRPr>
          </a:p>
          <a:p>
            <a:endParaRPr lang="en-US" dirty="0">
              <a:solidFill>
                <a:schemeClr val="tx1"/>
              </a:solidFill>
            </a:endParaRPr>
          </a:p>
          <a:p>
            <a:r>
              <a:rPr lang="en-IN" sz="1800" dirty="0">
                <a:solidFill>
                  <a:schemeClr val="tx1"/>
                </a:solidFill>
                <a:effectLst/>
                <a:latin typeface="Calibri,BoldItalic"/>
              </a:rPr>
              <a:t>Whenever we are assigning null constants to our objects then objects are eligible for GC (garbage collector</a:t>
            </a:r>
            <a:r>
              <a:rPr lang="en-IN" sz="1800" dirty="0">
                <a:solidFill>
                  <a:schemeClr val="tx1"/>
                </a:solidFill>
                <a:effectLst/>
                <a:latin typeface="Calibri,Italic"/>
              </a:rPr>
              <a:t>).</a:t>
            </a:r>
          </a:p>
          <a:p>
            <a:endParaRPr lang="en-IN" sz="1800" dirty="0">
              <a:solidFill>
                <a:schemeClr val="tx1"/>
              </a:solidFill>
              <a:latin typeface="Calibri,Italic"/>
            </a:endParaRPr>
          </a:p>
          <a:p>
            <a:r>
              <a:rPr lang="en-IN" sz="1800" dirty="0">
                <a:solidFill>
                  <a:schemeClr val="tx1"/>
                </a:solidFill>
                <a:latin typeface="Calibri" panose="020F0502020204030204" pitchFamily="34" charset="0"/>
              </a:rPr>
              <a:t>Java programs perform automatic memory </a:t>
            </a:r>
            <a:r>
              <a:rPr lang="en-IN" sz="1800" dirty="0">
                <a:solidFill>
                  <a:schemeClr val="tx1"/>
                </a:solidFill>
                <a:latin typeface="Calibri,BoldItalic"/>
              </a:rPr>
              <a:t>management, objects are created on the heap.</a:t>
            </a:r>
          </a:p>
          <a:p>
            <a:r>
              <a:rPr lang="en-IN" sz="1800" dirty="0">
                <a:solidFill>
                  <a:schemeClr val="tx1"/>
                </a:solidFill>
                <a:latin typeface="Calibri,BoldItalic"/>
              </a:rPr>
              <a:t>The garbage collector finds these unused objects and deletes them to free up </a:t>
            </a:r>
            <a:r>
              <a:rPr lang="en-IN" sz="1800">
                <a:solidFill>
                  <a:schemeClr val="tx1"/>
                </a:solidFill>
                <a:latin typeface="Calibri,BoldItalic"/>
              </a:rPr>
              <a:t>memory.</a:t>
            </a:r>
          </a:p>
          <a:p>
            <a:endParaRPr lang="en-IN" sz="1800" dirty="0">
              <a:solidFill>
                <a:schemeClr val="tx1"/>
              </a:solidFill>
              <a:latin typeface="Calibri,BoldItalic"/>
            </a:endParaRPr>
          </a:p>
        </p:txBody>
      </p:sp>
      <p:sp>
        <p:nvSpPr>
          <p:cNvPr id="4" name="Footer Placeholder 3">
            <a:extLst>
              <a:ext uri="{FF2B5EF4-FFF2-40B4-BE49-F238E27FC236}">
                <a16:creationId xmlns:a16="http://schemas.microsoft.com/office/drawing/2014/main" id="{DA489B76-2244-732E-CE8A-D36C8927D41F}"/>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739588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CDC21D-A12D-EAD0-95CA-F7D6162A79AF}"/>
              </a:ext>
            </a:extLst>
          </p:cNvPr>
          <p:cNvSpPr>
            <a:spLocks noGrp="1"/>
          </p:cNvSpPr>
          <p:nvPr>
            <p:ph idx="1"/>
          </p:nvPr>
        </p:nvSpPr>
        <p:spPr>
          <a:xfrm>
            <a:off x="457200" y="463463"/>
            <a:ext cx="8229600" cy="5861137"/>
          </a:xfrm>
        </p:spPr>
        <p:txBody>
          <a:bodyPr/>
          <a:lstStyle/>
          <a:p>
            <a:r>
              <a:rPr lang="en-IN" sz="2000" dirty="0">
                <a:latin typeface="Calibri,Italic"/>
              </a:rPr>
              <a:t>Example-1 :- Whenever we are assigning null constants to our objects then objects are eligible for GC(garbage collector)</a:t>
            </a:r>
            <a:br>
              <a:rPr lang="en-IN" sz="2000" dirty="0">
                <a:latin typeface="Calibri,Italic"/>
              </a:rPr>
            </a:br>
            <a:endParaRPr lang="en-IN" sz="2000" dirty="0">
              <a:latin typeface="Calibri,Italic"/>
            </a:endParaRPr>
          </a:p>
          <a:p>
            <a:r>
              <a:rPr lang="en-IN" sz="2000" dirty="0">
                <a:latin typeface="Calibri,Italic"/>
              </a:rPr>
              <a:t>class Test</a:t>
            </a:r>
          </a:p>
          <a:p>
            <a:r>
              <a:rPr lang="en-IN" sz="2000" dirty="0">
                <a:latin typeface="Calibri,Italic"/>
              </a:rPr>
              <a:t>{ public static void main(String[] </a:t>
            </a:r>
            <a:r>
              <a:rPr lang="en-IN" sz="2000" dirty="0" err="1">
                <a:latin typeface="Calibri,Italic"/>
              </a:rPr>
              <a:t>args</a:t>
            </a:r>
            <a:r>
              <a:rPr lang="en-IN" sz="2000" dirty="0">
                <a:latin typeface="Calibri,Italic"/>
              </a:rPr>
              <a:t>)</a:t>
            </a:r>
          </a:p>
          <a:p>
            <a:r>
              <a:rPr lang="en-IN" sz="2000" dirty="0">
                <a:latin typeface="Calibri,Italic"/>
              </a:rPr>
              <a:t>{ Test t1=new Test(); Test t2=new Test();</a:t>
            </a:r>
          </a:p>
          <a:p>
            <a:r>
              <a:rPr lang="en-IN" sz="2000" dirty="0" err="1">
                <a:latin typeface="Calibri,Italic"/>
              </a:rPr>
              <a:t>System.out.println</a:t>
            </a:r>
            <a:r>
              <a:rPr lang="en-IN" sz="2000" dirty="0">
                <a:latin typeface="Calibri,Italic"/>
              </a:rPr>
              <a:t>(t1);</a:t>
            </a:r>
          </a:p>
          <a:p>
            <a:r>
              <a:rPr lang="en-IN" sz="2000" dirty="0" err="1">
                <a:latin typeface="Calibri,Italic"/>
              </a:rPr>
              <a:t>System.out.println</a:t>
            </a:r>
            <a:r>
              <a:rPr lang="en-IN" sz="2000" dirty="0">
                <a:latin typeface="Calibri,Italic"/>
              </a:rPr>
              <a:t>(t2);</a:t>
            </a:r>
          </a:p>
          <a:p>
            <a:r>
              <a:rPr lang="en-IN" sz="2000" dirty="0">
                <a:solidFill>
                  <a:srgbClr val="FF0000"/>
                </a:solidFill>
                <a:latin typeface="Calibri,Italic"/>
              </a:rPr>
              <a:t>t1=null; //t1 object is eligible for Garbage collector </a:t>
            </a:r>
          </a:p>
          <a:p>
            <a:r>
              <a:rPr lang="en-IN" sz="2000" dirty="0">
                <a:solidFill>
                  <a:srgbClr val="FF0000"/>
                </a:solidFill>
                <a:latin typeface="Calibri,Italic"/>
              </a:rPr>
              <a:t>t2=null; //t2 object is eligible for Garbage Collector </a:t>
            </a:r>
          </a:p>
          <a:p>
            <a:r>
              <a:rPr lang="en-IN" sz="2000" dirty="0" err="1">
                <a:latin typeface="Calibri,Italic"/>
              </a:rPr>
              <a:t>System.out.println</a:t>
            </a:r>
            <a:r>
              <a:rPr lang="en-IN" sz="2000" dirty="0">
                <a:latin typeface="Calibri,Italic"/>
              </a:rPr>
              <a:t>(t1);</a:t>
            </a:r>
          </a:p>
          <a:p>
            <a:r>
              <a:rPr lang="en-IN" sz="2000" dirty="0" err="1">
                <a:latin typeface="Calibri,Italic"/>
              </a:rPr>
              <a:t>System.out.println</a:t>
            </a:r>
            <a:r>
              <a:rPr lang="en-IN" sz="2000" dirty="0">
                <a:latin typeface="Calibri,Italic"/>
              </a:rPr>
              <a:t>(t2);</a:t>
            </a:r>
          </a:p>
          <a:p>
            <a:r>
              <a:rPr lang="en-IN" sz="2000" dirty="0">
                <a:effectLst/>
                <a:latin typeface="Calibri,Italic"/>
              </a:rPr>
              <a:t> } };</a:t>
            </a:r>
            <a:endParaRPr lang="en-IN" sz="2000" dirty="0"/>
          </a:p>
          <a:p>
            <a:endParaRPr lang="en-US" sz="2000" dirty="0"/>
          </a:p>
        </p:txBody>
      </p:sp>
      <p:sp>
        <p:nvSpPr>
          <p:cNvPr id="4" name="Footer Placeholder 3">
            <a:extLst>
              <a:ext uri="{FF2B5EF4-FFF2-40B4-BE49-F238E27FC236}">
                <a16:creationId xmlns:a16="http://schemas.microsoft.com/office/drawing/2014/main" id="{7A72588E-4605-ACB2-175B-DB1EE481C3F7}"/>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916201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3CDDE0-18DD-1A0B-D14F-CA86FEAECD8F}"/>
              </a:ext>
            </a:extLst>
          </p:cNvPr>
          <p:cNvSpPr>
            <a:spLocks noGrp="1"/>
          </p:cNvSpPr>
          <p:nvPr>
            <p:ph idx="1"/>
          </p:nvPr>
        </p:nvSpPr>
        <p:spPr>
          <a:xfrm>
            <a:off x="457200" y="538619"/>
            <a:ext cx="8229600" cy="5785981"/>
          </a:xfrm>
        </p:spPr>
        <p:txBody>
          <a:bodyPr/>
          <a:lstStyle/>
          <a:p>
            <a:r>
              <a:rPr lang="en-US" sz="2400" dirty="0"/>
              <a:t>Example-2 :- Whenever we reassign the reference variable the objects are automatically eligible for garbage collector.</a:t>
            </a:r>
          </a:p>
          <a:p>
            <a:endParaRPr lang="en-US" sz="2400" dirty="0"/>
          </a:p>
          <a:p>
            <a:r>
              <a:rPr lang="en-US" sz="2400" dirty="0"/>
              <a:t>class Test { </a:t>
            </a:r>
          </a:p>
          <a:p>
            <a:r>
              <a:rPr lang="en-US" sz="2400" dirty="0"/>
              <a:t>public static void main(String[] </a:t>
            </a:r>
            <a:r>
              <a:rPr lang="en-US" sz="2400" dirty="0" err="1"/>
              <a:t>args</a:t>
            </a:r>
            <a:r>
              <a:rPr lang="en-US" sz="2400" dirty="0"/>
              <a:t>) { </a:t>
            </a:r>
          </a:p>
          <a:p>
            <a:r>
              <a:rPr lang="en-US" sz="2400" dirty="0"/>
              <a:t>Test t1=new Test(); </a:t>
            </a:r>
          </a:p>
          <a:p>
            <a:r>
              <a:rPr lang="en-US" sz="2400" dirty="0"/>
              <a:t>Test t2=new Test();</a:t>
            </a:r>
          </a:p>
          <a:p>
            <a:r>
              <a:rPr lang="en-US" sz="2400" dirty="0" err="1"/>
              <a:t>System.out.println</a:t>
            </a:r>
            <a:r>
              <a:rPr lang="en-US" sz="2400" dirty="0"/>
              <a:t>(t1);</a:t>
            </a:r>
          </a:p>
          <a:p>
            <a:r>
              <a:rPr lang="en-US" sz="2400" dirty="0" err="1"/>
              <a:t>System.out.println</a:t>
            </a:r>
            <a:r>
              <a:rPr lang="en-US" sz="2400" dirty="0"/>
              <a:t>(t2);</a:t>
            </a:r>
          </a:p>
          <a:p>
            <a:r>
              <a:rPr lang="en-US" sz="2400" dirty="0">
                <a:solidFill>
                  <a:srgbClr val="FF0000"/>
                </a:solidFill>
              </a:rPr>
              <a:t>t1=t2; //reassign reference variable then one object is destroyed. </a:t>
            </a:r>
            <a:r>
              <a:rPr lang="en-US" sz="2400" dirty="0" err="1">
                <a:solidFill>
                  <a:srgbClr val="FF0000"/>
                </a:solidFill>
              </a:rPr>
              <a:t>System.out.println</a:t>
            </a:r>
            <a:r>
              <a:rPr lang="en-US" sz="2400" dirty="0">
                <a:solidFill>
                  <a:srgbClr val="FF0000"/>
                </a:solidFill>
              </a:rPr>
              <a:t>(t1);</a:t>
            </a:r>
          </a:p>
          <a:p>
            <a:r>
              <a:rPr lang="en-US" sz="2400" dirty="0" err="1"/>
              <a:t>System.out.println</a:t>
            </a:r>
            <a:r>
              <a:rPr lang="en-US" sz="2400" dirty="0"/>
              <a:t>(t2);</a:t>
            </a:r>
          </a:p>
          <a:p>
            <a:r>
              <a:rPr lang="en-US" sz="2400" dirty="0"/>
              <a:t>} };</a:t>
            </a:r>
          </a:p>
        </p:txBody>
      </p:sp>
      <p:sp>
        <p:nvSpPr>
          <p:cNvPr id="4" name="Footer Placeholder 3">
            <a:extLst>
              <a:ext uri="{FF2B5EF4-FFF2-40B4-BE49-F238E27FC236}">
                <a16:creationId xmlns:a16="http://schemas.microsoft.com/office/drawing/2014/main" id="{11A2F599-6BBC-1EF0-523E-131BB74D200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577042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D50EAA-7957-EFD2-42C5-3FE5FBC3FDCB}"/>
              </a:ext>
            </a:extLst>
          </p:cNvPr>
          <p:cNvSpPr>
            <a:spLocks noGrp="1"/>
          </p:cNvSpPr>
          <p:nvPr>
            <p:ph idx="1"/>
          </p:nvPr>
        </p:nvSpPr>
        <p:spPr>
          <a:xfrm>
            <a:off x="457200" y="538619"/>
            <a:ext cx="8229600" cy="5785981"/>
          </a:xfrm>
        </p:spPr>
        <p:txBody>
          <a:bodyPr/>
          <a:lstStyle/>
          <a:p>
            <a:r>
              <a:rPr lang="en-US" sz="2000" dirty="0"/>
              <a:t>Example -3:-Whenever we are creating objects inside the methods one method is completed the objects are eligible for garbage collector.</a:t>
            </a:r>
          </a:p>
          <a:p>
            <a:endParaRPr lang="en-US" sz="2000" dirty="0"/>
          </a:p>
          <a:p>
            <a:r>
              <a:rPr lang="en-US" sz="2000" dirty="0"/>
              <a:t>class Test { </a:t>
            </a:r>
          </a:p>
          <a:p>
            <a:r>
              <a:rPr lang="en-US" sz="2000" dirty="0"/>
              <a:t>void m1() { </a:t>
            </a:r>
          </a:p>
          <a:p>
            <a:r>
              <a:rPr lang="en-US" sz="2000" dirty="0">
                <a:solidFill>
                  <a:srgbClr val="FF0000"/>
                </a:solidFill>
              </a:rPr>
              <a:t>Test t1=new Test();</a:t>
            </a:r>
          </a:p>
          <a:p>
            <a:r>
              <a:rPr lang="en-US" sz="2000" dirty="0"/>
              <a:t>}</a:t>
            </a:r>
          </a:p>
          <a:p>
            <a:r>
              <a:rPr lang="en-US" sz="2000" dirty="0"/>
              <a:t>public static void main(String[] </a:t>
            </a:r>
            <a:r>
              <a:rPr lang="en-US" sz="2000" dirty="0" err="1"/>
              <a:t>args</a:t>
            </a:r>
            <a:r>
              <a:rPr lang="en-US" sz="2000" dirty="0"/>
              <a:t>) { </a:t>
            </a:r>
          </a:p>
          <a:p>
            <a:r>
              <a:rPr lang="en-US" sz="2000" dirty="0"/>
              <a:t>Test t=new Test();</a:t>
            </a:r>
          </a:p>
          <a:p>
            <a:r>
              <a:rPr lang="en-US" sz="2000" dirty="0"/>
              <a:t>t.m1();</a:t>
            </a:r>
          </a:p>
          <a:p>
            <a:r>
              <a:rPr lang="en-US" sz="2000" dirty="0" err="1"/>
              <a:t>System.gc</a:t>
            </a:r>
            <a:r>
              <a:rPr lang="en-US" sz="2000" dirty="0"/>
              <a:t>(); </a:t>
            </a:r>
          </a:p>
          <a:p>
            <a:r>
              <a:rPr lang="en-US" sz="2000" dirty="0"/>
              <a:t>}</a:t>
            </a:r>
          </a:p>
          <a:p>
            <a:r>
              <a:rPr lang="en-US" sz="2000" dirty="0"/>
              <a:t>};</a:t>
            </a:r>
          </a:p>
        </p:txBody>
      </p:sp>
      <p:sp>
        <p:nvSpPr>
          <p:cNvPr id="4" name="Footer Placeholder 3">
            <a:extLst>
              <a:ext uri="{FF2B5EF4-FFF2-40B4-BE49-F238E27FC236}">
                <a16:creationId xmlns:a16="http://schemas.microsoft.com/office/drawing/2014/main" id="{DEB43B7B-D5D2-B44F-1833-D3C7F1A24955}"/>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903910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64A813-37B8-F277-CBCD-49F0AD86AABB}"/>
              </a:ext>
            </a:extLst>
          </p:cNvPr>
          <p:cNvSpPr>
            <a:spLocks noGrp="1"/>
          </p:cNvSpPr>
          <p:nvPr>
            <p:ph idx="1"/>
          </p:nvPr>
        </p:nvSpPr>
        <p:spPr>
          <a:xfrm>
            <a:off x="457200" y="475989"/>
            <a:ext cx="8229600" cy="5848611"/>
          </a:xfrm>
        </p:spPr>
        <p:txBody>
          <a:bodyPr/>
          <a:lstStyle/>
          <a:p>
            <a:r>
              <a:rPr lang="en-US" sz="1800" dirty="0"/>
              <a:t>To call the garbage collector explicitly use </a:t>
            </a:r>
            <a:r>
              <a:rPr lang="en-US" sz="1800" dirty="0" err="1"/>
              <a:t>gc</a:t>
            </a:r>
            <a:r>
              <a:rPr lang="en-US" sz="1800" dirty="0"/>
              <a:t>() method it is a static method system class.</a:t>
            </a:r>
          </a:p>
          <a:p>
            <a:r>
              <a:rPr lang="en-US" sz="1800" dirty="0"/>
              <a:t>Just before destroying object garbage collector will call finalize() method. </a:t>
            </a:r>
          </a:p>
          <a:p>
            <a:endParaRPr lang="en-US" sz="1800" dirty="0"/>
          </a:p>
          <a:p>
            <a:r>
              <a:rPr lang="en-US" sz="1800" dirty="0"/>
              <a:t>class Test extends Object {</a:t>
            </a:r>
          </a:p>
          <a:p>
            <a:r>
              <a:rPr lang="en-US" sz="1800" dirty="0"/>
              <a:t>public void finalize() { </a:t>
            </a:r>
          </a:p>
          <a:p>
            <a:r>
              <a:rPr lang="en-US" sz="1800" dirty="0" err="1"/>
              <a:t>System.out.println</a:t>
            </a:r>
            <a:r>
              <a:rPr lang="en-US" sz="1800" dirty="0"/>
              <a:t>("object destroyed"); </a:t>
            </a:r>
          </a:p>
          <a:p>
            <a:r>
              <a:rPr lang="en-US" sz="1800" dirty="0"/>
              <a:t>}</a:t>
            </a:r>
          </a:p>
          <a:p>
            <a:r>
              <a:rPr lang="en-US" sz="1800" dirty="0"/>
              <a:t>public static void main(String[] </a:t>
            </a:r>
            <a:r>
              <a:rPr lang="en-US" sz="1800" dirty="0" err="1"/>
              <a:t>args</a:t>
            </a:r>
            <a:r>
              <a:rPr lang="en-US" sz="1800" dirty="0"/>
              <a:t>) { </a:t>
            </a:r>
          </a:p>
          <a:p>
            <a:r>
              <a:rPr lang="en-US" sz="1800" dirty="0"/>
              <a:t>Test t1 = new Test();</a:t>
            </a:r>
          </a:p>
          <a:p>
            <a:r>
              <a:rPr lang="en-US" sz="1800" dirty="0"/>
              <a:t>Test t2 = new Test(); </a:t>
            </a:r>
          </a:p>
          <a:p>
            <a:r>
              <a:rPr lang="en-US" sz="1800" dirty="0" err="1"/>
              <a:t>System.out.println</a:t>
            </a:r>
            <a:r>
              <a:rPr lang="en-US" sz="1800" dirty="0"/>
              <a:t>(t1.toString()); </a:t>
            </a:r>
          </a:p>
          <a:p>
            <a:r>
              <a:rPr lang="en-US" sz="1800" dirty="0" err="1"/>
              <a:t>System.out.println</a:t>
            </a:r>
            <a:r>
              <a:rPr lang="en-US" sz="1800" dirty="0"/>
              <a:t>(t2.toString()); //using object</a:t>
            </a:r>
          </a:p>
          <a:p>
            <a:r>
              <a:rPr lang="en-US" sz="1800" dirty="0"/>
              <a:t>t1=null; </a:t>
            </a:r>
          </a:p>
          <a:p>
            <a:r>
              <a:rPr lang="en-US" sz="1800" dirty="0"/>
              <a:t>t2=null; </a:t>
            </a:r>
          </a:p>
          <a:p>
            <a:r>
              <a:rPr lang="en-US" sz="1800" dirty="0" err="1"/>
              <a:t>System.gc</a:t>
            </a:r>
            <a:r>
              <a:rPr lang="en-US" sz="1800" dirty="0"/>
              <a:t>();</a:t>
            </a:r>
          </a:p>
          <a:p>
            <a:r>
              <a:rPr lang="en-US" sz="1800" dirty="0"/>
              <a:t>} };</a:t>
            </a:r>
          </a:p>
          <a:p>
            <a:r>
              <a:rPr lang="en-US" sz="1800" b="1" dirty="0"/>
              <a:t>Note: //if any exceptions raised in finalize() method those exceptions are ignored &amp; object is destroyed.</a:t>
            </a:r>
          </a:p>
        </p:txBody>
      </p:sp>
    </p:spTree>
    <p:extLst>
      <p:ext uri="{BB962C8B-B14F-4D97-AF65-F5344CB8AC3E}">
        <p14:creationId xmlns:p14="http://schemas.microsoft.com/office/powerpoint/2010/main" val="1758580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68C78-F14E-555F-A534-450ABFB335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808CE93-45D8-30B2-8098-B30471728A80}"/>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F6271502-1570-E58D-F51E-BDEE72654742}"/>
              </a:ext>
            </a:extLst>
          </p:cNvPr>
          <p:cNvSpPr>
            <a:spLocks noGrp="1"/>
          </p:cNvSpPr>
          <p:nvPr>
            <p:ph type="ftr" sz="quarter" idx="11"/>
          </p:nvPr>
        </p:nvSpPr>
        <p:spPr/>
        <p:txBody>
          <a:bodyPr/>
          <a:lstStyle/>
          <a:p>
            <a:pPr>
              <a:defRPr/>
            </a:pPr>
            <a:r>
              <a:rPr lang="en-US"/>
              <a:t>Dr. Naveen Kumar, Associate Professor, AIIT, AUP</a:t>
            </a:r>
          </a:p>
        </p:txBody>
      </p:sp>
      <p:pic>
        <p:nvPicPr>
          <p:cNvPr id="1026" name="Picture 2" descr="Lightbox">
            <a:extLst>
              <a:ext uri="{FF2B5EF4-FFF2-40B4-BE49-F238E27FC236}">
                <a16:creationId xmlns:a16="http://schemas.microsoft.com/office/drawing/2014/main" id="{64F5EFC0-1688-94E7-1BDF-8053DF01D7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81000"/>
            <a:ext cx="5334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2746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6C8797-7625-115D-8CFA-6A796A764BEA}"/>
              </a:ext>
            </a:extLst>
          </p:cNvPr>
          <p:cNvSpPr>
            <a:spLocks noGrp="1"/>
          </p:cNvSpPr>
          <p:nvPr>
            <p:ph idx="1"/>
          </p:nvPr>
        </p:nvSpPr>
        <p:spPr>
          <a:xfrm>
            <a:off x="457200" y="475989"/>
            <a:ext cx="8229600" cy="5848611"/>
          </a:xfrm>
        </p:spPr>
        <p:txBody>
          <a:bodyPr/>
          <a:lstStyle/>
          <a:p>
            <a:r>
              <a:rPr lang="en-US" sz="2000" dirty="0"/>
              <a:t>The main objective of Garbage Collector is to free heap memory by destroying unreachable objects.</a:t>
            </a:r>
          </a:p>
          <a:p>
            <a:endParaRPr lang="en-US" sz="2000" dirty="0"/>
          </a:p>
          <a:p>
            <a:r>
              <a:rPr lang="en-US" sz="2000" dirty="0"/>
              <a:t>Automatic garbage collection is the process of looking at heap memory, identifying which objects are in use and which are not, and deleting the unused objects. </a:t>
            </a:r>
          </a:p>
          <a:p>
            <a:endParaRPr lang="en-US" sz="2000" dirty="0"/>
          </a:p>
          <a:p>
            <a:r>
              <a:rPr lang="en-US" sz="2000" dirty="0"/>
              <a:t>An in-use object, or a referenced object, means that some part of your program still maintains a pointer to that object. </a:t>
            </a:r>
          </a:p>
          <a:p>
            <a:endParaRPr lang="en-US" sz="2000" dirty="0"/>
          </a:p>
          <a:p>
            <a:r>
              <a:rPr lang="en-US" sz="2000" dirty="0"/>
              <a:t>An unused or unreferenced object is no longer referenced by any part of your program. </a:t>
            </a:r>
          </a:p>
          <a:p>
            <a:r>
              <a:rPr lang="en-US" sz="2000" dirty="0"/>
              <a:t>So the memory used by an unreferenced object can be reclaimed. </a:t>
            </a:r>
          </a:p>
          <a:p>
            <a:endParaRPr lang="en-US" sz="2000" dirty="0"/>
          </a:p>
          <a:p>
            <a:r>
              <a:rPr lang="en-US" sz="2000" dirty="0"/>
              <a:t>The programmer does not need to mark objects to be deleted explicitly. </a:t>
            </a:r>
          </a:p>
          <a:p>
            <a:endParaRPr lang="en-US" sz="2000" dirty="0"/>
          </a:p>
          <a:p>
            <a:r>
              <a:rPr lang="en-US" sz="2000" dirty="0"/>
              <a:t>The garbage collection implementation lives in the JVM.</a:t>
            </a:r>
          </a:p>
        </p:txBody>
      </p:sp>
    </p:spTree>
    <p:extLst>
      <p:ext uri="{BB962C8B-B14F-4D97-AF65-F5344CB8AC3E}">
        <p14:creationId xmlns:p14="http://schemas.microsoft.com/office/powerpoint/2010/main" val="3199005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33065B-9A83-1F86-BBC0-5FC7B320E9B9}"/>
              </a:ext>
            </a:extLst>
          </p:cNvPr>
          <p:cNvSpPr>
            <a:spLocks noGrp="1"/>
          </p:cNvSpPr>
          <p:nvPr>
            <p:ph idx="1"/>
          </p:nvPr>
        </p:nvSpPr>
        <p:spPr>
          <a:xfrm>
            <a:off x="457200" y="513567"/>
            <a:ext cx="8229600" cy="5811033"/>
          </a:xfrm>
        </p:spPr>
        <p:txBody>
          <a:bodyPr/>
          <a:lstStyle/>
          <a:p>
            <a:r>
              <a:rPr lang="en-US" sz="2400" dirty="0"/>
              <a:t>Two types of garbage collection activity usually happen in Java. </a:t>
            </a:r>
          </a:p>
          <a:p>
            <a:endParaRPr lang="en-US" sz="2400" dirty="0"/>
          </a:p>
          <a:p>
            <a:r>
              <a:rPr lang="en-US" sz="2400" b="1" dirty="0"/>
              <a:t>Minor or incremental Garbage Collection</a:t>
            </a:r>
            <a:r>
              <a:rPr lang="en-US" sz="2400" dirty="0"/>
              <a:t>: It is said to have occurred when unreachable objects in the young generation heap memory are removed.</a:t>
            </a:r>
          </a:p>
          <a:p>
            <a:endParaRPr lang="en-US" sz="2400" dirty="0"/>
          </a:p>
          <a:p>
            <a:r>
              <a:rPr lang="en-US" sz="2400" b="1" dirty="0"/>
              <a:t>Major or Full Garbage Collection</a:t>
            </a:r>
            <a:r>
              <a:rPr lang="en-US" sz="2400" dirty="0"/>
              <a:t>: It is said to have occurred when the objects that survived the minor garbage collection are copied into the old generation or permanent generation heap memory are removed. When compared to the young generation, garbage collection happens less frequently in the old generation.</a:t>
            </a:r>
          </a:p>
          <a:p>
            <a:endParaRPr lang="en-US" sz="2400" dirty="0"/>
          </a:p>
        </p:txBody>
      </p:sp>
      <p:sp>
        <p:nvSpPr>
          <p:cNvPr id="4" name="Footer Placeholder 3">
            <a:extLst>
              <a:ext uri="{FF2B5EF4-FFF2-40B4-BE49-F238E27FC236}">
                <a16:creationId xmlns:a16="http://schemas.microsoft.com/office/drawing/2014/main" id="{9310D14C-D4CE-1189-3E5A-24A867EC136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307426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EEE828-3563-0D1E-74A7-16E962BE4846}"/>
              </a:ext>
            </a:extLst>
          </p:cNvPr>
          <p:cNvSpPr>
            <a:spLocks noGrp="1"/>
          </p:cNvSpPr>
          <p:nvPr>
            <p:ph idx="1"/>
          </p:nvPr>
        </p:nvSpPr>
        <p:spPr>
          <a:xfrm>
            <a:off x="457200" y="501041"/>
            <a:ext cx="8229600" cy="5823559"/>
          </a:xfrm>
        </p:spPr>
        <p:txBody>
          <a:bodyPr/>
          <a:lstStyle/>
          <a:p>
            <a:r>
              <a:rPr lang="en-US" sz="2400" dirty="0"/>
              <a:t>Important Concepts Related to Garbage Collection in Java</a:t>
            </a:r>
          </a:p>
          <a:p>
            <a:r>
              <a:rPr lang="en-US" sz="2400" b="1" dirty="0"/>
              <a:t>1. Unreachable objects: </a:t>
            </a:r>
            <a:r>
              <a:rPr lang="en-US" sz="2400" dirty="0"/>
              <a:t>An object is said to be unreachable if it doesn’t contain any reference to it. </a:t>
            </a:r>
          </a:p>
          <a:p>
            <a:r>
              <a:rPr lang="en-US" sz="2400" dirty="0"/>
              <a:t>Integer </a:t>
            </a:r>
            <a:r>
              <a:rPr lang="en-US" sz="2400" dirty="0" err="1"/>
              <a:t>i</a:t>
            </a:r>
            <a:r>
              <a:rPr lang="en-US" sz="2400" dirty="0"/>
              <a:t> = new Integer(4);</a:t>
            </a:r>
          </a:p>
          <a:p>
            <a:r>
              <a:rPr lang="en-US" sz="2400" dirty="0"/>
              <a:t>// the new Integer object is reachable  via the reference in '</a:t>
            </a:r>
            <a:r>
              <a:rPr lang="en-US" sz="2400" dirty="0" err="1"/>
              <a:t>i</a:t>
            </a:r>
            <a:r>
              <a:rPr lang="en-US" sz="2400" dirty="0"/>
              <a:t>' </a:t>
            </a:r>
          </a:p>
          <a:p>
            <a:r>
              <a:rPr lang="en-US" sz="2400" dirty="0" err="1"/>
              <a:t>i</a:t>
            </a:r>
            <a:r>
              <a:rPr lang="en-US" sz="2400" dirty="0"/>
              <a:t> = null;</a:t>
            </a:r>
          </a:p>
          <a:p>
            <a:r>
              <a:rPr lang="en-US" sz="2400" dirty="0"/>
              <a:t>// the Integer object is no longer reachable. </a:t>
            </a:r>
          </a:p>
          <a:p>
            <a:pPr marL="0" indent="0">
              <a:buNone/>
            </a:pPr>
            <a:endParaRPr lang="en-US" sz="2400" dirty="0"/>
          </a:p>
          <a:p>
            <a:r>
              <a:rPr lang="en-US" sz="2400" b="1" dirty="0"/>
              <a:t>2. Eligibility for garbage collection:</a:t>
            </a:r>
            <a:r>
              <a:rPr lang="en-US" sz="2400" dirty="0"/>
              <a:t> An object is said to be eligible for GC(garbage collection) if it is unreachable. After </a:t>
            </a:r>
            <a:r>
              <a:rPr lang="en-US" sz="2400" dirty="0" err="1"/>
              <a:t>i</a:t>
            </a:r>
            <a:r>
              <a:rPr lang="en-US" sz="2400" dirty="0"/>
              <a:t> = null, integer object 4 in the heap area is suitable for garbage collection in the above image.</a:t>
            </a:r>
          </a:p>
        </p:txBody>
      </p:sp>
    </p:spTree>
    <p:extLst>
      <p:ext uri="{BB962C8B-B14F-4D97-AF65-F5344CB8AC3E}">
        <p14:creationId xmlns:p14="http://schemas.microsoft.com/office/powerpoint/2010/main" val="3909234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841F91-A031-2506-4486-4E40F1DAA439}"/>
              </a:ext>
            </a:extLst>
          </p:cNvPr>
          <p:cNvSpPr>
            <a:spLocks noGrp="1"/>
          </p:cNvSpPr>
          <p:nvPr>
            <p:ph idx="1"/>
          </p:nvPr>
        </p:nvSpPr>
        <p:spPr>
          <a:xfrm>
            <a:off x="457200" y="513567"/>
            <a:ext cx="8229600" cy="5811033"/>
          </a:xfrm>
        </p:spPr>
        <p:txBody>
          <a:bodyPr/>
          <a:lstStyle/>
          <a:p>
            <a:r>
              <a:rPr lang="en-US" sz="2400" dirty="0"/>
              <a:t>Ways to make an object eligible for Garbage Collector</a:t>
            </a:r>
          </a:p>
          <a:p>
            <a:endParaRPr lang="en-US" sz="2400" dirty="0"/>
          </a:p>
          <a:p>
            <a:r>
              <a:rPr lang="en-US" sz="2400" dirty="0"/>
              <a:t>Even though the programmer is not responsible for destroying useless objects but it is highly recommended to make an object unreachable(thus eligible for GC) if it is no longer required.</a:t>
            </a:r>
          </a:p>
          <a:p>
            <a:endParaRPr lang="en-US" sz="2400" dirty="0"/>
          </a:p>
          <a:p>
            <a:r>
              <a:rPr lang="en-US" sz="2400" dirty="0"/>
              <a:t>There are generally four ways to make an object eligible for garbage collection.</a:t>
            </a:r>
          </a:p>
          <a:p>
            <a:r>
              <a:rPr lang="en-US" sz="2400" dirty="0"/>
              <a:t>1. Nullifying the reference variable</a:t>
            </a:r>
          </a:p>
          <a:p>
            <a:r>
              <a:rPr lang="en-US" sz="2400" dirty="0"/>
              <a:t>2. Re-assigning the reference variable</a:t>
            </a:r>
          </a:p>
          <a:p>
            <a:r>
              <a:rPr lang="en-US" sz="2400" dirty="0"/>
              <a:t>3. An object created inside the method</a:t>
            </a:r>
          </a:p>
          <a:p>
            <a:r>
              <a:rPr lang="en-US" sz="2400" dirty="0"/>
              <a:t>4. Island of Isolation</a:t>
            </a:r>
          </a:p>
        </p:txBody>
      </p:sp>
      <p:sp>
        <p:nvSpPr>
          <p:cNvPr id="4" name="Footer Placeholder 3">
            <a:extLst>
              <a:ext uri="{FF2B5EF4-FFF2-40B4-BE49-F238E27FC236}">
                <a16:creationId xmlns:a16="http://schemas.microsoft.com/office/drawing/2014/main" id="{143A9135-1CE2-C9C6-657F-27D2959D9706}"/>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900507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F2FA11-F7EB-0FC6-7529-B7C5E174F7EF}"/>
              </a:ext>
            </a:extLst>
          </p:cNvPr>
          <p:cNvSpPr>
            <a:spLocks noGrp="1"/>
          </p:cNvSpPr>
          <p:nvPr>
            <p:ph idx="1"/>
          </p:nvPr>
        </p:nvSpPr>
        <p:spPr>
          <a:xfrm>
            <a:off x="457200" y="513567"/>
            <a:ext cx="8229600" cy="5811033"/>
          </a:xfrm>
        </p:spPr>
        <p:txBody>
          <a:bodyPr/>
          <a:lstStyle/>
          <a:p>
            <a:r>
              <a:rPr lang="en-US" sz="1600" dirty="0"/>
              <a:t>Ways for requesting JVM to run Garbage Collector</a:t>
            </a:r>
          </a:p>
          <a:p>
            <a:endParaRPr lang="en-US" sz="1600" dirty="0"/>
          </a:p>
          <a:p>
            <a:r>
              <a:rPr lang="en-US" sz="1600" dirty="0"/>
              <a:t>Once we make an object eligible for garbage collection, it may not destroy immediately by the garbage collector. </a:t>
            </a:r>
          </a:p>
          <a:p>
            <a:endParaRPr lang="en-US" sz="1600" dirty="0"/>
          </a:p>
          <a:p>
            <a:r>
              <a:rPr lang="en-US" sz="1600" dirty="0"/>
              <a:t>Whenever JVM runs the Garbage Collector program, then only the object will be destroyed. But when JVM runs Garbage Collector, we can not expect.</a:t>
            </a:r>
          </a:p>
          <a:p>
            <a:endParaRPr lang="en-US" sz="1600" dirty="0"/>
          </a:p>
          <a:p>
            <a:r>
              <a:rPr lang="en-US" sz="1600" dirty="0"/>
              <a:t>We can also request JVM to run Garbage Collector. </a:t>
            </a:r>
          </a:p>
          <a:p>
            <a:r>
              <a:rPr lang="en-US" sz="1600" dirty="0"/>
              <a:t>There are two ways to do it : </a:t>
            </a:r>
          </a:p>
          <a:p>
            <a:endParaRPr lang="en-US" sz="1600" dirty="0"/>
          </a:p>
          <a:p>
            <a:r>
              <a:rPr lang="en-US" sz="1600" dirty="0"/>
              <a:t>Using </a:t>
            </a:r>
            <a:r>
              <a:rPr lang="en-US" sz="1600" b="1" dirty="0" err="1"/>
              <a:t>System.gc</a:t>
            </a:r>
            <a:r>
              <a:rPr lang="en-US" sz="1600" b="1" dirty="0"/>
              <a:t>() </a:t>
            </a:r>
            <a:r>
              <a:rPr lang="en-US" sz="1600" dirty="0"/>
              <a:t>method: System class contain static method </a:t>
            </a:r>
            <a:r>
              <a:rPr lang="en-US" sz="1600" dirty="0" err="1"/>
              <a:t>gc</a:t>
            </a:r>
            <a:r>
              <a:rPr lang="en-US" sz="1600" dirty="0"/>
              <a:t>() for requesting JVM to run Garbage Collector.</a:t>
            </a:r>
          </a:p>
          <a:p>
            <a:endParaRPr lang="en-US" sz="1600" dirty="0"/>
          </a:p>
          <a:p>
            <a:r>
              <a:rPr lang="en-US" sz="1600" dirty="0"/>
              <a:t>Using </a:t>
            </a:r>
            <a:r>
              <a:rPr lang="en-US" sz="1600" b="1" dirty="0" err="1"/>
              <a:t>Runtime.getRuntime</a:t>
            </a:r>
            <a:r>
              <a:rPr lang="en-US" sz="1600" b="1" dirty="0"/>
              <a:t>().</a:t>
            </a:r>
            <a:r>
              <a:rPr lang="en-US" sz="1600" b="1" dirty="0" err="1"/>
              <a:t>gc</a:t>
            </a:r>
            <a:r>
              <a:rPr lang="en-US" sz="1600" b="1" dirty="0"/>
              <a:t>()</a:t>
            </a:r>
            <a:r>
              <a:rPr lang="en-US" sz="1600" dirty="0"/>
              <a:t> method: Runtime class allows the application to interface with the JVM in which the application is running. Hence by using its </a:t>
            </a:r>
            <a:r>
              <a:rPr lang="en-US" sz="1600" dirty="0" err="1"/>
              <a:t>gc</a:t>
            </a:r>
            <a:r>
              <a:rPr lang="en-US" sz="1600" dirty="0"/>
              <a:t>() method, we can request JVM to run Garbage Collector.</a:t>
            </a:r>
          </a:p>
          <a:p>
            <a:r>
              <a:rPr lang="en-US" sz="1600" dirty="0"/>
              <a:t>There is no guarantee that any of the above two methods will run Garbage Collector.</a:t>
            </a:r>
          </a:p>
          <a:p>
            <a:endParaRPr lang="en-US" sz="1600" dirty="0"/>
          </a:p>
          <a:p>
            <a:r>
              <a:rPr lang="en-US" sz="1600" dirty="0"/>
              <a:t>Note: The call </a:t>
            </a:r>
            <a:r>
              <a:rPr lang="en-US" sz="1600" dirty="0" err="1"/>
              <a:t>System.gc</a:t>
            </a:r>
            <a:r>
              <a:rPr lang="en-US" sz="1600" dirty="0"/>
              <a:t>() is effectively equivalent to the call : </a:t>
            </a:r>
            <a:r>
              <a:rPr lang="en-US" sz="1600" dirty="0" err="1"/>
              <a:t>Runtime.getRuntime</a:t>
            </a:r>
            <a:r>
              <a:rPr lang="en-US" sz="1600" dirty="0"/>
              <a:t>().</a:t>
            </a:r>
            <a:r>
              <a:rPr lang="en-US" sz="1600" dirty="0" err="1"/>
              <a:t>gc</a:t>
            </a:r>
            <a:r>
              <a:rPr lang="en-US" sz="1600" dirty="0"/>
              <a:t>()</a:t>
            </a:r>
          </a:p>
        </p:txBody>
      </p:sp>
    </p:spTree>
    <p:extLst>
      <p:ext uri="{BB962C8B-B14F-4D97-AF65-F5344CB8AC3E}">
        <p14:creationId xmlns:p14="http://schemas.microsoft.com/office/powerpoint/2010/main" val="719093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02B64F-CA68-3379-ED30-BC7CE1DF6B65}"/>
              </a:ext>
            </a:extLst>
          </p:cNvPr>
          <p:cNvSpPr>
            <a:spLocks noGrp="1"/>
          </p:cNvSpPr>
          <p:nvPr>
            <p:ph idx="1"/>
          </p:nvPr>
        </p:nvSpPr>
        <p:spPr>
          <a:xfrm>
            <a:off x="457200" y="488515"/>
            <a:ext cx="8229600" cy="5836085"/>
          </a:xfrm>
        </p:spPr>
        <p:txBody>
          <a:bodyPr/>
          <a:lstStyle/>
          <a:p>
            <a:r>
              <a:rPr lang="en-US" sz="1800" b="1" dirty="0"/>
              <a:t>Finalization</a:t>
            </a:r>
          </a:p>
          <a:p>
            <a:r>
              <a:rPr lang="en-US" sz="1800" dirty="0"/>
              <a:t>Just before destroying an object, Garbage Collector calls finalize() method on the object to perform cleanup activities. Once finalize() method completes, Garbage Collector destroys that object.</a:t>
            </a:r>
          </a:p>
          <a:p>
            <a:r>
              <a:rPr lang="en-US" sz="1800" dirty="0"/>
              <a:t>finalize() method is present in Object class with the following prototype.</a:t>
            </a:r>
          </a:p>
          <a:p>
            <a:endParaRPr lang="en-US" sz="1800" dirty="0"/>
          </a:p>
          <a:p>
            <a:r>
              <a:rPr lang="en-US" sz="1800" dirty="0"/>
              <a:t>protected void finalize() throws Throwable</a:t>
            </a:r>
          </a:p>
          <a:p>
            <a:pPr marL="0" indent="0">
              <a:buNone/>
            </a:pPr>
            <a:endParaRPr lang="en-US" sz="1800" dirty="0"/>
          </a:p>
          <a:p>
            <a:r>
              <a:rPr lang="en-US" sz="1800" dirty="0"/>
              <a:t>Based on our requirement, we can override finalize() method for performing our cleanup activities like closing connection from the database. </a:t>
            </a:r>
          </a:p>
          <a:p>
            <a:endParaRPr lang="en-US" sz="1800" dirty="0"/>
          </a:p>
          <a:p>
            <a:r>
              <a:rPr lang="en-US" sz="1800" dirty="0"/>
              <a:t>The finalize() method is called by Garbage Collector, not JVM. However, Garbage Collector is one of the modules of JVM.</a:t>
            </a:r>
          </a:p>
          <a:p>
            <a:r>
              <a:rPr lang="en-US" sz="1800" dirty="0"/>
              <a:t>Object class finalize() method has an empty implementation. Thus, it is recommended to override the finalize() method to dispose of system resources or perform other cleanups.</a:t>
            </a:r>
          </a:p>
          <a:p>
            <a:r>
              <a:rPr lang="en-US" sz="1800" dirty="0"/>
              <a:t>The finalize() method is never invoked more than once for any object.</a:t>
            </a:r>
          </a:p>
          <a:p>
            <a:r>
              <a:rPr lang="en-US" sz="1800" dirty="0"/>
              <a:t>If an uncaught exception is thrown by the finalize() method, the exception is ignored, and the finalization of that object terminates.</a:t>
            </a:r>
          </a:p>
        </p:txBody>
      </p:sp>
      <p:sp>
        <p:nvSpPr>
          <p:cNvPr id="4" name="Footer Placeholder 3">
            <a:extLst>
              <a:ext uri="{FF2B5EF4-FFF2-40B4-BE49-F238E27FC236}">
                <a16:creationId xmlns:a16="http://schemas.microsoft.com/office/drawing/2014/main" id="{71D05ED5-BFD0-BE20-A299-04B9EBEF76E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728847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2311C-2327-45BA-8A94-AB7E0F949BF0}"/>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5F0F73F3-0445-4917-8154-FA39514F8269}"/>
              </a:ext>
            </a:extLst>
          </p:cNvPr>
          <p:cNvSpPr>
            <a:spLocks noGrp="1"/>
          </p:cNvSpPr>
          <p:nvPr>
            <p:ph idx="1"/>
          </p:nvPr>
        </p:nvSpPr>
        <p:spPr>
          <a:xfrm>
            <a:off x="457200" y="1869440"/>
            <a:ext cx="8229600" cy="2966720"/>
          </a:xfrm>
        </p:spPr>
        <p:txBody>
          <a:bodyPr/>
          <a:lstStyle/>
          <a:p>
            <a:pPr marL="0" indent="0" algn="ctr">
              <a:buNone/>
            </a:pPr>
            <a:r>
              <a:rPr lang="en-IN" sz="6600" dirty="0">
                <a:solidFill>
                  <a:srgbClr val="002060"/>
                </a:solidFill>
                <a:latin typeface="Times New Roman" panose="02020603050405020304" pitchFamily="18" charset="0"/>
                <a:cs typeface="Times New Roman" panose="02020603050405020304" pitchFamily="18" charset="0"/>
              </a:rPr>
              <a:t>THANK</a:t>
            </a:r>
          </a:p>
          <a:p>
            <a:pPr marL="0" indent="0" algn="ctr">
              <a:buNone/>
            </a:pPr>
            <a:r>
              <a:rPr lang="en-IN" sz="6600" dirty="0">
                <a:solidFill>
                  <a:srgbClr val="002060"/>
                </a:solidFill>
                <a:latin typeface="Times New Roman" panose="02020603050405020304" pitchFamily="18" charset="0"/>
                <a:cs typeface="Times New Roman" panose="02020603050405020304" pitchFamily="18" charset="0"/>
              </a:rPr>
              <a:t>YOU</a:t>
            </a:r>
          </a:p>
        </p:txBody>
      </p:sp>
      <p:sp>
        <p:nvSpPr>
          <p:cNvPr id="4" name="Footer Placeholder 3">
            <a:extLst>
              <a:ext uri="{FF2B5EF4-FFF2-40B4-BE49-F238E27FC236}">
                <a16:creationId xmlns:a16="http://schemas.microsoft.com/office/drawing/2014/main" id="{147F29A4-15AC-4EDA-B3C2-BBE5172360B3}"/>
              </a:ext>
            </a:extLst>
          </p:cNvPr>
          <p:cNvSpPr>
            <a:spLocks noGrp="1"/>
          </p:cNvSpPr>
          <p:nvPr>
            <p:ph type="ftr" sz="quarter" idx="11"/>
          </p:nvPr>
        </p:nvSpPr>
        <p:spPr>
          <a:xfrm>
            <a:off x="180304" y="6312157"/>
            <a:ext cx="8731876" cy="469643"/>
          </a:xfrm>
        </p:spPr>
        <p:txBody>
          <a:bodyPr/>
          <a:lstStyle/>
          <a:p>
            <a:pPr>
              <a:defRPr/>
            </a:pPr>
            <a:r>
              <a:rPr lang="en-US" sz="2000" b="1" i="1">
                <a:solidFill>
                  <a:schemeClr val="tx1"/>
                </a:solidFill>
                <a:latin typeface="Times New Roman" panose="02020603050405020304" pitchFamily="18" charset="0"/>
                <a:cs typeface="Times New Roman" panose="02020603050405020304" pitchFamily="18" charset="0"/>
              </a:rPr>
              <a:t>Dr. Naveen Kumar, Associate Professor, AIIT, AUP</a:t>
            </a:r>
            <a:endParaRPr lang="en-US" sz="2000"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00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klu">
  <a:themeElements>
    <a:clrScheme name="Custom 4">
      <a:dk1>
        <a:sysClr val="windowText" lastClr="000000"/>
      </a:dk1>
      <a:lt1>
        <a:sysClr val="window" lastClr="FFFFFF"/>
      </a:lt1>
      <a:dk2>
        <a:srgbClr val="1F497D"/>
      </a:dk2>
      <a:lt2>
        <a:srgbClr val="EEECE1"/>
      </a:lt2>
      <a:accent1>
        <a:srgbClr val="00000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58349</TotalTime>
  <Words>1347</Words>
  <Application>Microsoft Macintosh PowerPoint</Application>
  <PresentationFormat>On-screen Show (4:3)</PresentationFormat>
  <Paragraphs>140</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Calibri,BoldItalic</vt:lpstr>
      <vt:lpstr>Calibri,Italic</vt:lpstr>
      <vt:lpstr>Cambria</vt:lpstr>
      <vt:lpstr>Times New Roman</vt:lpstr>
      <vt:lpstr>Wingdings</vt:lpstr>
      <vt:lpstr>klu</vt:lpstr>
      <vt:lpstr> </vt:lpstr>
      <vt:lpstr>Garbage Collector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vector>
  </TitlesOfParts>
  <Company>FAMU-FSU College of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Extended Surfaces/Fins</dc:title>
  <dc:creator>C. Shih</dc:creator>
  <cp:lastModifiedBy>NAVEEN KUMAR</cp:lastModifiedBy>
  <cp:revision>1609</cp:revision>
  <cp:lastPrinted>1999-01-11T10:11:19Z</cp:lastPrinted>
  <dcterms:created xsi:type="dcterms:W3CDTF">1999-01-07T21:51:57Z</dcterms:created>
  <dcterms:modified xsi:type="dcterms:W3CDTF">2024-10-28T05:29:32Z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false</vt:bool>
  </property>
  <property fmtid="{D5CDD505-2E9C-101B-9397-08002B2CF9AE}" pid="20" name="NavBtnPos">
    <vt:i4>1</vt:i4>
  </property>
  <property fmtid="{D5CDD505-2E9C-101B-9397-08002B2CF9AE}" pid="21" name="OutputDir">
    <vt:lpwstr>E:\public_html\eml3016\lecture-notes</vt:lpwstr>
  </property>
</Properties>
</file>