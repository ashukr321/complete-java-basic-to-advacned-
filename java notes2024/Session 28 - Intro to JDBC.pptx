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1" r:id="rId36"/>
    <p:sldId id="292" r:id="rId37"/>
    <p:sldId id="290" r:id="rId38"/>
    <p:sldId id="294" r:id="rId39"/>
    <p:sldId id="293" r:id="rId40"/>
    <p:sldId id="295" r:id="rId41"/>
    <p:sldId id="297" r:id="rId42"/>
    <p:sldId id="296" r:id="rId43"/>
    <p:sldId id="298" r:id="rId44"/>
    <p:sldId id="299"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0913"/>
    <p:restoredTop sz="95680"/>
  </p:normalViewPr>
  <p:slideViewPr>
    <p:cSldViewPr snapToGrid="0">
      <p:cViewPr varScale="1">
        <p:scale>
          <a:sx n="108" d="100"/>
          <a:sy n="108" d="100"/>
        </p:scale>
        <p:origin x="37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8BA47-E4C7-8E99-5A22-80E317F645C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4B4B2DD-86B8-278E-6767-928271A92E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17844BB-5C1B-FB02-286E-0859E0BCDD50}"/>
              </a:ext>
            </a:extLst>
          </p:cNvPr>
          <p:cNvSpPr>
            <a:spLocks noGrp="1"/>
          </p:cNvSpPr>
          <p:nvPr>
            <p:ph type="dt" sz="half" idx="10"/>
          </p:nvPr>
        </p:nvSpPr>
        <p:spPr/>
        <p:txBody>
          <a:bodyPr/>
          <a:lstStyle/>
          <a:p>
            <a:fld id="{5388E172-05F4-8848-B19B-F2DD4129100B}" type="datetimeFigureOut">
              <a:rPr lang="en-US" smtClean="0"/>
              <a:t>11/18/24</a:t>
            </a:fld>
            <a:endParaRPr lang="en-US"/>
          </a:p>
        </p:txBody>
      </p:sp>
      <p:sp>
        <p:nvSpPr>
          <p:cNvPr id="5" name="Footer Placeholder 4">
            <a:extLst>
              <a:ext uri="{FF2B5EF4-FFF2-40B4-BE49-F238E27FC236}">
                <a16:creationId xmlns:a16="http://schemas.microsoft.com/office/drawing/2014/main" id="{9620D07F-5184-AF62-7D91-4F41829A88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6243E8-352B-C203-9E90-F405A8F7AB67}"/>
              </a:ext>
            </a:extLst>
          </p:cNvPr>
          <p:cNvSpPr>
            <a:spLocks noGrp="1"/>
          </p:cNvSpPr>
          <p:nvPr>
            <p:ph type="sldNum" sz="quarter" idx="12"/>
          </p:nvPr>
        </p:nvSpPr>
        <p:spPr/>
        <p:txBody>
          <a:bodyPr/>
          <a:lstStyle/>
          <a:p>
            <a:fld id="{A24F1610-4F01-4D40-99E9-C2E9B1275592}" type="slidenum">
              <a:rPr lang="en-US" smtClean="0"/>
              <a:t>‹#›</a:t>
            </a:fld>
            <a:endParaRPr lang="en-US"/>
          </a:p>
        </p:txBody>
      </p:sp>
    </p:spTree>
    <p:extLst>
      <p:ext uri="{BB962C8B-B14F-4D97-AF65-F5344CB8AC3E}">
        <p14:creationId xmlns:p14="http://schemas.microsoft.com/office/powerpoint/2010/main" val="2869947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B5EC5-8F55-1B03-7CBD-B7BCB497F5E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1100F57-26AA-AE9C-1CB1-2B07E1A56BA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CC22D18-FCA5-2F1F-DA8A-557DB2AB1B59}"/>
              </a:ext>
            </a:extLst>
          </p:cNvPr>
          <p:cNvSpPr>
            <a:spLocks noGrp="1"/>
          </p:cNvSpPr>
          <p:nvPr>
            <p:ph type="dt" sz="half" idx="10"/>
          </p:nvPr>
        </p:nvSpPr>
        <p:spPr/>
        <p:txBody>
          <a:bodyPr/>
          <a:lstStyle/>
          <a:p>
            <a:fld id="{5388E172-05F4-8848-B19B-F2DD4129100B}" type="datetimeFigureOut">
              <a:rPr lang="en-US" smtClean="0"/>
              <a:t>11/18/24</a:t>
            </a:fld>
            <a:endParaRPr lang="en-US"/>
          </a:p>
        </p:txBody>
      </p:sp>
      <p:sp>
        <p:nvSpPr>
          <p:cNvPr id="5" name="Footer Placeholder 4">
            <a:extLst>
              <a:ext uri="{FF2B5EF4-FFF2-40B4-BE49-F238E27FC236}">
                <a16:creationId xmlns:a16="http://schemas.microsoft.com/office/drawing/2014/main" id="{4F1077AA-2CC6-9F0C-25B6-9E773176FC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7E07F1-0210-BB78-B621-EDCD4C9C65F7}"/>
              </a:ext>
            </a:extLst>
          </p:cNvPr>
          <p:cNvSpPr>
            <a:spLocks noGrp="1"/>
          </p:cNvSpPr>
          <p:nvPr>
            <p:ph type="sldNum" sz="quarter" idx="12"/>
          </p:nvPr>
        </p:nvSpPr>
        <p:spPr/>
        <p:txBody>
          <a:bodyPr/>
          <a:lstStyle/>
          <a:p>
            <a:fld id="{A24F1610-4F01-4D40-99E9-C2E9B1275592}" type="slidenum">
              <a:rPr lang="en-US" smtClean="0"/>
              <a:t>‹#›</a:t>
            </a:fld>
            <a:endParaRPr lang="en-US"/>
          </a:p>
        </p:txBody>
      </p:sp>
    </p:spTree>
    <p:extLst>
      <p:ext uri="{BB962C8B-B14F-4D97-AF65-F5344CB8AC3E}">
        <p14:creationId xmlns:p14="http://schemas.microsoft.com/office/powerpoint/2010/main" val="311010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4866C-36CA-0503-B60C-CCB65286227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CECB96B-7A99-7A71-9D39-6C1B17B88F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C8D8067-8A84-BB10-5474-8927DA3A271D}"/>
              </a:ext>
            </a:extLst>
          </p:cNvPr>
          <p:cNvSpPr>
            <a:spLocks noGrp="1"/>
          </p:cNvSpPr>
          <p:nvPr>
            <p:ph type="dt" sz="half" idx="10"/>
          </p:nvPr>
        </p:nvSpPr>
        <p:spPr/>
        <p:txBody>
          <a:bodyPr/>
          <a:lstStyle/>
          <a:p>
            <a:fld id="{5388E172-05F4-8848-B19B-F2DD4129100B}" type="datetimeFigureOut">
              <a:rPr lang="en-US" smtClean="0"/>
              <a:t>11/18/24</a:t>
            </a:fld>
            <a:endParaRPr lang="en-US"/>
          </a:p>
        </p:txBody>
      </p:sp>
      <p:sp>
        <p:nvSpPr>
          <p:cNvPr id="5" name="Footer Placeholder 4">
            <a:extLst>
              <a:ext uri="{FF2B5EF4-FFF2-40B4-BE49-F238E27FC236}">
                <a16:creationId xmlns:a16="http://schemas.microsoft.com/office/drawing/2014/main" id="{DE36B47B-00A2-4411-EAF0-62503A563D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998D12-A3BC-6A51-E255-0B3911323410}"/>
              </a:ext>
            </a:extLst>
          </p:cNvPr>
          <p:cNvSpPr>
            <a:spLocks noGrp="1"/>
          </p:cNvSpPr>
          <p:nvPr>
            <p:ph type="sldNum" sz="quarter" idx="12"/>
          </p:nvPr>
        </p:nvSpPr>
        <p:spPr/>
        <p:txBody>
          <a:bodyPr/>
          <a:lstStyle/>
          <a:p>
            <a:fld id="{A24F1610-4F01-4D40-99E9-C2E9B1275592}" type="slidenum">
              <a:rPr lang="en-US" smtClean="0"/>
              <a:t>‹#›</a:t>
            </a:fld>
            <a:endParaRPr lang="en-US"/>
          </a:p>
        </p:txBody>
      </p:sp>
    </p:spTree>
    <p:extLst>
      <p:ext uri="{BB962C8B-B14F-4D97-AF65-F5344CB8AC3E}">
        <p14:creationId xmlns:p14="http://schemas.microsoft.com/office/powerpoint/2010/main" val="2628435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6B11D-8694-4A1A-8757-F77BDB9AAE0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13EB026-EECC-F58F-9A4B-9F955F787EE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00A94D6-F4CA-15B3-BD5B-C2D018BE4AD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F3E3F6D-AF48-2743-8690-E143F961F61D}"/>
              </a:ext>
            </a:extLst>
          </p:cNvPr>
          <p:cNvSpPr>
            <a:spLocks noGrp="1"/>
          </p:cNvSpPr>
          <p:nvPr>
            <p:ph type="dt" sz="half" idx="10"/>
          </p:nvPr>
        </p:nvSpPr>
        <p:spPr/>
        <p:txBody>
          <a:bodyPr/>
          <a:lstStyle/>
          <a:p>
            <a:fld id="{5388E172-05F4-8848-B19B-F2DD4129100B}" type="datetimeFigureOut">
              <a:rPr lang="en-US" smtClean="0"/>
              <a:t>11/18/24</a:t>
            </a:fld>
            <a:endParaRPr lang="en-US"/>
          </a:p>
        </p:txBody>
      </p:sp>
      <p:sp>
        <p:nvSpPr>
          <p:cNvPr id="6" name="Footer Placeholder 5">
            <a:extLst>
              <a:ext uri="{FF2B5EF4-FFF2-40B4-BE49-F238E27FC236}">
                <a16:creationId xmlns:a16="http://schemas.microsoft.com/office/drawing/2014/main" id="{D2B4AF84-3764-77E4-A2B6-CE09187D4F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7FC43B-8CB5-9FAF-DE47-265066F32011}"/>
              </a:ext>
            </a:extLst>
          </p:cNvPr>
          <p:cNvSpPr>
            <a:spLocks noGrp="1"/>
          </p:cNvSpPr>
          <p:nvPr>
            <p:ph type="sldNum" sz="quarter" idx="12"/>
          </p:nvPr>
        </p:nvSpPr>
        <p:spPr/>
        <p:txBody>
          <a:bodyPr/>
          <a:lstStyle/>
          <a:p>
            <a:fld id="{A24F1610-4F01-4D40-99E9-C2E9B1275592}" type="slidenum">
              <a:rPr lang="en-US" smtClean="0"/>
              <a:t>‹#›</a:t>
            </a:fld>
            <a:endParaRPr lang="en-US"/>
          </a:p>
        </p:txBody>
      </p:sp>
    </p:spTree>
    <p:extLst>
      <p:ext uri="{BB962C8B-B14F-4D97-AF65-F5344CB8AC3E}">
        <p14:creationId xmlns:p14="http://schemas.microsoft.com/office/powerpoint/2010/main" val="1127782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41B02-E5F6-015B-4689-EDF88034514A}"/>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520551D-108B-143F-F1EA-0E0EECD488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E37A276-A8DC-39F9-AB9F-20229FA3AA2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3A0D388-95D3-99FC-A92E-163B1BF59E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819E299-D141-ADE0-CE66-BDDB716D3A3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C8C39467-C848-7C63-B7C9-B66B7C3A8933}"/>
              </a:ext>
            </a:extLst>
          </p:cNvPr>
          <p:cNvSpPr>
            <a:spLocks noGrp="1"/>
          </p:cNvSpPr>
          <p:nvPr>
            <p:ph type="dt" sz="half" idx="10"/>
          </p:nvPr>
        </p:nvSpPr>
        <p:spPr/>
        <p:txBody>
          <a:bodyPr/>
          <a:lstStyle/>
          <a:p>
            <a:fld id="{5388E172-05F4-8848-B19B-F2DD4129100B}" type="datetimeFigureOut">
              <a:rPr lang="en-US" smtClean="0"/>
              <a:t>11/18/24</a:t>
            </a:fld>
            <a:endParaRPr lang="en-US"/>
          </a:p>
        </p:txBody>
      </p:sp>
      <p:sp>
        <p:nvSpPr>
          <p:cNvPr id="8" name="Footer Placeholder 7">
            <a:extLst>
              <a:ext uri="{FF2B5EF4-FFF2-40B4-BE49-F238E27FC236}">
                <a16:creationId xmlns:a16="http://schemas.microsoft.com/office/drawing/2014/main" id="{AF334883-B733-CE4B-07F4-263B1503787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26D7B50-0190-5F36-0D0B-E2086F833FF0}"/>
              </a:ext>
            </a:extLst>
          </p:cNvPr>
          <p:cNvSpPr>
            <a:spLocks noGrp="1"/>
          </p:cNvSpPr>
          <p:nvPr>
            <p:ph type="sldNum" sz="quarter" idx="12"/>
          </p:nvPr>
        </p:nvSpPr>
        <p:spPr/>
        <p:txBody>
          <a:bodyPr/>
          <a:lstStyle/>
          <a:p>
            <a:fld id="{A24F1610-4F01-4D40-99E9-C2E9B1275592}" type="slidenum">
              <a:rPr lang="en-US" smtClean="0"/>
              <a:t>‹#›</a:t>
            </a:fld>
            <a:endParaRPr lang="en-US"/>
          </a:p>
        </p:txBody>
      </p:sp>
    </p:spTree>
    <p:extLst>
      <p:ext uri="{BB962C8B-B14F-4D97-AF65-F5344CB8AC3E}">
        <p14:creationId xmlns:p14="http://schemas.microsoft.com/office/powerpoint/2010/main" val="13538265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FFE80-0C8F-62F6-9975-2320993B3B85}"/>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4C250B6-A01C-17F6-073B-0A425A1CEAB9}"/>
              </a:ext>
            </a:extLst>
          </p:cNvPr>
          <p:cNvSpPr>
            <a:spLocks noGrp="1"/>
          </p:cNvSpPr>
          <p:nvPr>
            <p:ph type="dt" sz="half" idx="10"/>
          </p:nvPr>
        </p:nvSpPr>
        <p:spPr/>
        <p:txBody>
          <a:bodyPr/>
          <a:lstStyle/>
          <a:p>
            <a:fld id="{5388E172-05F4-8848-B19B-F2DD4129100B}" type="datetimeFigureOut">
              <a:rPr lang="en-US" smtClean="0"/>
              <a:t>11/18/24</a:t>
            </a:fld>
            <a:endParaRPr lang="en-US"/>
          </a:p>
        </p:txBody>
      </p:sp>
      <p:sp>
        <p:nvSpPr>
          <p:cNvPr id="4" name="Footer Placeholder 3">
            <a:extLst>
              <a:ext uri="{FF2B5EF4-FFF2-40B4-BE49-F238E27FC236}">
                <a16:creationId xmlns:a16="http://schemas.microsoft.com/office/drawing/2014/main" id="{EE742CF1-843D-C95E-560D-474796E36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3CBFE4C-AE13-DC77-F13E-3886B3D4380F}"/>
              </a:ext>
            </a:extLst>
          </p:cNvPr>
          <p:cNvSpPr>
            <a:spLocks noGrp="1"/>
          </p:cNvSpPr>
          <p:nvPr>
            <p:ph type="sldNum" sz="quarter" idx="12"/>
          </p:nvPr>
        </p:nvSpPr>
        <p:spPr/>
        <p:txBody>
          <a:bodyPr/>
          <a:lstStyle/>
          <a:p>
            <a:fld id="{A24F1610-4F01-4D40-99E9-C2E9B1275592}" type="slidenum">
              <a:rPr lang="en-US" smtClean="0"/>
              <a:t>‹#›</a:t>
            </a:fld>
            <a:endParaRPr lang="en-US"/>
          </a:p>
        </p:txBody>
      </p:sp>
    </p:spTree>
    <p:extLst>
      <p:ext uri="{BB962C8B-B14F-4D97-AF65-F5344CB8AC3E}">
        <p14:creationId xmlns:p14="http://schemas.microsoft.com/office/powerpoint/2010/main" val="172102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5A5BFD-A152-9B05-8644-98B4CC2ED111}"/>
              </a:ext>
            </a:extLst>
          </p:cNvPr>
          <p:cNvSpPr>
            <a:spLocks noGrp="1"/>
          </p:cNvSpPr>
          <p:nvPr>
            <p:ph type="dt" sz="half" idx="10"/>
          </p:nvPr>
        </p:nvSpPr>
        <p:spPr/>
        <p:txBody>
          <a:bodyPr/>
          <a:lstStyle/>
          <a:p>
            <a:fld id="{5388E172-05F4-8848-B19B-F2DD4129100B}" type="datetimeFigureOut">
              <a:rPr lang="en-US" smtClean="0"/>
              <a:t>11/18/24</a:t>
            </a:fld>
            <a:endParaRPr lang="en-US"/>
          </a:p>
        </p:txBody>
      </p:sp>
      <p:sp>
        <p:nvSpPr>
          <p:cNvPr id="3" name="Footer Placeholder 2">
            <a:extLst>
              <a:ext uri="{FF2B5EF4-FFF2-40B4-BE49-F238E27FC236}">
                <a16:creationId xmlns:a16="http://schemas.microsoft.com/office/drawing/2014/main" id="{CF3A4D0A-2DAD-F20E-A7EC-036DB6D8851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D4923C8-6462-B015-CABD-F1B24268981F}"/>
              </a:ext>
            </a:extLst>
          </p:cNvPr>
          <p:cNvSpPr>
            <a:spLocks noGrp="1"/>
          </p:cNvSpPr>
          <p:nvPr>
            <p:ph type="sldNum" sz="quarter" idx="12"/>
          </p:nvPr>
        </p:nvSpPr>
        <p:spPr/>
        <p:txBody>
          <a:bodyPr/>
          <a:lstStyle/>
          <a:p>
            <a:fld id="{A24F1610-4F01-4D40-99E9-C2E9B1275592}" type="slidenum">
              <a:rPr lang="en-US" smtClean="0"/>
              <a:t>‹#›</a:t>
            </a:fld>
            <a:endParaRPr lang="en-US"/>
          </a:p>
        </p:txBody>
      </p:sp>
    </p:spTree>
    <p:extLst>
      <p:ext uri="{BB962C8B-B14F-4D97-AF65-F5344CB8AC3E}">
        <p14:creationId xmlns:p14="http://schemas.microsoft.com/office/powerpoint/2010/main" val="3214545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619A9-7E5C-76F8-8AB7-FE809D4BB62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C4332C0-E6C4-4E83-823E-57E27C5963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A53C0A72-150F-E957-A386-C9CC38E4C8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27B1E89-DFC8-77A3-8727-6CB1B5937EF7}"/>
              </a:ext>
            </a:extLst>
          </p:cNvPr>
          <p:cNvSpPr>
            <a:spLocks noGrp="1"/>
          </p:cNvSpPr>
          <p:nvPr>
            <p:ph type="dt" sz="half" idx="10"/>
          </p:nvPr>
        </p:nvSpPr>
        <p:spPr/>
        <p:txBody>
          <a:bodyPr/>
          <a:lstStyle/>
          <a:p>
            <a:fld id="{5388E172-05F4-8848-B19B-F2DD4129100B}" type="datetimeFigureOut">
              <a:rPr lang="en-US" smtClean="0"/>
              <a:t>11/18/24</a:t>
            </a:fld>
            <a:endParaRPr lang="en-US"/>
          </a:p>
        </p:txBody>
      </p:sp>
      <p:sp>
        <p:nvSpPr>
          <p:cNvPr id="6" name="Footer Placeholder 5">
            <a:extLst>
              <a:ext uri="{FF2B5EF4-FFF2-40B4-BE49-F238E27FC236}">
                <a16:creationId xmlns:a16="http://schemas.microsoft.com/office/drawing/2014/main" id="{B3C535CC-7B04-E02E-0FF4-5CF50BBBDA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BDB61D-9DEC-1DC6-EA33-A03663AE9424}"/>
              </a:ext>
            </a:extLst>
          </p:cNvPr>
          <p:cNvSpPr>
            <a:spLocks noGrp="1"/>
          </p:cNvSpPr>
          <p:nvPr>
            <p:ph type="sldNum" sz="quarter" idx="12"/>
          </p:nvPr>
        </p:nvSpPr>
        <p:spPr/>
        <p:txBody>
          <a:bodyPr/>
          <a:lstStyle/>
          <a:p>
            <a:fld id="{A24F1610-4F01-4D40-99E9-C2E9B1275592}" type="slidenum">
              <a:rPr lang="en-US" smtClean="0"/>
              <a:t>‹#›</a:t>
            </a:fld>
            <a:endParaRPr lang="en-US"/>
          </a:p>
        </p:txBody>
      </p:sp>
    </p:spTree>
    <p:extLst>
      <p:ext uri="{BB962C8B-B14F-4D97-AF65-F5344CB8AC3E}">
        <p14:creationId xmlns:p14="http://schemas.microsoft.com/office/powerpoint/2010/main" val="2739548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A4B73-6C55-F4DD-6292-CE8A1DE6E87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1FE69DE-810F-3B92-1D99-831FBB7E82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F421B0-8187-B4C1-9B54-BC24A244C4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880C4D2-0BE1-7A2E-C539-1944AA604BB9}"/>
              </a:ext>
            </a:extLst>
          </p:cNvPr>
          <p:cNvSpPr>
            <a:spLocks noGrp="1"/>
          </p:cNvSpPr>
          <p:nvPr>
            <p:ph type="dt" sz="half" idx="10"/>
          </p:nvPr>
        </p:nvSpPr>
        <p:spPr/>
        <p:txBody>
          <a:bodyPr/>
          <a:lstStyle/>
          <a:p>
            <a:fld id="{5388E172-05F4-8848-B19B-F2DD4129100B}" type="datetimeFigureOut">
              <a:rPr lang="en-US" smtClean="0"/>
              <a:t>11/18/24</a:t>
            </a:fld>
            <a:endParaRPr lang="en-US"/>
          </a:p>
        </p:txBody>
      </p:sp>
      <p:sp>
        <p:nvSpPr>
          <p:cNvPr id="6" name="Footer Placeholder 5">
            <a:extLst>
              <a:ext uri="{FF2B5EF4-FFF2-40B4-BE49-F238E27FC236}">
                <a16:creationId xmlns:a16="http://schemas.microsoft.com/office/drawing/2014/main" id="{6E6FC15C-146B-E8D1-7F62-7139B3CAC7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C27F3D-A3B5-6331-C184-E3A6BD54BF57}"/>
              </a:ext>
            </a:extLst>
          </p:cNvPr>
          <p:cNvSpPr>
            <a:spLocks noGrp="1"/>
          </p:cNvSpPr>
          <p:nvPr>
            <p:ph type="sldNum" sz="quarter" idx="12"/>
          </p:nvPr>
        </p:nvSpPr>
        <p:spPr/>
        <p:txBody>
          <a:bodyPr/>
          <a:lstStyle/>
          <a:p>
            <a:fld id="{A24F1610-4F01-4D40-99E9-C2E9B1275592}" type="slidenum">
              <a:rPr lang="en-US" smtClean="0"/>
              <a:t>‹#›</a:t>
            </a:fld>
            <a:endParaRPr lang="en-US"/>
          </a:p>
        </p:txBody>
      </p:sp>
    </p:spTree>
    <p:extLst>
      <p:ext uri="{BB962C8B-B14F-4D97-AF65-F5344CB8AC3E}">
        <p14:creationId xmlns:p14="http://schemas.microsoft.com/office/powerpoint/2010/main" val="3396364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1FB66-AA1C-7034-4271-DC96042657E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83985BD-3967-8858-9356-7BABA3B8253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C15FD68-16B3-7265-223F-68E148B0E73E}"/>
              </a:ext>
            </a:extLst>
          </p:cNvPr>
          <p:cNvSpPr>
            <a:spLocks noGrp="1"/>
          </p:cNvSpPr>
          <p:nvPr>
            <p:ph type="dt" sz="half" idx="10"/>
          </p:nvPr>
        </p:nvSpPr>
        <p:spPr/>
        <p:txBody>
          <a:bodyPr/>
          <a:lstStyle/>
          <a:p>
            <a:fld id="{5388E172-05F4-8848-B19B-F2DD4129100B}" type="datetimeFigureOut">
              <a:rPr lang="en-US" smtClean="0"/>
              <a:t>11/18/24</a:t>
            </a:fld>
            <a:endParaRPr lang="en-US"/>
          </a:p>
        </p:txBody>
      </p:sp>
      <p:sp>
        <p:nvSpPr>
          <p:cNvPr id="5" name="Footer Placeholder 4">
            <a:extLst>
              <a:ext uri="{FF2B5EF4-FFF2-40B4-BE49-F238E27FC236}">
                <a16:creationId xmlns:a16="http://schemas.microsoft.com/office/drawing/2014/main" id="{356AE2F1-5535-4FDB-4E9A-2BF86CA03D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2FB5C9-6FFE-7EBB-3ACB-F057A7A733E4}"/>
              </a:ext>
            </a:extLst>
          </p:cNvPr>
          <p:cNvSpPr>
            <a:spLocks noGrp="1"/>
          </p:cNvSpPr>
          <p:nvPr>
            <p:ph type="sldNum" sz="quarter" idx="12"/>
          </p:nvPr>
        </p:nvSpPr>
        <p:spPr/>
        <p:txBody>
          <a:bodyPr/>
          <a:lstStyle/>
          <a:p>
            <a:fld id="{A24F1610-4F01-4D40-99E9-C2E9B1275592}" type="slidenum">
              <a:rPr lang="en-US" smtClean="0"/>
              <a:t>‹#›</a:t>
            </a:fld>
            <a:endParaRPr lang="en-US"/>
          </a:p>
        </p:txBody>
      </p:sp>
    </p:spTree>
    <p:extLst>
      <p:ext uri="{BB962C8B-B14F-4D97-AF65-F5344CB8AC3E}">
        <p14:creationId xmlns:p14="http://schemas.microsoft.com/office/powerpoint/2010/main" val="517532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57FD3B-8FD5-A14D-B863-03A8CD88AA2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03DF8AF-5252-D755-8DB0-B0B6FDD94A0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C7E585C-501C-D1CA-CF03-EEB93C3F0557}"/>
              </a:ext>
            </a:extLst>
          </p:cNvPr>
          <p:cNvSpPr>
            <a:spLocks noGrp="1"/>
          </p:cNvSpPr>
          <p:nvPr>
            <p:ph type="dt" sz="half" idx="10"/>
          </p:nvPr>
        </p:nvSpPr>
        <p:spPr/>
        <p:txBody>
          <a:bodyPr/>
          <a:lstStyle/>
          <a:p>
            <a:fld id="{5388E172-05F4-8848-B19B-F2DD4129100B}" type="datetimeFigureOut">
              <a:rPr lang="en-US" smtClean="0"/>
              <a:t>11/18/24</a:t>
            </a:fld>
            <a:endParaRPr lang="en-US"/>
          </a:p>
        </p:txBody>
      </p:sp>
      <p:sp>
        <p:nvSpPr>
          <p:cNvPr id="5" name="Footer Placeholder 4">
            <a:extLst>
              <a:ext uri="{FF2B5EF4-FFF2-40B4-BE49-F238E27FC236}">
                <a16:creationId xmlns:a16="http://schemas.microsoft.com/office/drawing/2014/main" id="{1B9797BA-B752-DBBA-CDF3-7361486D57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5E6660-CFD6-44D6-C493-725356D043C6}"/>
              </a:ext>
            </a:extLst>
          </p:cNvPr>
          <p:cNvSpPr>
            <a:spLocks noGrp="1"/>
          </p:cNvSpPr>
          <p:nvPr>
            <p:ph type="sldNum" sz="quarter" idx="12"/>
          </p:nvPr>
        </p:nvSpPr>
        <p:spPr/>
        <p:txBody>
          <a:bodyPr/>
          <a:lstStyle/>
          <a:p>
            <a:fld id="{A24F1610-4F01-4D40-99E9-C2E9B1275592}" type="slidenum">
              <a:rPr lang="en-US" smtClean="0"/>
              <a:t>‹#›</a:t>
            </a:fld>
            <a:endParaRPr lang="en-US"/>
          </a:p>
        </p:txBody>
      </p:sp>
    </p:spTree>
    <p:extLst>
      <p:ext uri="{BB962C8B-B14F-4D97-AF65-F5344CB8AC3E}">
        <p14:creationId xmlns:p14="http://schemas.microsoft.com/office/powerpoint/2010/main" val="3135938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A94E56-45E1-EA02-8834-3DF35254B9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D4B721B-2112-780C-64B3-4485259349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5E5B1A4-E40E-CAFD-CA2A-5D1EDBC57A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88E172-05F4-8848-B19B-F2DD4129100B}" type="datetimeFigureOut">
              <a:rPr lang="en-US" smtClean="0"/>
              <a:t>11/18/24</a:t>
            </a:fld>
            <a:endParaRPr lang="en-US"/>
          </a:p>
        </p:txBody>
      </p:sp>
      <p:sp>
        <p:nvSpPr>
          <p:cNvPr id="5" name="Footer Placeholder 4">
            <a:extLst>
              <a:ext uri="{FF2B5EF4-FFF2-40B4-BE49-F238E27FC236}">
                <a16:creationId xmlns:a16="http://schemas.microsoft.com/office/drawing/2014/main" id="{C43176CF-5FAB-867B-1C8A-DA9C32BDF5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BCD2C51-230C-7771-892A-FCB40865B6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4F1610-4F01-4D40-99E9-C2E9B1275592}" type="slidenum">
              <a:rPr lang="en-US" smtClean="0"/>
              <a:t>‹#›</a:t>
            </a:fld>
            <a:endParaRPr lang="en-US"/>
          </a:p>
        </p:txBody>
      </p:sp>
    </p:spTree>
    <p:extLst>
      <p:ext uri="{BB962C8B-B14F-4D97-AF65-F5344CB8AC3E}">
        <p14:creationId xmlns:p14="http://schemas.microsoft.com/office/powerpoint/2010/main" val="20011987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7599E-6421-D26A-DC85-6EBD22AB47F5}"/>
              </a:ext>
            </a:extLst>
          </p:cNvPr>
          <p:cNvSpPr>
            <a:spLocks noGrp="1"/>
          </p:cNvSpPr>
          <p:nvPr>
            <p:ph type="ctrTitle"/>
          </p:nvPr>
        </p:nvSpPr>
        <p:spPr/>
        <p:txBody>
          <a:bodyPr/>
          <a:lstStyle/>
          <a:p>
            <a:r>
              <a:rPr lang="en-US" dirty="0"/>
              <a:t>Advance Java: Introduction to JDBC</a:t>
            </a:r>
          </a:p>
        </p:txBody>
      </p:sp>
      <p:sp>
        <p:nvSpPr>
          <p:cNvPr id="3" name="Subtitle 2">
            <a:extLst>
              <a:ext uri="{FF2B5EF4-FFF2-40B4-BE49-F238E27FC236}">
                <a16:creationId xmlns:a16="http://schemas.microsoft.com/office/drawing/2014/main" id="{99693723-5F3F-23A1-9C95-0BD6EB24CEE4}"/>
              </a:ext>
            </a:extLst>
          </p:cNvPr>
          <p:cNvSpPr>
            <a:spLocks noGrp="1"/>
          </p:cNvSpPr>
          <p:nvPr>
            <p:ph type="subTitle" idx="1"/>
          </p:nvPr>
        </p:nvSpPr>
        <p:spPr/>
        <p:txBody>
          <a:bodyPr/>
          <a:lstStyle/>
          <a:p>
            <a:r>
              <a:rPr lang="en-US" dirty="0"/>
              <a:t>Dr. Naveen Kumar</a:t>
            </a:r>
          </a:p>
          <a:p>
            <a:r>
              <a:rPr lang="en-US" dirty="0"/>
              <a:t>Associate Professor</a:t>
            </a:r>
          </a:p>
          <a:p>
            <a:r>
              <a:rPr lang="en-US" dirty="0"/>
              <a:t>AIIT, Amity University Patna</a:t>
            </a:r>
          </a:p>
        </p:txBody>
      </p:sp>
    </p:spTree>
    <p:extLst>
      <p:ext uri="{BB962C8B-B14F-4D97-AF65-F5344CB8AC3E}">
        <p14:creationId xmlns:p14="http://schemas.microsoft.com/office/powerpoint/2010/main" val="1457136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FFF3A-3C65-CE7F-174C-D12B75722C3C}"/>
              </a:ext>
            </a:extLst>
          </p:cNvPr>
          <p:cNvSpPr>
            <a:spLocks noGrp="1"/>
          </p:cNvSpPr>
          <p:nvPr>
            <p:ph type="title"/>
          </p:nvPr>
        </p:nvSpPr>
        <p:spPr/>
        <p:txBody>
          <a:bodyPr/>
          <a:lstStyle/>
          <a:p>
            <a:r>
              <a:rPr lang="en-US" dirty="0"/>
              <a:t>JDBC: Introduction</a:t>
            </a:r>
          </a:p>
        </p:txBody>
      </p:sp>
      <p:sp>
        <p:nvSpPr>
          <p:cNvPr id="3" name="Content Placeholder 2">
            <a:extLst>
              <a:ext uri="{FF2B5EF4-FFF2-40B4-BE49-F238E27FC236}">
                <a16:creationId xmlns:a16="http://schemas.microsoft.com/office/drawing/2014/main" id="{0F64CFB1-E9DF-0342-1830-6B447471A8D8}"/>
              </a:ext>
            </a:extLst>
          </p:cNvPr>
          <p:cNvSpPr>
            <a:spLocks noGrp="1"/>
          </p:cNvSpPr>
          <p:nvPr>
            <p:ph idx="1"/>
          </p:nvPr>
        </p:nvSpPr>
        <p:spPr/>
        <p:txBody>
          <a:bodyPr/>
          <a:lstStyle/>
          <a:p>
            <a:r>
              <a:rPr lang="en-IN" sz="1800" dirty="0">
                <a:effectLst/>
                <a:latin typeface="Calibri,Bold"/>
              </a:rPr>
              <a:t>With Core Java knowledge we can develop Stand Alone Applications. </a:t>
            </a:r>
            <a:endParaRPr lang="en-IN" dirty="0"/>
          </a:p>
          <a:p>
            <a:r>
              <a:rPr lang="en-IN" sz="1800" dirty="0">
                <a:effectLst/>
                <a:latin typeface="Calibri,Bold"/>
              </a:rPr>
              <a:t>The Applications which are running on a Single Machine are called </a:t>
            </a:r>
            <a:r>
              <a:rPr lang="en-IN" sz="1800" dirty="0">
                <a:effectLst/>
                <a:latin typeface="Calibri,BoldItalic"/>
              </a:rPr>
              <a:t>Stand Alone Applications. </a:t>
            </a:r>
            <a:endParaRPr lang="en-IN" dirty="0"/>
          </a:p>
          <a:p>
            <a:r>
              <a:rPr lang="en-IN" sz="1800" dirty="0">
                <a:effectLst/>
                <a:latin typeface="Calibri,Bold"/>
              </a:rPr>
              <a:t>If we want to develop Web Applications then we should go for Advanced Java. </a:t>
            </a:r>
            <a:endParaRPr lang="en-IN" dirty="0"/>
          </a:p>
          <a:p>
            <a:r>
              <a:rPr lang="en-IN" sz="1800" dirty="0">
                <a:effectLst/>
                <a:latin typeface="Calibri,Bold"/>
              </a:rPr>
              <a:t>The Applications which are providing Services over the Web are called </a:t>
            </a:r>
            <a:r>
              <a:rPr lang="en-IN" sz="1800" dirty="0">
                <a:effectLst/>
                <a:latin typeface="Calibri,BoldItalic"/>
              </a:rPr>
              <a:t>Web Applications. </a:t>
            </a:r>
            <a:endParaRPr lang="en-IN" dirty="0"/>
          </a:p>
          <a:p>
            <a:r>
              <a:rPr lang="en-IN" sz="1800" dirty="0">
                <a:effectLst/>
                <a:latin typeface="Calibri,Bold"/>
              </a:rPr>
              <a:t>In Java we can develop Web Applications by using the following Technologies... </a:t>
            </a:r>
            <a:endParaRPr lang="en-IN" dirty="0"/>
          </a:p>
          <a:p>
            <a:r>
              <a:rPr lang="en-IN" sz="1800" dirty="0">
                <a:effectLst/>
                <a:latin typeface="Malgun Gothic" panose="020B0503020000020004" pitchFamily="34" charset="-127"/>
                <a:ea typeface="Malgun Gothic" panose="020B0503020000020004" pitchFamily="34" charset="-127"/>
              </a:rPr>
              <a:t>◈ </a:t>
            </a:r>
            <a:r>
              <a:rPr lang="en-IN" sz="1800" dirty="0">
                <a:effectLst/>
                <a:latin typeface="Calibri,Bold"/>
              </a:rPr>
              <a:t>JDBC </a:t>
            </a:r>
            <a:r>
              <a:rPr lang="en-IN" sz="1800" dirty="0">
                <a:effectLst/>
                <a:latin typeface="Malgun Gothic" panose="020B0503020000020004" pitchFamily="34" charset="-127"/>
                <a:ea typeface="Malgun Gothic" panose="020B0503020000020004" pitchFamily="34" charset="-127"/>
              </a:rPr>
              <a:t>◈ </a:t>
            </a:r>
            <a:r>
              <a:rPr lang="en-IN" sz="1800" dirty="0">
                <a:effectLst/>
                <a:latin typeface="Calibri,Bold"/>
              </a:rPr>
              <a:t>Servlets </a:t>
            </a:r>
            <a:r>
              <a:rPr lang="en-IN" sz="1800" dirty="0">
                <a:effectLst/>
                <a:latin typeface="Malgun Gothic" panose="020B0503020000020004" pitchFamily="34" charset="-127"/>
                <a:ea typeface="Malgun Gothic" panose="020B0503020000020004" pitchFamily="34" charset="-127"/>
              </a:rPr>
              <a:t>◈ </a:t>
            </a:r>
            <a:r>
              <a:rPr lang="en-IN" sz="1800" dirty="0">
                <a:effectLst/>
                <a:latin typeface="Calibri,Bold"/>
              </a:rPr>
              <a:t>JSP's </a:t>
            </a:r>
            <a:endParaRPr lang="en-IN" dirty="0"/>
          </a:p>
          <a:p>
            <a:r>
              <a:rPr lang="en-IN" sz="1800" dirty="0">
                <a:effectLst/>
                <a:latin typeface="Calibri,Bold"/>
              </a:rPr>
              <a:t>Where ever Presentation Logic is required i.e. to display something to the End User then we should go for JSP i.e. JSP meant for View Component. </a:t>
            </a:r>
            <a:endParaRPr lang="en-IN" dirty="0"/>
          </a:p>
          <a:p>
            <a:r>
              <a:rPr lang="en-IN" sz="1800" dirty="0">
                <a:effectLst/>
                <a:latin typeface="Calibri,Bold"/>
              </a:rPr>
              <a:t>Where ever some Processing Logic is required then we should go for Servlet i.e. Servlet meant for Processing Logic/ Business Logic. Servlet will always work internally. </a:t>
            </a:r>
            <a:endParaRPr lang="en-IN" dirty="0"/>
          </a:p>
          <a:p>
            <a:r>
              <a:rPr lang="en-IN" sz="1800" dirty="0">
                <a:effectLst/>
                <a:latin typeface="Calibri,Bold"/>
              </a:rPr>
              <a:t>From Java Application (Normal Java Class OR Servlet) if we want to communicate with Database then we should go for JDBC. </a:t>
            </a:r>
            <a:endParaRPr lang="en-IN" dirty="0"/>
          </a:p>
          <a:p>
            <a:endParaRPr lang="en-US" dirty="0"/>
          </a:p>
        </p:txBody>
      </p:sp>
    </p:spTree>
    <p:extLst>
      <p:ext uri="{BB962C8B-B14F-4D97-AF65-F5344CB8AC3E}">
        <p14:creationId xmlns:p14="http://schemas.microsoft.com/office/powerpoint/2010/main" val="1347325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01CC9-84EF-ECA7-8F2F-B7052A3B823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6FC75A2-3FA3-5DC8-EE9A-64600AC4EB82}"/>
              </a:ext>
            </a:extLst>
          </p:cNvPr>
          <p:cNvSpPr>
            <a:spLocks noGrp="1"/>
          </p:cNvSpPr>
          <p:nvPr>
            <p:ph idx="1"/>
          </p:nvPr>
        </p:nvSpPr>
        <p:spPr/>
        <p:txBody>
          <a:bodyPr/>
          <a:lstStyle/>
          <a:p>
            <a:r>
              <a:rPr lang="en-IN" sz="1800" dirty="0">
                <a:effectLst/>
                <a:latin typeface="Calibri,Bold"/>
              </a:rPr>
              <a:t>In Java there are 3 Editions are available </a:t>
            </a:r>
            <a:endParaRPr lang="en-IN" dirty="0"/>
          </a:p>
          <a:p>
            <a:pPr marL="342900" indent="-342900">
              <a:buFont typeface="+mj-lt"/>
              <a:buAutoNum type="arabicPeriod"/>
            </a:pPr>
            <a:r>
              <a:rPr lang="en-IN" sz="1800" dirty="0">
                <a:effectLst/>
                <a:latin typeface="Calibri,Bold"/>
              </a:rPr>
              <a:t>Java Standard Edition (JSE | J2SE) </a:t>
            </a:r>
          </a:p>
          <a:p>
            <a:pPr marL="342900" indent="-342900">
              <a:buFont typeface="+mj-lt"/>
              <a:buAutoNum type="arabicPeriod"/>
            </a:pPr>
            <a:r>
              <a:rPr lang="en-IN" sz="1800" dirty="0">
                <a:effectLst/>
                <a:latin typeface="Calibri,Bold"/>
              </a:rPr>
              <a:t>Java Enterprise Edition (JEE | J2EE) </a:t>
            </a:r>
          </a:p>
          <a:p>
            <a:pPr marL="342900" indent="-342900">
              <a:buFont typeface="+mj-lt"/>
              <a:buAutoNum type="arabicPeriod"/>
            </a:pPr>
            <a:r>
              <a:rPr lang="en-IN" sz="1800" dirty="0">
                <a:effectLst/>
                <a:latin typeface="Calibri,Bold"/>
              </a:rPr>
              <a:t>Java Micro Edition (JME | J2ME) </a:t>
            </a:r>
            <a:endParaRPr lang="en-IN" dirty="0"/>
          </a:p>
          <a:p>
            <a:r>
              <a:rPr lang="en-IN" sz="1800" dirty="0">
                <a:effectLst/>
                <a:latin typeface="Calibri,Bold"/>
              </a:rPr>
              <a:t>JDBC is the Part of JSE</a:t>
            </a:r>
            <a:br>
              <a:rPr lang="en-IN" sz="1800" dirty="0">
                <a:effectLst/>
                <a:latin typeface="Calibri,Bold"/>
              </a:rPr>
            </a:br>
            <a:r>
              <a:rPr lang="en-IN" sz="1800" dirty="0">
                <a:effectLst/>
                <a:latin typeface="Calibri,Bold"/>
              </a:rPr>
              <a:t>Servlets and JSP's are the Part of JEE </a:t>
            </a:r>
            <a:endParaRPr lang="en-IN" dirty="0"/>
          </a:p>
          <a:p>
            <a:endParaRPr lang="en-IN" dirty="0"/>
          </a:p>
          <a:p>
            <a:endParaRPr lang="en-US" dirty="0"/>
          </a:p>
        </p:txBody>
      </p:sp>
      <p:pic>
        <p:nvPicPr>
          <p:cNvPr id="1025" name="Picture 1" descr="page5image43900016">
            <a:extLst>
              <a:ext uri="{FF2B5EF4-FFF2-40B4-BE49-F238E27FC236}">
                <a16:creationId xmlns:a16="http://schemas.microsoft.com/office/drawing/2014/main" id="{4D3B52A2-793A-9DE5-B5A3-485C56FDB7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46100" cy="11557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age5image60816368">
            <a:extLst>
              <a:ext uri="{FF2B5EF4-FFF2-40B4-BE49-F238E27FC236}">
                <a16:creationId xmlns:a16="http://schemas.microsoft.com/office/drawing/2014/main" id="{8F717FFF-8BB9-5CC9-2E28-634DC30676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08000" cy="4318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page5image60814912">
            <a:extLst>
              <a:ext uri="{FF2B5EF4-FFF2-40B4-BE49-F238E27FC236}">
                <a16:creationId xmlns:a16="http://schemas.microsoft.com/office/drawing/2014/main" id="{14A607B0-11DC-4611-7AFB-4352BC84F0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27100" cy="4318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age5image43908128">
            <a:extLst>
              <a:ext uri="{FF2B5EF4-FFF2-40B4-BE49-F238E27FC236}">
                <a16:creationId xmlns:a16="http://schemas.microsoft.com/office/drawing/2014/main" id="{6E9237B7-3CDB-9292-47A7-CAEBBFDA4A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3149600" cy="114300"/>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page5image43676464">
            <a:extLst>
              <a:ext uri="{FF2B5EF4-FFF2-40B4-BE49-F238E27FC236}">
                <a16:creationId xmlns:a16="http://schemas.microsoft.com/office/drawing/2014/main" id="{01554C89-E366-05F2-73CD-BCFC06F7354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3124200" cy="1143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age5image60361008">
            <a:extLst>
              <a:ext uri="{FF2B5EF4-FFF2-40B4-BE49-F238E27FC236}">
                <a16:creationId xmlns:a16="http://schemas.microsoft.com/office/drawing/2014/main" id="{8CB59456-63F7-FC69-DF78-6445E4D69C1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028700" cy="965200"/>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page5image60371984">
            <a:extLst>
              <a:ext uri="{FF2B5EF4-FFF2-40B4-BE49-F238E27FC236}">
                <a16:creationId xmlns:a16="http://schemas.microsoft.com/office/drawing/2014/main" id="{886F5041-DE20-3779-6F4D-6C4BD843B60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028700" cy="9652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age5image60363920">
            <a:extLst>
              <a:ext uri="{FF2B5EF4-FFF2-40B4-BE49-F238E27FC236}">
                <a16:creationId xmlns:a16="http://schemas.microsoft.com/office/drawing/2014/main" id="{3FE11622-34D0-7DFC-9E1D-2F04A7809A7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028700" cy="965200"/>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page5image43658832">
            <a:extLst>
              <a:ext uri="{FF2B5EF4-FFF2-40B4-BE49-F238E27FC236}">
                <a16:creationId xmlns:a16="http://schemas.microsoft.com/office/drawing/2014/main" id="{9C7F8D0A-6682-56C1-9569-87C4821DF37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689100" cy="38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7571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66EE6-982A-B01F-837D-52DFC3DF41D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3BBAD5E-4776-7470-0EBB-7C73D76B70A5}"/>
              </a:ext>
            </a:extLst>
          </p:cNvPr>
          <p:cNvSpPr>
            <a:spLocks noGrp="1"/>
          </p:cNvSpPr>
          <p:nvPr>
            <p:ph idx="1"/>
          </p:nvPr>
        </p:nvSpPr>
        <p:spPr/>
        <p:txBody>
          <a:bodyPr/>
          <a:lstStyle/>
          <a:p>
            <a:r>
              <a:rPr lang="en-IN" sz="1800" b="1" dirty="0">
                <a:effectLst/>
                <a:latin typeface="Calibri,Bold"/>
              </a:rPr>
              <a:t>Driver</a:t>
            </a:r>
            <a:r>
              <a:rPr lang="en-IN" sz="1800" dirty="0">
                <a:effectLst/>
                <a:latin typeface="Calibri,Bold"/>
              </a:rPr>
              <a:t> (Translator):</a:t>
            </a:r>
            <a:br>
              <a:rPr lang="en-IN" sz="1800" dirty="0">
                <a:effectLst/>
                <a:latin typeface="Calibri,Bold"/>
              </a:rPr>
            </a:br>
            <a:r>
              <a:rPr lang="en-IN" sz="1800" dirty="0">
                <a:effectLst/>
                <a:latin typeface="Calibri,Bold"/>
              </a:rPr>
              <a:t>To convert Java specific calls into Database specific calls and Database specific calls into Java calls. </a:t>
            </a:r>
            <a:endParaRPr lang="en-IN" dirty="0"/>
          </a:p>
          <a:p>
            <a:r>
              <a:rPr lang="en-IN" sz="1800" b="1" dirty="0">
                <a:effectLst/>
                <a:latin typeface="Calibri,Bold"/>
              </a:rPr>
              <a:t>Connection</a:t>
            </a:r>
            <a:r>
              <a:rPr lang="en-IN" sz="1800" dirty="0">
                <a:effectLst/>
                <a:latin typeface="Calibri,Bold"/>
              </a:rPr>
              <a:t> (Road):</a:t>
            </a:r>
            <a:br>
              <a:rPr lang="en-IN" sz="1800" dirty="0">
                <a:effectLst/>
                <a:latin typeface="Calibri,Bold"/>
              </a:rPr>
            </a:br>
            <a:r>
              <a:rPr lang="en-IN" sz="1800" dirty="0">
                <a:effectLst/>
                <a:latin typeface="Calibri,Bold"/>
              </a:rPr>
              <a:t>By using Connection, Java Application can communicate with Database. </a:t>
            </a:r>
            <a:endParaRPr lang="en-IN" dirty="0"/>
          </a:p>
          <a:p>
            <a:r>
              <a:rPr lang="en-IN" sz="1800" b="1" dirty="0">
                <a:effectLst/>
                <a:latin typeface="Calibri,Bold"/>
              </a:rPr>
              <a:t>Statement</a:t>
            </a:r>
            <a:r>
              <a:rPr lang="en-IN" sz="1800" dirty="0">
                <a:effectLst/>
                <a:latin typeface="Calibri,Bold"/>
              </a:rPr>
              <a:t> (Vehicle): </a:t>
            </a:r>
            <a:endParaRPr lang="en-IN" dirty="0"/>
          </a:p>
          <a:p>
            <a:r>
              <a:rPr lang="en-IN" sz="1800" dirty="0">
                <a:effectLst/>
                <a:latin typeface="Calibri,Bold"/>
              </a:rPr>
              <a:t>By using Statement Object we can send our SQL Query to the Database and we can get Results from Database. </a:t>
            </a:r>
            <a:endParaRPr lang="en-IN" dirty="0"/>
          </a:p>
          <a:p>
            <a:r>
              <a:rPr lang="en-IN" sz="1800" b="1" dirty="0" err="1">
                <a:effectLst/>
                <a:latin typeface="Calibri,Bold"/>
              </a:rPr>
              <a:t>ResultSet</a:t>
            </a:r>
            <a:r>
              <a:rPr lang="en-IN" sz="1800" dirty="0">
                <a:effectLst/>
                <a:latin typeface="Calibri,Bold"/>
              </a:rPr>
              <a:t>:</a:t>
            </a:r>
            <a:br>
              <a:rPr lang="en-IN" sz="1800" dirty="0">
                <a:effectLst/>
                <a:latin typeface="Calibri,Bold"/>
              </a:rPr>
            </a:br>
            <a:r>
              <a:rPr lang="en-IN" sz="1800" dirty="0" err="1">
                <a:effectLst/>
                <a:latin typeface="Calibri,Bold"/>
              </a:rPr>
              <a:t>ResultSet</a:t>
            </a:r>
            <a:r>
              <a:rPr lang="en-IN" sz="1800" dirty="0">
                <a:effectLst/>
                <a:latin typeface="Calibri,Bold"/>
              </a:rPr>
              <a:t> holds Results of SQL Query. </a:t>
            </a:r>
            <a:endParaRPr lang="en-IN" dirty="0"/>
          </a:p>
          <a:p>
            <a:endParaRPr lang="en-US" dirty="0"/>
          </a:p>
        </p:txBody>
      </p:sp>
    </p:spTree>
    <p:extLst>
      <p:ext uri="{BB962C8B-B14F-4D97-AF65-F5344CB8AC3E}">
        <p14:creationId xmlns:p14="http://schemas.microsoft.com/office/powerpoint/2010/main" val="2308790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AC112-9184-DA45-C2BA-62510591929E}"/>
              </a:ext>
            </a:extLst>
          </p:cNvPr>
          <p:cNvSpPr>
            <a:spLocks noGrp="1"/>
          </p:cNvSpPr>
          <p:nvPr>
            <p:ph type="title"/>
          </p:nvPr>
        </p:nvSpPr>
        <p:spPr/>
        <p:txBody>
          <a:bodyPr/>
          <a:lstStyle/>
          <a:p>
            <a:r>
              <a:rPr lang="en-US" dirty="0"/>
              <a:t>Steps to Create JDBC Application</a:t>
            </a:r>
          </a:p>
        </p:txBody>
      </p:sp>
      <p:sp>
        <p:nvSpPr>
          <p:cNvPr id="3" name="Content Placeholder 2">
            <a:extLst>
              <a:ext uri="{FF2B5EF4-FFF2-40B4-BE49-F238E27FC236}">
                <a16:creationId xmlns:a16="http://schemas.microsoft.com/office/drawing/2014/main" id="{0B70FD1E-8A00-6AFE-04CE-4F270A1085E5}"/>
              </a:ext>
            </a:extLst>
          </p:cNvPr>
          <p:cNvSpPr>
            <a:spLocks noGrp="1"/>
          </p:cNvSpPr>
          <p:nvPr>
            <p:ph idx="1"/>
          </p:nvPr>
        </p:nvSpPr>
        <p:spPr/>
        <p:txBody>
          <a:bodyPr/>
          <a:lstStyle/>
          <a:p>
            <a:r>
              <a:rPr lang="en-IN" sz="1800" dirty="0">
                <a:effectLst/>
                <a:latin typeface="Calibri,Bold"/>
              </a:rPr>
              <a:t>1. Load and Register Driver</a:t>
            </a:r>
            <a:br>
              <a:rPr lang="en-IN" sz="1800" dirty="0">
                <a:effectLst/>
                <a:latin typeface="Calibri,Bold"/>
              </a:rPr>
            </a:br>
            <a:r>
              <a:rPr lang="en-IN" sz="1800" dirty="0">
                <a:effectLst/>
                <a:latin typeface="Calibri,Bold"/>
              </a:rPr>
              <a:t>2. Establish Connection between Java Application and Database 3. Create Statement Object</a:t>
            </a:r>
            <a:br>
              <a:rPr lang="en-IN" sz="1800" dirty="0">
                <a:effectLst/>
                <a:latin typeface="Calibri,Bold"/>
              </a:rPr>
            </a:br>
            <a:r>
              <a:rPr lang="en-IN" sz="1800" dirty="0">
                <a:effectLst/>
                <a:latin typeface="Calibri,Bold"/>
              </a:rPr>
              <a:t>4. Send and Execute SQL Query</a:t>
            </a:r>
            <a:br>
              <a:rPr lang="en-IN" sz="1800" dirty="0">
                <a:effectLst/>
                <a:latin typeface="Calibri,Bold"/>
              </a:rPr>
            </a:br>
            <a:r>
              <a:rPr lang="en-IN" sz="1800" dirty="0">
                <a:effectLst/>
                <a:latin typeface="Calibri,Bold"/>
              </a:rPr>
              <a:t>5. Process Results from </a:t>
            </a:r>
            <a:r>
              <a:rPr lang="en-IN" sz="1800" dirty="0" err="1">
                <a:effectLst/>
                <a:latin typeface="Calibri,Bold"/>
              </a:rPr>
              <a:t>ResultSet</a:t>
            </a:r>
            <a:br>
              <a:rPr lang="en-IN" sz="1800" dirty="0">
                <a:effectLst/>
                <a:latin typeface="Calibri,Bold"/>
              </a:rPr>
            </a:br>
            <a:r>
              <a:rPr lang="en-IN" sz="1800" dirty="0">
                <a:effectLst/>
                <a:latin typeface="Calibri,Bold"/>
              </a:rPr>
              <a:t>6. Close Connection </a:t>
            </a:r>
            <a:endParaRPr lang="en-IN" dirty="0"/>
          </a:p>
          <a:p>
            <a:endParaRPr lang="en-US" dirty="0"/>
          </a:p>
        </p:txBody>
      </p:sp>
    </p:spTree>
    <p:extLst>
      <p:ext uri="{BB962C8B-B14F-4D97-AF65-F5344CB8AC3E}">
        <p14:creationId xmlns:p14="http://schemas.microsoft.com/office/powerpoint/2010/main" val="3824111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195A4-43A1-252D-084B-9978DCF1BC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7DB82BD-F663-D349-4CF1-E545BE810732}"/>
              </a:ext>
            </a:extLst>
          </p:cNvPr>
          <p:cNvSpPr>
            <a:spLocks noGrp="1"/>
          </p:cNvSpPr>
          <p:nvPr>
            <p:ph idx="1"/>
          </p:nvPr>
        </p:nvSpPr>
        <p:spPr>
          <a:xfrm>
            <a:off x="838199" y="365125"/>
            <a:ext cx="6809509" cy="5811838"/>
          </a:xfrm>
        </p:spPr>
        <p:txBody>
          <a:bodyPr>
            <a:noAutofit/>
          </a:bodyPr>
          <a:lstStyle/>
          <a:p>
            <a:pPr marL="0" indent="0">
              <a:buNone/>
            </a:pPr>
            <a:r>
              <a:rPr lang="en-IN" sz="1400" dirty="0">
                <a:effectLst/>
                <a:latin typeface="Menlo" panose="020B0609030804020204" pitchFamily="49" charset="0"/>
              </a:rPr>
              <a:t>import </a:t>
            </a:r>
            <a:r>
              <a:rPr lang="en-IN" sz="1400" dirty="0" err="1">
                <a:effectLst/>
                <a:latin typeface="Menlo" panose="020B0609030804020204" pitchFamily="49" charset="0"/>
              </a:rPr>
              <a:t>java.sql.Connection</a:t>
            </a:r>
            <a:r>
              <a:rPr lang="en-IN" sz="1400" dirty="0">
                <a:effectLst/>
                <a:latin typeface="Menlo" panose="020B0609030804020204" pitchFamily="49" charset="0"/>
              </a:rPr>
              <a:t>;</a:t>
            </a:r>
          </a:p>
          <a:p>
            <a:pPr marL="0" indent="0">
              <a:buNone/>
            </a:pPr>
            <a:r>
              <a:rPr lang="en-IN" sz="1400" dirty="0">
                <a:effectLst/>
                <a:latin typeface="Menlo" panose="020B0609030804020204" pitchFamily="49" charset="0"/>
              </a:rPr>
              <a:t>import </a:t>
            </a:r>
            <a:r>
              <a:rPr lang="en-IN" sz="1400" dirty="0" err="1">
                <a:effectLst/>
                <a:latin typeface="Menlo" panose="020B0609030804020204" pitchFamily="49" charset="0"/>
              </a:rPr>
              <a:t>java.sql.DriverManager</a:t>
            </a:r>
            <a:r>
              <a:rPr lang="en-IN" sz="1400" dirty="0">
                <a:effectLst/>
                <a:latin typeface="Menlo" panose="020B0609030804020204" pitchFamily="49" charset="0"/>
              </a:rPr>
              <a:t>;</a:t>
            </a:r>
          </a:p>
          <a:p>
            <a:pPr marL="0" indent="0">
              <a:buNone/>
            </a:pPr>
            <a:r>
              <a:rPr lang="en-IN" sz="1400" dirty="0">
                <a:effectLst/>
                <a:latin typeface="Menlo" panose="020B0609030804020204" pitchFamily="49" charset="0"/>
              </a:rPr>
              <a:t>import </a:t>
            </a:r>
            <a:r>
              <a:rPr lang="en-IN" sz="1400" dirty="0" err="1">
                <a:effectLst/>
                <a:latin typeface="Menlo" panose="020B0609030804020204" pitchFamily="49" charset="0"/>
              </a:rPr>
              <a:t>java.sql.ResultSet</a:t>
            </a:r>
            <a:r>
              <a:rPr lang="en-IN" sz="1400" dirty="0">
                <a:effectLst/>
                <a:latin typeface="Menlo" panose="020B0609030804020204" pitchFamily="49" charset="0"/>
              </a:rPr>
              <a:t>;</a:t>
            </a:r>
          </a:p>
          <a:p>
            <a:pPr marL="0" indent="0">
              <a:buNone/>
            </a:pPr>
            <a:r>
              <a:rPr lang="en-IN" sz="1400" dirty="0">
                <a:effectLst/>
                <a:latin typeface="Menlo" panose="020B0609030804020204" pitchFamily="49" charset="0"/>
              </a:rPr>
              <a:t>import </a:t>
            </a:r>
            <a:r>
              <a:rPr lang="en-IN" sz="1400" dirty="0" err="1">
                <a:effectLst/>
                <a:latin typeface="Menlo" panose="020B0609030804020204" pitchFamily="49" charset="0"/>
              </a:rPr>
              <a:t>java.sql.SQLException</a:t>
            </a:r>
            <a:r>
              <a:rPr lang="en-IN" sz="1400" dirty="0">
                <a:effectLst/>
                <a:latin typeface="Menlo" panose="020B0609030804020204" pitchFamily="49" charset="0"/>
              </a:rPr>
              <a:t>;</a:t>
            </a:r>
          </a:p>
          <a:p>
            <a:pPr marL="0" indent="0">
              <a:buNone/>
            </a:pPr>
            <a:r>
              <a:rPr lang="en-IN" sz="1400" dirty="0">
                <a:effectLst/>
                <a:latin typeface="Menlo" panose="020B0609030804020204" pitchFamily="49" charset="0"/>
              </a:rPr>
              <a:t>import </a:t>
            </a:r>
            <a:r>
              <a:rPr lang="en-IN" sz="1400" dirty="0" err="1">
                <a:effectLst/>
                <a:latin typeface="Menlo" panose="020B0609030804020204" pitchFamily="49" charset="0"/>
              </a:rPr>
              <a:t>java.sql.Statement</a:t>
            </a:r>
            <a:r>
              <a:rPr lang="en-IN" sz="1400" dirty="0">
                <a:effectLst/>
                <a:latin typeface="Menlo" panose="020B0609030804020204" pitchFamily="49" charset="0"/>
              </a:rPr>
              <a:t>;</a:t>
            </a:r>
          </a:p>
          <a:p>
            <a:pPr marL="0" indent="0">
              <a:buNone/>
            </a:pPr>
            <a:r>
              <a:rPr lang="en-IN" sz="1400" dirty="0">
                <a:effectLst/>
                <a:latin typeface="Menlo" panose="020B0609030804020204" pitchFamily="49" charset="0"/>
              </a:rPr>
              <a:t>public class </a:t>
            </a:r>
            <a:r>
              <a:rPr lang="en-IN" sz="1400" dirty="0" err="1">
                <a:effectLst/>
                <a:latin typeface="Menlo" panose="020B0609030804020204" pitchFamily="49" charset="0"/>
              </a:rPr>
              <a:t>PostgressDemo</a:t>
            </a:r>
            <a:r>
              <a:rPr lang="en-IN" sz="1400" dirty="0">
                <a:effectLst/>
                <a:latin typeface="Menlo" panose="020B0609030804020204" pitchFamily="49" charset="0"/>
              </a:rPr>
              <a:t> {</a:t>
            </a:r>
          </a:p>
          <a:p>
            <a:pPr marL="0" indent="0">
              <a:buNone/>
            </a:pPr>
            <a:r>
              <a:rPr lang="en-IN" sz="1400" dirty="0">
                <a:effectLst/>
                <a:latin typeface="Menlo" panose="020B0609030804020204" pitchFamily="49" charset="0"/>
              </a:rPr>
              <a:t>	public static void main(String[] </a:t>
            </a:r>
            <a:r>
              <a:rPr lang="en-IN" sz="1400" dirty="0" err="1">
                <a:effectLst/>
                <a:latin typeface="Menlo" panose="020B0609030804020204" pitchFamily="49" charset="0"/>
              </a:rPr>
              <a:t>args</a:t>
            </a:r>
            <a:r>
              <a:rPr lang="en-IN" sz="1400" dirty="0">
                <a:effectLst/>
                <a:latin typeface="Menlo" panose="020B0609030804020204" pitchFamily="49" charset="0"/>
              </a:rPr>
              <a:t>) throws 	</a:t>
            </a:r>
            <a:r>
              <a:rPr lang="en-IN" sz="1400" dirty="0" err="1">
                <a:effectLst/>
                <a:latin typeface="Menlo" panose="020B0609030804020204" pitchFamily="49" charset="0"/>
              </a:rPr>
              <a:t>ClassNotFoundException</a:t>
            </a:r>
            <a:r>
              <a:rPr lang="en-IN" sz="1400" dirty="0">
                <a:effectLst/>
                <a:latin typeface="Menlo" panose="020B0609030804020204" pitchFamily="49" charset="0"/>
              </a:rPr>
              <a:t>, </a:t>
            </a:r>
            <a:r>
              <a:rPr lang="en-IN" sz="1400" dirty="0" err="1">
                <a:effectLst/>
                <a:latin typeface="Menlo" panose="020B0609030804020204" pitchFamily="49" charset="0"/>
              </a:rPr>
              <a:t>SQLException</a:t>
            </a:r>
            <a:r>
              <a:rPr lang="en-IN" sz="1400" dirty="0">
                <a:effectLst/>
                <a:latin typeface="Menlo" panose="020B0609030804020204" pitchFamily="49" charset="0"/>
              </a:rPr>
              <a:t> {</a:t>
            </a:r>
          </a:p>
          <a:p>
            <a:pPr marL="0" indent="0">
              <a:buNone/>
            </a:pPr>
            <a:r>
              <a:rPr lang="en-IN" sz="1400" dirty="0">
                <a:effectLst/>
                <a:latin typeface="Menlo" panose="020B0609030804020204" pitchFamily="49" charset="0"/>
              </a:rPr>
              <a:t>	//1. Register </a:t>
            </a:r>
            <a:r>
              <a:rPr lang="en-IN" sz="1400" u="sng" dirty="0" err="1">
                <a:effectLst/>
                <a:latin typeface="Menlo" panose="020B0609030804020204" pitchFamily="49" charset="0"/>
              </a:rPr>
              <a:t>postgress</a:t>
            </a:r>
            <a:r>
              <a:rPr lang="en-IN" sz="1400" dirty="0">
                <a:effectLst/>
                <a:latin typeface="Menlo" panose="020B0609030804020204" pitchFamily="49" charset="0"/>
              </a:rPr>
              <a:t> driver</a:t>
            </a:r>
          </a:p>
          <a:p>
            <a:pPr marL="0" indent="0">
              <a:buNone/>
            </a:pPr>
            <a:r>
              <a:rPr lang="en-IN" sz="1400" dirty="0">
                <a:effectLst/>
                <a:latin typeface="Menlo" panose="020B0609030804020204" pitchFamily="49" charset="0"/>
              </a:rPr>
              <a:t>	</a:t>
            </a:r>
            <a:r>
              <a:rPr lang="en-IN" sz="1400" dirty="0" err="1">
                <a:effectLst/>
                <a:latin typeface="Menlo" panose="020B0609030804020204" pitchFamily="49" charset="0"/>
              </a:rPr>
              <a:t>Class.</a:t>
            </a:r>
            <a:r>
              <a:rPr lang="en-IN" sz="1400" i="1" dirty="0" err="1">
                <a:effectLst/>
                <a:latin typeface="Menlo" panose="020B0609030804020204" pitchFamily="49" charset="0"/>
              </a:rPr>
              <a:t>forName</a:t>
            </a:r>
            <a:r>
              <a:rPr lang="en-IN" sz="1400" dirty="0">
                <a:effectLst/>
                <a:latin typeface="Menlo" panose="020B0609030804020204" pitchFamily="49" charset="0"/>
              </a:rPr>
              <a:t>("</a:t>
            </a:r>
            <a:r>
              <a:rPr lang="en-IN" sz="1400" b="1" dirty="0" err="1">
                <a:effectLst/>
                <a:latin typeface="Menlo" panose="020B0609030804020204" pitchFamily="49" charset="0"/>
              </a:rPr>
              <a:t>org.postgresql.Driver</a:t>
            </a:r>
            <a:r>
              <a:rPr lang="en-IN" sz="1400" dirty="0">
                <a:effectLst/>
                <a:latin typeface="Menlo" panose="020B0609030804020204" pitchFamily="49" charset="0"/>
              </a:rPr>
              <a:t>");</a:t>
            </a:r>
          </a:p>
          <a:p>
            <a:pPr marL="0" indent="0">
              <a:buNone/>
            </a:pPr>
            <a:r>
              <a:rPr lang="en-IN" sz="1400" dirty="0">
                <a:effectLst/>
                <a:latin typeface="Menlo" panose="020B0609030804020204" pitchFamily="49" charset="0"/>
              </a:rPr>
              <a:t>	//2. Establish Connection</a:t>
            </a:r>
          </a:p>
          <a:p>
            <a:pPr marL="0" indent="0">
              <a:buNone/>
            </a:pPr>
            <a:r>
              <a:rPr lang="en-IN" sz="1400" dirty="0">
                <a:effectLst/>
                <a:latin typeface="Menlo" panose="020B0609030804020204" pitchFamily="49" charset="0"/>
              </a:rPr>
              <a:t>	Connection con = 	</a:t>
            </a:r>
            <a:r>
              <a:rPr lang="en-IN" sz="1400" dirty="0" err="1">
                <a:effectLst/>
                <a:latin typeface="Menlo" panose="020B0609030804020204" pitchFamily="49" charset="0"/>
              </a:rPr>
              <a:t>DriverManager.</a:t>
            </a:r>
            <a:r>
              <a:rPr lang="en-IN" sz="1400" i="1" dirty="0" err="1">
                <a:effectLst/>
                <a:latin typeface="Menlo" panose="020B0609030804020204" pitchFamily="49" charset="0"/>
              </a:rPr>
              <a:t>getConnection</a:t>
            </a:r>
            <a:r>
              <a:rPr lang="en-IN" sz="1400" dirty="0">
                <a:effectLst/>
                <a:latin typeface="Menlo" panose="020B0609030804020204" pitchFamily="49" charset="0"/>
              </a:rPr>
              <a:t>("</a:t>
            </a:r>
            <a:r>
              <a:rPr lang="en-IN" sz="1400" dirty="0" err="1">
                <a:effectLst/>
                <a:latin typeface="Menlo" panose="020B0609030804020204" pitchFamily="49" charset="0"/>
              </a:rPr>
              <a:t>org.postgresql.Driver</a:t>
            </a:r>
            <a:r>
              <a:rPr lang="en-IN" sz="1400" dirty="0">
                <a:effectLst/>
                <a:latin typeface="Menlo" panose="020B0609030804020204" pitchFamily="49" charset="0"/>
              </a:rPr>
              <a:t>”, “</a:t>
            </a:r>
            <a:r>
              <a:rPr lang="en-IN" sz="1400" dirty="0" err="1">
                <a:effectLst/>
                <a:latin typeface="Menlo" panose="020B0609030804020204" pitchFamily="49" charset="0"/>
              </a:rPr>
              <a:t>postgres</a:t>
            </a:r>
            <a:r>
              <a:rPr lang="en-IN" sz="1400" dirty="0">
                <a:effectLst/>
                <a:latin typeface="Menlo" panose="020B0609030804020204" pitchFamily="49" charset="0"/>
              </a:rPr>
              <a:t>”, “”);</a:t>
            </a:r>
          </a:p>
          <a:p>
            <a:pPr marL="0" indent="0">
              <a:buNone/>
            </a:pPr>
            <a:r>
              <a:rPr lang="en-IN" sz="1400" dirty="0">
                <a:effectLst/>
                <a:latin typeface="Menlo" panose="020B0609030804020204" pitchFamily="49" charset="0"/>
              </a:rPr>
              <a:t>	//3. Create Statement object</a:t>
            </a:r>
          </a:p>
          <a:p>
            <a:pPr marL="0" indent="0">
              <a:buNone/>
            </a:pPr>
            <a:r>
              <a:rPr lang="en-IN" sz="1400" dirty="0">
                <a:effectLst/>
                <a:latin typeface="Menlo" panose="020B0609030804020204" pitchFamily="49" charset="0"/>
              </a:rPr>
              <a:t>	Statement </a:t>
            </a:r>
            <a:r>
              <a:rPr lang="en-IN" sz="1400" dirty="0" err="1">
                <a:effectLst/>
                <a:latin typeface="Menlo" panose="020B0609030804020204" pitchFamily="49" charset="0"/>
              </a:rPr>
              <a:t>st</a:t>
            </a:r>
            <a:r>
              <a:rPr lang="en-IN" sz="1400" dirty="0">
                <a:effectLst/>
                <a:latin typeface="Menlo" panose="020B0609030804020204" pitchFamily="49" charset="0"/>
              </a:rPr>
              <a:t> = </a:t>
            </a:r>
            <a:r>
              <a:rPr lang="en-IN" sz="1400" dirty="0" err="1">
                <a:effectLst/>
                <a:latin typeface="Menlo" panose="020B0609030804020204" pitchFamily="49" charset="0"/>
              </a:rPr>
              <a:t>con.createStatement</a:t>
            </a:r>
            <a:r>
              <a:rPr lang="en-IN" sz="1400" dirty="0">
                <a:effectLst/>
                <a:latin typeface="Menlo" panose="020B0609030804020204" pitchFamily="49" charset="0"/>
              </a:rPr>
              <a:t>();</a:t>
            </a:r>
          </a:p>
          <a:p>
            <a:pPr marL="0" indent="0">
              <a:buNone/>
            </a:pPr>
            <a:r>
              <a:rPr lang="en-IN" sz="1400" dirty="0">
                <a:effectLst/>
                <a:latin typeface="Menlo" panose="020B0609030804020204" pitchFamily="49" charset="0"/>
              </a:rPr>
              <a:t>	//4. Execute </a:t>
            </a:r>
            <a:r>
              <a:rPr lang="en-IN" sz="1400" u="sng" dirty="0" err="1">
                <a:effectLst/>
                <a:latin typeface="Menlo" panose="020B0609030804020204" pitchFamily="49" charset="0"/>
              </a:rPr>
              <a:t>sql</a:t>
            </a:r>
            <a:r>
              <a:rPr lang="en-IN" sz="1400" dirty="0">
                <a:effectLst/>
                <a:latin typeface="Menlo" panose="020B0609030804020204" pitchFamily="49" charset="0"/>
              </a:rPr>
              <a:t> statement</a:t>
            </a:r>
          </a:p>
          <a:p>
            <a:pPr marL="0" indent="0">
              <a:buNone/>
            </a:pPr>
            <a:r>
              <a:rPr lang="en-IN" sz="1400" dirty="0">
                <a:effectLst/>
                <a:latin typeface="Menlo" panose="020B0609030804020204" pitchFamily="49" charset="0"/>
              </a:rPr>
              <a:t>	</a:t>
            </a:r>
            <a:r>
              <a:rPr lang="en-IN" sz="1400" dirty="0" err="1">
                <a:effectLst/>
                <a:latin typeface="Menlo" panose="020B0609030804020204" pitchFamily="49" charset="0"/>
              </a:rPr>
              <a:t>ResultSet</a:t>
            </a:r>
            <a:r>
              <a:rPr lang="en-IN" sz="1400" dirty="0">
                <a:effectLst/>
                <a:latin typeface="Menlo" panose="020B0609030804020204" pitchFamily="49" charset="0"/>
              </a:rPr>
              <a:t> </a:t>
            </a:r>
            <a:r>
              <a:rPr lang="en-IN" sz="1400" dirty="0" err="1">
                <a:effectLst/>
                <a:latin typeface="Menlo" panose="020B0609030804020204" pitchFamily="49" charset="0"/>
              </a:rPr>
              <a:t>rs</a:t>
            </a:r>
            <a:r>
              <a:rPr lang="en-IN" sz="1400" dirty="0">
                <a:effectLst/>
                <a:latin typeface="Menlo" panose="020B0609030804020204" pitchFamily="49" charset="0"/>
              </a:rPr>
              <a:t> = </a:t>
            </a:r>
            <a:r>
              <a:rPr lang="en-IN" sz="1400" dirty="0" err="1">
                <a:effectLst/>
                <a:latin typeface="Menlo" panose="020B0609030804020204" pitchFamily="49" charset="0"/>
              </a:rPr>
              <a:t>st.executeQuery</a:t>
            </a:r>
            <a:r>
              <a:rPr lang="en-IN" sz="1400" dirty="0">
                <a:effectLst/>
                <a:latin typeface="Menlo" panose="020B0609030804020204" pitchFamily="49" charset="0"/>
              </a:rPr>
              <a:t>("select * from countries");</a:t>
            </a:r>
          </a:p>
          <a:p>
            <a:pPr marL="0" indent="0">
              <a:buNone/>
            </a:pPr>
            <a:r>
              <a:rPr lang="en-IN" sz="1400" dirty="0">
                <a:effectLst/>
                <a:latin typeface="Menlo" panose="020B0609030804020204" pitchFamily="49" charset="0"/>
              </a:rPr>
              <a:t>	while(</a:t>
            </a:r>
            <a:r>
              <a:rPr lang="en-IN" sz="1400" dirty="0" err="1">
                <a:effectLst/>
                <a:latin typeface="Menlo" panose="020B0609030804020204" pitchFamily="49" charset="0"/>
              </a:rPr>
              <a:t>rs.next</a:t>
            </a:r>
            <a:r>
              <a:rPr lang="en-IN" sz="1400" dirty="0">
                <a:effectLst/>
                <a:latin typeface="Menlo" panose="020B0609030804020204" pitchFamily="49" charset="0"/>
              </a:rPr>
              <a:t>()) {</a:t>
            </a:r>
          </a:p>
          <a:p>
            <a:pPr marL="0" indent="0">
              <a:buNone/>
            </a:pPr>
            <a:r>
              <a:rPr lang="en-IN" sz="1400" dirty="0">
                <a:effectLst/>
                <a:latin typeface="Menlo" panose="020B0609030804020204" pitchFamily="49" charset="0"/>
              </a:rPr>
              <a:t>	</a:t>
            </a:r>
            <a:r>
              <a:rPr lang="en-IN" sz="1400" dirty="0" err="1">
                <a:effectLst/>
                <a:latin typeface="Menlo" panose="020B0609030804020204" pitchFamily="49" charset="0"/>
              </a:rPr>
              <a:t>System.</a:t>
            </a:r>
            <a:r>
              <a:rPr lang="en-IN" sz="1400" b="1" i="1" dirty="0" err="1">
                <a:effectLst/>
                <a:latin typeface="Menlo" panose="020B0609030804020204" pitchFamily="49" charset="0"/>
              </a:rPr>
              <a:t>out</a:t>
            </a:r>
            <a:r>
              <a:rPr lang="en-IN" sz="1400" dirty="0" err="1">
                <a:effectLst/>
                <a:latin typeface="Menlo" panose="020B0609030804020204" pitchFamily="49" charset="0"/>
              </a:rPr>
              <a:t>.println</a:t>
            </a:r>
            <a:r>
              <a:rPr lang="en-IN" sz="1400" dirty="0">
                <a:effectLst/>
                <a:latin typeface="Menlo" panose="020B0609030804020204" pitchFamily="49" charset="0"/>
              </a:rPr>
              <a:t>(</a:t>
            </a:r>
            <a:r>
              <a:rPr lang="en-IN" sz="1400" dirty="0" err="1">
                <a:effectLst/>
                <a:latin typeface="Menlo" panose="020B0609030804020204" pitchFamily="49" charset="0"/>
              </a:rPr>
              <a:t>rs.</a:t>
            </a:r>
            <a:r>
              <a:rPr lang="en-IN" sz="1400" u="sng" dirty="0" err="1">
                <a:effectLst/>
                <a:latin typeface="Menlo" panose="020B0609030804020204" pitchFamily="49" charset="0"/>
              </a:rPr>
              <a:t>get</a:t>
            </a:r>
            <a:r>
              <a:rPr lang="en-IN" sz="1400" dirty="0">
                <a:effectLst/>
                <a:latin typeface="Menlo" panose="020B0609030804020204" pitchFamily="49" charset="0"/>
              </a:rPr>
              <a:t>);</a:t>
            </a:r>
          </a:p>
          <a:p>
            <a:pPr marL="0" indent="0">
              <a:buNone/>
            </a:pPr>
            <a:r>
              <a:rPr lang="en-IN" sz="1400" dirty="0">
                <a:effectLst/>
                <a:latin typeface="Menlo" panose="020B0609030804020204" pitchFamily="49" charset="0"/>
              </a:rPr>
              <a:t>	}</a:t>
            </a:r>
          </a:p>
          <a:p>
            <a:pPr marL="0" indent="0">
              <a:buNone/>
            </a:pPr>
            <a:r>
              <a:rPr lang="en-IN" sz="1400" dirty="0">
                <a:effectLst/>
                <a:latin typeface="Menlo" panose="020B0609030804020204" pitchFamily="49" charset="0"/>
              </a:rPr>
              <a:t>}</a:t>
            </a:r>
            <a:br>
              <a:rPr lang="en-IN" sz="1400" dirty="0">
                <a:effectLst/>
                <a:latin typeface="Menlo" panose="020B0609030804020204" pitchFamily="49" charset="0"/>
              </a:rPr>
            </a:br>
            <a:endParaRPr lang="en-IN" sz="1400" dirty="0">
              <a:effectLst/>
              <a:latin typeface="Menlo" panose="020B0609030804020204" pitchFamily="49" charset="0"/>
            </a:endParaRPr>
          </a:p>
          <a:p>
            <a:pPr marL="0" indent="0">
              <a:buNone/>
            </a:pPr>
            <a:r>
              <a:rPr lang="en-IN" sz="1400" dirty="0">
                <a:effectLst/>
                <a:latin typeface="Menlo" panose="020B0609030804020204" pitchFamily="49" charset="0"/>
              </a:rPr>
              <a:t>}</a:t>
            </a:r>
          </a:p>
        </p:txBody>
      </p:sp>
      <p:sp>
        <p:nvSpPr>
          <p:cNvPr id="4" name="Content Placeholder 2">
            <a:extLst>
              <a:ext uri="{FF2B5EF4-FFF2-40B4-BE49-F238E27FC236}">
                <a16:creationId xmlns:a16="http://schemas.microsoft.com/office/drawing/2014/main" id="{45A0E1BE-4136-EA91-4FBE-C6644F4AB56F}"/>
              </a:ext>
            </a:extLst>
          </p:cNvPr>
          <p:cNvSpPr txBox="1">
            <a:spLocks/>
          </p:cNvSpPr>
          <p:nvPr/>
        </p:nvSpPr>
        <p:spPr>
          <a:xfrm>
            <a:off x="6095999" y="383886"/>
            <a:ext cx="7180613" cy="58118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400" dirty="0"/>
          </a:p>
        </p:txBody>
      </p:sp>
    </p:spTree>
    <p:extLst>
      <p:ext uri="{BB962C8B-B14F-4D97-AF65-F5344CB8AC3E}">
        <p14:creationId xmlns:p14="http://schemas.microsoft.com/office/powerpoint/2010/main" val="719413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2EED85-D33C-447E-185E-1E896E62C688}"/>
              </a:ext>
            </a:extLst>
          </p:cNvPr>
          <p:cNvSpPr>
            <a:spLocks noGrp="1"/>
          </p:cNvSpPr>
          <p:nvPr>
            <p:ph idx="1"/>
          </p:nvPr>
        </p:nvSpPr>
        <p:spPr>
          <a:xfrm>
            <a:off x="838200" y="213756"/>
            <a:ext cx="10515600" cy="5963207"/>
          </a:xfrm>
        </p:spPr>
        <p:txBody>
          <a:bodyPr>
            <a:noAutofit/>
          </a:bodyPr>
          <a:lstStyle/>
          <a:p>
            <a:pPr marL="0" indent="0">
              <a:buNone/>
            </a:pPr>
            <a:r>
              <a:rPr lang="en-IN" sz="1400" dirty="0">
                <a:effectLst/>
                <a:latin typeface="Menlo" panose="020B0609030804020204" pitchFamily="49" charset="0"/>
              </a:rPr>
              <a:t>import </a:t>
            </a:r>
            <a:r>
              <a:rPr lang="en-IN" sz="1400" dirty="0" err="1">
                <a:effectLst/>
                <a:latin typeface="Menlo" panose="020B0609030804020204" pitchFamily="49" charset="0"/>
              </a:rPr>
              <a:t>java.sql.Connection</a:t>
            </a:r>
            <a:r>
              <a:rPr lang="en-IN" sz="1400" dirty="0">
                <a:effectLst/>
                <a:latin typeface="Menlo" panose="020B0609030804020204" pitchFamily="49" charset="0"/>
              </a:rPr>
              <a:t>;</a:t>
            </a:r>
          </a:p>
          <a:p>
            <a:pPr marL="0" indent="0">
              <a:buNone/>
            </a:pPr>
            <a:r>
              <a:rPr lang="en-IN" sz="1400" dirty="0">
                <a:effectLst/>
                <a:latin typeface="Menlo" panose="020B0609030804020204" pitchFamily="49" charset="0"/>
              </a:rPr>
              <a:t>import </a:t>
            </a:r>
            <a:r>
              <a:rPr lang="en-IN" sz="1400" dirty="0" err="1">
                <a:effectLst/>
                <a:latin typeface="Menlo" panose="020B0609030804020204" pitchFamily="49" charset="0"/>
              </a:rPr>
              <a:t>java.sql.DriverManager</a:t>
            </a:r>
            <a:r>
              <a:rPr lang="en-IN" sz="1400" dirty="0">
                <a:effectLst/>
                <a:latin typeface="Menlo" panose="020B0609030804020204" pitchFamily="49" charset="0"/>
              </a:rPr>
              <a:t>;</a:t>
            </a:r>
          </a:p>
          <a:p>
            <a:pPr marL="0" indent="0">
              <a:buNone/>
            </a:pPr>
            <a:r>
              <a:rPr lang="en-IN" sz="1400" dirty="0">
                <a:effectLst/>
                <a:latin typeface="Menlo" panose="020B0609030804020204" pitchFamily="49" charset="0"/>
              </a:rPr>
              <a:t>import </a:t>
            </a:r>
            <a:r>
              <a:rPr lang="en-IN" sz="1400" dirty="0" err="1">
                <a:effectLst/>
                <a:latin typeface="Menlo" panose="020B0609030804020204" pitchFamily="49" charset="0"/>
              </a:rPr>
              <a:t>java.sql.ResultSet</a:t>
            </a:r>
            <a:r>
              <a:rPr lang="en-IN" sz="1400" dirty="0">
                <a:effectLst/>
                <a:latin typeface="Menlo" panose="020B0609030804020204" pitchFamily="49" charset="0"/>
              </a:rPr>
              <a:t>;</a:t>
            </a:r>
          </a:p>
          <a:p>
            <a:pPr marL="0" indent="0">
              <a:buNone/>
            </a:pPr>
            <a:r>
              <a:rPr lang="en-IN" sz="1400" dirty="0">
                <a:effectLst/>
                <a:latin typeface="Menlo" panose="020B0609030804020204" pitchFamily="49" charset="0"/>
              </a:rPr>
              <a:t>import </a:t>
            </a:r>
            <a:r>
              <a:rPr lang="en-IN" sz="1400" dirty="0" err="1">
                <a:effectLst/>
                <a:latin typeface="Menlo" panose="020B0609030804020204" pitchFamily="49" charset="0"/>
              </a:rPr>
              <a:t>java.sql.SQLException</a:t>
            </a:r>
            <a:r>
              <a:rPr lang="en-IN" sz="1400" dirty="0">
                <a:effectLst/>
                <a:latin typeface="Menlo" panose="020B0609030804020204" pitchFamily="49" charset="0"/>
              </a:rPr>
              <a:t>;</a:t>
            </a:r>
          </a:p>
          <a:p>
            <a:pPr marL="0" indent="0">
              <a:buNone/>
            </a:pPr>
            <a:r>
              <a:rPr lang="en-IN" sz="1400" dirty="0">
                <a:effectLst/>
                <a:latin typeface="Menlo" panose="020B0609030804020204" pitchFamily="49" charset="0"/>
              </a:rPr>
              <a:t>import </a:t>
            </a:r>
            <a:r>
              <a:rPr lang="en-IN" sz="1400" dirty="0" err="1">
                <a:effectLst/>
                <a:latin typeface="Menlo" panose="020B0609030804020204" pitchFamily="49" charset="0"/>
              </a:rPr>
              <a:t>java.sql.Statement</a:t>
            </a:r>
            <a:r>
              <a:rPr lang="en-IN" sz="1400" dirty="0">
                <a:effectLst/>
                <a:latin typeface="Menlo" panose="020B0609030804020204" pitchFamily="49" charset="0"/>
              </a:rPr>
              <a:t>;</a:t>
            </a:r>
          </a:p>
          <a:p>
            <a:pPr marL="0" indent="0">
              <a:buNone/>
            </a:pPr>
            <a:r>
              <a:rPr lang="en-IN" sz="1400" dirty="0">
                <a:effectLst/>
                <a:latin typeface="Menlo" panose="020B0609030804020204" pitchFamily="49" charset="0"/>
              </a:rPr>
              <a:t>public class </a:t>
            </a:r>
            <a:r>
              <a:rPr lang="en-IN" sz="1400" dirty="0" err="1">
                <a:effectLst/>
                <a:latin typeface="Menlo" panose="020B0609030804020204" pitchFamily="49" charset="0"/>
              </a:rPr>
              <a:t>MySQLDemo</a:t>
            </a:r>
            <a:r>
              <a:rPr lang="en-IN" sz="1400" dirty="0">
                <a:effectLst/>
                <a:latin typeface="Menlo" panose="020B0609030804020204" pitchFamily="49" charset="0"/>
              </a:rPr>
              <a:t> {</a:t>
            </a:r>
          </a:p>
          <a:p>
            <a:pPr marL="0" indent="0">
              <a:buNone/>
            </a:pPr>
            <a:r>
              <a:rPr lang="en-IN" sz="1400" dirty="0">
                <a:effectLst/>
                <a:latin typeface="Menlo" panose="020B0609030804020204" pitchFamily="49" charset="0"/>
              </a:rPr>
              <a:t>public static void main(String[] </a:t>
            </a:r>
            <a:r>
              <a:rPr lang="en-IN" sz="1400" dirty="0" err="1">
                <a:effectLst/>
                <a:latin typeface="Menlo" panose="020B0609030804020204" pitchFamily="49" charset="0"/>
              </a:rPr>
              <a:t>args</a:t>
            </a:r>
            <a:r>
              <a:rPr lang="en-IN" sz="1400" dirty="0">
                <a:effectLst/>
                <a:latin typeface="Menlo" panose="020B0609030804020204" pitchFamily="49" charset="0"/>
              </a:rPr>
              <a:t>) throws </a:t>
            </a:r>
            <a:r>
              <a:rPr lang="en-IN" sz="1400" dirty="0" err="1">
                <a:effectLst/>
                <a:latin typeface="Menlo" panose="020B0609030804020204" pitchFamily="49" charset="0"/>
              </a:rPr>
              <a:t>ClassNotFoundException</a:t>
            </a:r>
            <a:r>
              <a:rPr lang="en-IN" sz="1400" dirty="0">
                <a:effectLst/>
                <a:latin typeface="Menlo" panose="020B0609030804020204" pitchFamily="49" charset="0"/>
              </a:rPr>
              <a:t>, </a:t>
            </a:r>
            <a:r>
              <a:rPr lang="en-IN" sz="1400" dirty="0" err="1">
                <a:effectLst/>
                <a:latin typeface="Menlo" panose="020B0609030804020204" pitchFamily="49" charset="0"/>
              </a:rPr>
              <a:t>SQLException</a:t>
            </a:r>
            <a:r>
              <a:rPr lang="en-IN" sz="1400" dirty="0">
                <a:effectLst/>
                <a:latin typeface="Menlo" panose="020B0609030804020204" pitchFamily="49" charset="0"/>
              </a:rPr>
              <a:t> {</a:t>
            </a:r>
          </a:p>
          <a:p>
            <a:pPr marL="0" indent="0">
              <a:buNone/>
            </a:pPr>
            <a:r>
              <a:rPr lang="en-IN" sz="1400" dirty="0">
                <a:effectLst/>
                <a:latin typeface="Menlo" panose="020B0609030804020204" pitchFamily="49" charset="0"/>
              </a:rPr>
              <a:t>//1. Register JDBC Driver</a:t>
            </a:r>
          </a:p>
          <a:p>
            <a:pPr marL="0" indent="0">
              <a:buNone/>
            </a:pPr>
            <a:r>
              <a:rPr lang="en-IN" sz="1400" dirty="0" err="1">
                <a:effectLst/>
                <a:latin typeface="Menlo" panose="020B0609030804020204" pitchFamily="49" charset="0"/>
              </a:rPr>
              <a:t>Class.</a:t>
            </a:r>
            <a:r>
              <a:rPr lang="en-IN" sz="1400" i="1" dirty="0" err="1">
                <a:effectLst/>
                <a:latin typeface="Menlo" panose="020B0609030804020204" pitchFamily="49" charset="0"/>
              </a:rPr>
              <a:t>forName</a:t>
            </a:r>
            <a:r>
              <a:rPr lang="en-IN" sz="1400" dirty="0">
                <a:effectLst/>
                <a:latin typeface="Menlo" panose="020B0609030804020204" pitchFamily="49" charset="0"/>
              </a:rPr>
              <a:t>("</a:t>
            </a:r>
            <a:r>
              <a:rPr lang="en-IN" sz="1400" dirty="0" err="1">
                <a:effectLst/>
                <a:latin typeface="Menlo" panose="020B0609030804020204" pitchFamily="49" charset="0"/>
              </a:rPr>
              <a:t>com.mysql.cj.jdbc.Driver</a:t>
            </a:r>
            <a:r>
              <a:rPr lang="en-IN" sz="1400" dirty="0">
                <a:effectLst/>
                <a:latin typeface="Menlo" panose="020B0609030804020204" pitchFamily="49" charset="0"/>
              </a:rPr>
              <a:t>");</a:t>
            </a:r>
          </a:p>
          <a:p>
            <a:pPr marL="0" indent="0">
              <a:buNone/>
            </a:pPr>
            <a:r>
              <a:rPr lang="en-IN" sz="1400" dirty="0">
                <a:effectLst/>
                <a:latin typeface="Menlo" panose="020B0609030804020204" pitchFamily="49" charset="0"/>
              </a:rPr>
              <a:t>//2. Establish Connection</a:t>
            </a:r>
          </a:p>
          <a:p>
            <a:pPr marL="0" indent="0">
              <a:buNone/>
            </a:pPr>
            <a:r>
              <a:rPr lang="en-IN" sz="1400" dirty="0">
                <a:effectLst/>
                <a:latin typeface="Menlo" panose="020B0609030804020204" pitchFamily="49" charset="0"/>
              </a:rPr>
              <a:t>Connection con = </a:t>
            </a:r>
            <a:r>
              <a:rPr lang="en-IN" sz="1400" dirty="0" err="1">
                <a:effectLst/>
                <a:latin typeface="Menlo" panose="020B0609030804020204" pitchFamily="49" charset="0"/>
              </a:rPr>
              <a:t>DriverManager.</a:t>
            </a:r>
            <a:r>
              <a:rPr lang="en-IN" sz="1400" i="1" dirty="0" err="1">
                <a:effectLst/>
                <a:latin typeface="Menlo" panose="020B0609030804020204" pitchFamily="49" charset="0"/>
              </a:rPr>
              <a:t>getConnection</a:t>
            </a:r>
            <a:r>
              <a:rPr lang="en-IN" sz="1400" dirty="0">
                <a:effectLst/>
                <a:latin typeface="Menlo" panose="020B0609030804020204" pitchFamily="49" charset="0"/>
              </a:rPr>
              <a:t>("</a:t>
            </a:r>
            <a:r>
              <a:rPr lang="en-IN" sz="1400" b="1" dirty="0" err="1">
                <a:effectLst/>
                <a:latin typeface="Menlo" panose="020B0609030804020204" pitchFamily="49" charset="0"/>
              </a:rPr>
              <a:t>jdbc:mysql</a:t>
            </a:r>
            <a:r>
              <a:rPr lang="en-IN" sz="1400" b="1" dirty="0">
                <a:effectLst/>
                <a:latin typeface="Menlo" panose="020B0609030804020204" pitchFamily="49" charset="0"/>
              </a:rPr>
              <a:t>://localhost:3306/hospital</a:t>
            </a:r>
            <a:r>
              <a:rPr lang="en-IN" sz="1400" dirty="0">
                <a:effectLst/>
                <a:latin typeface="Menlo" panose="020B0609030804020204" pitchFamily="49" charset="0"/>
              </a:rPr>
              <a:t>", "</a:t>
            </a:r>
            <a:r>
              <a:rPr lang="en-IN" sz="1400" b="1" dirty="0">
                <a:effectLst/>
                <a:latin typeface="Menlo" panose="020B0609030804020204" pitchFamily="49" charset="0"/>
              </a:rPr>
              <a:t>root</a:t>
            </a:r>
            <a:r>
              <a:rPr lang="en-IN" sz="1400" dirty="0">
                <a:effectLst/>
                <a:latin typeface="Menlo" panose="020B0609030804020204" pitchFamily="49" charset="0"/>
              </a:rPr>
              <a:t>", "</a:t>
            </a:r>
            <a:r>
              <a:rPr lang="en-IN" sz="1400" b="1" dirty="0" err="1">
                <a:effectLst/>
                <a:latin typeface="Menlo" panose="020B0609030804020204" pitchFamily="49" charset="0"/>
              </a:rPr>
              <a:t>navbharti</a:t>
            </a:r>
            <a:r>
              <a:rPr lang="en-IN" sz="1400" dirty="0">
                <a:effectLst/>
                <a:latin typeface="Menlo" panose="020B0609030804020204" pitchFamily="49" charset="0"/>
              </a:rPr>
              <a:t>");</a:t>
            </a:r>
          </a:p>
          <a:p>
            <a:pPr marL="0" indent="0">
              <a:buNone/>
            </a:pPr>
            <a:r>
              <a:rPr lang="en-IN" sz="1400" dirty="0">
                <a:effectLst/>
                <a:latin typeface="Menlo" panose="020B0609030804020204" pitchFamily="49" charset="0"/>
              </a:rPr>
              <a:t>//3. Create statement object</a:t>
            </a:r>
          </a:p>
          <a:p>
            <a:pPr marL="0" indent="0">
              <a:buNone/>
            </a:pPr>
            <a:r>
              <a:rPr lang="en-IN" sz="1400" dirty="0">
                <a:effectLst/>
                <a:latin typeface="Menlo" panose="020B0609030804020204" pitchFamily="49" charset="0"/>
              </a:rPr>
              <a:t>Statement </a:t>
            </a:r>
            <a:r>
              <a:rPr lang="en-IN" sz="1400" dirty="0" err="1">
                <a:effectLst/>
                <a:latin typeface="Menlo" panose="020B0609030804020204" pitchFamily="49" charset="0"/>
              </a:rPr>
              <a:t>st</a:t>
            </a:r>
            <a:r>
              <a:rPr lang="en-IN" sz="1400" dirty="0">
                <a:effectLst/>
                <a:latin typeface="Menlo" panose="020B0609030804020204" pitchFamily="49" charset="0"/>
              </a:rPr>
              <a:t> = </a:t>
            </a:r>
            <a:r>
              <a:rPr lang="en-IN" sz="1400" dirty="0" err="1">
                <a:effectLst/>
                <a:latin typeface="Menlo" panose="020B0609030804020204" pitchFamily="49" charset="0"/>
              </a:rPr>
              <a:t>con.createStatement</a:t>
            </a:r>
            <a:r>
              <a:rPr lang="en-IN" sz="1400" dirty="0">
                <a:effectLst/>
                <a:latin typeface="Menlo" panose="020B0609030804020204" pitchFamily="49" charset="0"/>
              </a:rPr>
              <a:t>();</a:t>
            </a:r>
          </a:p>
          <a:p>
            <a:pPr marL="0" indent="0">
              <a:buNone/>
            </a:pPr>
            <a:r>
              <a:rPr lang="en-IN" sz="1400" dirty="0">
                <a:effectLst/>
                <a:latin typeface="Menlo" panose="020B0609030804020204" pitchFamily="49" charset="0"/>
              </a:rPr>
              <a:t>//4. Execute Query and store the returned result in </a:t>
            </a:r>
            <a:r>
              <a:rPr lang="en-IN" sz="1400" dirty="0" err="1">
                <a:effectLst/>
                <a:latin typeface="Menlo" panose="020B0609030804020204" pitchFamily="49" charset="0"/>
              </a:rPr>
              <a:t>ResultSet</a:t>
            </a:r>
            <a:r>
              <a:rPr lang="en-IN" sz="1400" dirty="0">
                <a:effectLst/>
                <a:latin typeface="Menlo" panose="020B0609030804020204" pitchFamily="49" charset="0"/>
              </a:rPr>
              <a:t> object</a:t>
            </a:r>
          </a:p>
          <a:p>
            <a:pPr marL="0" indent="0">
              <a:buNone/>
            </a:pPr>
            <a:r>
              <a:rPr lang="en-IN" sz="1400" dirty="0" err="1">
                <a:effectLst/>
                <a:latin typeface="Menlo" panose="020B0609030804020204" pitchFamily="49" charset="0"/>
              </a:rPr>
              <a:t>ResultSet</a:t>
            </a:r>
            <a:r>
              <a:rPr lang="en-IN" sz="1400" dirty="0">
                <a:effectLst/>
                <a:latin typeface="Menlo" panose="020B0609030804020204" pitchFamily="49" charset="0"/>
              </a:rPr>
              <a:t> </a:t>
            </a:r>
            <a:r>
              <a:rPr lang="en-IN" sz="1400" dirty="0" err="1">
                <a:effectLst/>
                <a:latin typeface="Menlo" panose="020B0609030804020204" pitchFamily="49" charset="0"/>
              </a:rPr>
              <a:t>rs</a:t>
            </a:r>
            <a:r>
              <a:rPr lang="en-IN" sz="1400" dirty="0">
                <a:effectLst/>
                <a:latin typeface="Menlo" panose="020B0609030804020204" pitchFamily="49" charset="0"/>
              </a:rPr>
              <a:t> = </a:t>
            </a:r>
            <a:r>
              <a:rPr lang="en-IN" sz="1400" dirty="0" err="1">
                <a:effectLst/>
                <a:latin typeface="Menlo" panose="020B0609030804020204" pitchFamily="49" charset="0"/>
              </a:rPr>
              <a:t>st.executeQuery</a:t>
            </a:r>
            <a:r>
              <a:rPr lang="en-IN" sz="1400" dirty="0">
                <a:effectLst/>
                <a:latin typeface="Menlo" panose="020B0609030804020204" pitchFamily="49" charset="0"/>
              </a:rPr>
              <a:t>("Select * from students");</a:t>
            </a:r>
          </a:p>
          <a:p>
            <a:pPr marL="0" indent="0">
              <a:buNone/>
            </a:pPr>
            <a:r>
              <a:rPr lang="en-IN" sz="1400" dirty="0">
                <a:effectLst/>
                <a:latin typeface="Menlo" panose="020B0609030804020204" pitchFamily="49" charset="0"/>
              </a:rPr>
              <a:t>//5. Process the Result Set object</a:t>
            </a:r>
          </a:p>
          <a:p>
            <a:pPr marL="0" indent="0">
              <a:buNone/>
            </a:pPr>
            <a:r>
              <a:rPr lang="en-IN" sz="1400" dirty="0">
                <a:effectLst/>
                <a:latin typeface="Menlo" panose="020B0609030804020204" pitchFamily="49" charset="0"/>
              </a:rPr>
              <a:t>while(</a:t>
            </a:r>
            <a:r>
              <a:rPr lang="en-IN" sz="1400" dirty="0" err="1">
                <a:effectLst/>
                <a:latin typeface="Menlo" panose="020B0609030804020204" pitchFamily="49" charset="0"/>
              </a:rPr>
              <a:t>rs.next</a:t>
            </a:r>
            <a:r>
              <a:rPr lang="en-IN" sz="1400" dirty="0">
                <a:effectLst/>
                <a:latin typeface="Menlo" panose="020B0609030804020204" pitchFamily="49" charset="0"/>
              </a:rPr>
              <a:t>()) {</a:t>
            </a:r>
          </a:p>
          <a:p>
            <a:pPr marL="0" indent="0">
              <a:buNone/>
            </a:pPr>
            <a:r>
              <a:rPr lang="en-IN" sz="1400" dirty="0" err="1">
                <a:effectLst/>
                <a:latin typeface="Menlo" panose="020B0609030804020204" pitchFamily="49" charset="0"/>
              </a:rPr>
              <a:t>System.</a:t>
            </a:r>
            <a:r>
              <a:rPr lang="en-IN" sz="1400" b="1" i="1" dirty="0" err="1">
                <a:effectLst/>
                <a:latin typeface="Menlo" panose="020B0609030804020204" pitchFamily="49" charset="0"/>
              </a:rPr>
              <a:t>out</a:t>
            </a:r>
            <a:r>
              <a:rPr lang="en-IN" sz="1400" dirty="0" err="1">
                <a:effectLst/>
                <a:latin typeface="Menlo" panose="020B0609030804020204" pitchFamily="49" charset="0"/>
              </a:rPr>
              <a:t>.println</a:t>
            </a:r>
            <a:r>
              <a:rPr lang="en-IN" sz="1400" dirty="0">
                <a:effectLst/>
                <a:latin typeface="Menlo" panose="020B0609030804020204" pitchFamily="49" charset="0"/>
              </a:rPr>
              <a:t>(</a:t>
            </a:r>
            <a:r>
              <a:rPr lang="en-IN" sz="1400" dirty="0" err="1">
                <a:effectLst/>
                <a:latin typeface="Menlo" panose="020B0609030804020204" pitchFamily="49" charset="0"/>
              </a:rPr>
              <a:t>rs.getInt</a:t>
            </a:r>
            <a:r>
              <a:rPr lang="en-IN" sz="1400" dirty="0">
                <a:effectLst/>
                <a:latin typeface="Menlo" panose="020B0609030804020204" pitchFamily="49" charset="0"/>
              </a:rPr>
              <a:t>(1)+" "+</a:t>
            </a:r>
            <a:r>
              <a:rPr lang="en-IN" sz="1400" dirty="0" err="1">
                <a:effectLst/>
                <a:latin typeface="Menlo" panose="020B0609030804020204" pitchFamily="49" charset="0"/>
              </a:rPr>
              <a:t>rs.getString</a:t>
            </a:r>
            <a:r>
              <a:rPr lang="en-IN" sz="1400" dirty="0">
                <a:effectLst/>
                <a:latin typeface="Menlo" panose="020B0609030804020204" pitchFamily="49" charset="0"/>
              </a:rPr>
              <a:t>(2)+" "+ </a:t>
            </a:r>
            <a:r>
              <a:rPr lang="en-IN" sz="1400" dirty="0" err="1">
                <a:effectLst/>
                <a:latin typeface="Menlo" panose="020B0609030804020204" pitchFamily="49" charset="0"/>
              </a:rPr>
              <a:t>rs.getInt</a:t>
            </a:r>
            <a:r>
              <a:rPr lang="en-IN" sz="1400" dirty="0">
                <a:effectLst/>
                <a:latin typeface="Menlo" panose="020B0609030804020204" pitchFamily="49" charset="0"/>
              </a:rPr>
              <a:t>(3)+" "+</a:t>
            </a:r>
            <a:r>
              <a:rPr lang="en-IN" sz="1400" dirty="0" err="1">
                <a:effectLst/>
                <a:latin typeface="Menlo" panose="020B0609030804020204" pitchFamily="49" charset="0"/>
              </a:rPr>
              <a:t>rs.getDouble</a:t>
            </a:r>
            <a:r>
              <a:rPr lang="en-IN" sz="1400" dirty="0">
                <a:effectLst/>
                <a:latin typeface="Menlo" panose="020B0609030804020204" pitchFamily="49" charset="0"/>
              </a:rPr>
              <a:t>(4)+" "+</a:t>
            </a:r>
            <a:r>
              <a:rPr lang="en-IN" sz="1400" dirty="0" err="1">
                <a:effectLst/>
                <a:latin typeface="Menlo" panose="020B0609030804020204" pitchFamily="49" charset="0"/>
              </a:rPr>
              <a:t>rs.getString</a:t>
            </a:r>
            <a:r>
              <a:rPr lang="en-IN" sz="1400" dirty="0">
                <a:effectLst/>
                <a:latin typeface="Menlo" panose="020B0609030804020204" pitchFamily="49" charset="0"/>
              </a:rPr>
              <a:t>(5));</a:t>
            </a:r>
          </a:p>
          <a:p>
            <a:pPr marL="0" indent="0">
              <a:buNone/>
            </a:pPr>
            <a:r>
              <a:rPr lang="en-IN" sz="1400" dirty="0">
                <a:effectLst/>
                <a:latin typeface="Menlo" panose="020B0609030804020204" pitchFamily="49" charset="0"/>
              </a:rPr>
              <a:t>}</a:t>
            </a:r>
          </a:p>
          <a:p>
            <a:pPr marL="0" indent="0">
              <a:buNone/>
            </a:pPr>
            <a:r>
              <a:rPr lang="en-IN" sz="1400" dirty="0">
                <a:effectLst/>
                <a:latin typeface="Menlo" panose="020B0609030804020204" pitchFamily="49" charset="0"/>
              </a:rPr>
              <a:t>//6. close the Connection</a:t>
            </a:r>
          </a:p>
          <a:p>
            <a:pPr marL="0" indent="0">
              <a:buNone/>
            </a:pPr>
            <a:r>
              <a:rPr lang="en-IN" sz="1400" dirty="0" err="1">
                <a:effectLst/>
                <a:latin typeface="Menlo" panose="020B0609030804020204" pitchFamily="49" charset="0"/>
              </a:rPr>
              <a:t>con.close</a:t>
            </a:r>
            <a:r>
              <a:rPr lang="en-IN" sz="1400" dirty="0">
                <a:effectLst/>
                <a:latin typeface="Menlo" panose="020B0609030804020204" pitchFamily="49" charset="0"/>
              </a:rPr>
              <a:t>();</a:t>
            </a:r>
          </a:p>
          <a:p>
            <a:pPr marL="0" indent="0">
              <a:buNone/>
            </a:pPr>
            <a:r>
              <a:rPr lang="en-IN" sz="1400" dirty="0">
                <a:effectLst/>
                <a:latin typeface="Menlo" panose="020B0609030804020204" pitchFamily="49" charset="0"/>
              </a:rPr>
              <a:t>}</a:t>
            </a:r>
          </a:p>
          <a:p>
            <a:pPr marL="0" indent="0">
              <a:buNone/>
            </a:pPr>
            <a:r>
              <a:rPr lang="en-IN" sz="1400" dirty="0">
                <a:effectLst/>
                <a:latin typeface="Menlo" panose="020B0609030804020204" pitchFamily="49" charset="0"/>
              </a:rPr>
              <a:t>}</a:t>
            </a:r>
          </a:p>
          <a:p>
            <a:pPr marL="0" indent="0">
              <a:buNone/>
            </a:pPr>
            <a:endParaRPr lang="en-US" sz="1400" dirty="0"/>
          </a:p>
        </p:txBody>
      </p:sp>
    </p:spTree>
    <p:extLst>
      <p:ext uri="{BB962C8B-B14F-4D97-AF65-F5344CB8AC3E}">
        <p14:creationId xmlns:p14="http://schemas.microsoft.com/office/powerpoint/2010/main" val="450775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3E52C2-2BF6-F198-DD18-4898089FD6B6}"/>
              </a:ext>
            </a:extLst>
          </p:cNvPr>
          <p:cNvSpPr>
            <a:spLocks noGrp="1"/>
          </p:cNvSpPr>
          <p:nvPr>
            <p:ph idx="1"/>
          </p:nvPr>
        </p:nvSpPr>
        <p:spPr>
          <a:xfrm>
            <a:off x="838200" y="142504"/>
            <a:ext cx="10515600" cy="6034459"/>
          </a:xfrm>
        </p:spPr>
        <p:txBody>
          <a:bodyPr>
            <a:noAutofit/>
          </a:bodyPr>
          <a:lstStyle/>
          <a:p>
            <a:pPr marL="0" indent="0">
              <a:buNone/>
            </a:pPr>
            <a:r>
              <a:rPr lang="en-IN" sz="1400" dirty="0">
                <a:effectLst/>
                <a:latin typeface="Menlo" panose="020B0609030804020204" pitchFamily="49" charset="0"/>
              </a:rPr>
              <a:t>import </a:t>
            </a:r>
            <a:r>
              <a:rPr lang="en-IN" sz="1400" dirty="0" err="1">
                <a:effectLst/>
                <a:latin typeface="Menlo" panose="020B0609030804020204" pitchFamily="49" charset="0"/>
              </a:rPr>
              <a:t>java.sql.Connection</a:t>
            </a:r>
            <a:r>
              <a:rPr lang="en-IN" sz="1400" dirty="0">
                <a:effectLst/>
                <a:latin typeface="Menlo" panose="020B0609030804020204" pitchFamily="49" charset="0"/>
              </a:rPr>
              <a:t>;</a:t>
            </a:r>
          </a:p>
          <a:p>
            <a:pPr marL="0" indent="0">
              <a:buNone/>
            </a:pPr>
            <a:r>
              <a:rPr lang="en-IN" sz="1400" dirty="0">
                <a:effectLst/>
                <a:latin typeface="Menlo" panose="020B0609030804020204" pitchFamily="49" charset="0"/>
              </a:rPr>
              <a:t>import </a:t>
            </a:r>
            <a:r>
              <a:rPr lang="en-IN" sz="1400" dirty="0" err="1">
                <a:effectLst/>
                <a:latin typeface="Menlo" panose="020B0609030804020204" pitchFamily="49" charset="0"/>
              </a:rPr>
              <a:t>java.sql.DriverManager</a:t>
            </a:r>
            <a:r>
              <a:rPr lang="en-IN" sz="1400" dirty="0">
                <a:effectLst/>
                <a:latin typeface="Menlo" panose="020B0609030804020204" pitchFamily="49" charset="0"/>
              </a:rPr>
              <a:t>;</a:t>
            </a:r>
          </a:p>
          <a:p>
            <a:pPr marL="0" indent="0">
              <a:buNone/>
            </a:pPr>
            <a:r>
              <a:rPr lang="en-IN" sz="1400" dirty="0">
                <a:effectLst/>
                <a:latin typeface="Menlo" panose="020B0609030804020204" pitchFamily="49" charset="0"/>
              </a:rPr>
              <a:t>import </a:t>
            </a:r>
            <a:r>
              <a:rPr lang="en-IN" sz="1400" dirty="0" err="1">
                <a:effectLst/>
                <a:latin typeface="Menlo" panose="020B0609030804020204" pitchFamily="49" charset="0"/>
              </a:rPr>
              <a:t>java.sql.ResultSet</a:t>
            </a:r>
            <a:r>
              <a:rPr lang="en-IN" sz="1400" dirty="0">
                <a:effectLst/>
                <a:latin typeface="Menlo" panose="020B0609030804020204" pitchFamily="49" charset="0"/>
              </a:rPr>
              <a:t>;</a:t>
            </a:r>
          </a:p>
          <a:p>
            <a:pPr marL="0" indent="0">
              <a:buNone/>
            </a:pPr>
            <a:r>
              <a:rPr lang="en-IN" sz="1400" dirty="0">
                <a:effectLst/>
                <a:latin typeface="Menlo" panose="020B0609030804020204" pitchFamily="49" charset="0"/>
              </a:rPr>
              <a:t>import </a:t>
            </a:r>
            <a:r>
              <a:rPr lang="en-IN" sz="1400" dirty="0" err="1">
                <a:effectLst/>
                <a:latin typeface="Menlo" panose="020B0609030804020204" pitchFamily="49" charset="0"/>
              </a:rPr>
              <a:t>java.sql.SQLException</a:t>
            </a:r>
            <a:r>
              <a:rPr lang="en-IN" sz="1400" dirty="0">
                <a:effectLst/>
                <a:latin typeface="Menlo" panose="020B0609030804020204" pitchFamily="49" charset="0"/>
              </a:rPr>
              <a:t>;</a:t>
            </a:r>
          </a:p>
          <a:p>
            <a:pPr marL="0" indent="0">
              <a:buNone/>
            </a:pPr>
            <a:r>
              <a:rPr lang="en-IN" sz="1400" dirty="0">
                <a:effectLst/>
                <a:latin typeface="Menlo" panose="020B0609030804020204" pitchFamily="49" charset="0"/>
              </a:rPr>
              <a:t>import </a:t>
            </a:r>
            <a:r>
              <a:rPr lang="en-IN" sz="1400" dirty="0" err="1">
                <a:effectLst/>
                <a:latin typeface="Menlo" panose="020B0609030804020204" pitchFamily="49" charset="0"/>
              </a:rPr>
              <a:t>java.sql.Statement</a:t>
            </a:r>
            <a:r>
              <a:rPr lang="en-IN" sz="1400" dirty="0">
                <a:effectLst/>
                <a:latin typeface="Menlo" panose="020B0609030804020204" pitchFamily="49" charset="0"/>
              </a:rPr>
              <a:t>;</a:t>
            </a:r>
          </a:p>
          <a:p>
            <a:pPr marL="0" indent="0">
              <a:buNone/>
            </a:pPr>
            <a:r>
              <a:rPr lang="en-IN" sz="1400" dirty="0">
                <a:effectLst/>
                <a:latin typeface="Menlo" panose="020B0609030804020204" pitchFamily="49" charset="0"/>
              </a:rPr>
              <a:t>public class </a:t>
            </a:r>
            <a:r>
              <a:rPr lang="en-IN" sz="1400" dirty="0" err="1">
                <a:effectLst/>
                <a:latin typeface="Menlo" panose="020B0609030804020204" pitchFamily="49" charset="0"/>
              </a:rPr>
              <a:t>OracleDemo</a:t>
            </a:r>
            <a:r>
              <a:rPr lang="en-IN" sz="1400" dirty="0">
                <a:effectLst/>
                <a:latin typeface="Menlo" panose="020B0609030804020204" pitchFamily="49" charset="0"/>
              </a:rPr>
              <a:t> {</a:t>
            </a:r>
          </a:p>
          <a:p>
            <a:pPr marL="0" indent="0">
              <a:buNone/>
            </a:pPr>
            <a:r>
              <a:rPr lang="en-IN" sz="1400" dirty="0">
                <a:effectLst/>
                <a:latin typeface="Menlo" panose="020B0609030804020204" pitchFamily="49" charset="0"/>
              </a:rPr>
              <a:t>public static void main(String[] </a:t>
            </a:r>
            <a:r>
              <a:rPr lang="en-IN" sz="1400" dirty="0" err="1">
                <a:effectLst/>
                <a:latin typeface="Menlo" panose="020B0609030804020204" pitchFamily="49" charset="0"/>
              </a:rPr>
              <a:t>args</a:t>
            </a:r>
            <a:r>
              <a:rPr lang="en-IN" sz="1400" dirty="0">
                <a:effectLst/>
                <a:latin typeface="Menlo" panose="020B0609030804020204" pitchFamily="49" charset="0"/>
              </a:rPr>
              <a:t>) throws </a:t>
            </a:r>
            <a:r>
              <a:rPr lang="en-IN" sz="1400" dirty="0" err="1">
                <a:effectLst/>
                <a:latin typeface="Menlo" panose="020B0609030804020204" pitchFamily="49" charset="0"/>
              </a:rPr>
              <a:t>ClassNotFoundException</a:t>
            </a:r>
            <a:r>
              <a:rPr lang="en-IN" sz="1400" dirty="0">
                <a:effectLst/>
                <a:latin typeface="Menlo" panose="020B0609030804020204" pitchFamily="49" charset="0"/>
              </a:rPr>
              <a:t>, </a:t>
            </a:r>
            <a:r>
              <a:rPr lang="en-IN" sz="1400" dirty="0" err="1">
                <a:effectLst/>
                <a:latin typeface="Menlo" panose="020B0609030804020204" pitchFamily="49" charset="0"/>
              </a:rPr>
              <a:t>SQLException</a:t>
            </a:r>
            <a:r>
              <a:rPr lang="en-IN" sz="1400" dirty="0">
                <a:effectLst/>
                <a:latin typeface="Menlo" panose="020B0609030804020204" pitchFamily="49" charset="0"/>
              </a:rPr>
              <a:t> {</a:t>
            </a:r>
          </a:p>
          <a:p>
            <a:pPr marL="0" indent="0">
              <a:buNone/>
            </a:pPr>
            <a:r>
              <a:rPr lang="en-IN" sz="1400" b="1" dirty="0">
                <a:solidFill>
                  <a:srgbClr val="C00000"/>
                </a:solidFill>
                <a:effectLst/>
                <a:latin typeface="Menlo" panose="020B0609030804020204" pitchFamily="49" charset="0"/>
              </a:rPr>
              <a:t>//1. Register Oracle Driver</a:t>
            </a:r>
          </a:p>
          <a:p>
            <a:pPr marL="0" indent="0">
              <a:buNone/>
            </a:pPr>
            <a:r>
              <a:rPr lang="en-IN" sz="1400" dirty="0" err="1">
                <a:effectLst/>
                <a:latin typeface="Menlo" panose="020B0609030804020204" pitchFamily="49" charset="0"/>
              </a:rPr>
              <a:t>Class.</a:t>
            </a:r>
            <a:r>
              <a:rPr lang="en-IN" sz="1400" i="1" dirty="0" err="1">
                <a:effectLst/>
                <a:latin typeface="Menlo" panose="020B0609030804020204" pitchFamily="49" charset="0"/>
              </a:rPr>
              <a:t>forName</a:t>
            </a:r>
            <a:r>
              <a:rPr lang="en-IN" sz="1400" dirty="0">
                <a:effectLst/>
                <a:latin typeface="Menlo" panose="020B0609030804020204" pitchFamily="49" charset="0"/>
              </a:rPr>
              <a:t>("</a:t>
            </a:r>
            <a:r>
              <a:rPr lang="en-IN" sz="1400" b="1" dirty="0" err="1">
                <a:effectLst/>
                <a:latin typeface="Menlo" panose="020B0609030804020204" pitchFamily="49" charset="0"/>
              </a:rPr>
              <a:t>oracle.jdbc.OracleDriver</a:t>
            </a:r>
            <a:r>
              <a:rPr lang="en-IN" sz="1400" dirty="0">
                <a:effectLst/>
                <a:latin typeface="Menlo" panose="020B0609030804020204" pitchFamily="49" charset="0"/>
              </a:rPr>
              <a:t>");</a:t>
            </a:r>
          </a:p>
          <a:p>
            <a:pPr marL="0" indent="0">
              <a:buNone/>
            </a:pPr>
            <a:r>
              <a:rPr lang="en-IN" sz="1400" b="1" dirty="0">
                <a:solidFill>
                  <a:srgbClr val="C00000"/>
                </a:solidFill>
                <a:effectLst/>
                <a:latin typeface="Menlo" panose="020B0609030804020204" pitchFamily="49" charset="0"/>
              </a:rPr>
              <a:t>//2. Establish Connection using DB URL, USER, PASSWORD</a:t>
            </a:r>
          </a:p>
          <a:p>
            <a:pPr marL="0" indent="0">
              <a:buNone/>
            </a:pPr>
            <a:r>
              <a:rPr lang="en-IN" sz="1400" dirty="0">
                <a:effectLst/>
                <a:latin typeface="Menlo" panose="020B0609030804020204" pitchFamily="49" charset="0"/>
              </a:rPr>
              <a:t>Connection con = </a:t>
            </a:r>
            <a:r>
              <a:rPr lang="en-IN" sz="1400" dirty="0" err="1">
                <a:effectLst/>
                <a:latin typeface="Menlo" panose="020B0609030804020204" pitchFamily="49" charset="0"/>
              </a:rPr>
              <a:t>DriverManager.</a:t>
            </a:r>
            <a:r>
              <a:rPr lang="en-IN" sz="1400" i="1" dirty="0" err="1">
                <a:effectLst/>
                <a:latin typeface="Menlo" panose="020B0609030804020204" pitchFamily="49" charset="0"/>
              </a:rPr>
              <a:t>getConnection</a:t>
            </a:r>
            <a:r>
              <a:rPr lang="en-IN" sz="1400" dirty="0">
                <a:effectLst/>
                <a:latin typeface="Menlo" panose="020B0609030804020204" pitchFamily="49" charset="0"/>
              </a:rPr>
              <a:t>("</a:t>
            </a:r>
            <a:r>
              <a:rPr lang="en-IN" sz="1400" b="1" dirty="0" err="1">
                <a:effectLst/>
                <a:latin typeface="Menlo" panose="020B0609030804020204" pitchFamily="49" charset="0"/>
              </a:rPr>
              <a:t>jdbc:oracle:thin</a:t>
            </a:r>
            <a:r>
              <a:rPr lang="en-IN" sz="1400" b="1" dirty="0">
                <a:effectLst/>
                <a:latin typeface="Menlo" panose="020B0609030804020204" pitchFamily="49" charset="0"/>
              </a:rPr>
              <a:t>:@127.0.0.1:1521:free</a:t>
            </a:r>
            <a:r>
              <a:rPr lang="en-IN" sz="1400" dirty="0">
                <a:effectLst/>
                <a:latin typeface="Menlo" panose="020B0609030804020204" pitchFamily="49" charset="0"/>
              </a:rPr>
              <a:t>", "</a:t>
            </a:r>
            <a:r>
              <a:rPr lang="en-IN" sz="1400" b="1" dirty="0">
                <a:effectLst/>
                <a:latin typeface="Menlo" panose="020B0609030804020204" pitchFamily="49" charset="0"/>
              </a:rPr>
              <a:t>system</a:t>
            </a:r>
            <a:r>
              <a:rPr lang="en-IN" sz="1400" dirty="0">
                <a:effectLst/>
                <a:latin typeface="Menlo" panose="020B0609030804020204" pitchFamily="49" charset="0"/>
              </a:rPr>
              <a:t>", "</a:t>
            </a:r>
            <a:r>
              <a:rPr lang="en-IN" sz="1400" b="1" dirty="0">
                <a:effectLst/>
                <a:latin typeface="Menlo" panose="020B0609030804020204" pitchFamily="49" charset="0"/>
              </a:rPr>
              <a:t>oracle</a:t>
            </a:r>
            <a:r>
              <a:rPr lang="en-IN" sz="1400" dirty="0">
                <a:effectLst/>
                <a:latin typeface="Menlo" panose="020B0609030804020204" pitchFamily="49" charset="0"/>
              </a:rPr>
              <a:t>");</a:t>
            </a:r>
          </a:p>
          <a:p>
            <a:pPr marL="0" indent="0">
              <a:buNone/>
            </a:pPr>
            <a:r>
              <a:rPr lang="en-IN" sz="1400" b="1" dirty="0">
                <a:solidFill>
                  <a:srgbClr val="C00000"/>
                </a:solidFill>
                <a:effectLst/>
                <a:latin typeface="Menlo" panose="020B0609030804020204" pitchFamily="49" charset="0"/>
              </a:rPr>
              <a:t>//3. Create Statement object</a:t>
            </a:r>
          </a:p>
          <a:p>
            <a:pPr marL="0" indent="0">
              <a:buNone/>
            </a:pPr>
            <a:r>
              <a:rPr lang="en-IN" sz="1400" dirty="0">
                <a:effectLst/>
                <a:latin typeface="Menlo" panose="020B0609030804020204" pitchFamily="49" charset="0"/>
              </a:rPr>
              <a:t>Statement </a:t>
            </a:r>
            <a:r>
              <a:rPr lang="en-IN" sz="1400" dirty="0" err="1">
                <a:effectLst/>
                <a:latin typeface="Menlo" panose="020B0609030804020204" pitchFamily="49" charset="0"/>
              </a:rPr>
              <a:t>st</a:t>
            </a:r>
            <a:r>
              <a:rPr lang="en-IN" sz="1400" dirty="0">
                <a:effectLst/>
                <a:latin typeface="Menlo" panose="020B0609030804020204" pitchFamily="49" charset="0"/>
              </a:rPr>
              <a:t> = </a:t>
            </a:r>
            <a:r>
              <a:rPr lang="en-IN" sz="1400" dirty="0" err="1">
                <a:effectLst/>
                <a:latin typeface="Menlo" panose="020B0609030804020204" pitchFamily="49" charset="0"/>
              </a:rPr>
              <a:t>con.createStatement</a:t>
            </a:r>
            <a:r>
              <a:rPr lang="en-IN" sz="1400" dirty="0">
                <a:effectLst/>
                <a:latin typeface="Menlo" panose="020B0609030804020204" pitchFamily="49" charset="0"/>
              </a:rPr>
              <a:t>();</a:t>
            </a:r>
          </a:p>
          <a:p>
            <a:pPr marL="0" indent="0">
              <a:buNone/>
            </a:pPr>
            <a:r>
              <a:rPr lang="en-IN" sz="1400" b="1" dirty="0">
                <a:solidFill>
                  <a:srgbClr val="C00000"/>
                </a:solidFill>
                <a:effectLst/>
                <a:latin typeface="Menlo" panose="020B0609030804020204" pitchFamily="49" charset="0"/>
              </a:rPr>
              <a:t>//4. </a:t>
            </a:r>
            <a:r>
              <a:rPr lang="en-IN" sz="1400" b="1" u="sng" dirty="0" err="1">
                <a:solidFill>
                  <a:srgbClr val="C00000"/>
                </a:solidFill>
                <a:latin typeface="Menlo" panose="020B0609030804020204" pitchFamily="49" charset="0"/>
              </a:rPr>
              <a:t>E</a:t>
            </a:r>
            <a:r>
              <a:rPr lang="en-IN" sz="1400" b="1" u="sng" dirty="0" err="1">
                <a:solidFill>
                  <a:srgbClr val="C00000"/>
                </a:solidFill>
                <a:effectLst/>
                <a:latin typeface="Menlo" panose="020B0609030804020204" pitchFamily="49" charset="0"/>
              </a:rPr>
              <a:t>xectute</a:t>
            </a:r>
            <a:r>
              <a:rPr lang="en-IN" sz="1400" b="1" dirty="0">
                <a:solidFill>
                  <a:srgbClr val="C00000"/>
                </a:solidFill>
                <a:effectLst/>
                <a:latin typeface="Menlo" panose="020B0609030804020204" pitchFamily="49" charset="0"/>
              </a:rPr>
              <a:t> SQL Query and store returned result in </a:t>
            </a:r>
            <a:r>
              <a:rPr lang="en-IN" sz="1400" b="1" dirty="0" err="1">
                <a:solidFill>
                  <a:srgbClr val="C00000"/>
                </a:solidFill>
                <a:effectLst/>
                <a:latin typeface="Menlo" panose="020B0609030804020204" pitchFamily="49" charset="0"/>
              </a:rPr>
              <a:t>ResultSet</a:t>
            </a:r>
            <a:r>
              <a:rPr lang="en-IN" sz="1400" b="1" dirty="0">
                <a:solidFill>
                  <a:srgbClr val="C00000"/>
                </a:solidFill>
                <a:effectLst/>
                <a:latin typeface="Menlo" panose="020B0609030804020204" pitchFamily="49" charset="0"/>
              </a:rPr>
              <a:t> object</a:t>
            </a:r>
          </a:p>
          <a:p>
            <a:pPr marL="0" indent="0">
              <a:buNone/>
            </a:pPr>
            <a:r>
              <a:rPr lang="en-IN" sz="1400" dirty="0" err="1">
                <a:effectLst/>
                <a:latin typeface="Menlo" panose="020B0609030804020204" pitchFamily="49" charset="0"/>
              </a:rPr>
              <a:t>ResultSet</a:t>
            </a:r>
            <a:r>
              <a:rPr lang="en-IN" sz="1400" dirty="0">
                <a:effectLst/>
                <a:latin typeface="Menlo" panose="020B0609030804020204" pitchFamily="49" charset="0"/>
              </a:rPr>
              <a:t> </a:t>
            </a:r>
            <a:r>
              <a:rPr lang="en-IN" sz="1400" dirty="0" err="1">
                <a:effectLst/>
                <a:latin typeface="Menlo" panose="020B0609030804020204" pitchFamily="49" charset="0"/>
              </a:rPr>
              <a:t>rs</a:t>
            </a:r>
            <a:r>
              <a:rPr lang="en-IN" sz="1400" dirty="0">
                <a:effectLst/>
                <a:latin typeface="Menlo" panose="020B0609030804020204" pitchFamily="49" charset="0"/>
              </a:rPr>
              <a:t> = </a:t>
            </a:r>
            <a:r>
              <a:rPr lang="en-IN" sz="1400" dirty="0" err="1">
                <a:effectLst/>
                <a:latin typeface="Menlo" panose="020B0609030804020204" pitchFamily="49" charset="0"/>
              </a:rPr>
              <a:t>st.executeQuery</a:t>
            </a:r>
            <a:r>
              <a:rPr lang="en-IN" sz="1400" dirty="0">
                <a:effectLst/>
                <a:latin typeface="Menlo" panose="020B0609030804020204" pitchFamily="49" charset="0"/>
              </a:rPr>
              <a:t>("select * from countries");</a:t>
            </a:r>
          </a:p>
          <a:p>
            <a:pPr marL="0" indent="0">
              <a:buNone/>
            </a:pPr>
            <a:r>
              <a:rPr lang="en-IN" sz="1400" b="1" dirty="0">
                <a:solidFill>
                  <a:srgbClr val="C00000"/>
                </a:solidFill>
                <a:effectLst/>
                <a:latin typeface="Menlo" panose="020B0609030804020204" pitchFamily="49" charset="0"/>
              </a:rPr>
              <a:t>//5. process the result set </a:t>
            </a:r>
          </a:p>
          <a:p>
            <a:pPr marL="0" indent="0">
              <a:buNone/>
            </a:pPr>
            <a:r>
              <a:rPr lang="en-IN" sz="1400" dirty="0">
                <a:effectLst/>
                <a:latin typeface="Menlo" panose="020B0609030804020204" pitchFamily="49" charset="0"/>
              </a:rPr>
              <a:t>while(</a:t>
            </a:r>
            <a:r>
              <a:rPr lang="en-IN" sz="1400" dirty="0" err="1">
                <a:effectLst/>
                <a:latin typeface="Menlo" panose="020B0609030804020204" pitchFamily="49" charset="0"/>
              </a:rPr>
              <a:t>rs.next</a:t>
            </a:r>
            <a:r>
              <a:rPr lang="en-IN" sz="1400" dirty="0">
                <a:effectLst/>
                <a:latin typeface="Menlo" panose="020B0609030804020204" pitchFamily="49" charset="0"/>
              </a:rPr>
              <a:t>()) {</a:t>
            </a:r>
          </a:p>
          <a:p>
            <a:pPr marL="0" indent="0">
              <a:buNone/>
            </a:pPr>
            <a:r>
              <a:rPr lang="en-IN" sz="1400" dirty="0" err="1">
                <a:effectLst/>
                <a:latin typeface="Menlo" panose="020B0609030804020204" pitchFamily="49" charset="0"/>
              </a:rPr>
              <a:t>System.</a:t>
            </a:r>
            <a:r>
              <a:rPr lang="en-IN" sz="1400" b="1" i="1" dirty="0" err="1">
                <a:effectLst/>
                <a:latin typeface="Menlo" panose="020B0609030804020204" pitchFamily="49" charset="0"/>
              </a:rPr>
              <a:t>out</a:t>
            </a:r>
            <a:r>
              <a:rPr lang="en-IN" sz="1400" dirty="0" err="1">
                <a:effectLst/>
                <a:latin typeface="Menlo" panose="020B0609030804020204" pitchFamily="49" charset="0"/>
              </a:rPr>
              <a:t>.println</a:t>
            </a:r>
            <a:r>
              <a:rPr lang="en-IN" sz="1400" dirty="0">
                <a:effectLst/>
                <a:latin typeface="Menlo" panose="020B0609030804020204" pitchFamily="49" charset="0"/>
              </a:rPr>
              <a:t>(</a:t>
            </a:r>
            <a:r>
              <a:rPr lang="en-IN" sz="1400" dirty="0" err="1">
                <a:effectLst/>
                <a:latin typeface="Menlo" panose="020B0609030804020204" pitchFamily="49" charset="0"/>
              </a:rPr>
              <a:t>rs.getString</a:t>
            </a:r>
            <a:r>
              <a:rPr lang="en-IN" sz="1400" dirty="0">
                <a:effectLst/>
                <a:latin typeface="Menlo" panose="020B0609030804020204" pitchFamily="49" charset="0"/>
              </a:rPr>
              <a:t>(1)+" "+</a:t>
            </a:r>
            <a:r>
              <a:rPr lang="en-IN" sz="1400" dirty="0" err="1">
                <a:effectLst/>
                <a:latin typeface="Menlo" panose="020B0609030804020204" pitchFamily="49" charset="0"/>
              </a:rPr>
              <a:t>rs.getString</a:t>
            </a:r>
            <a:r>
              <a:rPr lang="en-IN" sz="1400" dirty="0">
                <a:effectLst/>
                <a:latin typeface="Menlo" panose="020B0609030804020204" pitchFamily="49" charset="0"/>
              </a:rPr>
              <a:t>(2)+" "+</a:t>
            </a:r>
            <a:r>
              <a:rPr lang="en-IN" sz="1400" dirty="0" err="1">
                <a:effectLst/>
                <a:latin typeface="Menlo" panose="020B0609030804020204" pitchFamily="49" charset="0"/>
              </a:rPr>
              <a:t>rs.getInt</a:t>
            </a:r>
            <a:r>
              <a:rPr lang="en-IN" sz="1400" dirty="0">
                <a:effectLst/>
                <a:latin typeface="Menlo" panose="020B0609030804020204" pitchFamily="49" charset="0"/>
              </a:rPr>
              <a:t>(3));</a:t>
            </a:r>
          </a:p>
          <a:p>
            <a:pPr marL="0" indent="0">
              <a:buNone/>
            </a:pPr>
            <a:r>
              <a:rPr lang="en-IN" sz="1400" dirty="0">
                <a:effectLst/>
                <a:latin typeface="Menlo" panose="020B0609030804020204" pitchFamily="49" charset="0"/>
              </a:rPr>
              <a:t>}</a:t>
            </a:r>
          </a:p>
          <a:p>
            <a:pPr marL="0" indent="0">
              <a:buNone/>
            </a:pPr>
            <a:r>
              <a:rPr lang="en-IN" sz="1400" b="1" dirty="0">
                <a:solidFill>
                  <a:srgbClr val="C00000"/>
                </a:solidFill>
                <a:effectLst/>
                <a:latin typeface="Menlo" panose="020B0609030804020204" pitchFamily="49" charset="0"/>
              </a:rPr>
              <a:t>//5. close the connection</a:t>
            </a:r>
          </a:p>
          <a:p>
            <a:pPr marL="0" indent="0">
              <a:buNone/>
            </a:pPr>
            <a:r>
              <a:rPr lang="en-IN" sz="1400" dirty="0" err="1">
                <a:effectLst/>
                <a:latin typeface="Menlo" panose="020B0609030804020204" pitchFamily="49" charset="0"/>
              </a:rPr>
              <a:t>con.close</a:t>
            </a:r>
            <a:r>
              <a:rPr lang="en-IN" sz="1400" dirty="0">
                <a:effectLst/>
                <a:latin typeface="Menlo" panose="020B0609030804020204" pitchFamily="49" charset="0"/>
              </a:rPr>
              <a:t>();</a:t>
            </a:r>
          </a:p>
          <a:p>
            <a:pPr marL="0" indent="0">
              <a:buNone/>
            </a:pPr>
            <a:r>
              <a:rPr lang="en-IN" sz="1400" dirty="0">
                <a:effectLst/>
                <a:latin typeface="Menlo" panose="020B0609030804020204" pitchFamily="49" charset="0"/>
              </a:rPr>
              <a:t>}</a:t>
            </a:r>
          </a:p>
          <a:p>
            <a:pPr marL="0" indent="0">
              <a:buNone/>
            </a:pPr>
            <a:r>
              <a:rPr lang="en-IN" sz="1400" dirty="0">
                <a:effectLst/>
                <a:latin typeface="Menlo" panose="020B0609030804020204" pitchFamily="49" charset="0"/>
              </a:rPr>
              <a:t>}</a:t>
            </a:r>
          </a:p>
          <a:p>
            <a:pPr marL="0" indent="0">
              <a:buNone/>
            </a:pPr>
            <a:endParaRPr lang="en-US" sz="1400" dirty="0"/>
          </a:p>
        </p:txBody>
      </p:sp>
    </p:spTree>
    <p:extLst>
      <p:ext uri="{BB962C8B-B14F-4D97-AF65-F5344CB8AC3E}">
        <p14:creationId xmlns:p14="http://schemas.microsoft.com/office/powerpoint/2010/main" val="37192228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DFDB0-CF53-265D-64C0-76E97FCCD23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CEFBF83-C26F-5BE2-927C-E0B97A44C1BD}"/>
              </a:ext>
            </a:extLst>
          </p:cNvPr>
          <p:cNvSpPr>
            <a:spLocks noGrp="1"/>
          </p:cNvSpPr>
          <p:nvPr>
            <p:ph idx="1"/>
          </p:nvPr>
        </p:nvSpPr>
        <p:spPr/>
        <p:txBody>
          <a:bodyPr/>
          <a:lstStyle/>
          <a:p>
            <a:r>
              <a:rPr lang="en-IN" sz="1800" dirty="0">
                <a:effectLst/>
                <a:latin typeface="Calibri,Bold"/>
              </a:rPr>
              <a:t>JDBC is a Technology, which can be used to communicate with Database from Java Application. </a:t>
            </a:r>
            <a:endParaRPr lang="en-IN" dirty="0">
              <a:effectLst/>
            </a:endParaRPr>
          </a:p>
          <a:p>
            <a:pPr>
              <a:buFont typeface="Arial" panose="020B0604020202020204" pitchFamily="34" charset="0"/>
              <a:buChar char="•"/>
            </a:pPr>
            <a:r>
              <a:rPr lang="en-IN" sz="1800" dirty="0">
                <a:effectLst/>
                <a:latin typeface="Calibri,Bold"/>
              </a:rPr>
              <a:t>JDBC is the Part of Java Standard Edition (J2SE|JSE) </a:t>
            </a:r>
            <a:endParaRPr lang="en-IN" dirty="0">
              <a:effectLst/>
            </a:endParaRPr>
          </a:p>
          <a:p>
            <a:pPr>
              <a:buFont typeface="Arial" panose="020B0604020202020204" pitchFamily="34" charset="0"/>
              <a:buChar char="•"/>
            </a:pPr>
            <a:r>
              <a:rPr lang="en-IN" sz="1800" dirty="0">
                <a:effectLst/>
                <a:latin typeface="Calibri,Bold"/>
              </a:rPr>
              <a:t>JDBC is a Specification defined by Java Vendor (Sun Micro Systems) and implemented by Database Vendors. </a:t>
            </a:r>
            <a:endParaRPr lang="en-IN" dirty="0">
              <a:effectLst/>
            </a:endParaRPr>
          </a:p>
          <a:p>
            <a:pPr>
              <a:buFont typeface="Arial" panose="020B0604020202020204" pitchFamily="34" charset="0"/>
              <a:buChar char="•"/>
            </a:pPr>
            <a:r>
              <a:rPr lang="en-IN" sz="1800" dirty="0">
                <a:effectLst/>
                <a:latin typeface="Calibri,Bold"/>
              </a:rPr>
              <a:t>Database Vendor provides Implementation is called "</a:t>
            </a:r>
            <a:r>
              <a:rPr lang="en-IN" sz="1800" b="1" dirty="0">
                <a:effectLst/>
                <a:latin typeface="Calibri,Bold"/>
              </a:rPr>
              <a:t>Driver Software</a:t>
            </a:r>
            <a:r>
              <a:rPr lang="en-IN" sz="1800" dirty="0">
                <a:effectLst/>
                <a:latin typeface="Calibri,Bold"/>
              </a:rPr>
              <a:t>". </a:t>
            </a:r>
            <a:endParaRPr lang="en-IN" dirty="0">
              <a:effectLst/>
            </a:endParaRPr>
          </a:p>
          <a:p>
            <a:endParaRPr lang="en-US" dirty="0"/>
          </a:p>
        </p:txBody>
      </p:sp>
    </p:spTree>
    <p:extLst>
      <p:ext uri="{BB962C8B-B14F-4D97-AF65-F5344CB8AC3E}">
        <p14:creationId xmlns:p14="http://schemas.microsoft.com/office/powerpoint/2010/main" val="3127697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558E5-B02B-6789-103A-F1B270975B3D}"/>
              </a:ext>
            </a:extLst>
          </p:cNvPr>
          <p:cNvSpPr>
            <a:spLocks noGrp="1"/>
          </p:cNvSpPr>
          <p:nvPr>
            <p:ph type="title"/>
          </p:nvPr>
        </p:nvSpPr>
        <p:spPr/>
        <p:txBody>
          <a:bodyPr/>
          <a:lstStyle/>
          <a:p>
            <a:r>
              <a:rPr lang="en-US" dirty="0"/>
              <a:t>Features of JDBC</a:t>
            </a:r>
          </a:p>
        </p:txBody>
      </p:sp>
      <p:sp>
        <p:nvSpPr>
          <p:cNvPr id="3" name="Content Placeholder 2">
            <a:extLst>
              <a:ext uri="{FF2B5EF4-FFF2-40B4-BE49-F238E27FC236}">
                <a16:creationId xmlns:a16="http://schemas.microsoft.com/office/drawing/2014/main" id="{6A6FF6AB-C4B0-9DC6-F2B4-EB88ABCE1565}"/>
              </a:ext>
            </a:extLst>
          </p:cNvPr>
          <p:cNvSpPr>
            <a:spLocks noGrp="1"/>
          </p:cNvSpPr>
          <p:nvPr>
            <p:ph idx="1"/>
          </p:nvPr>
        </p:nvSpPr>
        <p:spPr/>
        <p:txBody>
          <a:bodyPr>
            <a:normAutofit fontScale="85000" lnSpcReduction="20000"/>
          </a:bodyPr>
          <a:lstStyle/>
          <a:p>
            <a:pPr>
              <a:buFont typeface="+mj-lt"/>
              <a:buAutoNum type="arabicPeriod"/>
            </a:pPr>
            <a:r>
              <a:rPr lang="en-IN" sz="1800" dirty="0">
                <a:effectLst/>
                <a:latin typeface="Calibri,Bold"/>
              </a:rPr>
              <a:t>JDBC API is Standard API. We can communicate with any Database without rewriting our Application </a:t>
            </a:r>
          </a:p>
          <a:p>
            <a:pPr marL="457200" lvl="1" indent="0">
              <a:buNone/>
            </a:pPr>
            <a:r>
              <a:rPr lang="en-IN" sz="1400" dirty="0">
                <a:effectLst/>
                <a:latin typeface="Calibri,Bold"/>
              </a:rPr>
              <a:t>i.e. it is </a:t>
            </a:r>
            <a:r>
              <a:rPr lang="en-IN" sz="1400" b="1" dirty="0">
                <a:effectLst/>
                <a:latin typeface="Calibri,Bold"/>
              </a:rPr>
              <a:t>Database Independent API</a:t>
            </a:r>
            <a:r>
              <a:rPr lang="en-IN" sz="1400" dirty="0">
                <a:effectLst/>
                <a:latin typeface="Calibri,Bold"/>
              </a:rPr>
              <a:t>. </a:t>
            </a:r>
            <a:endParaRPr lang="en-IN" dirty="0">
              <a:effectLst/>
            </a:endParaRPr>
          </a:p>
          <a:p>
            <a:pPr>
              <a:buFont typeface="+mj-lt"/>
              <a:buAutoNum type="arabicPeriod"/>
            </a:pPr>
            <a:r>
              <a:rPr lang="en-IN" sz="1800" dirty="0">
                <a:effectLst/>
                <a:latin typeface="Calibri,Bold"/>
              </a:rPr>
              <a:t>JDBC Drivers are developed in Java and hence JDBC Concept is applicable for any Platform. </a:t>
            </a:r>
          </a:p>
          <a:p>
            <a:pPr marL="457200" lvl="1" indent="0">
              <a:buNone/>
            </a:pPr>
            <a:r>
              <a:rPr lang="en-IN" sz="1400" dirty="0">
                <a:effectLst/>
                <a:latin typeface="Calibri,Bold"/>
              </a:rPr>
              <a:t>i.e. JDBC Is Platform Independent Technology. </a:t>
            </a:r>
            <a:endParaRPr lang="en-IN" dirty="0">
              <a:effectLst/>
            </a:endParaRPr>
          </a:p>
          <a:p>
            <a:pPr>
              <a:buFont typeface="+mj-lt"/>
              <a:buAutoNum type="arabicPeriod"/>
            </a:pPr>
            <a:r>
              <a:rPr lang="en-IN" sz="1800" dirty="0">
                <a:effectLst/>
                <a:latin typeface="Calibri,Bold"/>
              </a:rPr>
              <a:t>By using JDBC API, we can perform basic CRUD Operations very easily. </a:t>
            </a:r>
            <a:endParaRPr lang="en-IN" dirty="0">
              <a:effectLst/>
            </a:endParaRPr>
          </a:p>
          <a:p>
            <a:pPr lvl="1"/>
            <a:r>
              <a:rPr lang="en-US" sz="1800" dirty="0"/>
              <a:t>C - Create</a:t>
            </a:r>
          </a:p>
          <a:p>
            <a:pPr lvl="1"/>
            <a:r>
              <a:rPr lang="en-US" sz="1800" dirty="0"/>
              <a:t>R - Retrieve</a:t>
            </a:r>
          </a:p>
          <a:p>
            <a:pPr lvl="1"/>
            <a:r>
              <a:rPr lang="en-US" sz="1800" dirty="0"/>
              <a:t>U - Update</a:t>
            </a:r>
          </a:p>
          <a:p>
            <a:pPr lvl="1"/>
            <a:r>
              <a:rPr lang="en-US" sz="1800" dirty="0"/>
              <a:t>D - Delete</a:t>
            </a:r>
            <a:endParaRPr lang="en-US" dirty="0"/>
          </a:p>
          <a:p>
            <a:r>
              <a:rPr lang="en-IN" sz="1800" dirty="0">
                <a:effectLst/>
                <a:latin typeface="Calibri,Bold"/>
              </a:rPr>
              <a:t>We can also perform Complex Operations (like </a:t>
            </a:r>
            <a:r>
              <a:rPr lang="en-IN" sz="1800" b="1" dirty="0">
                <a:effectLst/>
                <a:latin typeface="Calibri,Bold"/>
              </a:rPr>
              <a:t>Inner Joins</a:t>
            </a:r>
            <a:r>
              <a:rPr lang="en-IN" sz="1800" dirty="0">
                <a:effectLst/>
                <a:latin typeface="Calibri,Bold"/>
              </a:rPr>
              <a:t>, </a:t>
            </a:r>
            <a:r>
              <a:rPr lang="en-IN" sz="1800" b="1" dirty="0">
                <a:effectLst/>
                <a:latin typeface="Calibri,Bold"/>
              </a:rPr>
              <a:t>Outer Joins</a:t>
            </a:r>
            <a:r>
              <a:rPr lang="en-IN" sz="1800" dirty="0">
                <a:effectLst/>
                <a:latin typeface="Calibri,Bold"/>
              </a:rPr>
              <a:t>, </a:t>
            </a:r>
            <a:r>
              <a:rPr lang="en-IN" sz="1800" b="1" dirty="0">
                <a:effectLst/>
                <a:latin typeface="Calibri,Bold"/>
              </a:rPr>
              <a:t>calling Stored Procedures</a:t>
            </a:r>
            <a:r>
              <a:rPr lang="en-IN" sz="1800" dirty="0">
                <a:effectLst/>
                <a:latin typeface="Calibri,Bold"/>
              </a:rPr>
              <a:t> etc) very easily by using JDBC API. </a:t>
            </a:r>
            <a:endParaRPr lang="en-IN" dirty="0"/>
          </a:p>
          <a:p>
            <a:r>
              <a:rPr lang="en-IN" sz="1800" dirty="0">
                <a:effectLst/>
                <a:latin typeface="Calibri,Bold"/>
              </a:rPr>
              <a:t>JDBC API supported by Large Number of Vendors and they developed multiple Products based on JDBC API. </a:t>
            </a:r>
            <a:endParaRPr lang="en-IN" dirty="0"/>
          </a:p>
          <a:p>
            <a:pPr>
              <a:buFont typeface="Wingdings" pitchFamily="2" charset="2"/>
              <a:buChar char="v"/>
            </a:pPr>
            <a:r>
              <a:rPr lang="en-IN" sz="1800" dirty="0">
                <a:effectLst/>
                <a:latin typeface="Calibri,Bold"/>
              </a:rPr>
              <a:t>   JDBC 3.0 is Part J2SE 1.4</a:t>
            </a:r>
            <a:endParaRPr lang="en-IN" sz="1800" dirty="0">
              <a:effectLst/>
              <a:latin typeface="Wingdings" pitchFamily="2" charset="2"/>
            </a:endParaRPr>
          </a:p>
          <a:p>
            <a:pPr>
              <a:buFont typeface="Wingdings" pitchFamily="2" charset="2"/>
              <a:buChar char="v"/>
            </a:pPr>
            <a:r>
              <a:rPr lang="en-IN" sz="1800" dirty="0">
                <a:effectLst/>
                <a:latin typeface="Calibri,Bold"/>
              </a:rPr>
              <a:t>   No Update in Java SE 5.0 </a:t>
            </a:r>
          </a:p>
          <a:p>
            <a:pPr marL="0" indent="0">
              <a:buNone/>
            </a:pPr>
            <a:r>
              <a:rPr lang="en-IN" sz="1800" dirty="0">
                <a:effectLst/>
                <a:latin typeface="Wingdings" pitchFamily="2" charset="2"/>
              </a:rPr>
              <a:t> </a:t>
            </a:r>
            <a:r>
              <a:rPr lang="en-IN" sz="1800" dirty="0">
                <a:effectLst/>
                <a:latin typeface="Calibri,Bold"/>
              </a:rPr>
              <a:t>JDBC 4.0 is Part Java SE 6.0 </a:t>
            </a:r>
          </a:p>
          <a:p>
            <a:pPr marL="0" indent="0">
              <a:buNone/>
            </a:pPr>
            <a:r>
              <a:rPr lang="en-IN" sz="1800" dirty="0">
                <a:effectLst/>
                <a:latin typeface="Wingdings" pitchFamily="2" charset="2"/>
              </a:rPr>
              <a:t> </a:t>
            </a:r>
            <a:r>
              <a:rPr lang="en-IN" sz="1800" dirty="0">
                <a:effectLst/>
                <a:latin typeface="Calibri,Bold"/>
              </a:rPr>
              <a:t>JDBC 4.1 is Part Java SE 7.0 </a:t>
            </a:r>
          </a:p>
          <a:p>
            <a:pPr marL="0" indent="0">
              <a:buNone/>
            </a:pPr>
            <a:r>
              <a:rPr lang="en-IN" sz="1800" dirty="0">
                <a:effectLst/>
                <a:latin typeface="Wingdings" pitchFamily="2" charset="2"/>
              </a:rPr>
              <a:t> </a:t>
            </a:r>
            <a:r>
              <a:rPr lang="en-IN" sz="1800" dirty="0">
                <a:effectLst/>
                <a:latin typeface="Calibri,Bold"/>
              </a:rPr>
              <a:t>JDBC 4.2 is Part Java SE 8.0 </a:t>
            </a:r>
            <a:endParaRPr lang="en-IN" dirty="0"/>
          </a:p>
          <a:p>
            <a:endParaRPr lang="en-US" dirty="0"/>
          </a:p>
        </p:txBody>
      </p:sp>
      <p:pic>
        <p:nvPicPr>
          <p:cNvPr id="2049" name="Picture 1" descr="page9image47036976">
            <a:extLst>
              <a:ext uri="{FF2B5EF4-FFF2-40B4-BE49-F238E27FC236}">
                <a16:creationId xmlns:a16="http://schemas.microsoft.com/office/drawing/2014/main" id="{85DB8C18-2AEA-179A-F5A4-C609FE7AC0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651000" cy="927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2403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24E56-6406-D6A1-CF9A-636495296B80}"/>
              </a:ext>
            </a:extLst>
          </p:cNvPr>
          <p:cNvSpPr>
            <a:spLocks noGrp="1"/>
          </p:cNvSpPr>
          <p:nvPr>
            <p:ph type="title"/>
          </p:nvPr>
        </p:nvSpPr>
        <p:spPr/>
        <p:txBody>
          <a:bodyPr>
            <a:normAutofit/>
          </a:bodyPr>
          <a:lstStyle/>
          <a:p>
            <a:r>
              <a:rPr lang="en-IN" sz="4000" dirty="0">
                <a:effectLst/>
                <a:latin typeface="Calibri,Bold"/>
              </a:rPr>
              <a:t>Evolution of JDBC</a:t>
            </a:r>
            <a:endParaRPr lang="en-US" sz="8000" dirty="0"/>
          </a:p>
        </p:txBody>
      </p:sp>
      <p:sp>
        <p:nvSpPr>
          <p:cNvPr id="3" name="Content Placeholder 2">
            <a:extLst>
              <a:ext uri="{FF2B5EF4-FFF2-40B4-BE49-F238E27FC236}">
                <a16:creationId xmlns:a16="http://schemas.microsoft.com/office/drawing/2014/main" id="{73A32775-AADC-758E-C350-1219B3FCC875}"/>
              </a:ext>
            </a:extLst>
          </p:cNvPr>
          <p:cNvSpPr>
            <a:spLocks noGrp="1"/>
          </p:cNvSpPr>
          <p:nvPr>
            <p:ph idx="1"/>
          </p:nvPr>
        </p:nvSpPr>
        <p:spPr/>
        <p:txBody>
          <a:bodyPr/>
          <a:lstStyle/>
          <a:p>
            <a:r>
              <a:rPr lang="en-IN" sz="1800" dirty="0">
                <a:effectLst/>
                <a:latin typeface="Calibri,Bold"/>
              </a:rPr>
              <a:t>If we want to communicate with Database by using C OR C++, compulsory we have to use database specific Libraries in our Application directly. </a:t>
            </a:r>
            <a:endParaRPr lang="en-IN" dirty="0">
              <a:effectLst/>
            </a:endParaRPr>
          </a:p>
          <a:p>
            <a:endParaRPr lang="en-US" dirty="0"/>
          </a:p>
          <a:p>
            <a:endParaRPr lang="en-US" dirty="0"/>
          </a:p>
          <a:p>
            <a:endParaRPr lang="en-US" dirty="0"/>
          </a:p>
          <a:p>
            <a:pPr marL="0" indent="0">
              <a:buNone/>
            </a:pPr>
            <a:endParaRPr lang="en-US" dirty="0"/>
          </a:p>
          <a:p>
            <a:pPr>
              <a:buFont typeface="Arial" panose="020B0604020202020204" pitchFamily="34" charset="0"/>
              <a:buChar char="•"/>
            </a:pPr>
            <a:r>
              <a:rPr lang="en-IN" sz="1800" dirty="0">
                <a:effectLst/>
                <a:latin typeface="Calibri,Bold"/>
              </a:rPr>
              <a:t>In the above Diagram C OR C++ Application uses Oracle specific Libraries directly. </a:t>
            </a:r>
            <a:endParaRPr lang="en-IN" dirty="0">
              <a:effectLst/>
            </a:endParaRPr>
          </a:p>
          <a:p>
            <a:pPr>
              <a:buFont typeface="Arial" panose="020B0604020202020204" pitchFamily="34" charset="0"/>
              <a:buChar char="•"/>
            </a:pPr>
            <a:r>
              <a:rPr lang="en-IN" sz="1800" dirty="0">
                <a:effectLst/>
                <a:latin typeface="Calibri,Bold"/>
              </a:rPr>
              <a:t>The Problem in this Approach is, if we want to migrate from one Database to another Database then we have to rewrite Total Application once again by using new Database specific Libraries. </a:t>
            </a:r>
            <a:endParaRPr lang="en-IN" dirty="0">
              <a:effectLst/>
            </a:endParaRPr>
          </a:p>
          <a:p>
            <a:endParaRPr lang="en-US" dirty="0"/>
          </a:p>
        </p:txBody>
      </p:sp>
      <p:sp>
        <p:nvSpPr>
          <p:cNvPr id="4" name="Rectangle 3">
            <a:extLst>
              <a:ext uri="{FF2B5EF4-FFF2-40B4-BE49-F238E27FC236}">
                <a16:creationId xmlns:a16="http://schemas.microsoft.com/office/drawing/2014/main" id="{95D357DE-7039-0C1E-A2C7-550ADBA3B477}"/>
              </a:ext>
            </a:extLst>
          </p:cNvPr>
          <p:cNvSpPr/>
          <p:nvPr/>
        </p:nvSpPr>
        <p:spPr>
          <a:xfrm>
            <a:off x="1460665" y="2490850"/>
            <a:ext cx="2517569" cy="16298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C/C++ Application</a:t>
            </a:r>
          </a:p>
          <a:p>
            <a:pPr algn="ctr"/>
            <a:r>
              <a:rPr lang="en-US" dirty="0"/>
              <a:t>(User Oracle Library)</a:t>
            </a:r>
          </a:p>
        </p:txBody>
      </p:sp>
      <p:sp>
        <p:nvSpPr>
          <p:cNvPr id="8" name="Can 7">
            <a:extLst>
              <a:ext uri="{FF2B5EF4-FFF2-40B4-BE49-F238E27FC236}">
                <a16:creationId xmlns:a16="http://schemas.microsoft.com/office/drawing/2014/main" id="{14D0B09F-E702-BA4F-0D06-B35BA44A9C75}"/>
              </a:ext>
            </a:extLst>
          </p:cNvPr>
          <p:cNvSpPr/>
          <p:nvPr/>
        </p:nvSpPr>
        <p:spPr>
          <a:xfrm>
            <a:off x="7433953" y="2490850"/>
            <a:ext cx="3004457" cy="196239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Oracle DB</a:t>
            </a:r>
          </a:p>
        </p:txBody>
      </p:sp>
      <p:sp>
        <p:nvSpPr>
          <p:cNvPr id="9" name="Right Arrow 8">
            <a:extLst>
              <a:ext uri="{FF2B5EF4-FFF2-40B4-BE49-F238E27FC236}">
                <a16:creationId xmlns:a16="http://schemas.microsoft.com/office/drawing/2014/main" id="{BCE335C8-7954-54ED-8A85-6EC3D76C31A5}"/>
              </a:ext>
            </a:extLst>
          </p:cNvPr>
          <p:cNvSpPr/>
          <p:nvPr/>
        </p:nvSpPr>
        <p:spPr>
          <a:xfrm>
            <a:off x="3978234" y="2790702"/>
            <a:ext cx="3455719" cy="2612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eft Arrow 9">
            <a:extLst>
              <a:ext uri="{FF2B5EF4-FFF2-40B4-BE49-F238E27FC236}">
                <a16:creationId xmlns:a16="http://schemas.microsoft.com/office/drawing/2014/main" id="{3B832AE3-4A2C-BA10-BE42-261FA8A355FA}"/>
              </a:ext>
            </a:extLst>
          </p:cNvPr>
          <p:cNvSpPr/>
          <p:nvPr/>
        </p:nvSpPr>
        <p:spPr>
          <a:xfrm>
            <a:off x="3978234" y="3847606"/>
            <a:ext cx="3455719" cy="27313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3" name="Picture 1" descr="page10image46852720">
            <a:extLst>
              <a:ext uri="{FF2B5EF4-FFF2-40B4-BE49-F238E27FC236}">
                <a16:creationId xmlns:a16="http://schemas.microsoft.com/office/drawing/2014/main" id="{4D04C1B4-0509-3BD5-8419-542784E527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49400" cy="596900"/>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page10image46852720">
            <a:extLst>
              <a:ext uri="{FF2B5EF4-FFF2-40B4-BE49-F238E27FC236}">
                <a16:creationId xmlns:a16="http://schemas.microsoft.com/office/drawing/2014/main" id="{F452E467-B13B-7059-7373-01128A1C32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49400" cy="596900"/>
          </a:xfrm>
          <a:prstGeom prst="rect">
            <a:avLst/>
          </a:prstGeom>
          <a:noFill/>
          <a:extLst>
            <a:ext uri="{909E8E84-426E-40DD-AFC4-6F175D3DCCD1}">
              <a14:hiddenFill xmlns:a14="http://schemas.microsoft.com/office/drawing/2010/main">
                <a:solidFill>
                  <a:srgbClr val="FFFFFF"/>
                </a:solidFill>
              </a14:hiddenFill>
            </a:ext>
          </a:extLst>
        </p:spPr>
      </p:pic>
      <p:pic>
        <p:nvPicPr>
          <p:cNvPr id="3077" name="Picture 5" descr="page10image46852720">
            <a:extLst>
              <a:ext uri="{FF2B5EF4-FFF2-40B4-BE49-F238E27FC236}">
                <a16:creationId xmlns:a16="http://schemas.microsoft.com/office/drawing/2014/main" id="{B468FAA3-5D16-8423-C67D-96C27D6C06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49400" cy="596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9411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75421-647D-5766-EDB3-43B3F067569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FC7460C-D59F-4CA6-67BE-C77FA8F4B22A}"/>
              </a:ext>
            </a:extLst>
          </p:cNvPr>
          <p:cNvSpPr>
            <a:spLocks noGrp="1"/>
          </p:cNvSpPr>
          <p:nvPr>
            <p:ph idx="1"/>
          </p:nvPr>
        </p:nvSpPr>
        <p:spPr/>
        <p:txBody>
          <a:bodyPr/>
          <a:lstStyle/>
          <a:p>
            <a:pPr>
              <a:buFont typeface="Arial" panose="020B0604020202020204" pitchFamily="34" charset="0"/>
              <a:buChar char="•"/>
            </a:pPr>
            <a:endParaRPr lang="en-IN" sz="1800" dirty="0">
              <a:effectLst/>
              <a:latin typeface="Calibri,Bold"/>
            </a:endParaRPr>
          </a:p>
          <a:p>
            <a:pPr>
              <a:buFont typeface="Arial" panose="020B0604020202020204" pitchFamily="34" charset="0"/>
              <a:buChar char="•"/>
            </a:pPr>
            <a:endParaRPr lang="en-IN" sz="1800" dirty="0">
              <a:latin typeface="Calibri,Bold"/>
            </a:endParaRPr>
          </a:p>
          <a:p>
            <a:pPr>
              <a:buFont typeface="Arial" panose="020B0604020202020204" pitchFamily="34" charset="0"/>
              <a:buChar char="•"/>
            </a:pPr>
            <a:endParaRPr lang="en-IN" sz="1800" dirty="0">
              <a:effectLst/>
              <a:latin typeface="Calibri,Bold"/>
            </a:endParaRPr>
          </a:p>
          <a:p>
            <a:pPr>
              <a:buFont typeface="Arial" panose="020B0604020202020204" pitchFamily="34" charset="0"/>
              <a:buChar char="•"/>
            </a:pPr>
            <a:endParaRPr lang="en-IN" sz="1800" dirty="0">
              <a:latin typeface="Calibri,Bold"/>
            </a:endParaRPr>
          </a:p>
          <a:p>
            <a:pPr>
              <a:buFont typeface="Arial" panose="020B0604020202020204" pitchFamily="34" charset="0"/>
              <a:buChar char="•"/>
            </a:pPr>
            <a:r>
              <a:rPr lang="en-IN" sz="1800" dirty="0">
                <a:effectLst/>
                <a:latin typeface="Calibri,Bold"/>
              </a:rPr>
              <a:t>The Application will become Database Dependent and creates Maintenance Problems. </a:t>
            </a:r>
            <a:endParaRPr lang="en-IN" dirty="0">
              <a:effectLst/>
            </a:endParaRPr>
          </a:p>
          <a:p>
            <a:pPr>
              <a:buFont typeface="Arial" panose="020B0604020202020204" pitchFamily="34" charset="0"/>
              <a:buChar char="•"/>
            </a:pPr>
            <a:r>
              <a:rPr lang="en-IN" sz="1800" dirty="0">
                <a:effectLst/>
                <a:latin typeface="Calibri,Bold"/>
              </a:rPr>
              <a:t>To overcome this Problem, Microsoft People introduced "</a:t>
            </a:r>
            <a:r>
              <a:rPr lang="en-IN" sz="1800" b="1" dirty="0">
                <a:effectLst/>
                <a:latin typeface="Calibri,Bold"/>
              </a:rPr>
              <a:t>ODBC</a:t>
            </a:r>
            <a:r>
              <a:rPr lang="en-IN" sz="1800" dirty="0">
                <a:effectLst/>
                <a:latin typeface="Calibri,Bold"/>
              </a:rPr>
              <a:t>" Concept in </a:t>
            </a:r>
            <a:r>
              <a:rPr lang="en-IN" sz="1800" b="1" dirty="0">
                <a:effectLst/>
                <a:latin typeface="Calibri,Bold"/>
              </a:rPr>
              <a:t>1992</a:t>
            </a:r>
            <a:r>
              <a:rPr lang="en-IN" sz="1800" dirty="0">
                <a:effectLst/>
                <a:latin typeface="Calibri,Bold"/>
              </a:rPr>
              <a:t>. It is Database Independent API. </a:t>
            </a:r>
            <a:endParaRPr lang="en-IN" dirty="0">
              <a:effectLst/>
            </a:endParaRPr>
          </a:p>
          <a:p>
            <a:pPr>
              <a:buFont typeface="Arial" panose="020B0604020202020204" pitchFamily="34" charset="0"/>
              <a:buChar char="•"/>
            </a:pPr>
            <a:r>
              <a:rPr lang="en-IN" sz="1800" dirty="0">
                <a:effectLst/>
                <a:latin typeface="Calibri,Bold"/>
              </a:rPr>
              <a:t>With ODBC API, Application can communicate with any Database just by selecting corresponding ODBC Driver. </a:t>
            </a:r>
            <a:endParaRPr lang="en-IN" dirty="0">
              <a:effectLst/>
            </a:endParaRPr>
          </a:p>
          <a:p>
            <a:pPr>
              <a:buFont typeface="Arial" panose="020B0604020202020204" pitchFamily="34" charset="0"/>
              <a:buChar char="•"/>
            </a:pPr>
            <a:r>
              <a:rPr lang="en-IN" sz="1800" dirty="0">
                <a:effectLst/>
                <a:latin typeface="Calibri,Bold"/>
              </a:rPr>
              <a:t>We are not required to use any Database specific Libraries in our Application. Hence our Application will become Database Independent. </a:t>
            </a:r>
            <a:endParaRPr lang="en-IN" dirty="0">
              <a:effectLst/>
            </a:endParaRPr>
          </a:p>
          <a:p>
            <a:endParaRPr lang="en-US" dirty="0"/>
          </a:p>
        </p:txBody>
      </p:sp>
      <p:sp>
        <p:nvSpPr>
          <p:cNvPr id="4" name="Rectangle 3">
            <a:extLst>
              <a:ext uri="{FF2B5EF4-FFF2-40B4-BE49-F238E27FC236}">
                <a16:creationId xmlns:a16="http://schemas.microsoft.com/office/drawing/2014/main" id="{10098C55-0860-2C0B-DF0E-D8391B5AE75F}"/>
              </a:ext>
            </a:extLst>
          </p:cNvPr>
          <p:cNvSpPr/>
          <p:nvPr/>
        </p:nvSpPr>
        <p:spPr>
          <a:xfrm>
            <a:off x="1389413" y="1433944"/>
            <a:ext cx="2517569" cy="16298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C/C++ Application</a:t>
            </a:r>
          </a:p>
        </p:txBody>
      </p:sp>
      <p:sp>
        <p:nvSpPr>
          <p:cNvPr id="5" name="Can 4">
            <a:extLst>
              <a:ext uri="{FF2B5EF4-FFF2-40B4-BE49-F238E27FC236}">
                <a16:creationId xmlns:a16="http://schemas.microsoft.com/office/drawing/2014/main" id="{0CD194A6-C763-39E1-8E36-826BA3F15273}"/>
              </a:ext>
            </a:extLst>
          </p:cNvPr>
          <p:cNvSpPr/>
          <p:nvPr/>
        </p:nvSpPr>
        <p:spPr>
          <a:xfrm>
            <a:off x="7362701" y="1350819"/>
            <a:ext cx="3004457" cy="196239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MySQL DB</a:t>
            </a:r>
          </a:p>
        </p:txBody>
      </p:sp>
      <p:sp>
        <p:nvSpPr>
          <p:cNvPr id="6" name="Right Arrow 5">
            <a:extLst>
              <a:ext uri="{FF2B5EF4-FFF2-40B4-BE49-F238E27FC236}">
                <a16:creationId xmlns:a16="http://schemas.microsoft.com/office/drawing/2014/main" id="{7959656B-57EB-C112-7FED-29D9B7F1DFA2}"/>
              </a:ext>
            </a:extLst>
          </p:cNvPr>
          <p:cNvSpPr/>
          <p:nvPr/>
        </p:nvSpPr>
        <p:spPr>
          <a:xfrm>
            <a:off x="3906982" y="1650671"/>
            <a:ext cx="3455719" cy="2612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eft Arrow 6">
            <a:extLst>
              <a:ext uri="{FF2B5EF4-FFF2-40B4-BE49-F238E27FC236}">
                <a16:creationId xmlns:a16="http://schemas.microsoft.com/office/drawing/2014/main" id="{3F5E21E7-5F4A-1A1F-4F31-090853DCB8EC}"/>
              </a:ext>
            </a:extLst>
          </p:cNvPr>
          <p:cNvSpPr/>
          <p:nvPr/>
        </p:nvSpPr>
        <p:spPr>
          <a:xfrm>
            <a:off x="3906982" y="2707575"/>
            <a:ext cx="3455719" cy="27313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29369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94655-FA5A-44CC-1B38-4D470E7873F8}"/>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FF33FE92-4AF1-26F5-9D7F-58DFE4330208}"/>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CD94C189-B975-1986-ECC7-6D1C189754DA}"/>
              </a:ext>
            </a:extLst>
          </p:cNvPr>
          <p:cNvSpPr/>
          <p:nvPr/>
        </p:nvSpPr>
        <p:spPr>
          <a:xfrm>
            <a:off x="320634" y="2921330"/>
            <a:ext cx="1508166" cy="1116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C/C++ Application</a:t>
            </a:r>
          </a:p>
        </p:txBody>
      </p:sp>
      <p:sp>
        <p:nvSpPr>
          <p:cNvPr id="5" name="Rectangle 4">
            <a:extLst>
              <a:ext uri="{FF2B5EF4-FFF2-40B4-BE49-F238E27FC236}">
                <a16:creationId xmlns:a16="http://schemas.microsoft.com/office/drawing/2014/main" id="{D63233D1-7E80-3928-3E5B-618A8A6715EF}"/>
              </a:ext>
            </a:extLst>
          </p:cNvPr>
          <p:cNvSpPr/>
          <p:nvPr/>
        </p:nvSpPr>
        <p:spPr>
          <a:xfrm>
            <a:off x="3061855" y="365125"/>
            <a:ext cx="1508166" cy="1116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Oracle ODBC Driver</a:t>
            </a:r>
          </a:p>
        </p:txBody>
      </p:sp>
      <p:sp>
        <p:nvSpPr>
          <p:cNvPr id="6" name="Rectangle 5">
            <a:extLst>
              <a:ext uri="{FF2B5EF4-FFF2-40B4-BE49-F238E27FC236}">
                <a16:creationId xmlns:a16="http://schemas.microsoft.com/office/drawing/2014/main" id="{747E072E-D6DE-FD3B-54A4-971D22B5F63E}"/>
              </a:ext>
            </a:extLst>
          </p:cNvPr>
          <p:cNvSpPr/>
          <p:nvPr/>
        </p:nvSpPr>
        <p:spPr>
          <a:xfrm>
            <a:off x="3061855" y="2921330"/>
            <a:ext cx="1508166" cy="1116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MySql</a:t>
            </a:r>
            <a:r>
              <a:rPr lang="en-US" dirty="0"/>
              <a:t> ODBC Driver</a:t>
            </a:r>
          </a:p>
        </p:txBody>
      </p:sp>
      <p:sp>
        <p:nvSpPr>
          <p:cNvPr id="7" name="Rectangle 6">
            <a:extLst>
              <a:ext uri="{FF2B5EF4-FFF2-40B4-BE49-F238E27FC236}">
                <a16:creationId xmlns:a16="http://schemas.microsoft.com/office/drawing/2014/main" id="{DD97D896-0117-5DBA-15EB-F35192FD8300}"/>
              </a:ext>
            </a:extLst>
          </p:cNvPr>
          <p:cNvSpPr/>
          <p:nvPr/>
        </p:nvSpPr>
        <p:spPr>
          <a:xfrm>
            <a:off x="3061855" y="5060683"/>
            <a:ext cx="1508166" cy="1116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Postgress</a:t>
            </a:r>
            <a:r>
              <a:rPr lang="en-US" dirty="0"/>
              <a:t> ODBC Driver</a:t>
            </a:r>
          </a:p>
        </p:txBody>
      </p:sp>
      <p:sp>
        <p:nvSpPr>
          <p:cNvPr id="8" name="Can 7">
            <a:extLst>
              <a:ext uri="{FF2B5EF4-FFF2-40B4-BE49-F238E27FC236}">
                <a16:creationId xmlns:a16="http://schemas.microsoft.com/office/drawing/2014/main" id="{F16736B6-D676-DD18-EC05-7F463B045D21}"/>
              </a:ext>
            </a:extLst>
          </p:cNvPr>
          <p:cNvSpPr/>
          <p:nvPr/>
        </p:nvSpPr>
        <p:spPr>
          <a:xfrm>
            <a:off x="9048997" y="365125"/>
            <a:ext cx="1341912" cy="125121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Oracle Database</a:t>
            </a:r>
          </a:p>
        </p:txBody>
      </p:sp>
      <p:sp>
        <p:nvSpPr>
          <p:cNvPr id="9" name="Can 8">
            <a:extLst>
              <a:ext uri="{FF2B5EF4-FFF2-40B4-BE49-F238E27FC236}">
                <a16:creationId xmlns:a16="http://schemas.microsoft.com/office/drawing/2014/main" id="{FB245C4E-970E-460E-B2D6-A0A4720F34B0}"/>
              </a:ext>
            </a:extLst>
          </p:cNvPr>
          <p:cNvSpPr/>
          <p:nvPr/>
        </p:nvSpPr>
        <p:spPr>
          <a:xfrm>
            <a:off x="9048997" y="2806485"/>
            <a:ext cx="1341912" cy="125121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MySql</a:t>
            </a:r>
            <a:r>
              <a:rPr lang="en-US" dirty="0"/>
              <a:t> Database</a:t>
            </a:r>
          </a:p>
        </p:txBody>
      </p:sp>
      <p:sp>
        <p:nvSpPr>
          <p:cNvPr id="10" name="Can 9">
            <a:extLst>
              <a:ext uri="{FF2B5EF4-FFF2-40B4-BE49-F238E27FC236}">
                <a16:creationId xmlns:a16="http://schemas.microsoft.com/office/drawing/2014/main" id="{500DFC4C-A9B8-1C0E-EBC1-71EA4C464FCF}"/>
              </a:ext>
            </a:extLst>
          </p:cNvPr>
          <p:cNvSpPr/>
          <p:nvPr/>
        </p:nvSpPr>
        <p:spPr>
          <a:xfrm>
            <a:off x="9048997" y="4958403"/>
            <a:ext cx="1341912" cy="125121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Postgress</a:t>
            </a:r>
            <a:r>
              <a:rPr lang="en-US" dirty="0"/>
              <a:t> </a:t>
            </a:r>
            <a:r>
              <a:rPr lang="en-US" dirty="0" err="1"/>
              <a:t>Databse</a:t>
            </a:r>
            <a:endParaRPr lang="en-US" dirty="0"/>
          </a:p>
        </p:txBody>
      </p:sp>
      <p:cxnSp>
        <p:nvCxnSpPr>
          <p:cNvPr id="12" name="Straight Arrow Connector 11">
            <a:extLst>
              <a:ext uri="{FF2B5EF4-FFF2-40B4-BE49-F238E27FC236}">
                <a16:creationId xmlns:a16="http://schemas.microsoft.com/office/drawing/2014/main" id="{718A3F07-E2BB-55CA-0DB4-1DDC099264E5}"/>
              </a:ext>
            </a:extLst>
          </p:cNvPr>
          <p:cNvCxnSpPr>
            <a:cxnSpLocks/>
          </p:cNvCxnSpPr>
          <p:nvPr/>
        </p:nvCxnSpPr>
        <p:spPr>
          <a:xfrm flipV="1">
            <a:off x="1436914" y="1027906"/>
            <a:ext cx="1624941" cy="1893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BBEEB1A-2F82-7ECB-3720-0FF3F705CD08}"/>
              </a:ext>
            </a:extLst>
          </p:cNvPr>
          <p:cNvCxnSpPr>
            <a:cxnSpLocks/>
          </p:cNvCxnSpPr>
          <p:nvPr/>
        </p:nvCxnSpPr>
        <p:spPr>
          <a:xfrm>
            <a:off x="4570021" y="681037"/>
            <a:ext cx="44789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1762CF6-7EEF-E2AA-FC45-618892836307}"/>
              </a:ext>
            </a:extLst>
          </p:cNvPr>
          <p:cNvCxnSpPr>
            <a:cxnSpLocks/>
          </p:cNvCxnSpPr>
          <p:nvPr/>
        </p:nvCxnSpPr>
        <p:spPr>
          <a:xfrm>
            <a:off x="1828800" y="3301340"/>
            <a:ext cx="123305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EC64EAF-0635-CD0F-F085-33A442346BF8}"/>
              </a:ext>
            </a:extLst>
          </p:cNvPr>
          <p:cNvCxnSpPr>
            <a:cxnSpLocks/>
          </p:cNvCxnSpPr>
          <p:nvPr/>
        </p:nvCxnSpPr>
        <p:spPr>
          <a:xfrm>
            <a:off x="1436914" y="4037610"/>
            <a:ext cx="1624941" cy="15464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3CB97E4-CAA2-D1A8-0C27-38A2B06C05DF}"/>
              </a:ext>
            </a:extLst>
          </p:cNvPr>
          <p:cNvCxnSpPr>
            <a:cxnSpLocks/>
          </p:cNvCxnSpPr>
          <p:nvPr/>
        </p:nvCxnSpPr>
        <p:spPr>
          <a:xfrm>
            <a:off x="4570021" y="3247721"/>
            <a:ext cx="4478976" cy="536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111C401-185E-81C8-041B-7EAEC27667B7}"/>
              </a:ext>
            </a:extLst>
          </p:cNvPr>
          <p:cNvCxnSpPr>
            <a:cxnSpLocks/>
          </p:cNvCxnSpPr>
          <p:nvPr/>
        </p:nvCxnSpPr>
        <p:spPr>
          <a:xfrm>
            <a:off x="4554188" y="5392024"/>
            <a:ext cx="4478976" cy="536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67A32C44-C657-E3DF-1EA6-05ECBBFA7162}"/>
              </a:ext>
            </a:extLst>
          </p:cNvPr>
          <p:cNvCxnSpPr>
            <a:cxnSpLocks/>
          </p:cNvCxnSpPr>
          <p:nvPr/>
        </p:nvCxnSpPr>
        <p:spPr>
          <a:xfrm flipH="1">
            <a:off x="4594266" y="1250963"/>
            <a:ext cx="4454731" cy="182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F9CA268-F0F2-5471-5E1F-C1C216C7AE02}"/>
              </a:ext>
            </a:extLst>
          </p:cNvPr>
          <p:cNvCxnSpPr>
            <a:cxnSpLocks/>
          </p:cNvCxnSpPr>
          <p:nvPr/>
        </p:nvCxnSpPr>
        <p:spPr>
          <a:xfrm flipH="1">
            <a:off x="4594266" y="3757280"/>
            <a:ext cx="4454731" cy="182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9F0B98A-F795-9A2A-8144-A8C5ADE52083}"/>
              </a:ext>
            </a:extLst>
          </p:cNvPr>
          <p:cNvCxnSpPr>
            <a:cxnSpLocks/>
          </p:cNvCxnSpPr>
          <p:nvPr/>
        </p:nvCxnSpPr>
        <p:spPr>
          <a:xfrm flipH="1">
            <a:off x="4570021" y="5866181"/>
            <a:ext cx="4454731" cy="182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7651A57-1B7E-1A30-43B6-FCB468B40495}"/>
              </a:ext>
            </a:extLst>
          </p:cNvPr>
          <p:cNvCxnSpPr>
            <a:cxnSpLocks/>
          </p:cNvCxnSpPr>
          <p:nvPr/>
        </p:nvCxnSpPr>
        <p:spPr>
          <a:xfrm flipH="1">
            <a:off x="1662545" y="1286649"/>
            <a:ext cx="1403020" cy="16346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811F191B-AB5C-55A0-52E1-C33DBECFB22F}"/>
              </a:ext>
            </a:extLst>
          </p:cNvPr>
          <p:cNvCxnSpPr>
            <a:cxnSpLocks/>
          </p:cNvCxnSpPr>
          <p:nvPr/>
        </p:nvCxnSpPr>
        <p:spPr>
          <a:xfrm flipH="1" flipV="1">
            <a:off x="1801091" y="3170809"/>
            <a:ext cx="1236519" cy="92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17EDBDAB-0740-105C-142E-3D4EB9614E93}"/>
              </a:ext>
            </a:extLst>
          </p:cNvPr>
          <p:cNvCxnSpPr>
            <a:cxnSpLocks/>
          </p:cNvCxnSpPr>
          <p:nvPr/>
        </p:nvCxnSpPr>
        <p:spPr>
          <a:xfrm flipH="1" flipV="1">
            <a:off x="1662545" y="4057702"/>
            <a:ext cx="1423555" cy="13343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86290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5CBAC-5EB5-CDF7-6589-1A6EF01BD401}"/>
              </a:ext>
            </a:extLst>
          </p:cNvPr>
          <p:cNvSpPr>
            <a:spLocks noGrp="1"/>
          </p:cNvSpPr>
          <p:nvPr>
            <p:ph type="title"/>
          </p:nvPr>
        </p:nvSpPr>
        <p:spPr/>
        <p:txBody>
          <a:bodyPr/>
          <a:lstStyle/>
          <a:p>
            <a:r>
              <a:rPr lang="en-US" dirty="0"/>
              <a:t>Limitation</a:t>
            </a:r>
          </a:p>
        </p:txBody>
      </p:sp>
      <p:sp>
        <p:nvSpPr>
          <p:cNvPr id="3" name="Content Placeholder 2">
            <a:extLst>
              <a:ext uri="{FF2B5EF4-FFF2-40B4-BE49-F238E27FC236}">
                <a16:creationId xmlns:a16="http://schemas.microsoft.com/office/drawing/2014/main" id="{C91DEAB6-9790-1D4C-5369-7EC55295AADF}"/>
              </a:ext>
            </a:extLst>
          </p:cNvPr>
          <p:cNvSpPr>
            <a:spLocks noGrp="1"/>
          </p:cNvSpPr>
          <p:nvPr>
            <p:ph idx="1"/>
          </p:nvPr>
        </p:nvSpPr>
        <p:spPr/>
        <p:txBody>
          <a:bodyPr/>
          <a:lstStyle/>
          <a:p>
            <a:pPr>
              <a:buFont typeface="+mj-lt"/>
              <a:buAutoNum type="arabicPeriod"/>
            </a:pPr>
            <a:r>
              <a:rPr lang="en-IN" sz="1800" dirty="0">
                <a:effectLst/>
                <a:latin typeface="Calibri,Bold"/>
              </a:rPr>
              <a:t>ODBC Concept will work only for Windows Machines. It is Platform Dependent Technology. </a:t>
            </a:r>
            <a:endParaRPr lang="en-IN" dirty="0">
              <a:effectLst/>
            </a:endParaRPr>
          </a:p>
          <a:p>
            <a:pPr>
              <a:buFont typeface="+mj-lt"/>
              <a:buAutoNum type="arabicPeriod"/>
            </a:pPr>
            <a:r>
              <a:rPr lang="en-IN" sz="1800" dirty="0">
                <a:effectLst/>
                <a:latin typeface="Calibri,Bold"/>
              </a:rPr>
              <a:t>ODBC Drivers are implemented in C Language. If we use ODBC for Java Applications, then Performance will be down because of internal conversions from Java to C and C to Java. </a:t>
            </a:r>
            <a:endParaRPr lang="en-IN" dirty="0">
              <a:effectLst/>
            </a:endParaRPr>
          </a:p>
          <a:p>
            <a:pPr>
              <a:buFont typeface="Arial" panose="020B0604020202020204" pitchFamily="34" charset="0"/>
              <a:buChar char="•"/>
            </a:pPr>
            <a:r>
              <a:rPr lang="en-IN" sz="1800" dirty="0">
                <a:effectLst/>
                <a:latin typeface="Calibri,Bold"/>
              </a:rPr>
              <a:t>Because of above Reasons, ODBC Concept is not suitable for Java Applications. </a:t>
            </a:r>
            <a:endParaRPr lang="en-IN" dirty="0">
              <a:effectLst/>
            </a:endParaRPr>
          </a:p>
          <a:p>
            <a:pPr>
              <a:buFont typeface="Arial" panose="020B0604020202020204" pitchFamily="34" charset="0"/>
              <a:buChar char="•"/>
            </a:pPr>
            <a:r>
              <a:rPr lang="en-IN" sz="1800" dirty="0">
                <a:effectLst/>
                <a:latin typeface="Calibri,Bold"/>
              </a:rPr>
              <a:t>For Java Applications, Sun Micro System People introduced JDBC Concept. </a:t>
            </a:r>
            <a:endParaRPr lang="en-IN" dirty="0">
              <a:effectLst/>
            </a:endParaRPr>
          </a:p>
          <a:p>
            <a:pPr>
              <a:buFont typeface="Arial" panose="020B0604020202020204" pitchFamily="34" charset="0"/>
              <a:buChar char="•"/>
            </a:pPr>
            <a:r>
              <a:rPr lang="en-IN" sz="1800" dirty="0">
                <a:effectLst/>
                <a:latin typeface="Calibri,Bold"/>
              </a:rPr>
              <a:t>JDBC Concept Applicable for any Platform. It is Platform Independent Technology. </a:t>
            </a:r>
            <a:endParaRPr lang="en-IN" dirty="0">
              <a:effectLst/>
            </a:endParaRPr>
          </a:p>
          <a:p>
            <a:pPr>
              <a:buFont typeface="Arial" panose="020B0604020202020204" pitchFamily="34" charset="0"/>
              <a:buChar char="•"/>
            </a:pPr>
            <a:r>
              <a:rPr lang="en-IN" sz="1800" dirty="0">
                <a:effectLst/>
                <a:latin typeface="Calibri,Bold"/>
              </a:rPr>
              <a:t>JDBC Drivers are implemented in Java. If we use JDBC for Java Applications, then internal Conversions are not required and hence there is no Effect on Performance. </a:t>
            </a:r>
            <a:endParaRPr lang="en-IN" dirty="0"/>
          </a:p>
          <a:p>
            <a:endParaRPr lang="en-US" dirty="0"/>
          </a:p>
        </p:txBody>
      </p:sp>
    </p:spTree>
    <p:extLst>
      <p:ext uri="{BB962C8B-B14F-4D97-AF65-F5344CB8AC3E}">
        <p14:creationId xmlns:p14="http://schemas.microsoft.com/office/powerpoint/2010/main" val="40234310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94655-FA5A-44CC-1B38-4D470E7873F8}"/>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FF33FE92-4AF1-26F5-9D7F-58DFE4330208}"/>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CD94C189-B975-1986-ECC7-6D1C189754DA}"/>
              </a:ext>
            </a:extLst>
          </p:cNvPr>
          <p:cNvSpPr/>
          <p:nvPr/>
        </p:nvSpPr>
        <p:spPr>
          <a:xfrm>
            <a:off x="320634" y="2921330"/>
            <a:ext cx="1508166" cy="1116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C/C++ Application</a:t>
            </a:r>
          </a:p>
        </p:txBody>
      </p:sp>
      <p:sp>
        <p:nvSpPr>
          <p:cNvPr id="5" name="Rectangle 4">
            <a:extLst>
              <a:ext uri="{FF2B5EF4-FFF2-40B4-BE49-F238E27FC236}">
                <a16:creationId xmlns:a16="http://schemas.microsoft.com/office/drawing/2014/main" id="{D63233D1-7E80-3928-3E5B-618A8A6715EF}"/>
              </a:ext>
            </a:extLst>
          </p:cNvPr>
          <p:cNvSpPr/>
          <p:nvPr/>
        </p:nvSpPr>
        <p:spPr>
          <a:xfrm>
            <a:off x="3061855" y="365125"/>
            <a:ext cx="1508166" cy="1116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Oracle JDBC Driver</a:t>
            </a:r>
          </a:p>
        </p:txBody>
      </p:sp>
      <p:sp>
        <p:nvSpPr>
          <p:cNvPr id="6" name="Rectangle 5">
            <a:extLst>
              <a:ext uri="{FF2B5EF4-FFF2-40B4-BE49-F238E27FC236}">
                <a16:creationId xmlns:a16="http://schemas.microsoft.com/office/drawing/2014/main" id="{747E072E-D6DE-FD3B-54A4-971D22B5F63E}"/>
              </a:ext>
            </a:extLst>
          </p:cNvPr>
          <p:cNvSpPr/>
          <p:nvPr/>
        </p:nvSpPr>
        <p:spPr>
          <a:xfrm>
            <a:off x="3061855" y="2921330"/>
            <a:ext cx="1508166" cy="1116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MySql</a:t>
            </a:r>
            <a:r>
              <a:rPr lang="en-US" dirty="0"/>
              <a:t> JDBC Driver</a:t>
            </a:r>
          </a:p>
        </p:txBody>
      </p:sp>
      <p:sp>
        <p:nvSpPr>
          <p:cNvPr id="7" name="Rectangle 6">
            <a:extLst>
              <a:ext uri="{FF2B5EF4-FFF2-40B4-BE49-F238E27FC236}">
                <a16:creationId xmlns:a16="http://schemas.microsoft.com/office/drawing/2014/main" id="{DD97D896-0117-5DBA-15EB-F35192FD8300}"/>
              </a:ext>
            </a:extLst>
          </p:cNvPr>
          <p:cNvSpPr/>
          <p:nvPr/>
        </p:nvSpPr>
        <p:spPr>
          <a:xfrm>
            <a:off x="3061855" y="5060683"/>
            <a:ext cx="1508166" cy="1116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Postgress</a:t>
            </a:r>
            <a:r>
              <a:rPr lang="en-US" dirty="0"/>
              <a:t> JDBC Driver</a:t>
            </a:r>
          </a:p>
        </p:txBody>
      </p:sp>
      <p:sp>
        <p:nvSpPr>
          <p:cNvPr id="8" name="Can 7">
            <a:extLst>
              <a:ext uri="{FF2B5EF4-FFF2-40B4-BE49-F238E27FC236}">
                <a16:creationId xmlns:a16="http://schemas.microsoft.com/office/drawing/2014/main" id="{F16736B6-D676-DD18-EC05-7F463B045D21}"/>
              </a:ext>
            </a:extLst>
          </p:cNvPr>
          <p:cNvSpPr/>
          <p:nvPr/>
        </p:nvSpPr>
        <p:spPr>
          <a:xfrm>
            <a:off x="9048997" y="365125"/>
            <a:ext cx="1341912" cy="125121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Oracle Database</a:t>
            </a:r>
          </a:p>
        </p:txBody>
      </p:sp>
      <p:sp>
        <p:nvSpPr>
          <p:cNvPr id="9" name="Can 8">
            <a:extLst>
              <a:ext uri="{FF2B5EF4-FFF2-40B4-BE49-F238E27FC236}">
                <a16:creationId xmlns:a16="http://schemas.microsoft.com/office/drawing/2014/main" id="{FB245C4E-970E-460E-B2D6-A0A4720F34B0}"/>
              </a:ext>
            </a:extLst>
          </p:cNvPr>
          <p:cNvSpPr/>
          <p:nvPr/>
        </p:nvSpPr>
        <p:spPr>
          <a:xfrm>
            <a:off x="9048997" y="2806485"/>
            <a:ext cx="1341912" cy="125121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MySql</a:t>
            </a:r>
            <a:r>
              <a:rPr lang="en-US" dirty="0"/>
              <a:t> Database</a:t>
            </a:r>
          </a:p>
        </p:txBody>
      </p:sp>
      <p:sp>
        <p:nvSpPr>
          <p:cNvPr id="10" name="Can 9">
            <a:extLst>
              <a:ext uri="{FF2B5EF4-FFF2-40B4-BE49-F238E27FC236}">
                <a16:creationId xmlns:a16="http://schemas.microsoft.com/office/drawing/2014/main" id="{500DFC4C-A9B8-1C0E-EBC1-71EA4C464FCF}"/>
              </a:ext>
            </a:extLst>
          </p:cNvPr>
          <p:cNvSpPr/>
          <p:nvPr/>
        </p:nvSpPr>
        <p:spPr>
          <a:xfrm>
            <a:off x="9048997" y="4958403"/>
            <a:ext cx="1341912" cy="125121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Postgress</a:t>
            </a:r>
            <a:r>
              <a:rPr lang="en-US" dirty="0"/>
              <a:t> </a:t>
            </a:r>
            <a:r>
              <a:rPr lang="en-US" dirty="0" err="1"/>
              <a:t>Databse</a:t>
            </a:r>
            <a:endParaRPr lang="en-US" dirty="0"/>
          </a:p>
        </p:txBody>
      </p:sp>
      <p:cxnSp>
        <p:nvCxnSpPr>
          <p:cNvPr id="12" name="Straight Arrow Connector 11">
            <a:extLst>
              <a:ext uri="{FF2B5EF4-FFF2-40B4-BE49-F238E27FC236}">
                <a16:creationId xmlns:a16="http://schemas.microsoft.com/office/drawing/2014/main" id="{718A3F07-E2BB-55CA-0DB4-1DDC099264E5}"/>
              </a:ext>
            </a:extLst>
          </p:cNvPr>
          <p:cNvCxnSpPr>
            <a:cxnSpLocks/>
          </p:cNvCxnSpPr>
          <p:nvPr/>
        </p:nvCxnSpPr>
        <p:spPr>
          <a:xfrm flipV="1">
            <a:off x="1436914" y="1027906"/>
            <a:ext cx="1624941" cy="1893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BBEEB1A-2F82-7ECB-3720-0FF3F705CD08}"/>
              </a:ext>
            </a:extLst>
          </p:cNvPr>
          <p:cNvCxnSpPr>
            <a:cxnSpLocks/>
          </p:cNvCxnSpPr>
          <p:nvPr/>
        </p:nvCxnSpPr>
        <p:spPr>
          <a:xfrm>
            <a:off x="4570021" y="681037"/>
            <a:ext cx="44789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1762CF6-7EEF-E2AA-FC45-618892836307}"/>
              </a:ext>
            </a:extLst>
          </p:cNvPr>
          <p:cNvCxnSpPr>
            <a:cxnSpLocks/>
          </p:cNvCxnSpPr>
          <p:nvPr/>
        </p:nvCxnSpPr>
        <p:spPr>
          <a:xfrm>
            <a:off x="1828800" y="3301340"/>
            <a:ext cx="123305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EC64EAF-0635-CD0F-F085-33A442346BF8}"/>
              </a:ext>
            </a:extLst>
          </p:cNvPr>
          <p:cNvCxnSpPr>
            <a:cxnSpLocks/>
          </p:cNvCxnSpPr>
          <p:nvPr/>
        </p:nvCxnSpPr>
        <p:spPr>
          <a:xfrm>
            <a:off x="1436914" y="4037610"/>
            <a:ext cx="1624941" cy="15464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3CB97E4-CAA2-D1A8-0C27-38A2B06C05DF}"/>
              </a:ext>
            </a:extLst>
          </p:cNvPr>
          <p:cNvCxnSpPr>
            <a:cxnSpLocks/>
          </p:cNvCxnSpPr>
          <p:nvPr/>
        </p:nvCxnSpPr>
        <p:spPr>
          <a:xfrm>
            <a:off x="4570021" y="3247721"/>
            <a:ext cx="4478976" cy="536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111C401-185E-81C8-041B-7EAEC27667B7}"/>
              </a:ext>
            </a:extLst>
          </p:cNvPr>
          <p:cNvCxnSpPr>
            <a:cxnSpLocks/>
          </p:cNvCxnSpPr>
          <p:nvPr/>
        </p:nvCxnSpPr>
        <p:spPr>
          <a:xfrm>
            <a:off x="4554188" y="5392024"/>
            <a:ext cx="4478976" cy="536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67A32C44-C657-E3DF-1EA6-05ECBBFA7162}"/>
              </a:ext>
            </a:extLst>
          </p:cNvPr>
          <p:cNvCxnSpPr>
            <a:cxnSpLocks/>
          </p:cNvCxnSpPr>
          <p:nvPr/>
        </p:nvCxnSpPr>
        <p:spPr>
          <a:xfrm flipH="1">
            <a:off x="4594266" y="1250963"/>
            <a:ext cx="4454731" cy="182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F9CA268-F0F2-5471-5E1F-C1C216C7AE02}"/>
              </a:ext>
            </a:extLst>
          </p:cNvPr>
          <p:cNvCxnSpPr>
            <a:cxnSpLocks/>
          </p:cNvCxnSpPr>
          <p:nvPr/>
        </p:nvCxnSpPr>
        <p:spPr>
          <a:xfrm flipH="1">
            <a:off x="4594266" y="3757280"/>
            <a:ext cx="4454731" cy="182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9F0B98A-F795-9A2A-8144-A8C5ADE52083}"/>
              </a:ext>
            </a:extLst>
          </p:cNvPr>
          <p:cNvCxnSpPr>
            <a:cxnSpLocks/>
          </p:cNvCxnSpPr>
          <p:nvPr/>
        </p:nvCxnSpPr>
        <p:spPr>
          <a:xfrm flipH="1">
            <a:off x="4570021" y="5866181"/>
            <a:ext cx="4454731" cy="182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7651A57-1B7E-1A30-43B6-FCB468B40495}"/>
              </a:ext>
            </a:extLst>
          </p:cNvPr>
          <p:cNvCxnSpPr>
            <a:cxnSpLocks/>
          </p:cNvCxnSpPr>
          <p:nvPr/>
        </p:nvCxnSpPr>
        <p:spPr>
          <a:xfrm flipH="1">
            <a:off x="1662545" y="1286649"/>
            <a:ext cx="1403020" cy="16346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811F191B-AB5C-55A0-52E1-C33DBECFB22F}"/>
              </a:ext>
            </a:extLst>
          </p:cNvPr>
          <p:cNvCxnSpPr>
            <a:cxnSpLocks/>
          </p:cNvCxnSpPr>
          <p:nvPr/>
        </p:nvCxnSpPr>
        <p:spPr>
          <a:xfrm flipH="1" flipV="1">
            <a:off x="1801091" y="3170809"/>
            <a:ext cx="1236519" cy="92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17EDBDAB-0740-105C-142E-3D4EB9614E93}"/>
              </a:ext>
            </a:extLst>
          </p:cNvPr>
          <p:cNvCxnSpPr>
            <a:cxnSpLocks/>
          </p:cNvCxnSpPr>
          <p:nvPr/>
        </p:nvCxnSpPr>
        <p:spPr>
          <a:xfrm flipH="1" flipV="1">
            <a:off x="1662545" y="4057702"/>
            <a:ext cx="1423555" cy="13343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91996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58071-2B31-8CF3-7744-BA3F0B2A6E5B}"/>
              </a:ext>
            </a:extLst>
          </p:cNvPr>
          <p:cNvSpPr>
            <a:spLocks noGrp="1"/>
          </p:cNvSpPr>
          <p:nvPr>
            <p:ph type="title"/>
          </p:nvPr>
        </p:nvSpPr>
        <p:spPr/>
        <p:txBody>
          <a:bodyPr/>
          <a:lstStyle/>
          <a:p>
            <a:r>
              <a:rPr lang="en-US"/>
              <a:t>Note</a:t>
            </a:r>
          </a:p>
        </p:txBody>
      </p:sp>
      <p:sp>
        <p:nvSpPr>
          <p:cNvPr id="3" name="Content Placeholder 2">
            <a:extLst>
              <a:ext uri="{FF2B5EF4-FFF2-40B4-BE49-F238E27FC236}">
                <a16:creationId xmlns:a16="http://schemas.microsoft.com/office/drawing/2014/main" id="{08CEB03A-77BF-CBD1-443D-6432037623F0}"/>
              </a:ext>
            </a:extLst>
          </p:cNvPr>
          <p:cNvSpPr>
            <a:spLocks noGrp="1"/>
          </p:cNvSpPr>
          <p:nvPr>
            <p:ph idx="1"/>
          </p:nvPr>
        </p:nvSpPr>
        <p:spPr/>
        <p:txBody>
          <a:bodyPr/>
          <a:lstStyle/>
          <a:p>
            <a:pPr>
              <a:buFont typeface="+mj-lt"/>
              <a:buAutoNum type="arabicPeriod"/>
            </a:pPr>
            <a:r>
              <a:rPr lang="en-IN" sz="1800" dirty="0">
                <a:effectLst/>
                <a:latin typeface="Calibri,Bold"/>
              </a:rPr>
              <a:t>ODBC Concept is applicable for any Database and for any Language, but only for Windows Platform. </a:t>
            </a:r>
            <a:endParaRPr lang="en-IN" dirty="0">
              <a:effectLst/>
            </a:endParaRPr>
          </a:p>
          <a:p>
            <a:pPr>
              <a:buFont typeface="+mj-lt"/>
              <a:buAutoNum type="arabicPeriod"/>
            </a:pPr>
            <a:r>
              <a:rPr lang="en-IN" sz="1800" dirty="0">
                <a:effectLst/>
                <a:latin typeface="Calibri,Bold"/>
              </a:rPr>
              <a:t>JDBC Concept is Applicable for any Platform and for any Database, but only for Java Language. </a:t>
            </a:r>
            <a:endParaRPr lang="en-IN" dirty="0">
              <a:effectLst/>
            </a:endParaRPr>
          </a:p>
          <a:p>
            <a:endParaRPr lang="en-US" dirty="0"/>
          </a:p>
        </p:txBody>
      </p:sp>
    </p:spTree>
    <p:extLst>
      <p:ext uri="{BB962C8B-B14F-4D97-AF65-F5344CB8AC3E}">
        <p14:creationId xmlns:p14="http://schemas.microsoft.com/office/powerpoint/2010/main" val="38967290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D1C6A-44CD-0790-19F0-15BF5BB01F91}"/>
              </a:ext>
            </a:extLst>
          </p:cNvPr>
          <p:cNvSpPr>
            <a:spLocks noGrp="1"/>
          </p:cNvSpPr>
          <p:nvPr>
            <p:ph type="title"/>
          </p:nvPr>
        </p:nvSpPr>
        <p:spPr/>
        <p:txBody>
          <a:bodyPr/>
          <a:lstStyle/>
          <a:p>
            <a:r>
              <a:rPr lang="en-US" dirty="0"/>
              <a:t>JDBC vs ODBC</a:t>
            </a:r>
          </a:p>
        </p:txBody>
      </p:sp>
      <p:graphicFrame>
        <p:nvGraphicFramePr>
          <p:cNvPr id="5" name="Content Placeholder 4">
            <a:extLst>
              <a:ext uri="{FF2B5EF4-FFF2-40B4-BE49-F238E27FC236}">
                <a16:creationId xmlns:a16="http://schemas.microsoft.com/office/drawing/2014/main" id="{1352A01F-5419-2302-4EAD-E41AFAAEECEC}"/>
              </a:ext>
            </a:extLst>
          </p:cNvPr>
          <p:cNvGraphicFramePr>
            <a:graphicFrameLocks noGrp="1"/>
          </p:cNvGraphicFramePr>
          <p:nvPr>
            <p:ph idx="1"/>
            <p:extLst>
              <p:ext uri="{D42A27DB-BD31-4B8C-83A1-F6EECF244321}">
                <p14:modId xmlns:p14="http://schemas.microsoft.com/office/powerpoint/2010/main" val="3958338918"/>
              </p:ext>
            </p:extLst>
          </p:nvPr>
        </p:nvGraphicFramePr>
        <p:xfrm>
          <a:off x="838200" y="1825625"/>
          <a:ext cx="10515600" cy="3952240"/>
        </p:xfrm>
        <a:graphic>
          <a:graphicData uri="http://schemas.openxmlformats.org/drawingml/2006/table">
            <a:tbl>
              <a:tblPr firstRow="1" bandRow="1">
                <a:tableStyleId>{5C22544A-7EE6-4342-B048-85BDC9FD1C3A}</a:tableStyleId>
              </a:tblPr>
              <a:tblGrid>
                <a:gridCol w="586839">
                  <a:extLst>
                    <a:ext uri="{9D8B030D-6E8A-4147-A177-3AD203B41FA5}">
                      <a16:colId xmlns:a16="http://schemas.microsoft.com/office/drawing/2014/main" val="1665473198"/>
                    </a:ext>
                  </a:extLst>
                </a:gridCol>
                <a:gridCol w="4714504">
                  <a:extLst>
                    <a:ext uri="{9D8B030D-6E8A-4147-A177-3AD203B41FA5}">
                      <a16:colId xmlns:a16="http://schemas.microsoft.com/office/drawing/2014/main" val="2620277908"/>
                    </a:ext>
                  </a:extLst>
                </a:gridCol>
                <a:gridCol w="5214257">
                  <a:extLst>
                    <a:ext uri="{9D8B030D-6E8A-4147-A177-3AD203B41FA5}">
                      <a16:colId xmlns:a16="http://schemas.microsoft.com/office/drawing/2014/main" val="2051162154"/>
                    </a:ext>
                  </a:extLst>
                </a:gridCol>
              </a:tblGrid>
              <a:tr h="370840">
                <a:tc>
                  <a:txBody>
                    <a:bodyPr/>
                    <a:lstStyle/>
                    <a:p>
                      <a:pPr algn="ctr"/>
                      <a:r>
                        <a:rPr lang="en-US" dirty="0" err="1"/>
                        <a:t>SNo</a:t>
                      </a:r>
                      <a:endParaRPr lang="en-US" dirty="0"/>
                    </a:p>
                  </a:txBody>
                  <a:tcPr/>
                </a:tc>
                <a:tc>
                  <a:txBody>
                    <a:bodyPr/>
                    <a:lstStyle/>
                    <a:p>
                      <a:pPr algn="ctr"/>
                      <a:r>
                        <a:rPr lang="en-US" dirty="0"/>
                        <a:t>ODBC</a:t>
                      </a:r>
                    </a:p>
                  </a:txBody>
                  <a:tcPr/>
                </a:tc>
                <a:tc>
                  <a:txBody>
                    <a:bodyPr/>
                    <a:lstStyle/>
                    <a:p>
                      <a:pPr algn="ctr"/>
                      <a:r>
                        <a:rPr lang="en-US" dirty="0"/>
                        <a:t>JDBC</a:t>
                      </a:r>
                    </a:p>
                  </a:txBody>
                  <a:tcPr/>
                </a:tc>
                <a:extLst>
                  <a:ext uri="{0D108BD9-81ED-4DB2-BD59-A6C34878D82A}">
                    <a16:rowId xmlns:a16="http://schemas.microsoft.com/office/drawing/2014/main" val="27073169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latin typeface="+mn-lt"/>
                          <a:ea typeface="+mn-ea"/>
                          <a:cs typeface="+mn-cs"/>
                        </a:rPr>
                        <a:t>ODBC Stands for Open Database Connectivity </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latin typeface="+mn-lt"/>
                          <a:ea typeface="+mn-ea"/>
                          <a:cs typeface="+mn-cs"/>
                        </a:rPr>
                        <a:t>JDBC Stands for Java Database Connectivity </a:t>
                      </a:r>
                      <a:endParaRPr lang="en-IN" dirty="0"/>
                    </a:p>
                  </a:txBody>
                  <a:tcPr/>
                </a:tc>
                <a:extLst>
                  <a:ext uri="{0D108BD9-81ED-4DB2-BD59-A6C34878D82A}">
                    <a16:rowId xmlns:a16="http://schemas.microsoft.com/office/drawing/2014/main" val="338363890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latin typeface="+mn-lt"/>
                          <a:ea typeface="+mn-ea"/>
                          <a:cs typeface="+mn-cs"/>
                        </a:rPr>
                        <a:t>Introduced by Microsoft. </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latin typeface="+mn-lt"/>
                          <a:ea typeface="+mn-ea"/>
                          <a:cs typeface="+mn-cs"/>
                        </a:rPr>
                        <a:t>Introduced by Sun Micro Systems.</a:t>
                      </a:r>
                      <a:endParaRPr lang="en-IN" dirty="0"/>
                    </a:p>
                  </a:txBody>
                  <a:tcPr/>
                </a:tc>
                <a:extLst>
                  <a:ext uri="{0D108BD9-81ED-4DB2-BD59-A6C34878D82A}">
                    <a16:rowId xmlns:a16="http://schemas.microsoft.com/office/drawing/2014/main" val="31530096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latin typeface="+mn-lt"/>
                          <a:ea typeface="+mn-ea"/>
                          <a:cs typeface="+mn-cs"/>
                        </a:rPr>
                        <a:t>We can Use ODBC for any Languages like C, C++, Java, Etc. </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latin typeface="+mn-lt"/>
                          <a:ea typeface="+mn-ea"/>
                          <a:cs typeface="+mn-cs"/>
                        </a:rPr>
                        <a:t>We can Use JDBC only for Java Language. </a:t>
                      </a:r>
                      <a:endParaRPr lang="en-IN" dirty="0"/>
                    </a:p>
                  </a:txBody>
                  <a:tcPr/>
                </a:tc>
                <a:extLst>
                  <a:ext uri="{0D108BD9-81ED-4DB2-BD59-A6C34878D82A}">
                    <a16:rowId xmlns:a16="http://schemas.microsoft.com/office/drawing/2014/main" val="154144174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latin typeface="+mn-lt"/>
                          <a:ea typeface="+mn-ea"/>
                          <a:cs typeface="+mn-cs"/>
                        </a:rPr>
                        <a:t>We can use ODBC only for Windows Platforms. </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latin typeface="+mn-lt"/>
                          <a:ea typeface="+mn-ea"/>
                          <a:cs typeface="+mn-cs"/>
                        </a:rPr>
                        <a:t>We can use JDBC for any Platform.</a:t>
                      </a:r>
                      <a:endParaRPr lang="en-IN" dirty="0"/>
                    </a:p>
                  </a:txBody>
                  <a:tcPr/>
                </a:tc>
                <a:extLst>
                  <a:ext uri="{0D108BD9-81ED-4DB2-BD59-A6C34878D82A}">
                    <a16:rowId xmlns:a16="http://schemas.microsoft.com/office/drawing/2014/main" val="368187611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latin typeface="+mn-lt"/>
                          <a:ea typeface="+mn-ea"/>
                          <a:cs typeface="+mn-cs"/>
                        </a:rPr>
                        <a:t>Mostly ODBC Drivers are developed in Native Languages like C OR C++. </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latin typeface="+mn-lt"/>
                          <a:ea typeface="+mn-ea"/>
                          <a:cs typeface="+mn-cs"/>
                        </a:rPr>
                        <a:t>Mostly JDBC Drivers are developed in Java. </a:t>
                      </a:r>
                      <a:endParaRPr lang="en-IN" dirty="0"/>
                    </a:p>
                    <a:p>
                      <a:endParaRPr lang="en-US" dirty="0"/>
                    </a:p>
                  </a:txBody>
                  <a:tcPr/>
                </a:tc>
                <a:extLst>
                  <a:ext uri="{0D108BD9-81ED-4DB2-BD59-A6C34878D82A}">
                    <a16:rowId xmlns:a16="http://schemas.microsoft.com/office/drawing/2014/main" val="361093771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latin typeface="+mn-lt"/>
                          <a:ea typeface="+mn-ea"/>
                          <a:cs typeface="+mn-cs"/>
                        </a:rPr>
                        <a:t>For Java Applications, it is not recommended to use ODBC because Performance will be Down due to Internal Conversions and Application will become Platform Dependent. </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latin typeface="+mn-lt"/>
                          <a:ea typeface="+mn-ea"/>
                          <a:cs typeface="+mn-cs"/>
                        </a:rPr>
                        <a:t>For Java Applications, it is highly recommended to use JDBC because there is no Performance Problems and Platform Dependency Problems. </a:t>
                      </a:r>
                      <a:endParaRPr lang="en-IN" dirty="0"/>
                    </a:p>
                  </a:txBody>
                  <a:tcPr/>
                </a:tc>
                <a:extLst>
                  <a:ext uri="{0D108BD9-81ED-4DB2-BD59-A6C34878D82A}">
                    <a16:rowId xmlns:a16="http://schemas.microsoft.com/office/drawing/2014/main" val="257274214"/>
                  </a:ext>
                </a:extLst>
              </a:tr>
            </a:tbl>
          </a:graphicData>
        </a:graphic>
      </p:graphicFrame>
    </p:spTree>
    <p:extLst>
      <p:ext uri="{BB962C8B-B14F-4D97-AF65-F5344CB8AC3E}">
        <p14:creationId xmlns:p14="http://schemas.microsoft.com/office/powerpoint/2010/main" val="3606621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3DE66-89F2-7108-28E0-4365141D8BA9}"/>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E472BE40-B7CE-D483-988E-4775B60A54F5}"/>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6D6DCFC0-3187-E05E-1B4B-7AD5F2AEED61}"/>
              </a:ext>
            </a:extLst>
          </p:cNvPr>
          <p:cNvSpPr/>
          <p:nvPr/>
        </p:nvSpPr>
        <p:spPr>
          <a:xfrm>
            <a:off x="4690754" y="365125"/>
            <a:ext cx="2707574" cy="537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Java Application</a:t>
            </a:r>
          </a:p>
        </p:txBody>
      </p:sp>
      <p:sp>
        <p:nvSpPr>
          <p:cNvPr id="5" name="Rectangle 4">
            <a:extLst>
              <a:ext uri="{FF2B5EF4-FFF2-40B4-BE49-F238E27FC236}">
                <a16:creationId xmlns:a16="http://schemas.microsoft.com/office/drawing/2014/main" id="{E902BD5F-DC9D-2861-3ACC-D813E6C9E4AD}"/>
              </a:ext>
            </a:extLst>
          </p:cNvPr>
          <p:cNvSpPr/>
          <p:nvPr/>
        </p:nvSpPr>
        <p:spPr>
          <a:xfrm>
            <a:off x="4690754" y="1690688"/>
            <a:ext cx="2707574" cy="537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JDBC API</a:t>
            </a:r>
          </a:p>
        </p:txBody>
      </p:sp>
      <p:sp>
        <p:nvSpPr>
          <p:cNvPr id="6" name="Rectangle 5">
            <a:extLst>
              <a:ext uri="{FF2B5EF4-FFF2-40B4-BE49-F238E27FC236}">
                <a16:creationId xmlns:a16="http://schemas.microsoft.com/office/drawing/2014/main" id="{70B823C5-627D-4A21-7836-08D5211AEF3D}"/>
              </a:ext>
            </a:extLst>
          </p:cNvPr>
          <p:cNvSpPr/>
          <p:nvPr/>
        </p:nvSpPr>
        <p:spPr>
          <a:xfrm>
            <a:off x="4690754" y="2891600"/>
            <a:ext cx="2707574" cy="537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Driver Manager</a:t>
            </a:r>
          </a:p>
        </p:txBody>
      </p:sp>
      <p:sp>
        <p:nvSpPr>
          <p:cNvPr id="7" name="Rectangle 6">
            <a:extLst>
              <a:ext uri="{FF2B5EF4-FFF2-40B4-BE49-F238E27FC236}">
                <a16:creationId xmlns:a16="http://schemas.microsoft.com/office/drawing/2014/main" id="{01AB5892-924B-F8EC-D870-59D2DB647957}"/>
              </a:ext>
            </a:extLst>
          </p:cNvPr>
          <p:cNvSpPr/>
          <p:nvPr/>
        </p:nvSpPr>
        <p:spPr>
          <a:xfrm>
            <a:off x="838200" y="4920299"/>
            <a:ext cx="1830778" cy="9223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Driver for </a:t>
            </a:r>
          </a:p>
          <a:p>
            <a:pPr algn="ctr"/>
            <a:r>
              <a:rPr lang="en-US" dirty="0"/>
              <a:t>Oracle</a:t>
            </a:r>
          </a:p>
        </p:txBody>
      </p:sp>
      <p:sp>
        <p:nvSpPr>
          <p:cNvPr id="8" name="Rectangle 7">
            <a:extLst>
              <a:ext uri="{FF2B5EF4-FFF2-40B4-BE49-F238E27FC236}">
                <a16:creationId xmlns:a16="http://schemas.microsoft.com/office/drawing/2014/main" id="{DA0E59A1-9DF1-9E05-3611-66B6DF9BFE19}"/>
              </a:ext>
            </a:extLst>
          </p:cNvPr>
          <p:cNvSpPr/>
          <p:nvPr/>
        </p:nvSpPr>
        <p:spPr>
          <a:xfrm>
            <a:off x="5129152" y="4920299"/>
            <a:ext cx="1830778" cy="9223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Driver for </a:t>
            </a:r>
          </a:p>
          <a:p>
            <a:pPr algn="ctr"/>
            <a:r>
              <a:rPr lang="en-US" dirty="0"/>
              <a:t>MySQL</a:t>
            </a:r>
          </a:p>
        </p:txBody>
      </p:sp>
      <p:sp>
        <p:nvSpPr>
          <p:cNvPr id="9" name="Rectangle 8">
            <a:extLst>
              <a:ext uri="{FF2B5EF4-FFF2-40B4-BE49-F238E27FC236}">
                <a16:creationId xmlns:a16="http://schemas.microsoft.com/office/drawing/2014/main" id="{730A8CA1-5125-7FE2-1E62-5FB503805E67}"/>
              </a:ext>
            </a:extLst>
          </p:cNvPr>
          <p:cNvSpPr/>
          <p:nvPr/>
        </p:nvSpPr>
        <p:spPr>
          <a:xfrm>
            <a:off x="9523022" y="4920299"/>
            <a:ext cx="1830778" cy="9223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Driver for Postgres</a:t>
            </a:r>
          </a:p>
        </p:txBody>
      </p:sp>
      <p:cxnSp>
        <p:nvCxnSpPr>
          <p:cNvPr id="23" name="Straight Arrow Connector 22">
            <a:extLst>
              <a:ext uri="{FF2B5EF4-FFF2-40B4-BE49-F238E27FC236}">
                <a16:creationId xmlns:a16="http://schemas.microsoft.com/office/drawing/2014/main" id="{DB8D535E-A252-0A71-75A5-B708826F9974}"/>
              </a:ext>
            </a:extLst>
          </p:cNvPr>
          <p:cNvCxnSpPr>
            <a:cxnSpLocks/>
            <a:stCxn id="4" idx="2"/>
            <a:endCxn id="5" idx="0"/>
          </p:cNvCxnSpPr>
          <p:nvPr/>
        </p:nvCxnSpPr>
        <p:spPr>
          <a:xfrm>
            <a:off x="6044541" y="902525"/>
            <a:ext cx="0" cy="7881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020BF803-E43D-7F48-8A0F-12F5A41CEDFB}"/>
              </a:ext>
            </a:extLst>
          </p:cNvPr>
          <p:cNvCxnSpPr>
            <a:cxnSpLocks/>
            <a:endCxn id="6" idx="0"/>
          </p:cNvCxnSpPr>
          <p:nvPr/>
        </p:nvCxnSpPr>
        <p:spPr>
          <a:xfrm>
            <a:off x="6044541" y="2228088"/>
            <a:ext cx="0" cy="6635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8B3683B-1787-E03D-F920-C52CA6B3052C}"/>
              </a:ext>
            </a:extLst>
          </p:cNvPr>
          <p:cNvCxnSpPr>
            <a:cxnSpLocks/>
            <a:stCxn id="6" idx="2"/>
          </p:cNvCxnSpPr>
          <p:nvPr/>
        </p:nvCxnSpPr>
        <p:spPr>
          <a:xfrm>
            <a:off x="6044541" y="3429000"/>
            <a:ext cx="0" cy="14912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91987A63-8B7F-FD08-3309-ABFFA30527B2}"/>
              </a:ext>
            </a:extLst>
          </p:cNvPr>
          <p:cNvCxnSpPr>
            <a:endCxn id="7" idx="0"/>
          </p:cNvCxnSpPr>
          <p:nvPr/>
        </p:nvCxnSpPr>
        <p:spPr>
          <a:xfrm flipH="1">
            <a:off x="1753589" y="3170712"/>
            <a:ext cx="2937165" cy="17495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79DD4CA-3E28-F418-5BE4-4E914330C9A5}"/>
              </a:ext>
            </a:extLst>
          </p:cNvPr>
          <p:cNvCxnSpPr>
            <a:cxnSpLocks/>
            <a:endCxn id="9" idx="0"/>
          </p:cNvCxnSpPr>
          <p:nvPr/>
        </p:nvCxnSpPr>
        <p:spPr>
          <a:xfrm>
            <a:off x="7398328" y="3170712"/>
            <a:ext cx="3040083" cy="17495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42912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5ABC9-1A2F-A484-177B-85856CCC5B5B}"/>
              </a:ext>
            </a:extLst>
          </p:cNvPr>
          <p:cNvSpPr>
            <a:spLocks noGrp="1"/>
          </p:cNvSpPr>
          <p:nvPr>
            <p:ph type="title"/>
          </p:nvPr>
        </p:nvSpPr>
        <p:spPr/>
        <p:txBody>
          <a:bodyPr/>
          <a:lstStyle/>
          <a:p>
            <a:r>
              <a:rPr lang="en-IN" sz="4400" dirty="0" err="1">
                <a:effectLst/>
                <a:latin typeface="Calibri,Bold"/>
              </a:rPr>
              <a:t>DriverManager</a:t>
            </a:r>
            <a:r>
              <a:rPr lang="en-IN" sz="4400" dirty="0">
                <a:effectLst/>
                <a:latin typeface="Calibri,Bold"/>
              </a:rPr>
              <a:t>:</a:t>
            </a:r>
            <a:endParaRPr lang="en-US" dirty="0"/>
          </a:p>
        </p:txBody>
      </p:sp>
      <p:sp>
        <p:nvSpPr>
          <p:cNvPr id="3" name="Content Placeholder 2">
            <a:extLst>
              <a:ext uri="{FF2B5EF4-FFF2-40B4-BE49-F238E27FC236}">
                <a16:creationId xmlns:a16="http://schemas.microsoft.com/office/drawing/2014/main" id="{C86A13CF-0A2E-65B2-68E0-D9B39B417482}"/>
              </a:ext>
            </a:extLst>
          </p:cNvPr>
          <p:cNvSpPr>
            <a:spLocks noGrp="1"/>
          </p:cNvSpPr>
          <p:nvPr>
            <p:ph idx="1"/>
          </p:nvPr>
        </p:nvSpPr>
        <p:spPr/>
        <p:txBody>
          <a:bodyPr/>
          <a:lstStyle/>
          <a:p>
            <a:pPr>
              <a:buFont typeface="Arial" panose="020B0604020202020204" pitchFamily="34" charset="0"/>
              <a:buChar char="•"/>
            </a:pPr>
            <a:r>
              <a:rPr lang="en-IN" sz="1800" dirty="0">
                <a:effectLst/>
                <a:latin typeface="Calibri,Bold"/>
              </a:rPr>
              <a:t>JDBC API provides </a:t>
            </a:r>
            <a:r>
              <a:rPr lang="en-IN" sz="1800" b="1" dirty="0" err="1">
                <a:effectLst/>
                <a:latin typeface="Calibri,Bold"/>
              </a:rPr>
              <a:t>DriverManager</a:t>
            </a:r>
            <a:r>
              <a:rPr lang="en-IN" sz="1800" dirty="0">
                <a:effectLst/>
                <a:latin typeface="Calibri,Bold"/>
              </a:rPr>
              <a:t> to our Java Application. </a:t>
            </a:r>
            <a:endParaRPr lang="en-IN" dirty="0">
              <a:effectLst/>
            </a:endParaRPr>
          </a:p>
          <a:p>
            <a:pPr>
              <a:buFont typeface="Arial" panose="020B0604020202020204" pitchFamily="34" charset="0"/>
              <a:buChar char="•"/>
            </a:pPr>
            <a:r>
              <a:rPr lang="en-IN" sz="1800" dirty="0">
                <a:effectLst/>
                <a:latin typeface="Calibri,Bold"/>
              </a:rPr>
              <a:t>Java Application can </a:t>
            </a:r>
            <a:r>
              <a:rPr lang="en-IN" sz="1800" b="1" dirty="0">
                <a:effectLst/>
                <a:latin typeface="Calibri,Bold"/>
              </a:rPr>
              <a:t>communicate</a:t>
            </a:r>
            <a:r>
              <a:rPr lang="en-IN" sz="1800" dirty="0">
                <a:effectLst/>
                <a:latin typeface="Calibri,Bold"/>
              </a:rPr>
              <a:t> with any Database with the help of </a:t>
            </a:r>
            <a:r>
              <a:rPr lang="en-IN" sz="1800" dirty="0" err="1">
                <a:effectLst/>
                <a:latin typeface="Calibri,Bold"/>
              </a:rPr>
              <a:t>DriverManager</a:t>
            </a:r>
            <a:r>
              <a:rPr lang="en-IN" sz="1800" dirty="0">
                <a:effectLst/>
                <a:latin typeface="Calibri,Bold"/>
              </a:rPr>
              <a:t> and Database Specific Driver. </a:t>
            </a:r>
          </a:p>
          <a:p>
            <a:pPr>
              <a:buFont typeface="Arial" panose="020B0604020202020204" pitchFamily="34" charset="0"/>
              <a:buChar char="•"/>
            </a:pPr>
            <a:r>
              <a:rPr lang="en-IN" sz="1800" dirty="0">
                <a:latin typeface="Calibri,Bold"/>
              </a:rPr>
              <a:t>It is the Key Component in JDBC Architecture. </a:t>
            </a:r>
          </a:p>
          <a:p>
            <a:pPr>
              <a:buFont typeface="Arial" panose="020B0604020202020204" pitchFamily="34" charset="0"/>
              <a:buChar char="•"/>
            </a:pPr>
            <a:r>
              <a:rPr lang="en-IN" sz="1800" dirty="0" err="1">
                <a:latin typeface="Calibri,Bold"/>
              </a:rPr>
              <a:t>DriverManager</a:t>
            </a:r>
            <a:r>
              <a:rPr lang="en-IN" sz="1800" dirty="0">
                <a:latin typeface="Calibri,Bold"/>
              </a:rPr>
              <a:t> is a Java Class, </a:t>
            </a:r>
            <a:r>
              <a:rPr lang="en-IN" sz="1800" b="1" dirty="0">
                <a:latin typeface="Calibri,Bold"/>
              </a:rPr>
              <a:t>present in </a:t>
            </a:r>
            <a:r>
              <a:rPr lang="en-IN" sz="1800" b="1" dirty="0" err="1">
                <a:latin typeface="Calibri,Bold"/>
              </a:rPr>
              <a:t>java.sql</a:t>
            </a:r>
            <a:r>
              <a:rPr lang="en-IN" sz="1800" dirty="0">
                <a:latin typeface="Calibri,Bold"/>
              </a:rPr>
              <a:t> Package. </a:t>
            </a:r>
          </a:p>
          <a:p>
            <a:pPr>
              <a:buFont typeface="Arial" panose="020B0604020202020204" pitchFamily="34" charset="0"/>
              <a:buChar char="•"/>
            </a:pPr>
            <a:r>
              <a:rPr lang="en-IN" sz="1800" dirty="0">
                <a:latin typeface="Calibri,Bold"/>
              </a:rPr>
              <a:t>It is responsible to </a:t>
            </a:r>
            <a:r>
              <a:rPr lang="en-IN" sz="1800" b="1" dirty="0">
                <a:latin typeface="Calibri,Bold"/>
              </a:rPr>
              <a:t>manage all Database Drivers</a:t>
            </a:r>
            <a:r>
              <a:rPr lang="en-IN" sz="1800" dirty="0">
                <a:latin typeface="Calibri,Bold"/>
              </a:rPr>
              <a:t> available in our System. </a:t>
            </a:r>
          </a:p>
          <a:p>
            <a:pPr>
              <a:buFont typeface="Arial" panose="020B0604020202020204" pitchFamily="34" charset="0"/>
              <a:buChar char="•"/>
            </a:pPr>
            <a:r>
              <a:rPr lang="en-IN" sz="1800" dirty="0" err="1">
                <a:latin typeface="Calibri,Bold"/>
              </a:rPr>
              <a:t>DriverManager</a:t>
            </a:r>
            <a:r>
              <a:rPr lang="en-IN" sz="1800" dirty="0">
                <a:latin typeface="Calibri,Bold"/>
              </a:rPr>
              <a:t> is responsible to </a:t>
            </a:r>
            <a:r>
              <a:rPr lang="en-IN" sz="1800" b="1" dirty="0">
                <a:latin typeface="Calibri,Bold"/>
              </a:rPr>
              <a:t>register and unregister</a:t>
            </a:r>
            <a:r>
              <a:rPr lang="en-IN" sz="1800" dirty="0">
                <a:latin typeface="Calibri,Bold"/>
              </a:rPr>
              <a:t> Database Drivers. </a:t>
            </a:r>
          </a:p>
          <a:p>
            <a:pPr>
              <a:buFont typeface="Arial" panose="020B0604020202020204" pitchFamily="34" charset="0"/>
              <a:buChar char="•"/>
            </a:pPr>
            <a:r>
              <a:rPr lang="en-IN" sz="1800" dirty="0" err="1">
                <a:latin typeface="Calibri,Bold"/>
              </a:rPr>
              <a:t>DriverManager</a:t>
            </a:r>
            <a:r>
              <a:rPr lang="en-IN" sz="1800" dirty="0">
                <a:latin typeface="Calibri,Bold"/>
              </a:rPr>
              <a:t> is responsible to establish Connection to the Database with the help of Driver Software. </a:t>
            </a:r>
          </a:p>
          <a:p>
            <a:pPr>
              <a:buFont typeface="Arial" panose="020B0604020202020204" pitchFamily="34" charset="0"/>
              <a:buChar char="•"/>
            </a:pPr>
            <a:r>
              <a:rPr lang="en-IN" sz="1800" b="1" dirty="0">
                <a:latin typeface="Calibri,Bold"/>
              </a:rPr>
              <a:t>Connection con = </a:t>
            </a:r>
            <a:r>
              <a:rPr lang="en-IN" sz="1800" b="1" dirty="0" err="1">
                <a:latin typeface="Calibri,Bold"/>
              </a:rPr>
              <a:t>DriverManager.getConnection</a:t>
            </a:r>
            <a:r>
              <a:rPr lang="en-IN" sz="1800" b="1" dirty="0">
                <a:latin typeface="Calibri,Bold"/>
              </a:rPr>
              <a:t> (</a:t>
            </a:r>
            <a:r>
              <a:rPr lang="en-IN" sz="1800" b="1" dirty="0" err="1">
                <a:latin typeface="Calibri,Bold"/>
              </a:rPr>
              <a:t>jdbcurl</a:t>
            </a:r>
            <a:r>
              <a:rPr lang="en-IN" sz="1800" b="1" dirty="0">
                <a:latin typeface="Calibri,Bold"/>
              </a:rPr>
              <a:t>, username, </a:t>
            </a:r>
            <a:r>
              <a:rPr lang="en-IN" sz="1800" b="1" dirty="0" err="1">
                <a:latin typeface="Calibri,Bold"/>
              </a:rPr>
              <a:t>pwd</a:t>
            </a:r>
            <a:r>
              <a:rPr lang="en-IN" sz="1800" b="1" dirty="0">
                <a:latin typeface="Calibri,Bold"/>
              </a:rPr>
              <a:t>); </a:t>
            </a:r>
          </a:p>
          <a:p>
            <a:endParaRPr lang="en-US" dirty="0"/>
          </a:p>
        </p:txBody>
      </p:sp>
    </p:spTree>
    <p:extLst>
      <p:ext uri="{BB962C8B-B14F-4D97-AF65-F5344CB8AC3E}">
        <p14:creationId xmlns:p14="http://schemas.microsoft.com/office/powerpoint/2010/main" val="4452854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12DEC-B974-B98C-4B07-F244F333BFD3}"/>
              </a:ext>
            </a:extLst>
          </p:cNvPr>
          <p:cNvSpPr>
            <a:spLocks noGrp="1"/>
          </p:cNvSpPr>
          <p:nvPr>
            <p:ph type="title"/>
          </p:nvPr>
        </p:nvSpPr>
        <p:spPr/>
        <p:txBody>
          <a:bodyPr/>
          <a:lstStyle/>
          <a:p>
            <a:r>
              <a:rPr lang="en-IN" sz="4400" dirty="0">
                <a:effectLst/>
                <a:latin typeface="Calibri,Bold"/>
              </a:rPr>
              <a:t>Database Driver</a:t>
            </a:r>
            <a:endParaRPr lang="en-US" dirty="0"/>
          </a:p>
        </p:txBody>
      </p:sp>
      <p:sp>
        <p:nvSpPr>
          <p:cNvPr id="3" name="Content Placeholder 2">
            <a:extLst>
              <a:ext uri="{FF2B5EF4-FFF2-40B4-BE49-F238E27FC236}">
                <a16:creationId xmlns:a16="http://schemas.microsoft.com/office/drawing/2014/main" id="{514BDC7E-016F-89D6-BDB7-9C572116E98B}"/>
              </a:ext>
            </a:extLst>
          </p:cNvPr>
          <p:cNvSpPr>
            <a:spLocks noGrp="1"/>
          </p:cNvSpPr>
          <p:nvPr>
            <p:ph idx="1"/>
          </p:nvPr>
        </p:nvSpPr>
        <p:spPr/>
        <p:txBody>
          <a:bodyPr>
            <a:normAutofit/>
          </a:bodyPr>
          <a:lstStyle/>
          <a:p>
            <a:pPr>
              <a:buFont typeface="+mj-lt"/>
              <a:buAutoNum type="arabicPeriod"/>
            </a:pPr>
            <a:r>
              <a:rPr lang="en-IN" sz="2400" dirty="0">
                <a:effectLst/>
                <a:latin typeface="Calibri,Bold"/>
              </a:rPr>
              <a:t>Without Driver Software we cannot touch Database. </a:t>
            </a:r>
          </a:p>
          <a:p>
            <a:pPr>
              <a:buFont typeface="+mj-lt"/>
              <a:buAutoNum type="arabicPeriod"/>
            </a:pPr>
            <a:r>
              <a:rPr lang="en-IN" sz="2400" dirty="0">
                <a:effectLst/>
                <a:latin typeface="Calibri,Bold"/>
              </a:rPr>
              <a:t>It </a:t>
            </a:r>
            <a:r>
              <a:rPr lang="en-IN" sz="2400" b="1" dirty="0">
                <a:effectLst/>
                <a:latin typeface="Calibri,Bold"/>
              </a:rPr>
              <a:t>acts as Bridge</a:t>
            </a:r>
            <a:r>
              <a:rPr lang="en-IN" sz="2400" dirty="0">
                <a:effectLst/>
                <a:latin typeface="Calibri,Bold"/>
              </a:rPr>
              <a:t> between Java Application and Database. </a:t>
            </a:r>
          </a:p>
          <a:p>
            <a:pPr>
              <a:buFont typeface="+mj-lt"/>
              <a:buAutoNum type="arabicPeriod"/>
            </a:pPr>
            <a:r>
              <a:rPr lang="en-IN" sz="2400" dirty="0">
                <a:effectLst/>
                <a:latin typeface="Calibri,Bold"/>
              </a:rPr>
              <a:t>It is responsible to </a:t>
            </a:r>
            <a:r>
              <a:rPr lang="en-IN" sz="2400" b="1" dirty="0">
                <a:effectLst/>
                <a:latin typeface="Calibri,Bold"/>
              </a:rPr>
              <a:t>convert</a:t>
            </a:r>
            <a:r>
              <a:rPr lang="en-IN" sz="2400" dirty="0">
                <a:effectLst/>
                <a:latin typeface="Calibri,Bold"/>
              </a:rPr>
              <a:t> Java Calls into Database specific Calls and Database specific Calls into Java Calls. </a:t>
            </a:r>
          </a:p>
          <a:p>
            <a:pPr>
              <a:buFont typeface="+mj-lt"/>
              <a:buAutoNum type="arabicPeriod"/>
            </a:pPr>
            <a:endParaRPr lang="en-IN" sz="2400" dirty="0">
              <a:effectLst/>
              <a:latin typeface="Calibri,Bold"/>
            </a:endParaRPr>
          </a:p>
          <a:p>
            <a:pPr marL="0" indent="0">
              <a:buNone/>
            </a:pPr>
            <a:r>
              <a:rPr lang="en-IN" sz="2400" dirty="0">
                <a:latin typeface="Calibri,Bold"/>
              </a:rPr>
              <a:t>Note:</a:t>
            </a:r>
            <a:endParaRPr lang="en-IN" sz="2400" dirty="0">
              <a:effectLst/>
              <a:latin typeface="Calibri,Bold"/>
            </a:endParaRPr>
          </a:p>
          <a:p>
            <a:pPr marL="342900" indent="-342900">
              <a:buAutoNum type="arabicParenR"/>
            </a:pPr>
            <a:r>
              <a:rPr lang="en-IN" sz="1800" dirty="0">
                <a:effectLst/>
                <a:latin typeface="Calibri,Bold"/>
              </a:rPr>
              <a:t>Java Application is Database Independent but Driver Software is Database Dependent. </a:t>
            </a:r>
          </a:p>
          <a:p>
            <a:pPr marL="0" indent="0">
              <a:buNone/>
            </a:pPr>
            <a:r>
              <a:rPr lang="en-IN" sz="1800" dirty="0">
                <a:latin typeface="Calibri,Bold"/>
              </a:rPr>
              <a:t>        </a:t>
            </a:r>
            <a:r>
              <a:rPr lang="en-IN" sz="1800" dirty="0">
                <a:effectLst/>
                <a:latin typeface="Calibri,Bold"/>
              </a:rPr>
              <a:t>Because of Driver Software only Java Application will become Database Independent. </a:t>
            </a:r>
            <a:endParaRPr lang="en-IN" sz="3200" dirty="0">
              <a:effectLst/>
            </a:endParaRPr>
          </a:p>
          <a:p>
            <a:pPr marL="0" indent="0">
              <a:buNone/>
            </a:pPr>
            <a:r>
              <a:rPr lang="en-IN" sz="1800" dirty="0">
                <a:effectLst/>
                <a:latin typeface="Calibri,Bold"/>
              </a:rPr>
              <a:t>2)  Java Application is Platform Independent but JVM is Platform Dependent. </a:t>
            </a:r>
          </a:p>
          <a:p>
            <a:pPr marL="0" indent="0">
              <a:buNone/>
            </a:pPr>
            <a:r>
              <a:rPr lang="en-IN" sz="1800" dirty="0">
                <a:latin typeface="Calibri,Bold"/>
              </a:rPr>
              <a:t>       </a:t>
            </a:r>
            <a:r>
              <a:rPr lang="en-IN" sz="1800" dirty="0">
                <a:effectLst/>
                <a:latin typeface="Calibri,Bold"/>
              </a:rPr>
              <a:t>Because of JVM only Java Application will become Platform Independent. </a:t>
            </a:r>
            <a:endParaRPr lang="en-IN" sz="3200" dirty="0">
              <a:effectLst/>
            </a:endParaRPr>
          </a:p>
          <a:p>
            <a:pPr>
              <a:buFont typeface="+mj-lt"/>
              <a:buAutoNum type="arabicPeriod"/>
            </a:pPr>
            <a:endParaRPr lang="en-US" sz="4400" dirty="0"/>
          </a:p>
        </p:txBody>
      </p:sp>
    </p:spTree>
    <p:extLst>
      <p:ext uri="{BB962C8B-B14F-4D97-AF65-F5344CB8AC3E}">
        <p14:creationId xmlns:p14="http://schemas.microsoft.com/office/powerpoint/2010/main" val="22442326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ABBBF-9703-CA0F-D42B-CC7D345E42D3}"/>
              </a:ext>
            </a:extLst>
          </p:cNvPr>
          <p:cNvSpPr>
            <a:spLocks noGrp="1"/>
          </p:cNvSpPr>
          <p:nvPr>
            <p:ph type="title"/>
          </p:nvPr>
        </p:nvSpPr>
        <p:spPr/>
        <p:txBody>
          <a:bodyPr/>
          <a:lstStyle/>
          <a:p>
            <a:r>
              <a:rPr lang="en-US" dirty="0"/>
              <a:t>JDBC API</a:t>
            </a:r>
          </a:p>
        </p:txBody>
      </p:sp>
      <p:sp>
        <p:nvSpPr>
          <p:cNvPr id="3" name="Content Placeholder 2">
            <a:extLst>
              <a:ext uri="{FF2B5EF4-FFF2-40B4-BE49-F238E27FC236}">
                <a16:creationId xmlns:a16="http://schemas.microsoft.com/office/drawing/2014/main" id="{4AFE51B1-B5F5-C01D-E88B-FB75DFAEB5A5}"/>
              </a:ext>
            </a:extLst>
          </p:cNvPr>
          <p:cNvSpPr>
            <a:spLocks noGrp="1"/>
          </p:cNvSpPr>
          <p:nvPr>
            <p:ph idx="1"/>
          </p:nvPr>
        </p:nvSpPr>
        <p:spPr/>
        <p:txBody>
          <a:bodyPr/>
          <a:lstStyle/>
          <a:p>
            <a:pPr>
              <a:buFont typeface="Arial" panose="020B0604020202020204" pitchFamily="34" charset="0"/>
              <a:buChar char="•"/>
            </a:pPr>
            <a:r>
              <a:rPr lang="en-IN" sz="1800" dirty="0">
                <a:effectLst/>
                <a:latin typeface="Calibri,Bold"/>
              </a:rPr>
              <a:t>JDBC API provides several Classes and Interfaces. </a:t>
            </a:r>
            <a:endParaRPr lang="en-IN" dirty="0">
              <a:effectLst/>
            </a:endParaRPr>
          </a:p>
          <a:p>
            <a:pPr>
              <a:buFont typeface="Arial" panose="020B0604020202020204" pitchFamily="34" charset="0"/>
              <a:buChar char="•"/>
            </a:pPr>
            <a:r>
              <a:rPr lang="en-IN" sz="1800" dirty="0">
                <a:effectLst/>
                <a:latin typeface="Calibri,Bold"/>
              </a:rPr>
              <a:t>Programmer can use these Classes and Interfaces to communicate with the Database. </a:t>
            </a:r>
            <a:endParaRPr lang="en-IN" dirty="0">
              <a:effectLst/>
            </a:endParaRPr>
          </a:p>
          <a:p>
            <a:pPr>
              <a:buFont typeface="Arial" panose="020B0604020202020204" pitchFamily="34" charset="0"/>
              <a:buChar char="•"/>
            </a:pPr>
            <a:r>
              <a:rPr lang="en-IN" sz="1800" dirty="0">
                <a:effectLst/>
                <a:latin typeface="Calibri,Bold"/>
              </a:rPr>
              <a:t>Driver Software Vendor can use JDBC API while developing Driver Software. </a:t>
            </a:r>
            <a:endParaRPr lang="en-IN" dirty="0">
              <a:effectLst/>
            </a:endParaRPr>
          </a:p>
          <a:p>
            <a:pPr>
              <a:buFont typeface="Arial" panose="020B0604020202020204" pitchFamily="34" charset="0"/>
              <a:buChar char="•"/>
            </a:pPr>
            <a:r>
              <a:rPr lang="en-IN" sz="1800" dirty="0">
                <a:effectLst/>
                <a:latin typeface="Calibri,Bold"/>
              </a:rPr>
              <a:t>JDBC API defines 2 Packages </a:t>
            </a:r>
            <a:endParaRPr lang="en-IN" dirty="0">
              <a:effectLst/>
            </a:endParaRPr>
          </a:p>
          <a:p>
            <a:pPr marL="342900" indent="-342900">
              <a:buFont typeface="+mj-lt"/>
              <a:buAutoNum type="arabicPeriod"/>
            </a:pPr>
            <a:r>
              <a:rPr lang="en-IN" sz="1800" dirty="0" err="1">
                <a:effectLst/>
                <a:latin typeface="Calibri,Bold"/>
              </a:rPr>
              <a:t>java.sql</a:t>
            </a:r>
            <a:r>
              <a:rPr lang="en-IN" sz="1800" dirty="0">
                <a:effectLst/>
                <a:latin typeface="Calibri,Bold"/>
              </a:rPr>
              <a:t> Package</a:t>
            </a:r>
          </a:p>
          <a:p>
            <a:pPr marL="342900" indent="-342900">
              <a:buFont typeface="+mj-lt"/>
              <a:buAutoNum type="arabicPeriod"/>
            </a:pPr>
            <a:r>
              <a:rPr lang="en-IN" sz="1800" dirty="0" err="1">
                <a:effectLst/>
                <a:latin typeface="Calibri,Bold"/>
              </a:rPr>
              <a:t>javax.sql</a:t>
            </a:r>
            <a:r>
              <a:rPr lang="en-IN" sz="1800" dirty="0">
                <a:effectLst/>
                <a:latin typeface="Calibri,Bold"/>
              </a:rPr>
              <a:t> Package</a:t>
            </a:r>
            <a:endParaRPr lang="en-IN" dirty="0"/>
          </a:p>
          <a:p>
            <a:endParaRPr lang="en-IN" dirty="0"/>
          </a:p>
          <a:p>
            <a:endParaRPr lang="en-US" dirty="0"/>
          </a:p>
        </p:txBody>
      </p:sp>
    </p:spTree>
    <p:extLst>
      <p:ext uri="{BB962C8B-B14F-4D97-AF65-F5344CB8AC3E}">
        <p14:creationId xmlns:p14="http://schemas.microsoft.com/office/powerpoint/2010/main" val="31271913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F0BEA-6E15-082B-E0FC-4652EA3BB997}"/>
              </a:ext>
            </a:extLst>
          </p:cNvPr>
          <p:cNvSpPr>
            <a:spLocks noGrp="1"/>
          </p:cNvSpPr>
          <p:nvPr>
            <p:ph type="title"/>
          </p:nvPr>
        </p:nvSpPr>
        <p:spPr/>
        <p:txBody>
          <a:bodyPr/>
          <a:lstStyle/>
          <a:p>
            <a:r>
              <a:rPr lang="en-US" dirty="0"/>
              <a:t>1. </a:t>
            </a:r>
            <a:r>
              <a:rPr lang="en-US" dirty="0" err="1"/>
              <a:t>java.sql</a:t>
            </a:r>
            <a:r>
              <a:rPr lang="en-US" dirty="0"/>
              <a:t> package</a:t>
            </a:r>
          </a:p>
        </p:txBody>
      </p:sp>
      <p:sp>
        <p:nvSpPr>
          <p:cNvPr id="3" name="Content Placeholder 2">
            <a:extLst>
              <a:ext uri="{FF2B5EF4-FFF2-40B4-BE49-F238E27FC236}">
                <a16:creationId xmlns:a16="http://schemas.microsoft.com/office/drawing/2014/main" id="{83AF16E6-B20B-22E9-4B22-2C3CB146672B}"/>
              </a:ext>
            </a:extLst>
          </p:cNvPr>
          <p:cNvSpPr>
            <a:spLocks noGrp="1"/>
          </p:cNvSpPr>
          <p:nvPr>
            <p:ph idx="1"/>
          </p:nvPr>
        </p:nvSpPr>
        <p:spPr/>
        <p:txBody>
          <a:bodyPr/>
          <a:lstStyle/>
          <a:p>
            <a:r>
              <a:rPr lang="en-IN" sz="1800" dirty="0">
                <a:effectLst/>
                <a:latin typeface="Calibri,Bold"/>
              </a:rPr>
              <a:t>It contains basic Classes and Interfaces which can be used for Database Communication. </a:t>
            </a:r>
            <a:endParaRPr lang="en-IN" dirty="0"/>
          </a:p>
          <a:p>
            <a:endParaRPr lang="en-US" dirty="0"/>
          </a:p>
        </p:txBody>
      </p:sp>
      <p:graphicFrame>
        <p:nvGraphicFramePr>
          <p:cNvPr id="4" name="Table 3">
            <a:extLst>
              <a:ext uri="{FF2B5EF4-FFF2-40B4-BE49-F238E27FC236}">
                <a16:creationId xmlns:a16="http://schemas.microsoft.com/office/drawing/2014/main" id="{BD0B576A-88DE-8D88-BCAC-3076FD97BFCF}"/>
              </a:ext>
            </a:extLst>
          </p:cNvPr>
          <p:cNvGraphicFramePr>
            <a:graphicFrameLocks noGrp="1"/>
          </p:cNvGraphicFramePr>
          <p:nvPr>
            <p:extLst>
              <p:ext uri="{D42A27DB-BD31-4B8C-83A1-F6EECF244321}">
                <p14:modId xmlns:p14="http://schemas.microsoft.com/office/powerpoint/2010/main" val="820420880"/>
              </p:ext>
            </p:extLst>
          </p:nvPr>
        </p:nvGraphicFramePr>
        <p:xfrm>
          <a:off x="1153226" y="2332514"/>
          <a:ext cx="8128000" cy="33375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855155134"/>
                    </a:ext>
                  </a:extLst>
                </a:gridCol>
                <a:gridCol w="4064000">
                  <a:extLst>
                    <a:ext uri="{9D8B030D-6E8A-4147-A177-3AD203B41FA5}">
                      <a16:colId xmlns:a16="http://schemas.microsoft.com/office/drawing/2014/main" val="1135679926"/>
                    </a:ext>
                  </a:extLst>
                </a:gridCol>
              </a:tblGrid>
              <a:tr h="370840">
                <a:tc>
                  <a:txBody>
                    <a:bodyPr/>
                    <a:lstStyle/>
                    <a:p>
                      <a:r>
                        <a:rPr lang="en-US" dirty="0"/>
                        <a:t>Interfaces</a:t>
                      </a:r>
                    </a:p>
                  </a:txBody>
                  <a:tcPr/>
                </a:tc>
                <a:tc>
                  <a:txBody>
                    <a:bodyPr/>
                    <a:lstStyle/>
                    <a:p>
                      <a:r>
                        <a:rPr lang="en-US" dirty="0"/>
                        <a:t>Classes</a:t>
                      </a:r>
                    </a:p>
                  </a:txBody>
                  <a:tcPr/>
                </a:tc>
                <a:extLst>
                  <a:ext uri="{0D108BD9-81ED-4DB2-BD59-A6C34878D82A}">
                    <a16:rowId xmlns:a16="http://schemas.microsoft.com/office/drawing/2014/main" val="3730314603"/>
                  </a:ext>
                </a:extLst>
              </a:tr>
              <a:tr h="370840">
                <a:tc>
                  <a:txBody>
                    <a:bodyPr/>
                    <a:lstStyle/>
                    <a:p>
                      <a:r>
                        <a:rPr lang="en-US" dirty="0"/>
                        <a:t>Driver</a:t>
                      </a:r>
                    </a:p>
                  </a:txBody>
                  <a:tcPr/>
                </a:tc>
                <a:tc>
                  <a:txBody>
                    <a:bodyPr/>
                    <a:lstStyle/>
                    <a:p>
                      <a:r>
                        <a:rPr lang="en-US" dirty="0" err="1"/>
                        <a:t>DriverManager</a:t>
                      </a:r>
                      <a:endParaRPr lang="en-US" dirty="0"/>
                    </a:p>
                  </a:txBody>
                  <a:tcPr/>
                </a:tc>
                <a:extLst>
                  <a:ext uri="{0D108BD9-81ED-4DB2-BD59-A6C34878D82A}">
                    <a16:rowId xmlns:a16="http://schemas.microsoft.com/office/drawing/2014/main" val="3481542110"/>
                  </a:ext>
                </a:extLst>
              </a:tr>
              <a:tr h="370840">
                <a:tc>
                  <a:txBody>
                    <a:bodyPr/>
                    <a:lstStyle/>
                    <a:p>
                      <a:r>
                        <a:rPr lang="en-US" dirty="0"/>
                        <a:t>Connection</a:t>
                      </a:r>
                    </a:p>
                  </a:txBody>
                  <a:tcPr/>
                </a:tc>
                <a:tc>
                  <a:txBody>
                    <a:bodyPr/>
                    <a:lstStyle/>
                    <a:p>
                      <a:r>
                        <a:rPr lang="en-US" dirty="0"/>
                        <a:t>Date</a:t>
                      </a:r>
                    </a:p>
                  </a:txBody>
                  <a:tcPr/>
                </a:tc>
                <a:extLst>
                  <a:ext uri="{0D108BD9-81ED-4DB2-BD59-A6C34878D82A}">
                    <a16:rowId xmlns:a16="http://schemas.microsoft.com/office/drawing/2014/main" val="3455566799"/>
                  </a:ext>
                </a:extLst>
              </a:tr>
              <a:tr h="370840">
                <a:tc>
                  <a:txBody>
                    <a:bodyPr/>
                    <a:lstStyle/>
                    <a:p>
                      <a:r>
                        <a:rPr lang="en-US" dirty="0"/>
                        <a:t>Statement</a:t>
                      </a:r>
                    </a:p>
                  </a:txBody>
                  <a:tcPr/>
                </a:tc>
                <a:tc>
                  <a:txBody>
                    <a:bodyPr/>
                    <a:lstStyle/>
                    <a:p>
                      <a:r>
                        <a:rPr lang="en-US" dirty="0"/>
                        <a:t>Time</a:t>
                      </a:r>
                    </a:p>
                  </a:txBody>
                  <a:tcPr/>
                </a:tc>
                <a:extLst>
                  <a:ext uri="{0D108BD9-81ED-4DB2-BD59-A6C34878D82A}">
                    <a16:rowId xmlns:a16="http://schemas.microsoft.com/office/drawing/2014/main" val="2371605350"/>
                  </a:ext>
                </a:extLst>
              </a:tr>
              <a:tr h="370840">
                <a:tc>
                  <a:txBody>
                    <a:bodyPr/>
                    <a:lstStyle/>
                    <a:p>
                      <a:r>
                        <a:rPr lang="en-US" dirty="0" err="1"/>
                        <a:t>PreparedStatement</a:t>
                      </a:r>
                      <a:endParaRPr lang="en-US" dirty="0"/>
                    </a:p>
                  </a:txBody>
                  <a:tcPr/>
                </a:tc>
                <a:tc>
                  <a:txBody>
                    <a:bodyPr/>
                    <a:lstStyle/>
                    <a:p>
                      <a:r>
                        <a:rPr lang="en-US" dirty="0"/>
                        <a:t>Timestamp</a:t>
                      </a:r>
                    </a:p>
                  </a:txBody>
                  <a:tcPr/>
                </a:tc>
                <a:extLst>
                  <a:ext uri="{0D108BD9-81ED-4DB2-BD59-A6C34878D82A}">
                    <a16:rowId xmlns:a16="http://schemas.microsoft.com/office/drawing/2014/main" val="1136128253"/>
                  </a:ext>
                </a:extLst>
              </a:tr>
              <a:tr h="370840">
                <a:tc>
                  <a:txBody>
                    <a:bodyPr/>
                    <a:lstStyle/>
                    <a:p>
                      <a:r>
                        <a:rPr lang="en-US" dirty="0" err="1"/>
                        <a:t>CallableStatement</a:t>
                      </a:r>
                      <a:endParaRPr lang="en-US" dirty="0"/>
                    </a:p>
                  </a:txBody>
                  <a:tcPr/>
                </a:tc>
                <a:tc>
                  <a:txBody>
                    <a:bodyPr/>
                    <a:lstStyle/>
                    <a:p>
                      <a:r>
                        <a:rPr lang="en-US" dirty="0"/>
                        <a:t>Types</a:t>
                      </a:r>
                    </a:p>
                  </a:txBody>
                  <a:tcPr/>
                </a:tc>
                <a:extLst>
                  <a:ext uri="{0D108BD9-81ED-4DB2-BD59-A6C34878D82A}">
                    <a16:rowId xmlns:a16="http://schemas.microsoft.com/office/drawing/2014/main" val="3091243485"/>
                  </a:ext>
                </a:extLst>
              </a:tr>
              <a:tr h="370840">
                <a:tc>
                  <a:txBody>
                    <a:bodyPr/>
                    <a:lstStyle/>
                    <a:p>
                      <a:r>
                        <a:rPr lang="en-US" dirty="0" err="1"/>
                        <a:t>ResultSet</a:t>
                      </a:r>
                      <a:endParaRPr lang="en-US" dirty="0"/>
                    </a:p>
                  </a:txBody>
                  <a:tcPr/>
                </a:tc>
                <a:tc>
                  <a:txBody>
                    <a:bodyPr/>
                    <a:lstStyle/>
                    <a:p>
                      <a:endParaRPr lang="en-US"/>
                    </a:p>
                  </a:txBody>
                  <a:tcPr/>
                </a:tc>
                <a:extLst>
                  <a:ext uri="{0D108BD9-81ED-4DB2-BD59-A6C34878D82A}">
                    <a16:rowId xmlns:a16="http://schemas.microsoft.com/office/drawing/2014/main" val="1590996072"/>
                  </a:ext>
                </a:extLst>
              </a:tr>
              <a:tr h="370840">
                <a:tc>
                  <a:txBody>
                    <a:bodyPr/>
                    <a:lstStyle/>
                    <a:p>
                      <a:r>
                        <a:rPr lang="en-US" dirty="0" err="1"/>
                        <a:t>ResultSetMetaData</a:t>
                      </a:r>
                      <a:endParaRPr lang="en-US" dirty="0"/>
                    </a:p>
                  </a:txBody>
                  <a:tcPr/>
                </a:tc>
                <a:tc>
                  <a:txBody>
                    <a:bodyPr/>
                    <a:lstStyle/>
                    <a:p>
                      <a:endParaRPr lang="en-US"/>
                    </a:p>
                  </a:txBody>
                  <a:tcPr/>
                </a:tc>
                <a:extLst>
                  <a:ext uri="{0D108BD9-81ED-4DB2-BD59-A6C34878D82A}">
                    <a16:rowId xmlns:a16="http://schemas.microsoft.com/office/drawing/2014/main" val="3193852168"/>
                  </a:ext>
                </a:extLst>
              </a:tr>
              <a:tr h="370840">
                <a:tc>
                  <a:txBody>
                    <a:bodyPr/>
                    <a:lstStyle/>
                    <a:p>
                      <a:r>
                        <a:rPr lang="en-US" dirty="0" err="1"/>
                        <a:t>DataBaseMetaData</a:t>
                      </a:r>
                      <a:endParaRPr lang="en-US" dirty="0"/>
                    </a:p>
                  </a:txBody>
                  <a:tcPr/>
                </a:tc>
                <a:tc>
                  <a:txBody>
                    <a:bodyPr/>
                    <a:lstStyle/>
                    <a:p>
                      <a:endParaRPr lang="en-US" dirty="0"/>
                    </a:p>
                  </a:txBody>
                  <a:tcPr/>
                </a:tc>
                <a:extLst>
                  <a:ext uri="{0D108BD9-81ED-4DB2-BD59-A6C34878D82A}">
                    <a16:rowId xmlns:a16="http://schemas.microsoft.com/office/drawing/2014/main" val="589527580"/>
                  </a:ext>
                </a:extLst>
              </a:tr>
            </a:tbl>
          </a:graphicData>
        </a:graphic>
      </p:graphicFrame>
    </p:spTree>
    <p:extLst>
      <p:ext uri="{BB962C8B-B14F-4D97-AF65-F5344CB8AC3E}">
        <p14:creationId xmlns:p14="http://schemas.microsoft.com/office/powerpoint/2010/main" val="40771528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8C649-73C9-39CF-6C5B-5B294D74955D}"/>
              </a:ext>
            </a:extLst>
          </p:cNvPr>
          <p:cNvSpPr>
            <a:spLocks noGrp="1"/>
          </p:cNvSpPr>
          <p:nvPr>
            <p:ph type="title"/>
          </p:nvPr>
        </p:nvSpPr>
        <p:spPr/>
        <p:txBody>
          <a:bodyPr/>
          <a:lstStyle/>
          <a:p>
            <a:r>
              <a:rPr lang="en-US" dirty="0"/>
              <a:t>2. </a:t>
            </a:r>
            <a:r>
              <a:rPr lang="en-US" dirty="0" err="1"/>
              <a:t>javax.sql</a:t>
            </a:r>
            <a:r>
              <a:rPr lang="en-US" dirty="0"/>
              <a:t> package</a:t>
            </a:r>
          </a:p>
        </p:txBody>
      </p:sp>
      <p:sp>
        <p:nvSpPr>
          <p:cNvPr id="3" name="Content Placeholder 2">
            <a:extLst>
              <a:ext uri="{FF2B5EF4-FFF2-40B4-BE49-F238E27FC236}">
                <a16:creationId xmlns:a16="http://schemas.microsoft.com/office/drawing/2014/main" id="{32E38C3A-8B98-09F9-0896-3278E1BDEFFF}"/>
              </a:ext>
            </a:extLst>
          </p:cNvPr>
          <p:cNvSpPr>
            <a:spLocks noGrp="1"/>
          </p:cNvSpPr>
          <p:nvPr>
            <p:ph idx="1"/>
          </p:nvPr>
        </p:nvSpPr>
        <p:spPr/>
        <p:txBody>
          <a:bodyPr/>
          <a:lstStyle/>
          <a:p>
            <a:r>
              <a:rPr lang="en-IN" sz="1800" dirty="0">
                <a:effectLst/>
                <a:latin typeface="Calibri,Bold"/>
              </a:rPr>
              <a:t>It defines more advanced Classes and Interfaces which can be used for Database Communication. </a:t>
            </a:r>
            <a:endParaRPr lang="en-IN" dirty="0"/>
          </a:p>
          <a:p>
            <a:r>
              <a:rPr lang="en-IN" sz="1800" dirty="0">
                <a:effectLst/>
                <a:latin typeface="Calibri,Bold"/>
              </a:rPr>
              <a:t>There are multiple Sub Packages available </a:t>
            </a:r>
            <a:endParaRPr lang="en-IN" dirty="0"/>
          </a:p>
          <a:p>
            <a:pPr marL="800100" lvl="1" indent="-342900">
              <a:buFont typeface="+mj-lt"/>
              <a:buAutoNum type="arabicPeriod"/>
            </a:pPr>
            <a:r>
              <a:rPr lang="en-IN" sz="1400" dirty="0" err="1">
                <a:effectLst/>
                <a:latin typeface="Calibri,Bold"/>
              </a:rPr>
              <a:t>javax.sql.rowset</a:t>
            </a:r>
            <a:r>
              <a:rPr lang="en-IN" sz="1400" dirty="0">
                <a:effectLst/>
                <a:latin typeface="Calibri,Bold"/>
              </a:rPr>
              <a:t>;</a:t>
            </a:r>
            <a:endParaRPr lang="en-IN" sz="1400" dirty="0">
              <a:latin typeface="Calibri,Bold"/>
            </a:endParaRPr>
          </a:p>
          <a:p>
            <a:pPr marL="800100" lvl="1" indent="-342900">
              <a:buFont typeface="+mj-lt"/>
              <a:buAutoNum type="arabicPeriod"/>
            </a:pPr>
            <a:r>
              <a:rPr lang="en-IN" sz="1400" dirty="0" err="1">
                <a:effectLst/>
                <a:latin typeface="Calibri,Bold"/>
              </a:rPr>
              <a:t>javax.sql.rowset.serial</a:t>
            </a:r>
            <a:r>
              <a:rPr lang="en-IN" sz="1400" dirty="0">
                <a:effectLst/>
                <a:latin typeface="Calibri,Bold"/>
              </a:rPr>
              <a:t>; </a:t>
            </a:r>
            <a:endParaRPr lang="en-IN" sz="1400" dirty="0">
              <a:latin typeface="Symbol" pitchFamily="2" charset="2"/>
            </a:endParaRPr>
          </a:p>
          <a:p>
            <a:pPr marL="800100" lvl="1" indent="-342900">
              <a:buFont typeface="+mj-lt"/>
              <a:buAutoNum type="arabicPeriod"/>
            </a:pPr>
            <a:r>
              <a:rPr lang="en-IN" sz="1400" dirty="0" err="1">
                <a:effectLst/>
                <a:latin typeface="Calibri,Bold"/>
              </a:rPr>
              <a:t>javax.sql.rowset.spi</a:t>
            </a:r>
            <a:r>
              <a:rPr lang="en-IN" sz="1400" dirty="0">
                <a:effectLst/>
                <a:latin typeface="Calibri,Bold"/>
              </a:rPr>
              <a:t>; </a:t>
            </a:r>
            <a:endParaRPr lang="en-IN" dirty="0"/>
          </a:p>
          <a:p>
            <a:pPr>
              <a:buFont typeface="Arial" panose="020B0604020202020204" pitchFamily="34" charset="0"/>
              <a:buChar char="•"/>
            </a:pPr>
            <a:r>
              <a:rPr lang="en-IN" sz="1800" dirty="0">
                <a:effectLst/>
                <a:latin typeface="Calibri,Bold"/>
              </a:rPr>
              <a:t>Programmers are not responsible to provide Implementation for JDBC API Interfaces. </a:t>
            </a:r>
            <a:endParaRPr lang="en-IN" dirty="0">
              <a:effectLst/>
            </a:endParaRPr>
          </a:p>
          <a:p>
            <a:pPr>
              <a:buFont typeface="Arial" panose="020B0604020202020204" pitchFamily="34" charset="0"/>
              <a:buChar char="•"/>
            </a:pPr>
            <a:r>
              <a:rPr lang="en-IN" sz="1800" dirty="0">
                <a:effectLst/>
                <a:latin typeface="Calibri,Bold"/>
              </a:rPr>
              <a:t>Most of the times Database Vendor is responsible to provide Implementation as the Part of Driver Software. </a:t>
            </a:r>
            <a:endParaRPr lang="en-IN" dirty="0">
              <a:effectLst/>
            </a:endParaRPr>
          </a:p>
          <a:p>
            <a:pPr>
              <a:buFont typeface="Arial" panose="020B0604020202020204" pitchFamily="34" charset="0"/>
              <a:buChar char="•"/>
            </a:pPr>
            <a:r>
              <a:rPr lang="en-IN" sz="1800" dirty="0">
                <a:effectLst/>
                <a:latin typeface="Calibri,Bold"/>
              </a:rPr>
              <a:t>Every Driver Software is a </a:t>
            </a:r>
            <a:r>
              <a:rPr lang="en-IN" sz="1800" b="1" dirty="0">
                <a:effectLst/>
                <a:latin typeface="Calibri,Bold"/>
              </a:rPr>
              <a:t>Collection of Classes</a:t>
            </a:r>
            <a:r>
              <a:rPr lang="en-IN" sz="1800" dirty="0">
                <a:effectLst/>
                <a:latin typeface="Calibri,Bold"/>
              </a:rPr>
              <a:t> implementing various Interfaces of JDBC API, which can be used to communicate with a particular Database. </a:t>
            </a:r>
            <a:endParaRPr lang="en-IN" dirty="0">
              <a:effectLst/>
            </a:endParaRPr>
          </a:p>
          <a:p>
            <a:endParaRPr lang="en-US" dirty="0"/>
          </a:p>
        </p:txBody>
      </p:sp>
      <p:sp>
        <p:nvSpPr>
          <p:cNvPr id="4" name="Rectangle 3">
            <a:extLst>
              <a:ext uri="{FF2B5EF4-FFF2-40B4-BE49-F238E27FC236}">
                <a16:creationId xmlns:a16="http://schemas.microsoft.com/office/drawing/2014/main" id="{4C523DFC-2DA2-FBDA-8E30-F00E6DF6D34B}"/>
              </a:ext>
            </a:extLst>
          </p:cNvPr>
          <p:cNvSpPr/>
          <p:nvPr/>
        </p:nvSpPr>
        <p:spPr>
          <a:xfrm>
            <a:off x="391886" y="4963886"/>
            <a:ext cx="1864426" cy="14844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Java Application</a:t>
            </a:r>
          </a:p>
        </p:txBody>
      </p:sp>
      <p:sp>
        <p:nvSpPr>
          <p:cNvPr id="5" name="Rectangle 4">
            <a:extLst>
              <a:ext uri="{FF2B5EF4-FFF2-40B4-BE49-F238E27FC236}">
                <a16:creationId xmlns:a16="http://schemas.microsoft.com/office/drawing/2014/main" id="{0682B0DB-3A5B-8F16-CE11-CC0CD84A209F}"/>
              </a:ext>
            </a:extLst>
          </p:cNvPr>
          <p:cNvSpPr/>
          <p:nvPr/>
        </p:nvSpPr>
        <p:spPr>
          <a:xfrm>
            <a:off x="4820392" y="4963885"/>
            <a:ext cx="2551216" cy="14844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an 5">
            <a:extLst>
              <a:ext uri="{FF2B5EF4-FFF2-40B4-BE49-F238E27FC236}">
                <a16:creationId xmlns:a16="http://schemas.microsoft.com/office/drawing/2014/main" id="{BAED85A3-1539-CE25-1C74-42D4B421BE79}"/>
              </a:ext>
            </a:extLst>
          </p:cNvPr>
          <p:cNvSpPr/>
          <p:nvPr/>
        </p:nvSpPr>
        <p:spPr>
          <a:xfrm>
            <a:off x="9702140" y="5035136"/>
            <a:ext cx="1793174" cy="1341911"/>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Database</a:t>
            </a:r>
          </a:p>
        </p:txBody>
      </p:sp>
      <p:sp>
        <p:nvSpPr>
          <p:cNvPr id="7" name="Rectangle 6">
            <a:extLst>
              <a:ext uri="{FF2B5EF4-FFF2-40B4-BE49-F238E27FC236}">
                <a16:creationId xmlns:a16="http://schemas.microsoft.com/office/drawing/2014/main" id="{9729F479-04F7-0808-07D0-5F30DF47EE52}"/>
              </a:ext>
            </a:extLst>
          </p:cNvPr>
          <p:cNvSpPr/>
          <p:nvPr/>
        </p:nvSpPr>
        <p:spPr>
          <a:xfrm>
            <a:off x="5230091" y="5100620"/>
            <a:ext cx="1731818" cy="1211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Driver Software</a:t>
            </a:r>
          </a:p>
        </p:txBody>
      </p:sp>
      <p:cxnSp>
        <p:nvCxnSpPr>
          <p:cNvPr id="9" name="Straight Arrow Connector 8">
            <a:extLst>
              <a:ext uri="{FF2B5EF4-FFF2-40B4-BE49-F238E27FC236}">
                <a16:creationId xmlns:a16="http://schemas.microsoft.com/office/drawing/2014/main" id="{F8CFE5AE-61FE-CEDC-795B-689863AC4DAF}"/>
              </a:ext>
            </a:extLst>
          </p:cNvPr>
          <p:cNvCxnSpPr/>
          <p:nvPr/>
        </p:nvCxnSpPr>
        <p:spPr>
          <a:xfrm>
            <a:off x="2256312" y="5320145"/>
            <a:ext cx="2564080"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F0AD45C-EFC0-A1B2-8D08-27AE4E1BBB18}"/>
              </a:ext>
            </a:extLst>
          </p:cNvPr>
          <p:cNvCxnSpPr>
            <a:cxnSpLocks/>
          </p:cNvCxnSpPr>
          <p:nvPr/>
        </p:nvCxnSpPr>
        <p:spPr>
          <a:xfrm>
            <a:off x="7371608" y="5508171"/>
            <a:ext cx="2330532"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5545F97-4460-AEAB-51F8-E1B4102E03D2}"/>
              </a:ext>
            </a:extLst>
          </p:cNvPr>
          <p:cNvCxnSpPr/>
          <p:nvPr/>
        </p:nvCxnSpPr>
        <p:spPr>
          <a:xfrm>
            <a:off x="2254337" y="5828806"/>
            <a:ext cx="2564080" cy="0"/>
          </a:xfrm>
          <a:prstGeom prst="straightConnector1">
            <a:avLst/>
          </a:prstGeom>
          <a:ln w="63500">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5D48AE6-20BF-8D23-A3B5-909383A292C0}"/>
              </a:ext>
            </a:extLst>
          </p:cNvPr>
          <p:cNvCxnSpPr>
            <a:cxnSpLocks/>
          </p:cNvCxnSpPr>
          <p:nvPr/>
        </p:nvCxnSpPr>
        <p:spPr>
          <a:xfrm>
            <a:off x="7369633" y="6016832"/>
            <a:ext cx="2330532" cy="0"/>
          </a:xfrm>
          <a:prstGeom prst="straightConnector1">
            <a:avLst/>
          </a:prstGeom>
          <a:ln w="63500">
            <a:headEnd type="triangle"/>
            <a:tailEnd type="non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2D5C96C-C073-EEDD-A9CB-1FA76E8040BF}"/>
              </a:ext>
            </a:extLst>
          </p:cNvPr>
          <p:cNvSpPr txBox="1"/>
          <p:nvPr/>
        </p:nvSpPr>
        <p:spPr>
          <a:xfrm>
            <a:off x="3862553" y="6448300"/>
            <a:ext cx="5580992" cy="461665"/>
          </a:xfrm>
          <a:prstGeom prst="rect">
            <a:avLst/>
          </a:prstGeom>
          <a:noFill/>
        </p:spPr>
        <p:txBody>
          <a:bodyPr wrap="square" rtlCol="0">
            <a:spAutoFit/>
          </a:bodyPr>
          <a:lstStyle/>
          <a:p>
            <a:pPr algn="ctr"/>
            <a:r>
              <a:rPr lang="en-US" sz="2400" dirty="0"/>
              <a:t>Implementation Classes of JDBC API</a:t>
            </a:r>
          </a:p>
        </p:txBody>
      </p:sp>
    </p:spTree>
    <p:extLst>
      <p:ext uri="{BB962C8B-B14F-4D97-AF65-F5344CB8AC3E}">
        <p14:creationId xmlns:p14="http://schemas.microsoft.com/office/powerpoint/2010/main" val="21530439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9E916-3F51-8DD1-4D7A-418357C52BD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FA6B3AB-33D8-7424-A329-0F56323B9037}"/>
              </a:ext>
            </a:extLst>
          </p:cNvPr>
          <p:cNvSpPr>
            <a:spLocks noGrp="1"/>
          </p:cNvSpPr>
          <p:nvPr>
            <p:ph idx="1"/>
          </p:nvPr>
        </p:nvSpPr>
        <p:spPr/>
        <p:txBody>
          <a:bodyPr>
            <a:normAutofit/>
          </a:bodyPr>
          <a:lstStyle/>
          <a:p>
            <a:r>
              <a:rPr lang="en-IN" sz="2400" dirty="0">
                <a:effectLst/>
                <a:latin typeface="Calibri,Bold"/>
              </a:rPr>
              <a:t>For Example, Driver Software of Oracle means Collection of Implementation Classes of JDBC API, which can be used to communicate with Oracle Database. </a:t>
            </a:r>
            <a:endParaRPr lang="en-IN" sz="3600" dirty="0">
              <a:effectLst/>
            </a:endParaRPr>
          </a:p>
          <a:p>
            <a:pPr>
              <a:buFont typeface="Arial" panose="020B0604020202020204" pitchFamily="34" charset="0"/>
              <a:buChar char="•"/>
            </a:pPr>
            <a:r>
              <a:rPr lang="en-IN" sz="2400" dirty="0">
                <a:effectLst/>
                <a:latin typeface="Calibri,Bold"/>
              </a:rPr>
              <a:t>Every Driver Software is identified with some Special Class which is nothing but Driver Class. It is the Implementation Class of Driver Interface present in. </a:t>
            </a:r>
            <a:r>
              <a:rPr lang="en-IN" sz="2400" dirty="0" err="1">
                <a:effectLst/>
                <a:latin typeface="Calibri,BoldItalic"/>
              </a:rPr>
              <a:t>java.sql</a:t>
            </a:r>
            <a:r>
              <a:rPr lang="en-IN" sz="2400" dirty="0">
                <a:effectLst/>
                <a:latin typeface="Calibri,BoldItalic"/>
              </a:rPr>
              <a:t> </a:t>
            </a:r>
            <a:r>
              <a:rPr lang="en-IN" sz="2400" dirty="0">
                <a:effectLst/>
                <a:latin typeface="Calibri,Bold"/>
              </a:rPr>
              <a:t>Package. </a:t>
            </a:r>
            <a:endParaRPr lang="en-IN" sz="3600" dirty="0">
              <a:effectLst/>
            </a:endParaRPr>
          </a:p>
          <a:p>
            <a:pPr>
              <a:buFont typeface="Arial" panose="020B0604020202020204" pitchFamily="34" charset="0"/>
              <a:buChar char="•"/>
            </a:pPr>
            <a:r>
              <a:rPr lang="en-IN" sz="2400" dirty="0">
                <a:effectLst/>
                <a:latin typeface="Calibri,Bold"/>
              </a:rPr>
              <a:t>As the Part of JDK, SUN People provided one Built-In Driver Software which implements JDBC API, which is nothing but </a:t>
            </a:r>
            <a:r>
              <a:rPr lang="en-IN" sz="2400" b="1" dirty="0">
                <a:effectLst/>
                <a:latin typeface="Calibri,Bold"/>
              </a:rPr>
              <a:t>Type-1 Driver</a:t>
            </a:r>
            <a:r>
              <a:rPr lang="en-IN" sz="2400" dirty="0">
                <a:effectLst/>
                <a:latin typeface="Calibri,Bold"/>
              </a:rPr>
              <a:t> (</a:t>
            </a:r>
            <a:r>
              <a:rPr lang="en-IN" sz="2400" b="1" dirty="0">
                <a:effectLst/>
                <a:latin typeface="Calibri,Bold"/>
              </a:rPr>
              <a:t>JDBC-ODBC Bridge Driver</a:t>
            </a:r>
            <a:r>
              <a:rPr lang="en-IN" sz="2400" dirty="0">
                <a:effectLst/>
                <a:latin typeface="Calibri,Bold"/>
              </a:rPr>
              <a:t>). </a:t>
            </a:r>
            <a:endParaRPr lang="en-IN" sz="3600" dirty="0">
              <a:effectLst/>
            </a:endParaRPr>
          </a:p>
          <a:p>
            <a:r>
              <a:rPr lang="en-IN" dirty="0" err="1">
                <a:solidFill>
                  <a:schemeClr val="accent1"/>
                </a:solidFill>
                <a:effectLst/>
                <a:latin typeface="Calibri,Bold"/>
              </a:rPr>
              <a:t>sun.jdbc.odbc</a:t>
            </a:r>
            <a:r>
              <a:rPr lang="en-IN" dirty="0">
                <a:effectLst/>
                <a:latin typeface="Calibri,Bold"/>
              </a:rPr>
              <a:t>. </a:t>
            </a:r>
            <a:r>
              <a:rPr lang="en-IN" b="1" dirty="0" err="1">
                <a:effectLst/>
                <a:latin typeface="Calibri,Bold"/>
              </a:rPr>
              <a:t>JdbcOdbcDriver</a:t>
            </a:r>
            <a:r>
              <a:rPr lang="en-IN" dirty="0">
                <a:effectLst/>
                <a:latin typeface="Calibri,Bold"/>
              </a:rPr>
              <a:t> </a:t>
            </a:r>
            <a:endParaRPr lang="en-IN" sz="3600" dirty="0"/>
          </a:p>
          <a:p>
            <a:endParaRPr lang="en-US" sz="3600" dirty="0"/>
          </a:p>
        </p:txBody>
      </p:sp>
    </p:spTree>
    <p:extLst>
      <p:ext uri="{BB962C8B-B14F-4D97-AF65-F5344CB8AC3E}">
        <p14:creationId xmlns:p14="http://schemas.microsoft.com/office/powerpoint/2010/main" val="31168213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E9E01-580E-9D45-2D96-1614A2FE8132}"/>
              </a:ext>
            </a:extLst>
          </p:cNvPr>
          <p:cNvSpPr>
            <a:spLocks noGrp="1"/>
          </p:cNvSpPr>
          <p:nvPr>
            <p:ph type="title"/>
          </p:nvPr>
        </p:nvSpPr>
        <p:spPr/>
        <p:txBody>
          <a:bodyPr>
            <a:normAutofit/>
          </a:bodyPr>
          <a:lstStyle/>
          <a:p>
            <a:r>
              <a:rPr lang="en-IN" sz="4000" dirty="0">
                <a:effectLst/>
                <a:latin typeface="Calibri,Bold"/>
              </a:rPr>
              <a:t>Difference between Driver Interface, Driver Class and Driver Software </a:t>
            </a:r>
            <a:endParaRPr lang="en-US" sz="8000" dirty="0"/>
          </a:p>
        </p:txBody>
      </p:sp>
      <p:sp>
        <p:nvSpPr>
          <p:cNvPr id="3" name="Content Placeholder 2">
            <a:extLst>
              <a:ext uri="{FF2B5EF4-FFF2-40B4-BE49-F238E27FC236}">
                <a16:creationId xmlns:a16="http://schemas.microsoft.com/office/drawing/2014/main" id="{5A42B1AE-EE28-1379-3925-E19F6D42047C}"/>
              </a:ext>
            </a:extLst>
          </p:cNvPr>
          <p:cNvSpPr>
            <a:spLocks noGrp="1"/>
          </p:cNvSpPr>
          <p:nvPr>
            <p:ph idx="1"/>
          </p:nvPr>
        </p:nvSpPr>
        <p:spPr/>
        <p:txBody>
          <a:bodyPr>
            <a:normAutofit fontScale="92500" lnSpcReduction="10000"/>
          </a:bodyPr>
          <a:lstStyle/>
          <a:p>
            <a:pPr marL="0" indent="0">
              <a:buNone/>
            </a:pPr>
            <a:r>
              <a:rPr lang="en-IN" sz="3200" b="1" dirty="0">
                <a:effectLst/>
                <a:latin typeface="Calibri,Bold"/>
              </a:rPr>
              <a:t>Driver Interface: </a:t>
            </a:r>
            <a:endParaRPr lang="en-IN" sz="5400" b="1" dirty="0">
              <a:effectLst/>
            </a:endParaRPr>
          </a:p>
          <a:p>
            <a:pPr marL="0" indent="0">
              <a:buNone/>
            </a:pPr>
            <a:r>
              <a:rPr lang="en-IN" sz="2400" dirty="0">
                <a:effectLst/>
                <a:latin typeface="Calibri,Bold"/>
              </a:rPr>
              <a:t>This Interface present in </a:t>
            </a:r>
            <a:r>
              <a:rPr lang="en-IN" sz="2400" b="1" dirty="0" err="1">
                <a:effectLst/>
                <a:latin typeface="Calibri,BoldItalic"/>
              </a:rPr>
              <a:t>java.sql</a:t>
            </a:r>
            <a:r>
              <a:rPr lang="en-IN" sz="2400" dirty="0">
                <a:effectLst/>
                <a:latin typeface="Calibri,BoldItalic"/>
              </a:rPr>
              <a:t> </a:t>
            </a:r>
            <a:r>
              <a:rPr lang="en-IN" sz="2400" dirty="0">
                <a:effectLst/>
                <a:latin typeface="Calibri,Bold"/>
              </a:rPr>
              <a:t>Package.</a:t>
            </a:r>
            <a:br>
              <a:rPr lang="en-IN" sz="2400" dirty="0">
                <a:effectLst/>
                <a:latin typeface="Calibri,Bold"/>
              </a:rPr>
            </a:br>
            <a:r>
              <a:rPr lang="en-IN" sz="2400" dirty="0">
                <a:effectLst/>
                <a:latin typeface="Calibri,Bold"/>
              </a:rPr>
              <a:t>This Interface acts as Requirement Specification to implement Driver Class. </a:t>
            </a:r>
            <a:endParaRPr lang="en-IN" sz="5400" dirty="0">
              <a:effectLst/>
            </a:endParaRPr>
          </a:p>
          <a:p>
            <a:pPr marL="0" indent="0">
              <a:buNone/>
            </a:pPr>
            <a:r>
              <a:rPr lang="en-IN" sz="3200" b="1" dirty="0">
                <a:effectLst/>
                <a:latin typeface="Calibri,Bold"/>
              </a:rPr>
              <a:t>Driver Class: </a:t>
            </a:r>
            <a:endParaRPr lang="en-IN" sz="5400" b="1" dirty="0">
              <a:effectLst/>
            </a:endParaRPr>
          </a:p>
          <a:p>
            <a:pPr marL="0" indent="0">
              <a:buNone/>
            </a:pPr>
            <a:r>
              <a:rPr lang="en-IN" sz="2400" dirty="0">
                <a:effectLst/>
                <a:latin typeface="Calibri,Bold"/>
              </a:rPr>
              <a:t>It is the </a:t>
            </a:r>
            <a:r>
              <a:rPr lang="en-IN" sz="2400" b="1" dirty="0">
                <a:effectLst/>
                <a:latin typeface="Calibri,Bold"/>
              </a:rPr>
              <a:t>Implementation Class </a:t>
            </a:r>
            <a:r>
              <a:rPr lang="en-IN" sz="2400" dirty="0">
                <a:effectLst/>
                <a:latin typeface="Calibri,Bold"/>
              </a:rPr>
              <a:t>of Driver Interface </a:t>
            </a:r>
            <a:r>
              <a:rPr lang="en-IN" sz="2400" dirty="0" err="1">
                <a:effectLst/>
                <a:latin typeface="Calibri,Bold"/>
              </a:rPr>
              <a:t>Eg</a:t>
            </a:r>
            <a:r>
              <a:rPr lang="en-IN" sz="2400" dirty="0">
                <a:effectLst/>
                <a:latin typeface="Calibri,Bold"/>
              </a:rPr>
              <a:t>: </a:t>
            </a:r>
            <a:r>
              <a:rPr lang="en-IN" sz="2400" dirty="0" err="1">
                <a:effectLst/>
                <a:latin typeface="Calibri,Bold"/>
              </a:rPr>
              <a:t>sun.jdbc.odbc.jdbcodbcdriver</a:t>
            </a:r>
            <a:r>
              <a:rPr lang="en-IN" sz="2400" dirty="0">
                <a:effectLst/>
                <a:latin typeface="Calibri,Bold"/>
              </a:rPr>
              <a:t> </a:t>
            </a:r>
            <a:endParaRPr lang="en-IN" sz="5400" dirty="0">
              <a:effectLst/>
            </a:endParaRPr>
          </a:p>
          <a:p>
            <a:pPr marL="0" indent="0">
              <a:buNone/>
            </a:pPr>
            <a:r>
              <a:rPr lang="en-IN" sz="3200" b="1" dirty="0">
                <a:effectLst/>
                <a:latin typeface="Calibri,Bold"/>
              </a:rPr>
              <a:t>Driver Software: </a:t>
            </a:r>
            <a:endParaRPr lang="en-IN" sz="5400" b="1" dirty="0">
              <a:effectLst/>
            </a:endParaRPr>
          </a:p>
          <a:p>
            <a:pPr marL="457200" lvl="1" indent="0">
              <a:buNone/>
            </a:pPr>
            <a:r>
              <a:rPr lang="en-IN" dirty="0">
                <a:effectLst/>
                <a:latin typeface="Calibri,Bold"/>
              </a:rPr>
              <a:t>It is the </a:t>
            </a:r>
            <a:r>
              <a:rPr lang="en-IN" b="1" dirty="0">
                <a:effectLst/>
                <a:latin typeface="Calibri,Bold"/>
              </a:rPr>
              <a:t>Collection</a:t>
            </a:r>
            <a:r>
              <a:rPr lang="en-IN" dirty="0">
                <a:effectLst/>
                <a:latin typeface="Calibri,Bold"/>
              </a:rPr>
              <a:t> of Implementation Classes of various Interfaces present in JDBC API. </a:t>
            </a:r>
            <a:endParaRPr lang="en-IN" sz="4800" dirty="0">
              <a:effectLst/>
            </a:endParaRPr>
          </a:p>
          <a:p>
            <a:pPr marL="457200" lvl="1" indent="0">
              <a:buNone/>
            </a:pPr>
            <a:r>
              <a:rPr lang="en-IN" dirty="0">
                <a:effectLst/>
                <a:latin typeface="Calibri,Bold"/>
              </a:rPr>
              <a:t>It acts as Bridge between Java Application and Database. </a:t>
            </a:r>
            <a:endParaRPr lang="en-IN" sz="4800" dirty="0">
              <a:effectLst/>
            </a:endParaRPr>
          </a:p>
          <a:p>
            <a:pPr marL="457200" lvl="1" indent="0">
              <a:buNone/>
            </a:pPr>
            <a:r>
              <a:rPr lang="en-IN" dirty="0">
                <a:effectLst/>
                <a:latin typeface="Calibri,Bold"/>
              </a:rPr>
              <a:t>It is responsible to convert Java Calls into Database specific Calls and Database specific Calls </a:t>
            </a:r>
            <a:endParaRPr lang="en-IN" sz="4800" dirty="0">
              <a:effectLst/>
            </a:endParaRPr>
          </a:p>
          <a:p>
            <a:pPr marL="457200" lvl="1" indent="0">
              <a:buNone/>
            </a:pPr>
            <a:r>
              <a:rPr lang="en-IN" dirty="0">
                <a:effectLst/>
                <a:latin typeface="Calibri,Bold"/>
              </a:rPr>
              <a:t>into Java Calls. </a:t>
            </a:r>
            <a:endParaRPr lang="en-IN" sz="4800" dirty="0">
              <a:effectLst/>
            </a:endParaRPr>
          </a:p>
        </p:txBody>
      </p:sp>
    </p:spTree>
    <p:extLst>
      <p:ext uri="{BB962C8B-B14F-4D97-AF65-F5344CB8AC3E}">
        <p14:creationId xmlns:p14="http://schemas.microsoft.com/office/powerpoint/2010/main" val="3302457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B4658-1FBF-3AFF-6A92-CFEBE6D3C10C}"/>
              </a:ext>
            </a:extLst>
          </p:cNvPr>
          <p:cNvSpPr>
            <a:spLocks noGrp="1"/>
          </p:cNvSpPr>
          <p:nvPr>
            <p:ph type="title"/>
          </p:nvPr>
        </p:nvSpPr>
        <p:spPr/>
        <p:txBody>
          <a:bodyPr/>
          <a:lstStyle/>
          <a:p>
            <a:r>
              <a:rPr lang="en-US" dirty="0"/>
              <a:t>Driver jar file</a:t>
            </a:r>
          </a:p>
        </p:txBody>
      </p:sp>
      <p:sp>
        <p:nvSpPr>
          <p:cNvPr id="3" name="Content Placeholder 2">
            <a:extLst>
              <a:ext uri="{FF2B5EF4-FFF2-40B4-BE49-F238E27FC236}">
                <a16:creationId xmlns:a16="http://schemas.microsoft.com/office/drawing/2014/main" id="{70881183-402D-304F-0C19-655540EF1F72}"/>
              </a:ext>
            </a:extLst>
          </p:cNvPr>
          <p:cNvSpPr>
            <a:spLocks noGrp="1"/>
          </p:cNvSpPr>
          <p:nvPr>
            <p:ph idx="1"/>
          </p:nvPr>
        </p:nvSpPr>
        <p:spPr/>
        <p:txBody>
          <a:bodyPr>
            <a:normAutofit/>
          </a:bodyPr>
          <a:lstStyle/>
          <a:p>
            <a:pPr marL="0" indent="0">
              <a:buNone/>
            </a:pPr>
            <a:r>
              <a:rPr lang="en-IN" sz="3200" dirty="0">
                <a:effectLst/>
                <a:latin typeface="Calibri,Bold"/>
              </a:rPr>
              <a:t>Usually Driver </a:t>
            </a:r>
            <a:r>
              <a:rPr lang="en-IN" sz="3200" dirty="0" err="1">
                <a:effectLst/>
                <a:latin typeface="Calibri,Bold"/>
              </a:rPr>
              <a:t>Softwares</a:t>
            </a:r>
            <a:r>
              <a:rPr lang="en-IN" sz="3200" dirty="0">
                <a:effectLst/>
                <a:latin typeface="Calibri,Bold"/>
              </a:rPr>
              <a:t> are available in the Form of jar File. </a:t>
            </a:r>
            <a:r>
              <a:rPr lang="en-IN" sz="3200" dirty="0" err="1">
                <a:effectLst/>
                <a:latin typeface="Calibri,Bold"/>
              </a:rPr>
              <a:t>Eg</a:t>
            </a:r>
            <a:r>
              <a:rPr lang="en-IN" sz="3200" dirty="0">
                <a:effectLst/>
                <a:latin typeface="Calibri,Bold"/>
              </a:rPr>
              <a:t>: </a:t>
            </a:r>
            <a:endParaRPr lang="en-IN" sz="4400" dirty="0">
              <a:effectLst/>
            </a:endParaRPr>
          </a:p>
          <a:p>
            <a:pPr marL="0" indent="0">
              <a:buNone/>
            </a:pPr>
            <a:r>
              <a:rPr lang="en-IN" sz="3200" dirty="0">
                <a:effectLst/>
                <a:latin typeface="Symbol" pitchFamily="2" charset="2"/>
              </a:rPr>
              <a:t> </a:t>
            </a:r>
            <a:r>
              <a:rPr lang="en-IN" sz="3200" dirty="0">
                <a:effectLst/>
                <a:latin typeface="Calibri,Bold"/>
              </a:rPr>
              <a:t>ojdbc14.jar</a:t>
            </a:r>
            <a:br>
              <a:rPr lang="en-IN" sz="3200" dirty="0">
                <a:effectLst/>
                <a:latin typeface="Calibri,Bold"/>
              </a:rPr>
            </a:br>
            <a:r>
              <a:rPr lang="en-IN" sz="3200" dirty="0">
                <a:effectLst/>
                <a:latin typeface="Symbol" pitchFamily="2" charset="2"/>
              </a:rPr>
              <a:t> </a:t>
            </a:r>
            <a:r>
              <a:rPr lang="en-IN" sz="3200" dirty="0">
                <a:effectLst/>
                <a:latin typeface="Calibri,Bold"/>
              </a:rPr>
              <a:t>ojdbc6.jar</a:t>
            </a:r>
            <a:br>
              <a:rPr lang="en-IN" sz="3200" dirty="0">
                <a:effectLst/>
                <a:latin typeface="Calibri,Bold"/>
              </a:rPr>
            </a:br>
            <a:r>
              <a:rPr lang="en-IN" sz="3200" dirty="0">
                <a:effectLst/>
                <a:latin typeface="Symbol" pitchFamily="2" charset="2"/>
              </a:rPr>
              <a:t> </a:t>
            </a:r>
            <a:r>
              <a:rPr lang="en-IN" sz="3200" dirty="0">
                <a:effectLst/>
                <a:latin typeface="Calibri,Bold"/>
              </a:rPr>
              <a:t>ojdbc7.jar</a:t>
            </a:r>
            <a:br>
              <a:rPr lang="en-IN" sz="3200" dirty="0">
                <a:effectLst/>
                <a:latin typeface="Calibri,Bold"/>
              </a:rPr>
            </a:br>
            <a:r>
              <a:rPr lang="en-IN" sz="3200" dirty="0">
                <a:effectLst/>
                <a:latin typeface="Symbol" pitchFamily="2" charset="2"/>
              </a:rPr>
              <a:t> </a:t>
            </a:r>
            <a:r>
              <a:rPr lang="en-IN" sz="3200" dirty="0" err="1">
                <a:effectLst/>
                <a:latin typeface="Calibri,Bold"/>
              </a:rPr>
              <a:t>mysql-connector.jar</a:t>
            </a:r>
            <a:r>
              <a:rPr lang="en-IN" sz="3200" dirty="0">
                <a:effectLst/>
                <a:latin typeface="Calibri,Bold"/>
              </a:rPr>
              <a:t> </a:t>
            </a:r>
            <a:endParaRPr lang="en-IN" sz="4400" dirty="0">
              <a:effectLst/>
            </a:endParaRPr>
          </a:p>
          <a:p>
            <a:pPr marL="0" indent="0">
              <a:buNone/>
            </a:pPr>
            <a:endParaRPr lang="en-US" sz="4400" dirty="0"/>
          </a:p>
        </p:txBody>
      </p:sp>
    </p:spTree>
    <p:extLst>
      <p:ext uri="{BB962C8B-B14F-4D97-AF65-F5344CB8AC3E}">
        <p14:creationId xmlns:p14="http://schemas.microsoft.com/office/powerpoint/2010/main" val="34849840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AA234-32A8-C8C2-5248-C03697EE371C}"/>
              </a:ext>
            </a:extLst>
          </p:cNvPr>
          <p:cNvSpPr>
            <a:spLocks noGrp="1"/>
          </p:cNvSpPr>
          <p:nvPr>
            <p:ph type="title"/>
          </p:nvPr>
        </p:nvSpPr>
        <p:spPr/>
        <p:txBody>
          <a:bodyPr/>
          <a:lstStyle/>
          <a:p>
            <a:r>
              <a:rPr lang="en-US" dirty="0"/>
              <a:t>Who provide Driver Software?</a:t>
            </a:r>
          </a:p>
        </p:txBody>
      </p:sp>
      <p:sp>
        <p:nvSpPr>
          <p:cNvPr id="3" name="Content Placeholder 2">
            <a:extLst>
              <a:ext uri="{FF2B5EF4-FFF2-40B4-BE49-F238E27FC236}">
                <a16:creationId xmlns:a16="http://schemas.microsoft.com/office/drawing/2014/main" id="{CF454A15-EA5D-B677-75A0-26C4973531DC}"/>
              </a:ext>
            </a:extLst>
          </p:cNvPr>
          <p:cNvSpPr>
            <a:spLocks noGrp="1"/>
          </p:cNvSpPr>
          <p:nvPr>
            <p:ph idx="1"/>
          </p:nvPr>
        </p:nvSpPr>
        <p:spPr/>
        <p:txBody>
          <a:bodyPr>
            <a:normAutofit fontScale="77500" lnSpcReduction="20000"/>
          </a:bodyPr>
          <a:lstStyle/>
          <a:p>
            <a:pPr>
              <a:buFont typeface="Arial" panose="020B0604020202020204" pitchFamily="34" charset="0"/>
              <a:buChar char="•"/>
            </a:pPr>
            <a:r>
              <a:rPr lang="en-IN" sz="3600" dirty="0">
                <a:effectLst/>
                <a:latin typeface="Calibri,Bold"/>
              </a:rPr>
              <a:t>Driver </a:t>
            </a:r>
            <a:r>
              <a:rPr lang="en-IN" sz="3600" dirty="0" err="1">
                <a:effectLst/>
                <a:latin typeface="Calibri,Bold"/>
              </a:rPr>
              <a:t>Softwares</a:t>
            </a:r>
            <a:r>
              <a:rPr lang="en-IN" sz="3600" dirty="0">
                <a:effectLst/>
                <a:latin typeface="Calibri,Bold"/>
              </a:rPr>
              <a:t> can be provided by the following Vendors </a:t>
            </a:r>
            <a:endParaRPr lang="en-IN" sz="4800" dirty="0">
              <a:effectLst/>
            </a:endParaRPr>
          </a:p>
          <a:p>
            <a:pPr lvl="1"/>
            <a:r>
              <a:rPr lang="en-IN" sz="2800" dirty="0">
                <a:effectLst/>
                <a:latin typeface="Calibri,Bold"/>
              </a:rPr>
              <a:t>Java Vendor(Until1.7VersionOnly)</a:t>
            </a:r>
            <a:endParaRPr lang="en-IN" sz="2800" dirty="0">
              <a:effectLst/>
              <a:latin typeface="Wingdings" pitchFamily="2" charset="2"/>
            </a:endParaRPr>
          </a:p>
          <a:p>
            <a:pPr lvl="1"/>
            <a:r>
              <a:rPr lang="en-IN" sz="2800" dirty="0">
                <a:effectLst/>
                <a:latin typeface="Calibri,Bold"/>
              </a:rPr>
              <a:t>Database Vendor</a:t>
            </a:r>
            <a:endParaRPr lang="en-IN" sz="2800" dirty="0">
              <a:latin typeface="Calibri,Bold"/>
            </a:endParaRPr>
          </a:p>
          <a:p>
            <a:pPr lvl="1"/>
            <a:r>
              <a:rPr lang="en-IN" sz="2800" dirty="0">
                <a:effectLst/>
                <a:latin typeface="Calibri,Bold"/>
              </a:rPr>
              <a:t>Third Party Vendor </a:t>
            </a:r>
            <a:endParaRPr lang="en-IN" sz="4400" dirty="0">
              <a:effectLst/>
            </a:endParaRPr>
          </a:p>
          <a:p>
            <a:pPr>
              <a:lnSpc>
                <a:spcPct val="100000"/>
              </a:lnSpc>
            </a:pPr>
            <a:r>
              <a:rPr lang="en-IN" sz="3200" dirty="0">
                <a:latin typeface="Calibri,Bold"/>
              </a:rPr>
              <a:t>Type-1 Driver (JDBC-ODBC Bridge Driver) provided by Java Vendor. </a:t>
            </a:r>
          </a:p>
          <a:p>
            <a:pPr>
              <a:lnSpc>
                <a:spcPct val="100000"/>
              </a:lnSpc>
            </a:pPr>
            <a:r>
              <a:rPr lang="en-IN" sz="3200" dirty="0">
                <a:latin typeface="Calibri,Bold"/>
              </a:rPr>
              <a:t>Thin Driver provided by Oracle Database Vendor. </a:t>
            </a:r>
          </a:p>
          <a:p>
            <a:pPr>
              <a:lnSpc>
                <a:spcPct val="100000"/>
              </a:lnSpc>
            </a:pPr>
            <a:r>
              <a:rPr lang="en-IN" sz="3200" dirty="0" err="1">
                <a:latin typeface="Calibri,Bold"/>
              </a:rPr>
              <a:t>Inet</a:t>
            </a:r>
            <a:r>
              <a:rPr lang="en-IN" sz="3200" dirty="0">
                <a:latin typeface="Calibri,Bold"/>
              </a:rPr>
              <a:t> is a Third Party Vendor and providing several Driver </a:t>
            </a:r>
            <a:r>
              <a:rPr lang="en-IN" sz="3200" dirty="0" err="1">
                <a:latin typeface="Calibri,Bold"/>
              </a:rPr>
              <a:t>Softwares</a:t>
            </a:r>
            <a:r>
              <a:rPr lang="en-IN" sz="3200" dirty="0">
                <a:latin typeface="Calibri,Bold"/>
              </a:rPr>
              <a:t> for different Databases. </a:t>
            </a:r>
          </a:p>
          <a:p>
            <a:pPr>
              <a:lnSpc>
                <a:spcPct val="100000"/>
              </a:lnSpc>
            </a:pPr>
            <a:r>
              <a:rPr lang="en-IN" sz="3200" dirty="0" err="1">
                <a:latin typeface="Calibri,Bold"/>
              </a:rPr>
              <a:t>Eg</a:t>
            </a:r>
            <a:r>
              <a:rPr lang="en-IN" sz="3200" dirty="0">
                <a:latin typeface="Calibri,Bold"/>
              </a:rPr>
              <a:t>:</a:t>
            </a:r>
          </a:p>
          <a:p>
            <a:pPr lvl="1">
              <a:lnSpc>
                <a:spcPct val="100000"/>
              </a:lnSpc>
            </a:pPr>
            <a:r>
              <a:rPr lang="en-IN" sz="2800" dirty="0" err="1">
                <a:latin typeface="Calibri,Bold"/>
              </a:rPr>
              <a:t>Inet</a:t>
            </a:r>
            <a:r>
              <a:rPr lang="en-IN" sz="2800" dirty="0">
                <a:latin typeface="Calibri,Bold"/>
              </a:rPr>
              <a:t> </a:t>
            </a:r>
            <a:r>
              <a:rPr lang="en-IN" sz="2800" dirty="0" err="1">
                <a:latin typeface="Calibri,Bold"/>
              </a:rPr>
              <a:t>Oraxo</a:t>
            </a:r>
            <a:r>
              <a:rPr lang="en-IN" sz="2800" dirty="0">
                <a:latin typeface="Calibri,Bold"/>
              </a:rPr>
              <a:t> For Oracle Database </a:t>
            </a:r>
          </a:p>
          <a:p>
            <a:pPr lvl="1">
              <a:lnSpc>
                <a:spcPct val="100000"/>
              </a:lnSpc>
            </a:pPr>
            <a:r>
              <a:rPr lang="en-IN" sz="2800" dirty="0" err="1">
                <a:latin typeface="Calibri,Bold"/>
              </a:rPr>
              <a:t>Inet</a:t>
            </a:r>
            <a:r>
              <a:rPr lang="en-IN" sz="2800" dirty="0">
                <a:latin typeface="Calibri,Bold"/>
              </a:rPr>
              <a:t> </a:t>
            </a:r>
            <a:r>
              <a:rPr lang="en-IN" sz="2800" dirty="0" err="1">
                <a:latin typeface="Calibri,Bold"/>
              </a:rPr>
              <a:t>Merlia</a:t>
            </a:r>
            <a:r>
              <a:rPr lang="en-IN" sz="2800" dirty="0">
                <a:latin typeface="Calibri,Bold"/>
              </a:rPr>
              <a:t> For Microsoft SQL Server </a:t>
            </a:r>
          </a:p>
          <a:p>
            <a:pPr lvl="1">
              <a:lnSpc>
                <a:spcPct val="100000"/>
              </a:lnSpc>
            </a:pPr>
            <a:r>
              <a:rPr lang="en-IN" sz="2800" dirty="0" err="1">
                <a:latin typeface="Calibri,Bold"/>
              </a:rPr>
              <a:t>Inet</a:t>
            </a:r>
            <a:r>
              <a:rPr lang="en-IN" sz="2800" dirty="0">
                <a:latin typeface="Calibri,Bold"/>
              </a:rPr>
              <a:t> </a:t>
            </a:r>
            <a:r>
              <a:rPr lang="en-IN" sz="2800" dirty="0" err="1">
                <a:latin typeface="Calibri,Bold"/>
              </a:rPr>
              <a:t>Sybelux</a:t>
            </a:r>
            <a:r>
              <a:rPr lang="en-IN" sz="2800" dirty="0">
                <a:latin typeface="Calibri,Bold"/>
              </a:rPr>
              <a:t> For Sybase Database </a:t>
            </a:r>
          </a:p>
          <a:p>
            <a:endParaRPr lang="en-US" sz="4800" dirty="0"/>
          </a:p>
        </p:txBody>
      </p:sp>
    </p:spTree>
    <p:extLst>
      <p:ext uri="{BB962C8B-B14F-4D97-AF65-F5344CB8AC3E}">
        <p14:creationId xmlns:p14="http://schemas.microsoft.com/office/powerpoint/2010/main" val="42649626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F7808-D616-6D32-D830-F158663411F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9B8E503-CA4C-40A1-787B-9B1E33840EDA}"/>
              </a:ext>
            </a:extLst>
          </p:cNvPr>
          <p:cNvSpPr>
            <a:spLocks noGrp="1"/>
          </p:cNvSpPr>
          <p:nvPr>
            <p:ph idx="1"/>
          </p:nvPr>
        </p:nvSpPr>
        <p:spPr/>
        <p:txBody>
          <a:bodyPr>
            <a:normAutofit/>
          </a:bodyPr>
          <a:lstStyle/>
          <a:p>
            <a:r>
              <a:rPr lang="en-IN" sz="2400" dirty="0">
                <a:effectLst/>
                <a:latin typeface="Calibri,Bold"/>
              </a:rPr>
              <a:t>Note: </a:t>
            </a:r>
          </a:p>
          <a:p>
            <a:r>
              <a:rPr lang="en-IN" sz="2400" dirty="0">
                <a:effectLst/>
                <a:latin typeface="Calibri,Bold"/>
              </a:rPr>
              <a:t>It is highly recommended to use Database Vendor provided Driver </a:t>
            </a:r>
            <a:r>
              <a:rPr lang="en-IN" sz="2400" dirty="0" err="1">
                <a:effectLst/>
                <a:latin typeface="Calibri,Bold"/>
              </a:rPr>
              <a:t>Softwares</a:t>
            </a:r>
            <a:r>
              <a:rPr lang="en-IN" sz="2400" dirty="0">
                <a:effectLst/>
                <a:latin typeface="Calibri,Bold"/>
              </a:rPr>
              <a:t>. </a:t>
            </a:r>
            <a:endParaRPr lang="en-IN" sz="3600" dirty="0"/>
          </a:p>
          <a:p>
            <a:pPr>
              <a:buFont typeface="Arial" panose="020B0604020202020204" pitchFamily="34" charset="0"/>
              <a:buChar char="•"/>
            </a:pPr>
            <a:r>
              <a:rPr lang="en-IN" sz="2400" dirty="0">
                <a:effectLst/>
                <a:latin typeface="Calibri,Bold"/>
              </a:rPr>
              <a:t>While developing Driver Software, Vendors may use only Java OR Java with other Languages like C OR C++. </a:t>
            </a:r>
            <a:endParaRPr lang="en-IN" sz="3600" dirty="0">
              <a:effectLst/>
            </a:endParaRPr>
          </a:p>
          <a:p>
            <a:pPr>
              <a:buFont typeface="Arial" panose="020B0604020202020204" pitchFamily="34" charset="0"/>
              <a:buChar char="•"/>
            </a:pPr>
            <a:r>
              <a:rPr lang="en-IN" sz="2400" dirty="0">
                <a:effectLst/>
                <a:latin typeface="Calibri,Bold"/>
              </a:rPr>
              <a:t>If Driver Software is developed only in Java Language then such Type of Drivers are called Pure Java Drivers. </a:t>
            </a:r>
            <a:endParaRPr lang="en-IN" sz="3600" dirty="0">
              <a:effectLst/>
            </a:endParaRPr>
          </a:p>
          <a:p>
            <a:pPr>
              <a:buFont typeface="Arial" panose="020B0604020202020204" pitchFamily="34" charset="0"/>
              <a:buChar char="•"/>
            </a:pPr>
            <a:r>
              <a:rPr lang="en-IN" sz="2400" dirty="0">
                <a:effectLst/>
                <a:latin typeface="Calibri,Bold"/>
              </a:rPr>
              <a:t>If Driver Software developed with Java and other Languages, then such Type of Driver </a:t>
            </a:r>
            <a:r>
              <a:rPr lang="en-IN" sz="2400" dirty="0" err="1">
                <a:effectLst/>
                <a:latin typeface="Calibri,Bold"/>
              </a:rPr>
              <a:t>Softwares</a:t>
            </a:r>
            <a:r>
              <a:rPr lang="en-IN" sz="2400" dirty="0">
                <a:effectLst/>
                <a:latin typeface="Calibri,Bold"/>
              </a:rPr>
              <a:t> are called Partial Java Drivers. </a:t>
            </a:r>
            <a:endParaRPr lang="en-IN" sz="3600" dirty="0">
              <a:effectLst/>
            </a:endParaRPr>
          </a:p>
          <a:p>
            <a:endParaRPr lang="en-US" sz="3600" dirty="0"/>
          </a:p>
        </p:txBody>
      </p:sp>
    </p:spTree>
    <p:extLst>
      <p:ext uri="{BB962C8B-B14F-4D97-AF65-F5344CB8AC3E}">
        <p14:creationId xmlns:p14="http://schemas.microsoft.com/office/powerpoint/2010/main" val="29418801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6098A-3B99-3B2E-53BB-97D3EF63AD47}"/>
              </a:ext>
            </a:extLst>
          </p:cNvPr>
          <p:cNvSpPr>
            <a:spLocks noGrp="1"/>
          </p:cNvSpPr>
          <p:nvPr>
            <p:ph type="title"/>
          </p:nvPr>
        </p:nvSpPr>
        <p:spPr/>
        <p:txBody>
          <a:bodyPr/>
          <a:lstStyle/>
          <a:p>
            <a:r>
              <a:rPr lang="en-US" dirty="0"/>
              <a:t>Types of Drivers</a:t>
            </a:r>
          </a:p>
        </p:txBody>
      </p:sp>
      <p:sp>
        <p:nvSpPr>
          <p:cNvPr id="3" name="Content Placeholder 2">
            <a:extLst>
              <a:ext uri="{FF2B5EF4-FFF2-40B4-BE49-F238E27FC236}">
                <a16:creationId xmlns:a16="http://schemas.microsoft.com/office/drawing/2014/main" id="{DBC3A7E2-017B-E382-8920-BF8E18742580}"/>
              </a:ext>
            </a:extLst>
          </p:cNvPr>
          <p:cNvSpPr>
            <a:spLocks noGrp="1"/>
          </p:cNvSpPr>
          <p:nvPr>
            <p:ph idx="1"/>
          </p:nvPr>
        </p:nvSpPr>
        <p:spPr/>
        <p:txBody>
          <a:bodyPr>
            <a:normAutofit fontScale="92500"/>
          </a:bodyPr>
          <a:lstStyle/>
          <a:p>
            <a:pPr>
              <a:buFont typeface="+mj-lt"/>
              <a:buAutoNum type="arabicPeriod"/>
            </a:pPr>
            <a:r>
              <a:rPr lang="en-IN" sz="2400" dirty="0">
                <a:effectLst/>
                <a:latin typeface="Calibri,Bold"/>
              </a:rPr>
              <a:t>While communicating with Database, we have to convert Java Calls into Database specific Calls and Database specific Calls into Java Calls. For this Driver Software is required. In the Market Thousands of Driver </a:t>
            </a:r>
            <a:r>
              <a:rPr lang="en-IN" sz="2400" dirty="0" err="1">
                <a:effectLst/>
                <a:latin typeface="Calibri,Bold"/>
              </a:rPr>
              <a:t>Softwares</a:t>
            </a:r>
            <a:r>
              <a:rPr lang="en-IN" sz="2400" dirty="0">
                <a:effectLst/>
                <a:latin typeface="Calibri,Bold"/>
              </a:rPr>
              <a:t> are available. But based on Functionality all Driver Software Drivers are divided into 4 Types. </a:t>
            </a:r>
            <a:endParaRPr lang="en-IN" sz="5400" dirty="0">
              <a:effectLst/>
            </a:endParaRPr>
          </a:p>
          <a:p>
            <a:pPr marL="457200" lvl="1" indent="0">
              <a:buNone/>
            </a:pPr>
            <a:r>
              <a:rPr lang="en-IN" dirty="0">
                <a:effectLst/>
                <a:latin typeface="Calibri,Bold"/>
              </a:rPr>
              <a:t>1)  Type-1 Driver (JDBC-ODBC Bridge Driver OR Bridge Driver) </a:t>
            </a:r>
            <a:endParaRPr lang="en-IN" sz="4800" dirty="0">
              <a:effectLst/>
            </a:endParaRPr>
          </a:p>
          <a:p>
            <a:pPr marL="457200" lvl="1" indent="0">
              <a:buNone/>
            </a:pPr>
            <a:r>
              <a:rPr lang="en-IN" dirty="0">
                <a:effectLst/>
                <a:latin typeface="Calibri,Bold"/>
              </a:rPr>
              <a:t>2)  Type-2 Driver (Native API-Partly Java Driver OR Native Driver) </a:t>
            </a:r>
            <a:endParaRPr lang="en-IN" sz="4800" dirty="0">
              <a:effectLst/>
            </a:endParaRPr>
          </a:p>
          <a:p>
            <a:pPr marL="457200" lvl="1" indent="0">
              <a:buNone/>
            </a:pPr>
            <a:r>
              <a:rPr lang="en-IN" dirty="0">
                <a:effectLst/>
                <a:latin typeface="Calibri,Bold"/>
              </a:rPr>
              <a:t>3)  Type-3 Driver (All Java Net Protocol Driver OR Network Protocol Driver OR Middleware Driver) </a:t>
            </a:r>
            <a:endParaRPr lang="en-IN" sz="4800" dirty="0">
              <a:effectLst/>
            </a:endParaRPr>
          </a:p>
          <a:p>
            <a:pPr marL="457200" lvl="1" indent="0">
              <a:buNone/>
            </a:pPr>
            <a:r>
              <a:rPr lang="en-IN" dirty="0">
                <a:effectLst/>
                <a:latin typeface="Calibri,Bold"/>
              </a:rPr>
              <a:t>4)  Type-4 Driver (All Java Native Protocol Driver OR Pure Java Driver OR Thin Driver) </a:t>
            </a:r>
            <a:endParaRPr lang="en-IN" sz="4800" dirty="0">
              <a:effectLst/>
            </a:endParaRPr>
          </a:p>
          <a:p>
            <a:r>
              <a:rPr lang="en-IN" sz="3200" dirty="0">
                <a:effectLst/>
                <a:latin typeface="Calibri,Bold"/>
              </a:rPr>
              <a:t>Note:</a:t>
            </a:r>
            <a:br>
              <a:rPr lang="en-IN" sz="3200" dirty="0">
                <a:effectLst/>
                <a:latin typeface="Calibri,Bold"/>
              </a:rPr>
            </a:br>
            <a:r>
              <a:rPr lang="en-IN" sz="2400" dirty="0">
                <a:effectLst/>
                <a:latin typeface="Calibri,Bold"/>
              </a:rPr>
              <a:t>Progress Data direct Software Company introduced Type-5 Driver, but it is not Industry Recognized Driver. </a:t>
            </a:r>
            <a:endParaRPr lang="en-IN" sz="5400" dirty="0">
              <a:effectLst/>
            </a:endParaRPr>
          </a:p>
        </p:txBody>
      </p:sp>
    </p:spTree>
    <p:extLst>
      <p:ext uri="{BB962C8B-B14F-4D97-AF65-F5344CB8AC3E}">
        <p14:creationId xmlns:p14="http://schemas.microsoft.com/office/powerpoint/2010/main" val="29848017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81215-9E5F-BFA9-F231-B227E8655BCD}"/>
              </a:ext>
            </a:extLst>
          </p:cNvPr>
          <p:cNvSpPr>
            <a:spLocks noGrp="1"/>
          </p:cNvSpPr>
          <p:nvPr>
            <p:ph type="title"/>
          </p:nvPr>
        </p:nvSpPr>
        <p:spPr/>
        <p:txBody>
          <a:bodyPr/>
          <a:lstStyle/>
          <a:p>
            <a:r>
              <a:rPr lang="en-US" dirty="0"/>
              <a:t>Type-1 Driver</a:t>
            </a:r>
          </a:p>
        </p:txBody>
      </p:sp>
      <p:sp>
        <p:nvSpPr>
          <p:cNvPr id="3" name="Content Placeholder 2">
            <a:extLst>
              <a:ext uri="{FF2B5EF4-FFF2-40B4-BE49-F238E27FC236}">
                <a16:creationId xmlns:a16="http://schemas.microsoft.com/office/drawing/2014/main" id="{846E4553-F4C7-6D8B-46DE-131155F8DF01}"/>
              </a:ext>
            </a:extLst>
          </p:cNvPr>
          <p:cNvSpPr>
            <a:spLocks noGrp="1"/>
          </p:cNvSpPr>
          <p:nvPr>
            <p:ph idx="1"/>
          </p:nvPr>
        </p:nvSpPr>
        <p:spPr/>
        <p:txBody>
          <a:bodyPr/>
          <a:lstStyle/>
          <a:p>
            <a:r>
              <a:rPr lang="en-US" dirty="0"/>
              <a:t>Also called as </a:t>
            </a:r>
            <a:r>
              <a:rPr lang="en-US" b="1" dirty="0"/>
              <a:t>JDBC-ODBC Bridge Driver</a:t>
            </a:r>
            <a:r>
              <a:rPr lang="en-US" dirty="0"/>
              <a:t> or Simply </a:t>
            </a:r>
            <a:r>
              <a:rPr lang="en-US" b="1" dirty="0"/>
              <a:t>Bridge Driver</a:t>
            </a:r>
          </a:p>
          <a:p>
            <a:r>
              <a:rPr lang="en-IN" dirty="0"/>
              <a:t>This Driver provided by Sun Micro Systems as the Part of JDK. But this Support is available until 1.7 Version only. </a:t>
            </a:r>
          </a:p>
          <a:p>
            <a:r>
              <a:rPr lang="en-IN" dirty="0"/>
              <a:t>Internally this Driver will take Support of ODBC Driver to communicate with Database. </a:t>
            </a:r>
          </a:p>
          <a:p>
            <a:r>
              <a:rPr lang="en-IN" dirty="0"/>
              <a:t>Type-1 Driver converts JDBC Calls (Java Calls) into ODBC Calls and ODBC Driver converts ODBC Calls into Database specific Calls. </a:t>
            </a:r>
          </a:p>
          <a:p>
            <a:r>
              <a:rPr lang="en-IN" dirty="0"/>
              <a:t>Hence Type-1 Driver acts as Bridge between JDBC and ODBC. </a:t>
            </a:r>
          </a:p>
          <a:p>
            <a:endParaRPr lang="en-US" dirty="0"/>
          </a:p>
        </p:txBody>
      </p:sp>
    </p:spTree>
    <p:extLst>
      <p:ext uri="{BB962C8B-B14F-4D97-AF65-F5344CB8AC3E}">
        <p14:creationId xmlns:p14="http://schemas.microsoft.com/office/powerpoint/2010/main" val="15968248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014FEB-19EF-95FE-A791-D001C8C2B05D}"/>
              </a:ext>
            </a:extLst>
          </p:cNvPr>
          <p:cNvSpPr>
            <a:spLocks noGrp="1"/>
          </p:cNvSpPr>
          <p:nvPr>
            <p:ph idx="1"/>
          </p:nvPr>
        </p:nvSpPr>
        <p:spPr>
          <a:xfrm>
            <a:off x="838200" y="365125"/>
            <a:ext cx="10515600" cy="5811838"/>
          </a:xfrm>
        </p:spPr>
        <p:txBody>
          <a:bodyPr>
            <a:normAutofit fontScale="92500" lnSpcReduction="20000"/>
          </a:bodyPr>
          <a:lstStyle/>
          <a:p>
            <a:pPr marL="0" indent="0">
              <a:buNone/>
            </a:pPr>
            <a:r>
              <a:rPr lang="en-IN" b="1" dirty="0"/>
              <a:t>Advantages</a:t>
            </a:r>
            <a:r>
              <a:rPr lang="en-IN" dirty="0"/>
              <a:t> :</a:t>
            </a:r>
            <a:br>
              <a:rPr lang="en-IN" dirty="0"/>
            </a:br>
            <a:r>
              <a:rPr lang="en-IN" dirty="0"/>
              <a:t>1. It is very easy to use and maintain.</a:t>
            </a:r>
            <a:br>
              <a:rPr lang="en-IN" dirty="0"/>
            </a:br>
            <a:r>
              <a:rPr lang="en-IN" dirty="0"/>
              <a:t>2. We are not required to install any separate Software because it is available as the Part of JDK. </a:t>
            </a:r>
          </a:p>
          <a:p>
            <a:pPr marL="0" indent="0">
              <a:buNone/>
            </a:pPr>
            <a:r>
              <a:rPr lang="en-IN" dirty="0"/>
              <a:t>3. Type-1 Driver won't communicate directly with the Database. Hence it is Database Independent Driver. Because of this migrating from one Database to another Database will become Easy. </a:t>
            </a:r>
          </a:p>
          <a:p>
            <a:pPr marL="0" indent="0">
              <a:buNone/>
            </a:pPr>
            <a:r>
              <a:rPr lang="en-IN" b="1" dirty="0"/>
              <a:t>Limitations</a:t>
            </a:r>
            <a:r>
              <a:rPr lang="en-IN" dirty="0"/>
              <a:t>: </a:t>
            </a:r>
          </a:p>
          <a:p>
            <a:pPr marL="0" indent="0">
              <a:buNone/>
            </a:pPr>
            <a:r>
              <a:rPr lang="en-IN" dirty="0"/>
              <a:t>1. It is the slowest Driver among all JDBC Drivers (Snail Driver), because first it will convert JDBC Calls into ODBC Calls and ODBC Driver converts ODBC Calls into Database specific Calls. </a:t>
            </a:r>
          </a:p>
          <a:p>
            <a:pPr marL="0" indent="0">
              <a:buNone/>
            </a:pPr>
            <a:r>
              <a:rPr lang="en-IN" dirty="0"/>
              <a:t>2. This Driver internally depends on ODBC Driver, which will work only on Windows Machines. Hence Type-1 Driver is Platform Dependent Driver. </a:t>
            </a:r>
          </a:p>
          <a:p>
            <a:pPr marL="0" indent="0">
              <a:buNone/>
            </a:pPr>
            <a:r>
              <a:rPr lang="en-IN" dirty="0"/>
              <a:t>3. No Support from JDK 1.8 Version onwards. </a:t>
            </a:r>
          </a:p>
          <a:p>
            <a:pPr marL="0" indent="0">
              <a:buNone/>
            </a:pPr>
            <a:r>
              <a:rPr lang="en-IN" b="1" dirty="0"/>
              <a:t>Note</a:t>
            </a:r>
            <a:r>
              <a:rPr lang="en-IN" dirty="0"/>
              <a:t>:</a:t>
            </a:r>
            <a:br>
              <a:rPr lang="en-IN" dirty="0"/>
            </a:br>
            <a:r>
              <a:rPr lang="en-IN" dirty="0"/>
              <a:t>Because of above Limitations it is never recommended to use Type-1 Driver. </a:t>
            </a:r>
          </a:p>
          <a:p>
            <a:pPr marL="0" indent="0">
              <a:buNone/>
            </a:pPr>
            <a:endParaRPr lang="en-US" dirty="0"/>
          </a:p>
        </p:txBody>
      </p:sp>
    </p:spTree>
    <p:extLst>
      <p:ext uri="{BB962C8B-B14F-4D97-AF65-F5344CB8AC3E}">
        <p14:creationId xmlns:p14="http://schemas.microsoft.com/office/powerpoint/2010/main" val="21638348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437E0-EFAE-95C3-C569-3CD3FBC4FA30}"/>
              </a:ext>
            </a:extLst>
          </p:cNvPr>
          <p:cNvSpPr>
            <a:spLocks noGrp="1"/>
          </p:cNvSpPr>
          <p:nvPr>
            <p:ph type="title"/>
          </p:nvPr>
        </p:nvSpPr>
        <p:spPr/>
        <p:txBody>
          <a:bodyPr/>
          <a:lstStyle/>
          <a:p>
            <a:r>
              <a:rPr lang="en-US" dirty="0"/>
              <a:t>Type-1 Driver Diagram</a:t>
            </a:r>
          </a:p>
        </p:txBody>
      </p:sp>
      <p:sp>
        <p:nvSpPr>
          <p:cNvPr id="3" name="Content Placeholder 2">
            <a:extLst>
              <a:ext uri="{FF2B5EF4-FFF2-40B4-BE49-F238E27FC236}">
                <a16:creationId xmlns:a16="http://schemas.microsoft.com/office/drawing/2014/main" id="{8FD0FFA7-E907-1B8B-801B-1547F9A914C2}"/>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59306C9A-7B47-5980-F327-2B9BCC31D9B1}"/>
              </a:ext>
            </a:extLst>
          </p:cNvPr>
          <p:cNvSpPr/>
          <p:nvPr/>
        </p:nvSpPr>
        <p:spPr>
          <a:xfrm>
            <a:off x="310243" y="1926769"/>
            <a:ext cx="8066314" cy="22043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C3A258C-5C5E-A0EF-6883-0FC5B06A05C9}"/>
              </a:ext>
            </a:extLst>
          </p:cNvPr>
          <p:cNvSpPr/>
          <p:nvPr/>
        </p:nvSpPr>
        <p:spPr>
          <a:xfrm>
            <a:off x="3385458" y="2106386"/>
            <a:ext cx="1747157" cy="16165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JDBC-ODBC Bridge Driver</a:t>
            </a:r>
          </a:p>
        </p:txBody>
      </p:sp>
      <p:sp>
        <p:nvSpPr>
          <p:cNvPr id="6" name="Rectangle 5">
            <a:extLst>
              <a:ext uri="{FF2B5EF4-FFF2-40B4-BE49-F238E27FC236}">
                <a16:creationId xmlns:a16="http://schemas.microsoft.com/office/drawing/2014/main" id="{52B4D48F-3CD4-907C-E0EE-F8CF9B5A12E8}"/>
              </a:ext>
            </a:extLst>
          </p:cNvPr>
          <p:cNvSpPr/>
          <p:nvPr/>
        </p:nvSpPr>
        <p:spPr>
          <a:xfrm>
            <a:off x="6283783" y="2106386"/>
            <a:ext cx="1747157" cy="16165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ODBC Driver</a:t>
            </a:r>
          </a:p>
        </p:txBody>
      </p:sp>
      <p:sp>
        <p:nvSpPr>
          <p:cNvPr id="7" name="Can 6">
            <a:extLst>
              <a:ext uri="{FF2B5EF4-FFF2-40B4-BE49-F238E27FC236}">
                <a16:creationId xmlns:a16="http://schemas.microsoft.com/office/drawing/2014/main" id="{F2B80C20-97A2-8687-759C-F559583404C9}"/>
              </a:ext>
            </a:extLst>
          </p:cNvPr>
          <p:cNvSpPr/>
          <p:nvPr/>
        </p:nvSpPr>
        <p:spPr>
          <a:xfrm>
            <a:off x="10130519" y="2122715"/>
            <a:ext cx="1240971" cy="1616528"/>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Databse</a:t>
            </a:r>
            <a:endParaRPr lang="en-US" dirty="0"/>
          </a:p>
        </p:txBody>
      </p:sp>
      <p:sp>
        <p:nvSpPr>
          <p:cNvPr id="8" name="Rectangle 7">
            <a:extLst>
              <a:ext uri="{FF2B5EF4-FFF2-40B4-BE49-F238E27FC236}">
                <a16:creationId xmlns:a16="http://schemas.microsoft.com/office/drawing/2014/main" id="{5FF0DFBD-E913-8628-ADE4-2E693FCDEE46}"/>
              </a:ext>
            </a:extLst>
          </p:cNvPr>
          <p:cNvSpPr/>
          <p:nvPr/>
        </p:nvSpPr>
        <p:spPr>
          <a:xfrm>
            <a:off x="462643" y="2258786"/>
            <a:ext cx="1747157" cy="16165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Java </a:t>
            </a:r>
          </a:p>
          <a:p>
            <a:pPr algn="ctr"/>
            <a:r>
              <a:rPr lang="en-US" dirty="0"/>
              <a:t>Application</a:t>
            </a:r>
          </a:p>
        </p:txBody>
      </p:sp>
      <p:cxnSp>
        <p:nvCxnSpPr>
          <p:cNvPr id="10" name="Straight Arrow Connector 9">
            <a:extLst>
              <a:ext uri="{FF2B5EF4-FFF2-40B4-BE49-F238E27FC236}">
                <a16:creationId xmlns:a16="http://schemas.microsoft.com/office/drawing/2014/main" id="{D8E04172-460E-92B0-D49C-432E08BFE09E}"/>
              </a:ext>
            </a:extLst>
          </p:cNvPr>
          <p:cNvCxnSpPr/>
          <p:nvPr/>
        </p:nvCxnSpPr>
        <p:spPr>
          <a:xfrm>
            <a:off x="2209800" y="2645229"/>
            <a:ext cx="1175658" cy="0"/>
          </a:xfrm>
          <a:prstGeom prst="straightConnector1">
            <a:avLst/>
          </a:prstGeom>
          <a:ln w="635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A933C49-89F9-E451-80C9-232C908CB790}"/>
              </a:ext>
            </a:extLst>
          </p:cNvPr>
          <p:cNvCxnSpPr/>
          <p:nvPr/>
        </p:nvCxnSpPr>
        <p:spPr>
          <a:xfrm>
            <a:off x="5132615" y="2645229"/>
            <a:ext cx="1175658" cy="0"/>
          </a:xfrm>
          <a:prstGeom prst="straightConnector1">
            <a:avLst/>
          </a:prstGeom>
          <a:ln w="635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53896CA-F6D8-142B-202A-6E1CC3FCDF84}"/>
              </a:ext>
            </a:extLst>
          </p:cNvPr>
          <p:cNvCxnSpPr>
            <a:cxnSpLocks/>
          </p:cNvCxnSpPr>
          <p:nvPr/>
        </p:nvCxnSpPr>
        <p:spPr>
          <a:xfrm>
            <a:off x="8376557" y="2645229"/>
            <a:ext cx="1753962" cy="0"/>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A4D8E85-0E46-2ED2-F13F-38E0836E5F33}"/>
              </a:ext>
            </a:extLst>
          </p:cNvPr>
          <p:cNvCxnSpPr/>
          <p:nvPr/>
        </p:nvCxnSpPr>
        <p:spPr>
          <a:xfrm>
            <a:off x="2209800" y="3213265"/>
            <a:ext cx="1175658" cy="0"/>
          </a:xfrm>
          <a:prstGeom prst="straightConnector1">
            <a:avLst/>
          </a:prstGeom>
          <a:ln w="63500">
            <a:solidFill>
              <a:schemeClr val="bg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5FDBEF3-1EB9-0662-0EDD-1F447D650FA1}"/>
              </a:ext>
            </a:extLst>
          </p:cNvPr>
          <p:cNvCxnSpPr/>
          <p:nvPr/>
        </p:nvCxnSpPr>
        <p:spPr>
          <a:xfrm>
            <a:off x="5132615" y="3213265"/>
            <a:ext cx="1175658" cy="0"/>
          </a:xfrm>
          <a:prstGeom prst="straightConnector1">
            <a:avLst/>
          </a:prstGeom>
          <a:ln w="63500">
            <a:solidFill>
              <a:schemeClr val="bg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255A164-2CB4-E6DF-618C-F34CD15C40C4}"/>
              </a:ext>
            </a:extLst>
          </p:cNvPr>
          <p:cNvCxnSpPr>
            <a:cxnSpLocks/>
          </p:cNvCxnSpPr>
          <p:nvPr/>
        </p:nvCxnSpPr>
        <p:spPr>
          <a:xfrm>
            <a:off x="8376557" y="3213265"/>
            <a:ext cx="1753962" cy="0"/>
          </a:xfrm>
          <a:prstGeom prst="straightConnector1">
            <a:avLst/>
          </a:prstGeom>
          <a:ln w="635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46468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09478-87AA-CCFD-54F7-10BE9DB5C351}"/>
              </a:ext>
            </a:extLst>
          </p:cNvPr>
          <p:cNvSpPr>
            <a:spLocks noGrp="1"/>
          </p:cNvSpPr>
          <p:nvPr>
            <p:ph type="title"/>
          </p:nvPr>
        </p:nvSpPr>
        <p:spPr/>
        <p:txBody>
          <a:bodyPr/>
          <a:lstStyle/>
          <a:p>
            <a:r>
              <a:rPr lang="en-US" dirty="0"/>
              <a:t>Type-2 Driver</a:t>
            </a:r>
          </a:p>
        </p:txBody>
      </p:sp>
      <p:sp>
        <p:nvSpPr>
          <p:cNvPr id="3" name="Content Placeholder 2">
            <a:extLst>
              <a:ext uri="{FF2B5EF4-FFF2-40B4-BE49-F238E27FC236}">
                <a16:creationId xmlns:a16="http://schemas.microsoft.com/office/drawing/2014/main" id="{EA9560CA-D37D-44E6-D453-684FEA560743}"/>
              </a:ext>
            </a:extLst>
          </p:cNvPr>
          <p:cNvSpPr>
            <a:spLocks noGrp="1"/>
          </p:cNvSpPr>
          <p:nvPr>
            <p:ph idx="1"/>
          </p:nvPr>
        </p:nvSpPr>
        <p:spPr/>
        <p:txBody>
          <a:bodyPr>
            <a:normAutofit fontScale="92500"/>
          </a:bodyPr>
          <a:lstStyle/>
          <a:p>
            <a:r>
              <a:rPr lang="en-IN" dirty="0"/>
              <a:t>It is also known as </a:t>
            </a:r>
            <a:r>
              <a:rPr lang="en-IN" b="1" dirty="0"/>
              <a:t>Native API -Partly Java Driver</a:t>
            </a:r>
            <a:r>
              <a:rPr lang="en-IN" dirty="0"/>
              <a:t> OR </a:t>
            </a:r>
            <a:r>
              <a:rPr lang="en-IN" b="1" dirty="0"/>
              <a:t>Native Driver</a:t>
            </a:r>
            <a:r>
              <a:rPr lang="en-IN" dirty="0"/>
              <a:t>. </a:t>
            </a:r>
          </a:p>
          <a:p>
            <a:r>
              <a:rPr lang="en-IN" dirty="0"/>
              <a:t>Type-2 Driver is exactly same as Type-1 Driver except that ODBC Driver is replaced with Vendor specific Native Libraries. </a:t>
            </a:r>
          </a:p>
          <a:p>
            <a:r>
              <a:rPr lang="en-IN" dirty="0"/>
              <a:t>Type-2 Driver internally uses Vendor specific Native Libraries to Communicate with Database. </a:t>
            </a:r>
          </a:p>
          <a:p>
            <a:r>
              <a:rPr lang="en-IN" dirty="0"/>
              <a:t>Native Libraries means the Set of Functions written in Non-Java (Mostly C OR C++). </a:t>
            </a:r>
          </a:p>
          <a:p>
            <a:r>
              <a:rPr lang="en-IN" dirty="0"/>
              <a:t>We have to install Vendor provided Native Libraries on the Client Machine. </a:t>
            </a:r>
          </a:p>
          <a:p>
            <a:r>
              <a:rPr lang="en-IN" dirty="0"/>
              <a:t>Type-2 Driver converts JDBC Calls into Vendor specific Native Library Calls, which can be understandable directly by Database Engine. </a:t>
            </a:r>
          </a:p>
        </p:txBody>
      </p:sp>
    </p:spTree>
    <p:extLst>
      <p:ext uri="{BB962C8B-B14F-4D97-AF65-F5344CB8AC3E}">
        <p14:creationId xmlns:p14="http://schemas.microsoft.com/office/powerpoint/2010/main" val="15849221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134CA0-ADE9-3499-A2E5-CB0D6DF1B3A5}"/>
              </a:ext>
            </a:extLst>
          </p:cNvPr>
          <p:cNvSpPr>
            <a:spLocks noGrp="1"/>
          </p:cNvSpPr>
          <p:nvPr>
            <p:ph idx="1"/>
          </p:nvPr>
        </p:nvSpPr>
        <p:spPr>
          <a:xfrm>
            <a:off x="755073" y="391886"/>
            <a:ext cx="10515600" cy="5866410"/>
          </a:xfrm>
        </p:spPr>
        <p:txBody>
          <a:bodyPr>
            <a:normAutofit fontScale="85000" lnSpcReduction="20000"/>
          </a:bodyPr>
          <a:lstStyle/>
          <a:p>
            <a:pPr marL="0" indent="0">
              <a:buNone/>
            </a:pPr>
            <a:r>
              <a:rPr lang="en-IN" b="1" dirty="0"/>
              <a:t>Advantages</a:t>
            </a:r>
            <a:r>
              <a:rPr lang="en-IN" dirty="0"/>
              <a:t>: </a:t>
            </a:r>
          </a:p>
          <a:p>
            <a:pPr marL="0" indent="0">
              <a:buNone/>
            </a:pPr>
            <a:r>
              <a:rPr lang="en-IN" dirty="0"/>
              <a:t>1. When compared with Type-1 Driver Performance is High, because it required only one Level Conversion from JDBC to Native Library Calls. </a:t>
            </a:r>
          </a:p>
          <a:p>
            <a:pPr marL="0" indent="0">
              <a:buNone/>
            </a:pPr>
            <a:r>
              <a:rPr lang="en-IN" dirty="0"/>
              <a:t>2. No need of arranging ODBC Drivers. </a:t>
            </a:r>
          </a:p>
          <a:p>
            <a:pPr marL="0" indent="0">
              <a:buNone/>
            </a:pPr>
            <a:r>
              <a:rPr lang="en-IN" dirty="0"/>
              <a:t>3. When compared with Type-1 Driver, Portability is more because Type-1 Driver is applicable only for Windows Machines. </a:t>
            </a:r>
          </a:p>
          <a:p>
            <a:pPr marL="0" indent="0">
              <a:buNone/>
            </a:pPr>
            <a:r>
              <a:rPr lang="en-IN" b="1" dirty="0"/>
              <a:t>Limitations</a:t>
            </a:r>
            <a:r>
              <a:rPr lang="en-IN" dirty="0"/>
              <a:t>: </a:t>
            </a:r>
          </a:p>
          <a:p>
            <a:pPr marL="0" indent="0">
              <a:buNone/>
            </a:pPr>
            <a:r>
              <a:rPr lang="en-IN" dirty="0"/>
              <a:t>1. Internally this Driver using Database specific Native Libraries and hence it is Database Dependent Driver. Because of this migrating from one Database to another Database will become Difficult. </a:t>
            </a:r>
          </a:p>
          <a:p>
            <a:pPr marL="0" indent="0">
              <a:buNone/>
            </a:pPr>
            <a:r>
              <a:rPr lang="en-IN" dirty="0"/>
              <a:t>2. This Driver is Platform Dependent Driver.</a:t>
            </a:r>
            <a:br>
              <a:rPr lang="en-IN" dirty="0"/>
            </a:br>
            <a:r>
              <a:rPr lang="en-IN" dirty="0"/>
              <a:t>3. On the Client Machine compulsory we should install Database specific Native Libraries. </a:t>
            </a:r>
          </a:p>
          <a:p>
            <a:pPr marL="0" indent="0">
              <a:buNone/>
            </a:pPr>
            <a:r>
              <a:rPr lang="en-IN" dirty="0"/>
              <a:t>4. There is no Guarantee for every Database Vendor will provide This Driver. (Oracle People provided Type-2 Driver but </a:t>
            </a:r>
            <a:r>
              <a:rPr lang="en-IN" dirty="0" err="1"/>
              <a:t>MySql</a:t>
            </a:r>
            <a:r>
              <a:rPr lang="en-IN" dirty="0"/>
              <a:t> People won't provide this Driver) </a:t>
            </a:r>
          </a:p>
          <a:p>
            <a:pPr marL="0" indent="0">
              <a:buNone/>
            </a:pPr>
            <a:r>
              <a:rPr lang="en-IN" dirty="0"/>
              <a:t>Note: The only Driver which is both Platform Dependent and Database Dependent is Type-2 Driver. Hence it is not recommended to use Type-2 Driver. </a:t>
            </a:r>
          </a:p>
          <a:p>
            <a:pPr marL="0" indent="0">
              <a:buNone/>
            </a:pPr>
            <a:endParaRPr lang="en-IN" dirty="0"/>
          </a:p>
          <a:p>
            <a:pPr marL="0" indent="0">
              <a:buNone/>
            </a:pPr>
            <a:endParaRPr lang="en-US" dirty="0"/>
          </a:p>
        </p:txBody>
      </p:sp>
    </p:spTree>
    <p:extLst>
      <p:ext uri="{BB962C8B-B14F-4D97-AF65-F5344CB8AC3E}">
        <p14:creationId xmlns:p14="http://schemas.microsoft.com/office/powerpoint/2010/main" val="33373120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437E0-EFAE-95C3-C569-3CD3FBC4FA30}"/>
              </a:ext>
            </a:extLst>
          </p:cNvPr>
          <p:cNvSpPr>
            <a:spLocks noGrp="1"/>
          </p:cNvSpPr>
          <p:nvPr>
            <p:ph type="title"/>
          </p:nvPr>
        </p:nvSpPr>
        <p:spPr/>
        <p:txBody>
          <a:bodyPr/>
          <a:lstStyle/>
          <a:p>
            <a:r>
              <a:rPr lang="en-US" dirty="0"/>
              <a:t>Type-2 Driver Diagram</a:t>
            </a:r>
          </a:p>
        </p:txBody>
      </p:sp>
      <p:sp>
        <p:nvSpPr>
          <p:cNvPr id="3" name="Content Placeholder 2">
            <a:extLst>
              <a:ext uri="{FF2B5EF4-FFF2-40B4-BE49-F238E27FC236}">
                <a16:creationId xmlns:a16="http://schemas.microsoft.com/office/drawing/2014/main" id="{8FD0FFA7-E907-1B8B-801B-1547F9A914C2}"/>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59306C9A-7B47-5980-F327-2B9BCC31D9B1}"/>
              </a:ext>
            </a:extLst>
          </p:cNvPr>
          <p:cNvSpPr/>
          <p:nvPr/>
        </p:nvSpPr>
        <p:spPr>
          <a:xfrm>
            <a:off x="310243" y="1926769"/>
            <a:ext cx="8066314" cy="22043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C3A258C-5C5E-A0EF-6883-0FC5B06A05C9}"/>
              </a:ext>
            </a:extLst>
          </p:cNvPr>
          <p:cNvSpPr/>
          <p:nvPr/>
        </p:nvSpPr>
        <p:spPr>
          <a:xfrm>
            <a:off x="3385458" y="2106386"/>
            <a:ext cx="1747157" cy="16165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Native API Partly Java Driver</a:t>
            </a:r>
          </a:p>
        </p:txBody>
      </p:sp>
      <p:sp>
        <p:nvSpPr>
          <p:cNvPr id="6" name="Rectangle 5">
            <a:extLst>
              <a:ext uri="{FF2B5EF4-FFF2-40B4-BE49-F238E27FC236}">
                <a16:creationId xmlns:a16="http://schemas.microsoft.com/office/drawing/2014/main" id="{52B4D48F-3CD4-907C-E0EE-F8CF9B5A12E8}"/>
              </a:ext>
            </a:extLst>
          </p:cNvPr>
          <p:cNvSpPr/>
          <p:nvPr/>
        </p:nvSpPr>
        <p:spPr>
          <a:xfrm>
            <a:off x="6283783" y="2106386"/>
            <a:ext cx="1747157" cy="16165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Vender Specific Native Libraries</a:t>
            </a:r>
          </a:p>
        </p:txBody>
      </p:sp>
      <p:sp>
        <p:nvSpPr>
          <p:cNvPr id="7" name="Can 6">
            <a:extLst>
              <a:ext uri="{FF2B5EF4-FFF2-40B4-BE49-F238E27FC236}">
                <a16:creationId xmlns:a16="http://schemas.microsoft.com/office/drawing/2014/main" id="{F2B80C20-97A2-8687-759C-F559583404C9}"/>
              </a:ext>
            </a:extLst>
          </p:cNvPr>
          <p:cNvSpPr/>
          <p:nvPr/>
        </p:nvSpPr>
        <p:spPr>
          <a:xfrm>
            <a:off x="10130519" y="2122715"/>
            <a:ext cx="1240971" cy="1616528"/>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Databse</a:t>
            </a:r>
            <a:endParaRPr lang="en-US" dirty="0"/>
          </a:p>
        </p:txBody>
      </p:sp>
      <p:sp>
        <p:nvSpPr>
          <p:cNvPr id="8" name="Rectangle 7">
            <a:extLst>
              <a:ext uri="{FF2B5EF4-FFF2-40B4-BE49-F238E27FC236}">
                <a16:creationId xmlns:a16="http://schemas.microsoft.com/office/drawing/2014/main" id="{5FF0DFBD-E913-8628-ADE4-2E693FCDEE46}"/>
              </a:ext>
            </a:extLst>
          </p:cNvPr>
          <p:cNvSpPr/>
          <p:nvPr/>
        </p:nvSpPr>
        <p:spPr>
          <a:xfrm>
            <a:off x="462643" y="2258786"/>
            <a:ext cx="1747157" cy="16165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Java </a:t>
            </a:r>
          </a:p>
          <a:p>
            <a:pPr algn="ctr"/>
            <a:r>
              <a:rPr lang="en-US" dirty="0"/>
              <a:t>Application</a:t>
            </a:r>
          </a:p>
        </p:txBody>
      </p:sp>
      <p:cxnSp>
        <p:nvCxnSpPr>
          <p:cNvPr id="10" name="Straight Arrow Connector 9">
            <a:extLst>
              <a:ext uri="{FF2B5EF4-FFF2-40B4-BE49-F238E27FC236}">
                <a16:creationId xmlns:a16="http://schemas.microsoft.com/office/drawing/2014/main" id="{D8E04172-460E-92B0-D49C-432E08BFE09E}"/>
              </a:ext>
            </a:extLst>
          </p:cNvPr>
          <p:cNvCxnSpPr/>
          <p:nvPr/>
        </p:nvCxnSpPr>
        <p:spPr>
          <a:xfrm>
            <a:off x="2209800" y="2645229"/>
            <a:ext cx="1175658" cy="0"/>
          </a:xfrm>
          <a:prstGeom prst="straightConnector1">
            <a:avLst/>
          </a:prstGeom>
          <a:ln w="635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A933C49-89F9-E451-80C9-232C908CB790}"/>
              </a:ext>
            </a:extLst>
          </p:cNvPr>
          <p:cNvCxnSpPr/>
          <p:nvPr/>
        </p:nvCxnSpPr>
        <p:spPr>
          <a:xfrm>
            <a:off x="5132615" y="2645229"/>
            <a:ext cx="1175658" cy="0"/>
          </a:xfrm>
          <a:prstGeom prst="straightConnector1">
            <a:avLst/>
          </a:prstGeom>
          <a:ln w="635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53896CA-F6D8-142B-202A-6E1CC3FCDF84}"/>
              </a:ext>
            </a:extLst>
          </p:cNvPr>
          <p:cNvCxnSpPr>
            <a:cxnSpLocks/>
          </p:cNvCxnSpPr>
          <p:nvPr/>
        </p:nvCxnSpPr>
        <p:spPr>
          <a:xfrm>
            <a:off x="8376557" y="2645229"/>
            <a:ext cx="1753962" cy="0"/>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A4D8E85-0E46-2ED2-F13F-38E0836E5F33}"/>
              </a:ext>
            </a:extLst>
          </p:cNvPr>
          <p:cNvCxnSpPr/>
          <p:nvPr/>
        </p:nvCxnSpPr>
        <p:spPr>
          <a:xfrm>
            <a:off x="2209800" y="3213265"/>
            <a:ext cx="1175658" cy="0"/>
          </a:xfrm>
          <a:prstGeom prst="straightConnector1">
            <a:avLst/>
          </a:prstGeom>
          <a:ln w="63500">
            <a:solidFill>
              <a:schemeClr val="bg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5FDBEF3-1EB9-0662-0EDD-1F447D650FA1}"/>
              </a:ext>
            </a:extLst>
          </p:cNvPr>
          <p:cNvCxnSpPr/>
          <p:nvPr/>
        </p:nvCxnSpPr>
        <p:spPr>
          <a:xfrm>
            <a:off x="5132615" y="3213265"/>
            <a:ext cx="1175658" cy="0"/>
          </a:xfrm>
          <a:prstGeom prst="straightConnector1">
            <a:avLst/>
          </a:prstGeom>
          <a:ln w="63500">
            <a:solidFill>
              <a:schemeClr val="bg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255A164-2CB4-E6DF-618C-F34CD15C40C4}"/>
              </a:ext>
            </a:extLst>
          </p:cNvPr>
          <p:cNvCxnSpPr>
            <a:cxnSpLocks/>
          </p:cNvCxnSpPr>
          <p:nvPr/>
        </p:nvCxnSpPr>
        <p:spPr>
          <a:xfrm>
            <a:off x="8376557" y="3213265"/>
            <a:ext cx="1753962" cy="0"/>
          </a:xfrm>
          <a:prstGeom prst="straightConnector1">
            <a:avLst/>
          </a:prstGeom>
          <a:ln w="635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40384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016C7-8EB5-8E16-FE08-844AF9297CEF}"/>
              </a:ext>
            </a:extLst>
          </p:cNvPr>
          <p:cNvSpPr>
            <a:spLocks noGrp="1"/>
          </p:cNvSpPr>
          <p:nvPr>
            <p:ph type="title"/>
          </p:nvPr>
        </p:nvSpPr>
        <p:spPr/>
        <p:txBody>
          <a:bodyPr/>
          <a:lstStyle/>
          <a:p>
            <a:r>
              <a:rPr lang="en-US" dirty="0"/>
              <a:t>Type-3 Driver</a:t>
            </a:r>
          </a:p>
        </p:txBody>
      </p:sp>
      <p:sp>
        <p:nvSpPr>
          <p:cNvPr id="3" name="Content Placeholder 2">
            <a:extLst>
              <a:ext uri="{FF2B5EF4-FFF2-40B4-BE49-F238E27FC236}">
                <a16:creationId xmlns:a16="http://schemas.microsoft.com/office/drawing/2014/main" id="{B1AADA6E-BBA9-FA5E-14A7-4414389C2B0D}"/>
              </a:ext>
            </a:extLst>
          </p:cNvPr>
          <p:cNvSpPr>
            <a:spLocks noGrp="1"/>
          </p:cNvSpPr>
          <p:nvPr>
            <p:ph idx="1"/>
          </p:nvPr>
        </p:nvSpPr>
        <p:spPr/>
        <p:txBody>
          <a:bodyPr/>
          <a:lstStyle/>
          <a:p>
            <a:r>
              <a:rPr lang="en-IN" dirty="0"/>
              <a:t>Also known as All Java Net Protocol Driver OR Network Protocol Driver OR Middleware Driver </a:t>
            </a:r>
          </a:p>
          <a:p>
            <a:r>
              <a:rPr lang="en-IN" dirty="0"/>
              <a:t>Type-3 Driver converts JDBC Calls into Middleware Server specific Calls. Middleware Server can convert Middleware Server specific Calls into Database specific Calls. </a:t>
            </a:r>
          </a:p>
          <a:p>
            <a:r>
              <a:rPr lang="en-IN" dirty="0"/>
              <a:t>Internally Middleware Server may use Type-1, 2 OR 4 Drivers to communicates with Database. </a:t>
            </a:r>
          </a:p>
          <a:p>
            <a:endParaRPr lang="en-US" dirty="0"/>
          </a:p>
        </p:txBody>
      </p:sp>
    </p:spTree>
    <p:extLst>
      <p:ext uri="{BB962C8B-B14F-4D97-AF65-F5344CB8AC3E}">
        <p14:creationId xmlns:p14="http://schemas.microsoft.com/office/powerpoint/2010/main" val="12841382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1900D3-E2DA-1A1C-7ADF-9AE30AD19159}"/>
              </a:ext>
            </a:extLst>
          </p:cNvPr>
          <p:cNvSpPr>
            <a:spLocks noGrp="1"/>
          </p:cNvSpPr>
          <p:nvPr>
            <p:ph idx="1"/>
          </p:nvPr>
        </p:nvSpPr>
        <p:spPr>
          <a:xfrm>
            <a:off x="838200" y="581891"/>
            <a:ext cx="10515600" cy="5595072"/>
          </a:xfrm>
        </p:spPr>
        <p:txBody>
          <a:bodyPr>
            <a:normAutofit fontScale="92500" lnSpcReduction="10000"/>
          </a:bodyPr>
          <a:lstStyle/>
          <a:p>
            <a:pPr marL="0" indent="0">
              <a:buNone/>
            </a:pPr>
            <a:r>
              <a:rPr lang="en-IN" b="1" dirty="0"/>
              <a:t>Advantages</a:t>
            </a:r>
            <a:r>
              <a:rPr lang="en-IN" dirty="0"/>
              <a:t>: </a:t>
            </a:r>
          </a:p>
          <a:p>
            <a:pPr marL="0" indent="0">
              <a:buNone/>
            </a:pPr>
            <a:r>
              <a:rPr lang="en-IN" dirty="0"/>
              <a:t>1. This Driver won't communicate with Database directly and hence it is Database Independent Driver. </a:t>
            </a:r>
          </a:p>
          <a:p>
            <a:pPr marL="0" indent="0">
              <a:buNone/>
            </a:pPr>
            <a:r>
              <a:rPr lang="en-IN" dirty="0"/>
              <a:t>2. This Driver is Platform Independent Driver.</a:t>
            </a:r>
            <a:br>
              <a:rPr lang="en-IN" dirty="0"/>
            </a:br>
            <a:r>
              <a:rPr lang="en-IN" dirty="0"/>
              <a:t>3. No need of ODBC Driver OR Vendor specific Native Libraries </a:t>
            </a:r>
          </a:p>
          <a:p>
            <a:pPr marL="0" indent="0">
              <a:buNone/>
            </a:pPr>
            <a:r>
              <a:rPr lang="en-IN" b="1" dirty="0"/>
              <a:t>Limitations</a:t>
            </a:r>
            <a:r>
              <a:rPr lang="en-IN" dirty="0"/>
              <a:t>: </a:t>
            </a:r>
          </a:p>
          <a:p>
            <a:pPr marL="0" indent="0">
              <a:buNone/>
            </a:pPr>
            <a:r>
              <a:rPr lang="en-IN" dirty="0"/>
              <a:t>1. Because of having Middleware Server in the Middle, there may be a chance of Performance Problems. </a:t>
            </a:r>
          </a:p>
          <a:p>
            <a:pPr marL="0" indent="0">
              <a:buNone/>
            </a:pPr>
            <a:r>
              <a:rPr lang="en-IN" dirty="0"/>
              <a:t>2. We need to purchase Middleware Server and hence the cost of this Driver is more when compared with remaining Drivers. </a:t>
            </a:r>
          </a:p>
          <a:p>
            <a:pPr marL="0" indent="0">
              <a:buNone/>
            </a:pPr>
            <a:r>
              <a:rPr lang="en-IN" dirty="0" err="1"/>
              <a:t>Eg</a:t>
            </a:r>
            <a:r>
              <a:rPr lang="en-IN" dirty="0"/>
              <a:t>: IDS Driver (Internet Database Access Server) </a:t>
            </a:r>
          </a:p>
          <a:p>
            <a:pPr marL="0" indent="0">
              <a:buNone/>
            </a:pPr>
            <a:r>
              <a:rPr lang="en-IN" b="1" dirty="0"/>
              <a:t>Note</a:t>
            </a:r>
            <a:r>
              <a:rPr lang="en-IN" dirty="0"/>
              <a:t>: The only Driver which is both Platform Independent and Database Independent is Type-3 Driver. Hence it is recommended to use. </a:t>
            </a:r>
          </a:p>
          <a:p>
            <a:pPr marL="0" indent="0">
              <a:buNone/>
            </a:pPr>
            <a:endParaRPr lang="en-US" dirty="0"/>
          </a:p>
        </p:txBody>
      </p:sp>
    </p:spTree>
    <p:extLst>
      <p:ext uri="{BB962C8B-B14F-4D97-AF65-F5344CB8AC3E}">
        <p14:creationId xmlns:p14="http://schemas.microsoft.com/office/powerpoint/2010/main" val="6749543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437E0-EFAE-95C3-C569-3CD3FBC4FA30}"/>
              </a:ext>
            </a:extLst>
          </p:cNvPr>
          <p:cNvSpPr>
            <a:spLocks noGrp="1"/>
          </p:cNvSpPr>
          <p:nvPr>
            <p:ph type="title"/>
          </p:nvPr>
        </p:nvSpPr>
        <p:spPr/>
        <p:txBody>
          <a:bodyPr/>
          <a:lstStyle/>
          <a:p>
            <a:r>
              <a:rPr lang="en-US" dirty="0"/>
              <a:t>Type-3 Driver Diagram</a:t>
            </a:r>
          </a:p>
        </p:txBody>
      </p:sp>
      <p:sp>
        <p:nvSpPr>
          <p:cNvPr id="3" name="Content Placeholder 2">
            <a:extLst>
              <a:ext uri="{FF2B5EF4-FFF2-40B4-BE49-F238E27FC236}">
                <a16:creationId xmlns:a16="http://schemas.microsoft.com/office/drawing/2014/main" id="{8FD0FFA7-E907-1B8B-801B-1547F9A914C2}"/>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59306C9A-7B47-5980-F327-2B9BCC31D9B1}"/>
              </a:ext>
            </a:extLst>
          </p:cNvPr>
          <p:cNvSpPr/>
          <p:nvPr/>
        </p:nvSpPr>
        <p:spPr>
          <a:xfrm>
            <a:off x="310243" y="1926769"/>
            <a:ext cx="5453743" cy="22043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C3A258C-5C5E-A0EF-6883-0FC5B06A05C9}"/>
              </a:ext>
            </a:extLst>
          </p:cNvPr>
          <p:cNvSpPr/>
          <p:nvPr/>
        </p:nvSpPr>
        <p:spPr>
          <a:xfrm>
            <a:off x="3385458" y="2106386"/>
            <a:ext cx="1747157" cy="16165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All Java Net Protocol Driver</a:t>
            </a:r>
          </a:p>
        </p:txBody>
      </p:sp>
      <p:sp>
        <p:nvSpPr>
          <p:cNvPr id="6" name="Rectangle 5">
            <a:extLst>
              <a:ext uri="{FF2B5EF4-FFF2-40B4-BE49-F238E27FC236}">
                <a16:creationId xmlns:a16="http://schemas.microsoft.com/office/drawing/2014/main" id="{52B4D48F-3CD4-907C-E0EE-F8CF9B5A12E8}"/>
              </a:ext>
            </a:extLst>
          </p:cNvPr>
          <p:cNvSpPr/>
          <p:nvPr/>
        </p:nvSpPr>
        <p:spPr>
          <a:xfrm>
            <a:off x="6283783" y="2106386"/>
            <a:ext cx="1747157" cy="16165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Middleware Server (IDS)</a:t>
            </a:r>
          </a:p>
        </p:txBody>
      </p:sp>
      <p:sp>
        <p:nvSpPr>
          <p:cNvPr id="7" name="Can 6">
            <a:extLst>
              <a:ext uri="{FF2B5EF4-FFF2-40B4-BE49-F238E27FC236}">
                <a16:creationId xmlns:a16="http://schemas.microsoft.com/office/drawing/2014/main" id="{F2B80C20-97A2-8687-759C-F559583404C9}"/>
              </a:ext>
            </a:extLst>
          </p:cNvPr>
          <p:cNvSpPr/>
          <p:nvPr/>
        </p:nvSpPr>
        <p:spPr>
          <a:xfrm>
            <a:off x="10130519" y="2122715"/>
            <a:ext cx="1240971" cy="1616528"/>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Databse</a:t>
            </a:r>
            <a:endParaRPr lang="en-US" dirty="0"/>
          </a:p>
        </p:txBody>
      </p:sp>
      <p:sp>
        <p:nvSpPr>
          <p:cNvPr id="8" name="Rectangle 7">
            <a:extLst>
              <a:ext uri="{FF2B5EF4-FFF2-40B4-BE49-F238E27FC236}">
                <a16:creationId xmlns:a16="http://schemas.microsoft.com/office/drawing/2014/main" id="{5FF0DFBD-E913-8628-ADE4-2E693FCDEE46}"/>
              </a:ext>
            </a:extLst>
          </p:cNvPr>
          <p:cNvSpPr/>
          <p:nvPr/>
        </p:nvSpPr>
        <p:spPr>
          <a:xfrm>
            <a:off x="462643" y="2258786"/>
            <a:ext cx="1747157" cy="16165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Java </a:t>
            </a:r>
          </a:p>
          <a:p>
            <a:pPr algn="ctr"/>
            <a:r>
              <a:rPr lang="en-US" dirty="0"/>
              <a:t>Application</a:t>
            </a:r>
          </a:p>
        </p:txBody>
      </p:sp>
      <p:cxnSp>
        <p:nvCxnSpPr>
          <p:cNvPr id="10" name="Straight Arrow Connector 9">
            <a:extLst>
              <a:ext uri="{FF2B5EF4-FFF2-40B4-BE49-F238E27FC236}">
                <a16:creationId xmlns:a16="http://schemas.microsoft.com/office/drawing/2014/main" id="{D8E04172-460E-92B0-D49C-432E08BFE09E}"/>
              </a:ext>
            </a:extLst>
          </p:cNvPr>
          <p:cNvCxnSpPr/>
          <p:nvPr/>
        </p:nvCxnSpPr>
        <p:spPr>
          <a:xfrm>
            <a:off x="2209800" y="2645229"/>
            <a:ext cx="1175658" cy="0"/>
          </a:xfrm>
          <a:prstGeom prst="straightConnector1">
            <a:avLst/>
          </a:prstGeom>
          <a:ln w="635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A933C49-89F9-E451-80C9-232C908CB790}"/>
              </a:ext>
            </a:extLst>
          </p:cNvPr>
          <p:cNvCxnSpPr/>
          <p:nvPr/>
        </p:nvCxnSpPr>
        <p:spPr>
          <a:xfrm>
            <a:off x="5132615" y="2645229"/>
            <a:ext cx="1175658" cy="0"/>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53896CA-F6D8-142B-202A-6E1CC3FCDF84}"/>
              </a:ext>
            </a:extLst>
          </p:cNvPr>
          <p:cNvCxnSpPr>
            <a:cxnSpLocks/>
          </p:cNvCxnSpPr>
          <p:nvPr/>
        </p:nvCxnSpPr>
        <p:spPr>
          <a:xfrm>
            <a:off x="8030940" y="2645229"/>
            <a:ext cx="2099579" cy="0"/>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A4D8E85-0E46-2ED2-F13F-38E0836E5F33}"/>
              </a:ext>
            </a:extLst>
          </p:cNvPr>
          <p:cNvCxnSpPr/>
          <p:nvPr/>
        </p:nvCxnSpPr>
        <p:spPr>
          <a:xfrm>
            <a:off x="2209800" y="3213265"/>
            <a:ext cx="1175658" cy="0"/>
          </a:xfrm>
          <a:prstGeom prst="straightConnector1">
            <a:avLst/>
          </a:prstGeom>
          <a:ln w="63500">
            <a:solidFill>
              <a:schemeClr val="bg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5FDBEF3-1EB9-0662-0EDD-1F447D650FA1}"/>
              </a:ext>
            </a:extLst>
          </p:cNvPr>
          <p:cNvCxnSpPr/>
          <p:nvPr/>
        </p:nvCxnSpPr>
        <p:spPr>
          <a:xfrm>
            <a:off x="5132615" y="3213265"/>
            <a:ext cx="1175658" cy="0"/>
          </a:xfrm>
          <a:prstGeom prst="straightConnector1">
            <a:avLst/>
          </a:prstGeom>
          <a:ln w="635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255A164-2CB4-E6DF-618C-F34CD15C40C4}"/>
              </a:ext>
            </a:extLst>
          </p:cNvPr>
          <p:cNvCxnSpPr>
            <a:cxnSpLocks/>
          </p:cNvCxnSpPr>
          <p:nvPr/>
        </p:nvCxnSpPr>
        <p:spPr>
          <a:xfrm>
            <a:off x="8030940" y="3213265"/>
            <a:ext cx="2099579" cy="0"/>
          </a:xfrm>
          <a:prstGeom prst="straightConnector1">
            <a:avLst/>
          </a:prstGeom>
          <a:ln w="635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96138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2F6DE-FCF6-7844-90E7-B05562A44671}"/>
              </a:ext>
            </a:extLst>
          </p:cNvPr>
          <p:cNvSpPr>
            <a:spLocks noGrp="1"/>
          </p:cNvSpPr>
          <p:nvPr>
            <p:ph type="title"/>
          </p:nvPr>
        </p:nvSpPr>
        <p:spPr/>
        <p:txBody>
          <a:bodyPr/>
          <a:lstStyle/>
          <a:p>
            <a:r>
              <a:rPr lang="en-US" dirty="0"/>
              <a:t>Type-4 Driver</a:t>
            </a:r>
          </a:p>
        </p:txBody>
      </p:sp>
      <p:sp>
        <p:nvSpPr>
          <p:cNvPr id="3" name="Content Placeholder 2">
            <a:extLst>
              <a:ext uri="{FF2B5EF4-FFF2-40B4-BE49-F238E27FC236}">
                <a16:creationId xmlns:a16="http://schemas.microsoft.com/office/drawing/2014/main" id="{AE42065B-DB6B-6CCB-3E83-9DB19AFF310A}"/>
              </a:ext>
            </a:extLst>
          </p:cNvPr>
          <p:cNvSpPr>
            <a:spLocks noGrp="1"/>
          </p:cNvSpPr>
          <p:nvPr>
            <p:ph idx="1"/>
          </p:nvPr>
        </p:nvSpPr>
        <p:spPr/>
        <p:txBody>
          <a:bodyPr>
            <a:normAutofit fontScale="92500" lnSpcReduction="10000"/>
          </a:bodyPr>
          <a:lstStyle/>
          <a:p>
            <a:r>
              <a:rPr lang="en-IN" dirty="0"/>
              <a:t>Also known as Pure Java Driver OR Thin Driver. </a:t>
            </a:r>
          </a:p>
          <a:p>
            <a:r>
              <a:rPr lang="en-IN" dirty="0"/>
              <a:t>This Driver is developed to talk with the Database directly without taking Support of ODBC Driver OR Vendor Specific Native Libraries OR Middleware Server. </a:t>
            </a:r>
          </a:p>
          <a:p>
            <a:r>
              <a:rPr lang="en-IN" dirty="0"/>
              <a:t>This Driver uses Database specific Native Protocols to communicate with the Database. This Driver converts JDBC Calls directly into Database specific Calls. </a:t>
            </a:r>
          </a:p>
          <a:p>
            <a:r>
              <a:rPr lang="en-IN" dirty="0"/>
              <a:t>This Driver developed only in Java and hence it is also known as Pure Java Driver. Because of this, Type-4 Driver is Platform Independent Driver.</a:t>
            </a:r>
            <a:br>
              <a:rPr lang="en-IN" dirty="0"/>
            </a:br>
            <a:r>
              <a:rPr lang="en-IN" dirty="0"/>
              <a:t>This Driver won't require any Native Libraries at Client side and hence it is light weighted. Because of this it is treated as Thin Driver. </a:t>
            </a:r>
          </a:p>
          <a:p>
            <a:endParaRPr lang="en-US" dirty="0"/>
          </a:p>
        </p:txBody>
      </p:sp>
    </p:spTree>
    <p:extLst>
      <p:ext uri="{BB962C8B-B14F-4D97-AF65-F5344CB8AC3E}">
        <p14:creationId xmlns:p14="http://schemas.microsoft.com/office/powerpoint/2010/main" val="40142653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A72D81-EF6F-783E-6560-6A6CD69C8EAD}"/>
              </a:ext>
            </a:extLst>
          </p:cNvPr>
          <p:cNvSpPr>
            <a:spLocks noGrp="1"/>
          </p:cNvSpPr>
          <p:nvPr>
            <p:ph idx="1"/>
          </p:nvPr>
        </p:nvSpPr>
        <p:spPr>
          <a:xfrm>
            <a:off x="838200" y="365125"/>
            <a:ext cx="10515600" cy="5811838"/>
          </a:xfrm>
        </p:spPr>
        <p:txBody>
          <a:bodyPr>
            <a:normAutofit lnSpcReduction="10000"/>
          </a:bodyPr>
          <a:lstStyle/>
          <a:p>
            <a:pPr marL="0" indent="0">
              <a:buNone/>
            </a:pPr>
            <a:r>
              <a:rPr lang="en-IN" b="1" dirty="0"/>
              <a:t>Advantages</a:t>
            </a:r>
            <a:r>
              <a:rPr lang="en-IN" dirty="0"/>
              <a:t>:</a:t>
            </a:r>
            <a:br>
              <a:rPr lang="en-IN" dirty="0"/>
            </a:br>
            <a:r>
              <a:rPr lang="en-IN" dirty="0"/>
              <a:t>1. It won't require any Native Libraries, ODBC Driver OR Middleware Server 2. It is Platform Independent Driver</a:t>
            </a:r>
            <a:br>
              <a:rPr lang="en-IN" dirty="0"/>
            </a:br>
            <a:r>
              <a:rPr lang="en-IN" dirty="0"/>
              <a:t>3. It uses Database Vendor specific Native Protocol and hence Security is more. </a:t>
            </a:r>
          </a:p>
          <a:p>
            <a:pPr marL="0" indent="0">
              <a:buNone/>
            </a:pPr>
            <a:r>
              <a:rPr lang="en-IN" b="1" dirty="0"/>
              <a:t>Limitation</a:t>
            </a:r>
            <a:r>
              <a:rPr lang="en-IN" dirty="0"/>
              <a:t>: </a:t>
            </a:r>
          </a:p>
          <a:p>
            <a:pPr marL="0" indent="0">
              <a:buNone/>
            </a:pPr>
            <a:r>
              <a:rPr lang="en-IN" dirty="0"/>
              <a:t>The only Limitation of this Driver is, it is Database Dependent Driver because it is communicating with the Database directly. </a:t>
            </a:r>
          </a:p>
          <a:p>
            <a:pPr marL="0" indent="0">
              <a:buNone/>
            </a:pPr>
            <a:r>
              <a:rPr lang="en-IN" dirty="0" err="1"/>
              <a:t>Eg</a:t>
            </a:r>
            <a:r>
              <a:rPr lang="en-IN" dirty="0"/>
              <a:t>: Thin Driver for Oracle Connector/J Driver for MySQL </a:t>
            </a:r>
          </a:p>
          <a:p>
            <a:pPr marL="0" indent="0">
              <a:buNone/>
            </a:pPr>
            <a:r>
              <a:rPr lang="en-IN" b="1" dirty="0"/>
              <a:t>Note</a:t>
            </a:r>
            <a:r>
              <a:rPr lang="en-IN" dirty="0"/>
              <a:t>: It is highly recommended to use Type-4 Driver. </a:t>
            </a:r>
          </a:p>
          <a:p>
            <a:pPr marL="0" indent="0">
              <a:buNone/>
            </a:pPr>
            <a:r>
              <a:rPr lang="en-IN" dirty="0"/>
              <a:t>Java Application ➔ Type-1 Driver ➔ ODBC Driver ➔ DB</a:t>
            </a:r>
            <a:br>
              <a:rPr lang="en-IN" dirty="0"/>
            </a:br>
            <a:r>
              <a:rPr lang="en-IN" dirty="0"/>
              <a:t>Java Application ➔ Type-2 Driver ➔ Vendor Specific Native Libraries ➔ DB Java Application ➔ Type-3 Driver ➔ Middleware Server ➔ DB</a:t>
            </a:r>
            <a:br>
              <a:rPr lang="en-IN" dirty="0"/>
            </a:br>
            <a:r>
              <a:rPr lang="en-IN" dirty="0"/>
              <a:t>Java Application ➔ Type-4 Driver ➔ DB </a:t>
            </a:r>
          </a:p>
          <a:p>
            <a:pPr marL="0" indent="0">
              <a:buNone/>
            </a:pPr>
            <a:endParaRPr lang="en-US" dirty="0"/>
          </a:p>
        </p:txBody>
      </p:sp>
    </p:spTree>
    <p:extLst>
      <p:ext uri="{BB962C8B-B14F-4D97-AF65-F5344CB8AC3E}">
        <p14:creationId xmlns:p14="http://schemas.microsoft.com/office/powerpoint/2010/main" val="5983826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437E0-EFAE-95C3-C569-3CD3FBC4FA30}"/>
              </a:ext>
            </a:extLst>
          </p:cNvPr>
          <p:cNvSpPr>
            <a:spLocks noGrp="1"/>
          </p:cNvSpPr>
          <p:nvPr>
            <p:ph type="title"/>
          </p:nvPr>
        </p:nvSpPr>
        <p:spPr/>
        <p:txBody>
          <a:bodyPr/>
          <a:lstStyle/>
          <a:p>
            <a:r>
              <a:rPr lang="en-US" dirty="0"/>
              <a:t>Type-4 Driver Diagram</a:t>
            </a:r>
          </a:p>
        </p:txBody>
      </p:sp>
      <p:sp>
        <p:nvSpPr>
          <p:cNvPr id="3" name="Content Placeholder 2">
            <a:extLst>
              <a:ext uri="{FF2B5EF4-FFF2-40B4-BE49-F238E27FC236}">
                <a16:creationId xmlns:a16="http://schemas.microsoft.com/office/drawing/2014/main" id="{8FD0FFA7-E907-1B8B-801B-1547F9A914C2}"/>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59306C9A-7B47-5980-F327-2B9BCC31D9B1}"/>
              </a:ext>
            </a:extLst>
          </p:cNvPr>
          <p:cNvSpPr/>
          <p:nvPr/>
        </p:nvSpPr>
        <p:spPr>
          <a:xfrm>
            <a:off x="310243" y="1926769"/>
            <a:ext cx="5453743" cy="22043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C3A258C-5C5E-A0EF-6883-0FC5B06A05C9}"/>
              </a:ext>
            </a:extLst>
          </p:cNvPr>
          <p:cNvSpPr/>
          <p:nvPr/>
        </p:nvSpPr>
        <p:spPr>
          <a:xfrm>
            <a:off x="3385458" y="2106386"/>
            <a:ext cx="1747157" cy="16165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All Java Net Protocol Driver</a:t>
            </a:r>
          </a:p>
        </p:txBody>
      </p:sp>
      <p:sp>
        <p:nvSpPr>
          <p:cNvPr id="6" name="Rectangle 5">
            <a:extLst>
              <a:ext uri="{FF2B5EF4-FFF2-40B4-BE49-F238E27FC236}">
                <a16:creationId xmlns:a16="http://schemas.microsoft.com/office/drawing/2014/main" id="{52B4D48F-3CD4-907C-E0EE-F8CF9B5A12E8}"/>
              </a:ext>
            </a:extLst>
          </p:cNvPr>
          <p:cNvSpPr/>
          <p:nvPr/>
        </p:nvSpPr>
        <p:spPr>
          <a:xfrm>
            <a:off x="6283783" y="2106386"/>
            <a:ext cx="1747157" cy="16165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Middleware Server (IDS)</a:t>
            </a:r>
          </a:p>
        </p:txBody>
      </p:sp>
      <p:sp>
        <p:nvSpPr>
          <p:cNvPr id="7" name="Can 6">
            <a:extLst>
              <a:ext uri="{FF2B5EF4-FFF2-40B4-BE49-F238E27FC236}">
                <a16:creationId xmlns:a16="http://schemas.microsoft.com/office/drawing/2014/main" id="{F2B80C20-97A2-8687-759C-F559583404C9}"/>
              </a:ext>
            </a:extLst>
          </p:cNvPr>
          <p:cNvSpPr/>
          <p:nvPr/>
        </p:nvSpPr>
        <p:spPr>
          <a:xfrm>
            <a:off x="10130519" y="2122715"/>
            <a:ext cx="1240971" cy="1616528"/>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Databse</a:t>
            </a:r>
            <a:endParaRPr lang="en-US" dirty="0"/>
          </a:p>
        </p:txBody>
      </p:sp>
      <p:sp>
        <p:nvSpPr>
          <p:cNvPr id="8" name="Rectangle 7">
            <a:extLst>
              <a:ext uri="{FF2B5EF4-FFF2-40B4-BE49-F238E27FC236}">
                <a16:creationId xmlns:a16="http://schemas.microsoft.com/office/drawing/2014/main" id="{5FF0DFBD-E913-8628-ADE4-2E693FCDEE46}"/>
              </a:ext>
            </a:extLst>
          </p:cNvPr>
          <p:cNvSpPr/>
          <p:nvPr/>
        </p:nvSpPr>
        <p:spPr>
          <a:xfrm>
            <a:off x="462643" y="2258786"/>
            <a:ext cx="1747157" cy="16165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Java </a:t>
            </a:r>
          </a:p>
          <a:p>
            <a:pPr algn="ctr"/>
            <a:r>
              <a:rPr lang="en-US" dirty="0"/>
              <a:t>Application</a:t>
            </a:r>
          </a:p>
        </p:txBody>
      </p:sp>
      <p:cxnSp>
        <p:nvCxnSpPr>
          <p:cNvPr id="10" name="Straight Arrow Connector 9">
            <a:extLst>
              <a:ext uri="{FF2B5EF4-FFF2-40B4-BE49-F238E27FC236}">
                <a16:creationId xmlns:a16="http://schemas.microsoft.com/office/drawing/2014/main" id="{D8E04172-460E-92B0-D49C-432E08BFE09E}"/>
              </a:ext>
            </a:extLst>
          </p:cNvPr>
          <p:cNvCxnSpPr/>
          <p:nvPr/>
        </p:nvCxnSpPr>
        <p:spPr>
          <a:xfrm>
            <a:off x="2209800" y="2645229"/>
            <a:ext cx="1175658" cy="0"/>
          </a:xfrm>
          <a:prstGeom prst="straightConnector1">
            <a:avLst/>
          </a:prstGeom>
          <a:ln w="635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A933C49-89F9-E451-80C9-232C908CB790}"/>
              </a:ext>
            </a:extLst>
          </p:cNvPr>
          <p:cNvCxnSpPr/>
          <p:nvPr/>
        </p:nvCxnSpPr>
        <p:spPr>
          <a:xfrm>
            <a:off x="5132615" y="2645229"/>
            <a:ext cx="1175658" cy="0"/>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53896CA-F6D8-142B-202A-6E1CC3FCDF84}"/>
              </a:ext>
            </a:extLst>
          </p:cNvPr>
          <p:cNvCxnSpPr>
            <a:cxnSpLocks/>
          </p:cNvCxnSpPr>
          <p:nvPr/>
        </p:nvCxnSpPr>
        <p:spPr>
          <a:xfrm>
            <a:off x="8030940" y="2645229"/>
            <a:ext cx="2099579" cy="0"/>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A4D8E85-0E46-2ED2-F13F-38E0836E5F33}"/>
              </a:ext>
            </a:extLst>
          </p:cNvPr>
          <p:cNvCxnSpPr/>
          <p:nvPr/>
        </p:nvCxnSpPr>
        <p:spPr>
          <a:xfrm>
            <a:off x="2209800" y="3213265"/>
            <a:ext cx="1175658" cy="0"/>
          </a:xfrm>
          <a:prstGeom prst="straightConnector1">
            <a:avLst/>
          </a:prstGeom>
          <a:ln w="63500">
            <a:solidFill>
              <a:schemeClr val="bg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5FDBEF3-1EB9-0662-0EDD-1F447D650FA1}"/>
              </a:ext>
            </a:extLst>
          </p:cNvPr>
          <p:cNvCxnSpPr/>
          <p:nvPr/>
        </p:nvCxnSpPr>
        <p:spPr>
          <a:xfrm>
            <a:off x="5132615" y="3213265"/>
            <a:ext cx="1175658" cy="0"/>
          </a:xfrm>
          <a:prstGeom prst="straightConnector1">
            <a:avLst/>
          </a:prstGeom>
          <a:ln w="635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255A164-2CB4-E6DF-618C-F34CD15C40C4}"/>
              </a:ext>
            </a:extLst>
          </p:cNvPr>
          <p:cNvCxnSpPr>
            <a:cxnSpLocks/>
          </p:cNvCxnSpPr>
          <p:nvPr/>
        </p:nvCxnSpPr>
        <p:spPr>
          <a:xfrm>
            <a:off x="8030940" y="3213265"/>
            <a:ext cx="2099579" cy="0"/>
          </a:xfrm>
          <a:prstGeom prst="straightConnector1">
            <a:avLst/>
          </a:prstGeom>
          <a:ln w="635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89832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6329A-4F49-224C-69A0-954BEDFDB1E1}"/>
              </a:ext>
            </a:extLst>
          </p:cNvPr>
          <p:cNvSpPr>
            <a:spLocks noGrp="1"/>
          </p:cNvSpPr>
          <p:nvPr>
            <p:ph type="title"/>
          </p:nvPr>
        </p:nvSpPr>
        <p:spPr/>
        <p:txBody>
          <a:bodyPr/>
          <a:lstStyle/>
          <a:p>
            <a:r>
              <a:rPr lang="en-US" dirty="0"/>
              <a:t>Which Driver to Use</a:t>
            </a:r>
          </a:p>
        </p:txBody>
      </p:sp>
      <p:sp>
        <p:nvSpPr>
          <p:cNvPr id="3" name="Content Placeholder 2">
            <a:extLst>
              <a:ext uri="{FF2B5EF4-FFF2-40B4-BE49-F238E27FC236}">
                <a16:creationId xmlns:a16="http://schemas.microsoft.com/office/drawing/2014/main" id="{15582BBF-25AB-3C41-B4C1-4232F8441DB1}"/>
              </a:ext>
            </a:extLst>
          </p:cNvPr>
          <p:cNvSpPr>
            <a:spLocks noGrp="1"/>
          </p:cNvSpPr>
          <p:nvPr>
            <p:ph idx="1"/>
          </p:nvPr>
        </p:nvSpPr>
        <p:spPr/>
        <p:txBody>
          <a:bodyPr/>
          <a:lstStyle/>
          <a:p>
            <a:pPr marL="0" indent="0">
              <a:buNone/>
            </a:pPr>
            <a:r>
              <a:rPr lang="en-IN" dirty="0"/>
              <a:t>1. If we are using only one Type of Database in our Application then it is recommended to use Type-4 Driver. </a:t>
            </a:r>
          </a:p>
          <a:p>
            <a:pPr marL="0" indent="0">
              <a:buNone/>
            </a:pPr>
            <a:r>
              <a:rPr lang="en-IN" dirty="0" err="1"/>
              <a:t>Eg</a:t>
            </a:r>
            <a:r>
              <a:rPr lang="en-IN" dirty="0"/>
              <a:t>: Stand Alone Applications, Small Scale Web Applications </a:t>
            </a:r>
          </a:p>
          <a:p>
            <a:pPr marL="0" indent="0">
              <a:buNone/>
            </a:pPr>
            <a:r>
              <a:rPr lang="en-IN" dirty="0"/>
              <a:t>2. If we are using multiple Databases in our Application then Type-3 Driver is recommended to use. </a:t>
            </a:r>
          </a:p>
          <a:p>
            <a:pPr marL="0" indent="0">
              <a:buNone/>
            </a:pPr>
            <a:r>
              <a:rPr lang="en-IN" dirty="0" err="1"/>
              <a:t>Eg</a:t>
            </a:r>
            <a:r>
              <a:rPr lang="en-IN" dirty="0"/>
              <a:t>: Large Scale Web Applications and Enterprise Applications</a:t>
            </a:r>
            <a:br>
              <a:rPr lang="en-IN" dirty="0"/>
            </a:br>
            <a:r>
              <a:rPr lang="en-IN" dirty="0"/>
              <a:t>3. If Type-3 and Type-4 Drivers are not available then only we should go for Type-2 Driver. 4. If no other Driver is available then only we should go for Type-1 Driver. </a:t>
            </a:r>
          </a:p>
          <a:p>
            <a:pPr marL="0" indent="0">
              <a:buNone/>
            </a:pPr>
            <a:endParaRPr lang="en-US" dirty="0"/>
          </a:p>
        </p:txBody>
      </p:sp>
    </p:spTree>
    <p:extLst>
      <p:ext uri="{BB962C8B-B14F-4D97-AF65-F5344CB8AC3E}">
        <p14:creationId xmlns:p14="http://schemas.microsoft.com/office/powerpoint/2010/main" val="42216724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55883-B87A-5960-F2D7-C22CE69337D7}"/>
              </a:ext>
            </a:extLst>
          </p:cNvPr>
          <p:cNvSpPr>
            <a:spLocks noGrp="1"/>
          </p:cNvSpPr>
          <p:nvPr>
            <p:ph type="title"/>
          </p:nvPr>
        </p:nvSpPr>
        <p:spPr/>
        <p:txBody>
          <a:bodyPr/>
          <a:lstStyle/>
          <a:p>
            <a:r>
              <a:rPr lang="en-IN" dirty="0"/>
              <a:t>Thin Driver and Thick Driver: </a:t>
            </a:r>
            <a:endParaRPr lang="en-US" dirty="0"/>
          </a:p>
        </p:txBody>
      </p:sp>
      <p:sp>
        <p:nvSpPr>
          <p:cNvPr id="3" name="Content Placeholder 2">
            <a:extLst>
              <a:ext uri="{FF2B5EF4-FFF2-40B4-BE49-F238E27FC236}">
                <a16:creationId xmlns:a16="http://schemas.microsoft.com/office/drawing/2014/main" id="{93AA4C9C-2208-0E91-D06D-7D6E22889C04}"/>
              </a:ext>
            </a:extLst>
          </p:cNvPr>
          <p:cNvSpPr>
            <a:spLocks noGrp="1"/>
          </p:cNvSpPr>
          <p:nvPr>
            <p:ph idx="1"/>
          </p:nvPr>
        </p:nvSpPr>
        <p:spPr/>
        <p:txBody>
          <a:bodyPr>
            <a:normAutofit fontScale="92500" lnSpcReduction="10000"/>
          </a:bodyPr>
          <a:lstStyle/>
          <a:p>
            <a:r>
              <a:rPr lang="en-IN" dirty="0"/>
              <a:t>If Driver won't require any extra Component to communicate with Database, such type of Driver is called Thin Driver.</a:t>
            </a:r>
          </a:p>
          <a:p>
            <a:r>
              <a:rPr lang="en-IN" dirty="0" err="1"/>
              <a:t>Eg</a:t>
            </a:r>
            <a:r>
              <a:rPr lang="en-IN" dirty="0"/>
              <a:t>: Type-4 Driver </a:t>
            </a:r>
          </a:p>
          <a:p>
            <a:endParaRPr lang="en-IN" dirty="0"/>
          </a:p>
          <a:p>
            <a:r>
              <a:rPr lang="en-IN" dirty="0"/>
              <a:t>If Driver require some extra Component (like ODBC Driver OR Vendor specific Native Libraries OR Middleware Server), such Type of Driver is called Thick Driver.</a:t>
            </a:r>
          </a:p>
          <a:p>
            <a:r>
              <a:rPr lang="en-IN" dirty="0" err="1"/>
              <a:t>Eg</a:t>
            </a:r>
            <a:r>
              <a:rPr lang="en-IN" dirty="0"/>
              <a:t>: Type-1, Type-2 and Type-3 Drivers </a:t>
            </a:r>
          </a:p>
          <a:p>
            <a:endParaRPr lang="en-US" dirty="0"/>
          </a:p>
          <a:p>
            <a:r>
              <a:rPr lang="en-IN" dirty="0"/>
              <a:t>Type-1, Type-2 and Type-4 Drivers follow 2-Tier Architecture. Type-3 Driver follows 3-Tier Architecture. </a:t>
            </a:r>
          </a:p>
          <a:p>
            <a:endParaRPr lang="en-US" dirty="0"/>
          </a:p>
        </p:txBody>
      </p:sp>
    </p:spTree>
    <p:extLst>
      <p:ext uri="{BB962C8B-B14F-4D97-AF65-F5344CB8AC3E}">
        <p14:creationId xmlns:p14="http://schemas.microsoft.com/office/powerpoint/2010/main" val="32410395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8ED07-0AE7-3172-71C3-DCF30BE7E581}"/>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FC61AE00-1EC9-1F0C-6F53-4F70BA7B9EF2}"/>
              </a:ext>
            </a:extLst>
          </p:cNvPr>
          <p:cNvGraphicFramePr>
            <a:graphicFrameLocks noGrp="1"/>
          </p:cNvGraphicFramePr>
          <p:nvPr>
            <p:ph idx="1"/>
            <p:extLst>
              <p:ext uri="{D42A27DB-BD31-4B8C-83A1-F6EECF244321}">
                <p14:modId xmlns:p14="http://schemas.microsoft.com/office/powerpoint/2010/main" val="557707597"/>
              </p:ext>
            </p:extLst>
          </p:nvPr>
        </p:nvGraphicFramePr>
        <p:xfrm>
          <a:off x="838200" y="1825625"/>
          <a:ext cx="10515600" cy="394716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1071224785"/>
                    </a:ext>
                  </a:extLst>
                </a:gridCol>
                <a:gridCol w="2103120">
                  <a:extLst>
                    <a:ext uri="{9D8B030D-6E8A-4147-A177-3AD203B41FA5}">
                      <a16:colId xmlns:a16="http://schemas.microsoft.com/office/drawing/2014/main" val="1516951250"/>
                    </a:ext>
                  </a:extLst>
                </a:gridCol>
                <a:gridCol w="2103120">
                  <a:extLst>
                    <a:ext uri="{9D8B030D-6E8A-4147-A177-3AD203B41FA5}">
                      <a16:colId xmlns:a16="http://schemas.microsoft.com/office/drawing/2014/main" val="696975111"/>
                    </a:ext>
                  </a:extLst>
                </a:gridCol>
                <a:gridCol w="2103120">
                  <a:extLst>
                    <a:ext uri="{9D8B030D-6E8A-4147-A177-3AD203B41FA5}">
                      <a16:colId xmlns:a16="http://schemas.microsoft.com/office/drawing/2014/main" val="412860903"/>
                    </a:ext>
                  </a:extLst>
                </a:gridCol>
                <a:gridCol w="2103120">
                  <a:extLst>
                    <a:ext uri="{9D8B030D-6E8A-4147-A177-3AD203B41FA5}">
                      <a16:colId xmlns:a16="http://schemas.microsoft.com/office/drawing/2014/main" val="2790657623"/>
                    </a:ext>
                  </a:extLst>
                </a:gridCol>
              </a:tblGrid>
              <a:tr h="370840">
                <a:tc>
                  <a:txBody>
                    <a:bodyPr/>
                    <a:lstStyle/>
                    <a:p>
                      <a:r>
                        <a:rPr lang="en-US" dirty="0"/>
                        <a:t>Properties</a:t>
                      </a:r>
                    </a:p>
                  </a:txBody>
                  <a:tcPr/>
                </a:tc>
                <a:tc>
                  <a:txBody>
                    <a:bodyPr/>
                    <a:lstStyle/>
                    <a:p>
                      <a:r>
                        <a:rPr lang="en-US" dirty="0"/>
                        <a:t>Type-1 Driver</a:t>
                      </a:r>
                    </a:p>
                  </a:txBody>
                  <a:tcPr/>
                </a:tc>
                <a:tc>
                  <a:txBody>
                    <a:bodyPr/>
                    <a:lstStyle/>
                    <a:p>
                      <a:r>
                        <a:rPr lang="en-US" dirty="0"/>
                        <a:t>Type-2 Driver</a:t>
                      </a:r>
                    </a:p>
                  </a:txBody>
                  <a:tcPr/>
                </a:tc>
                <a:tc>
                  <a:txBody>
                    <a:bodyPr/>
                    <a:lstStyle/>
                    <a:p>
                      <a:r>
                        <a:rPr lang="en-US" dirty="0"/>
                        <a:t>Type-3 Driver</a:t>
                      </a:r>
                    </a:p>
                  </a:txBody>
                  <a:tcPr/>
                </a:tc>
                <a:tc>
                  <a:txBody>
                    <a:bodyPr/>
                    <a:lstStyle/>
                    <a:p>
                      <a:r>
                        <a:rPr lang="en-US" dirty="0"/>
                        <a:t>Type-4 Driver</a:t>
                      </a:r>
                    </a:p>
                  </a:txBody>
                  <a:tcPr/>
                </a:tc>
                <a:extLst>
                  <a:ext uri="{0D108BD9-81ED-4DB2-BD59-A6C34878D82A}">
                    <a16:rowId xmlns:a16="http://schemas.microsoft.com/office/drawing/2014/main" val="328064622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latin typeface="+mn-lt"/>
                          <a:ea typeface="+mn-ea"/>
                          <a:cs typeface="+mn-cs"/>
                        </a:rPr>
                        <a:t>Conversion </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latin typeface="+mn-lt"/>
                          <a:ea typeface="+mn-ea"/>
                          <a:cs typeface="+mn-cs"/>
                        </a:rPr>
                        <a:t>From JDBC Calls To ODBC Calls </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latin typeface="+mn-lt"/>
                          <a:ea typeface="+mn-ea"/>
                          <a:cs typeface="+mn-cs"/>
                        </a:rPr>
                        <a:t>From JDBC Calls To Native Library Calls </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latin typeface="+mn-lt"/>
                          <a:ea typeface="+mn-ea"/>
                          <a:cs typeface="+mn-cs"/>
                        </a:rPr>
                        <a:t>From JDBC Calls</a:t>
                      </a:r>
                      <a:br>
                        <a:rPr lang="en-IN" sz="1800" kern="1200" dirty="0">
                          <a:solidFill>
                            <a:schemeClr val="dk1"/>
                          </a:solidFill>
                          <a:effectLst/>
                          <a:latin typeface="+mn-lt"/>
                          <a:ea typeface="+mn-ea"/>
                          <a:cs typeface="+mn-cs"/>
                        </a:rPr>
                      </a:br>
                      <a:r>
                        <a:rPr lang="en-IN" sz="1800" kern="1200" dirty="0">
                          <a:solidFill>
                            <a:schemeClr val="dk1"/>
                          </a:solidFill>
                          <a:effectLst/>
                          <a:latin typeface="+mn-lt"/>
                          <a:ea typeface="+mn-ea"/>
                          <a:cs typeface="+mn-cs"/>
                        </a:rPr>
                        <a:t>To Middleware Server Specific Calls </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latin typeface="+mn-lt"/>
                          <a:ea typeface="+mn-ea"/>
                          <a:cs typeface="+mn-cs"/>
                        </a:rPr>
                        <a:t>From JDBC Calls To Database Specific Calls </a:t>
                      </a:r>
                      <a:endParaRPr lang="en-IN" dirty="0"/>
                    </a:p>
                  </a:txBody>
                  <a:tcPr/>
                </a:tc>
                <a:extLst>
                  <a:ext uri="{0D108BD9-81ED-4DB2-BD59-A6C34878D82A}">
                    <a16:rowId xmlns:a16="http://schemas.microsoft.com/office/drawing/2014/main" val="3147379006"/>
                  </a:ext>
                </a:extLst>
              </a:tr>
              <a:tr h="370840">
                <a:tc>
                  <a:txBody>
                    <a:bodyPr/>
                    <a:lstStyle/>
                    <a:p>
                      <a:r>
                        <a:rPr lang="en-US" dirty="0"/>
                        <a:t>Implemented in</a:t>
                      </a:r>
                    </a:p>
                  </a:txBody>
                  <a:tcPr/>
                </a:tc>
                <a:tc>
                  <a:txBody>
                    <a:bodyPr/>
                    <a:lstStyle/>
                    <a:p>
                      <a:r>
                        <a:rPr lang="en-US" dirty="0"/>
                        <a:t>Only Java</a:t>
                      </a:r>
                    </a:p>
                  </a:txBody>
                  <a:tcPr/>
                </a:tc>
                <a:tc>
                  <a:txBody>
                    <a:bodyPr/>
                    <a:lstStyle/>
                    <a:p>
                      <a:r>
                        <a:rPr lang="en-US" dirty="0"/>
                        <a:t>Java + Native Language</a:t>
                      </a:r>
                    </a:p>
                  </a:txBody>
                  <a:tcPr/>
                </a:tc>
                <a:tc>
                  <a:txBody>
                    <a:bodyPr/>
                    <a:lstStyle/>
                    <a:p>
                      <a:r>
                        <a:rPr lang="en-US" dirty="0"/>
                        <a:t>Only Java</a:t>
                      </a:r>
                    </a:p>
                  </a:txBody>
                  <a:tcPr/>
                </a:tc>
                <a:tc>
                  <a:txBody>
                    <a:bodyPr/>
                    <a:lstStyle/>
                    <a:p>
                      <a:r>
                        <a:rPr lang="en-US" dirty="0"/>
                        <a:t>Only Java</a:t>
                      </a:r>
                    </a:p>
                  </a:txBody>
                  <a:tcPr/>
                </a:tc>
                <a:extLst>
                  <a:ext uri="{0D108BD9-81ED-4DB2-BD59-A6C34878D82A}">
                    <a16:rowId xmlns:a16="http://schemas.microsoft.com/office/drawing/2014/main" val="3392138579"/>
                  </a:ext>
                </a:extLst>
              </a:tr>
              <a:tr h="370840">
                <a:tc>
                  <a:txBody>
                    <a:bodyPr/>
                    <a:lstStyle/>
                    <a:p>
                      <a:r>
                        <a:rPr lang="en-US" dirty="0"/>
                        <a:t>Architecture</a:t>
                      </a:r>
                    </a:p>
                  </a:txBody>
                  <a:tcPr/>
                </a:tc>
                <a:tc>
                  <a:txBody>
                    <a:bodyPr/>
                    <a:lstStyle/>
                    <a:p>
                      <a:r>
                        <a:rPr lang="en-US" dirty="0"/>
                        <a:t>Tier-2</a:t>
                      </a:r>
                    </a:p>
                  </a:txBody>
                  <a:tcPr/>
                </a:tc>
                <a:tc>
                  <a:txBody>
                    <a:bodyPr/>
                    <a:lstStyle/>
                    <a:p>
                      <a:r>
                        <a:rPr lang="en-US" dirty="0"/>
                        <a:t>Tier-2</a:t>
                      </a:r>
                    </a:p>
                  </a:txBody>
                  <a:tcPr/>
                </a:tc>
                <a:tc>
                  <a:txBody>
                    <a:bodyPr/>
                    <a:lstStyle/>
                    <a:p>
                      <a:r>
                        <a:rPr lang="en-US" dirty="0"/>
                        <a:t>Tier-3 </a:t>
                      </a:r>
                    </a:p>
                  </a:txBody>
                  <a:tcPr/>
                </a:tc>
                <a:tc>
                  <a:txBody>
                    <a:bodyPr/>
                    <a:lstStyle/>
                    <a:p>
                      <a:r>
                        <a:rPr lang="en-US" dirty="0"/>
                        <a:t>Tier-2</a:t>
                      </a:r>
                    </a:p>
                  </a:txBody>
                  <a:tcPr/>
                </a:tc>
                <a:extLst>
                  <a:ext uri="{0D108BD9-81ED-4DB2-BD59-A6C34878D82A}">
                    <a16:rowId xmlns:a16="http://schemas.microsoft.com/office/drawing/2014/main" val="4037236786"/>
                  </a:ext>
                </a:extLst>
              </a:tr>
              <a:tr h="370840">
                <a:tc>
                  <a:txBody>
                    <a:bodyPr/>
                    <a:lstStyle/>
                    <a:p>
                      <a:r>
                        <a:rPr lang="en-US" dirty="0"/>
                        <a:t>Is it Platform Independent</a:t>
                      </a:r>
                    </a:p>
                  </a:txBody>
                  <a:tcPr/>
                </a:tc>
                <a:tc>
                  <a:txBody>
                    <a:bodyPr/>
                    <a:lstStyle/>
                    <a:p>
                      <a:r>
                        <a:rPr lang="en-US" dirty="0"/>
                        <a:t>No</a:t>
                      </a:r>
                    </a:p>
                  </a:txBody>
                  <a:tcPr/>
                </a:tc>
                <a:tc>
                  <a:txBody>
                    <a:bodyPr/>
                    <a:lstStyle/>
                    <a:p>
                      <a:r>
                        <a:rPr lang="en-US" dirty="0"/>
                        <a:t>No </a:t>
                      </a:r>
                    </a:p>
                  </a:txBody>
                  <a:tcPr/>
                </a:tc>
                <a:tc>
                  <a:txBody>
                    <a:bodyPr/>
                    <a:lstStyle/>
                    <a:p>
                      <a:r>
                        <a:rPr lang="en-US" dirty="0"/>
                        <a:t>Yes </a:t>
                      </a:r>
                    </a:p>
                  </a:txBody>
                  <a:tcPr/>
                </a:tc>
                <a:tc>
                  <a:txBody>
                    <a:bodyPr/>
                    <a:lstStyle/>
                    <a:p>
                      <a:r>
                        <a:rPr lang="en-US"/>
                        <a:t>Yes</a:t>
                      </a:r>
                    </a:p>
                  </a:txBody>
                  <a:tcPr/>
                </a:tc>
                <a:extLst>
                  <a:ext uri="{0D108BD9-81ED-4DB2-BD59-A6C34878D82A}">
                    <a16:rowId xmlns:a16="http://schemas.microsoft.com/office/drawing/2014/main" val="742452956"/>
                  </a:ext>
                </a:extLst>
              </a:tr>
              <a:tr h="370840">
                <a:tc>
                  <a:txBody>
                    <a:bodyPr/>
                    <a:lstStyle/>
                    <a:p>
                      <a:r>
                        <a:rPr lang="en-US" dirty="0"/>
                        <a:t>Is it Database Independent</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36561996"/>
                  </a:ext>
                </a:extLst>
              </a:tr>
              <a:tr h="370840">
                <a:tc>
                  <a:txBody>
                    <a:bodyPr/>
                    <a:lstStyle/>
                    <a:p>
                      <a:r>
                        <a:rPr lang="en-US" dirty="0"/>
                        <a:t>It is Thin or Thick</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736965756"/>
                  </a:ext>
                </a:extLst>
              </a:tr>
            </a:tbl>
          </a:graphicData>
        </a:graphic>
      </p:graphicFrame>
    </p:spTree>
    <p:extLst>
      <p:ext uri="{BB962C8B-B14F-4D97-AF65-F5344CB8AC3E}">
        <p14:creationId xmlns:p14="http://schemas.microsoft.com/office/powerpoint/2010/main" val="29961403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1550</TotalTime>
  <Words>3819</Words>
  <Application>Microsoft Macintosh PowerPoint</Application>
  <PresentationFormat>Widescreen</PresentationFormat>
  <Paragraphs>401</Paragraphs>
  <Slides>44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44</vt:i4>
      </vt:variant>
    </vt:vector>
  </HeadingPairs>
  <TitlesOfParts>
    <vt:vector size="54" baseType="lpstr">
      <vt:lpstr>Malgun Gothic</vt:lpstr>
      <vt:lpstr>Arial</vt:lpstr>
      <vt:lpstr>Calibri</vt:lpstr>
      <vt:lpstr>Calibri Light</vt:lpstr>
      <vt:lpstr>Calibri,Bold</vt:lpstr>
      <vt:lpstr>Calibri,BoldItalic</vt:lpstr>
      <vt:lpstr>Menlo</vt:lpstr>
      <vt:lpstr>Symbol</vt:lpstr>
      <vt:lpstr>Wingdings</vt:lpstr>
      <vt:lpstr>Office Theme</vt:lpstr>
      <vt:lpstr>Advance Java: Introduction to JDBC</vt:lpstr>
      <vt:lpstr>JDBC: Introduction</vt:lpstr>
      <vt:lpstr>PowerPoint Presentation</vt:lpstr>
      <vt:lpstr>PowerPoint Presentation</vt:lpstr>
      <vt:lpstr>Steps to Create JDBC Application</vt:lpstr>
      <vt:lpstr>PowerPoint Presentation</vt:lpstr>
      <vt:lpstr>PowerPoint Presentation</vt:lpstr>
      <vt:lpstr>PowerPoint Presentation</vt:lpstr>
      <vt:lpstr>PowerPoint Presentation</vt:lpstr>
      <vt:lpstr>Features of JDBC</vt:lpstr>
      <vt:lpstr>Evolution of JDBC</vt:lpstr>
      <vt:lpstr>PowerPoint Presentation</vt:lpstr>
      <vt:lpstr>PowerPoint Presentation</vt:lpstr>
      <vt:lpstr>Limitation</vt:lpstr>
      <vt:lpstr>PowerPoint Presentation</vt:lpstr>
      <vt:lpstr>Note</vt:lpstr>
      <vt:lpstr>JDBC vs ODBC</vt:lpstr>
      <vt:lpstr>PowerPoint Presentation</vt:lpstr>
      <vt:lpstr>DriverManager:</vt:lpstr>
      <vt:lpstr>Database Driver</vt:lpstr>
      <vt:lpstr>JDBC API</vt:lpstr>
      <vt:lpstr>1. java.sql package</vt:lpstr>
      <vt:lpstr>2. javax.sql package</vt:lpstr>
      <vt:lpstr>PowerPoint Presentation</vt:lpstr>
      <vt:lpstr>Difference between Driver Interface, Driver Class and Driver Software </vt:lpstr>
      <vt:lpstr>Driver jar file</vt:lpstr>
      <vt:lpstr>Who provide Driver Software?</vt:lpstr>
      <vt:lpstr>PowerPoint Presentation</vt:lpstr>
      <vt:lpstr>Types of Drivers</vt:lpstr>
      <vt:lpstr>Type-1 Driver</vt:lpstr>
      <vt:lpstr>PowerPoint Presentation</vt:lpstr>
      <vt:lpstr>Type-1 Driver Diagram</vt:lpstr>
      <vt:lpstr>Type-2 Driver</vt:lpstr>
      <vt:lpstr>PowerPoint Presentation</vt:lpstr>
      <vt:lpstr>Type-2 Driver Diagram</vt:lpstr>
      <vt:lpstr>Type-3 Driver</vt:lpstr>
      <vt:lpstr>PowerPoint Presentation</vt:lpstr>
      <vt:lpstr>Type-3 Driver Diagram</vt:lpstr>
      <vt:lpstr>Type-4 Driver</vt:lpstr>
      <vt:lpstr>PowerPoint Presentation</vt:lpstr>
      <vt:lpstr>Type-4 Driver Diagram</vt:lpstr>
      <vt:lpstr>Which Driver to Use</vt:lpstr>
      <vt:lpstr>Thin Driver and Thick Driver: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 Java: Introduction to JDBC</dc:title>
  <dc:creator>NAVEEN KUMAR</dc:creator>
  <cp:lastModifiedBy>NAVEEN KUMAR</cp:lastModifiedBy>
  <cp:revision>82</cp:revision>
  <dcterms:created xsi:type="dcterms:W3CDTF">2024-01-17T07:45:58Z</dcterms:created>
  <dcterms:modified xsi:type="dcterms:W3CDTF">2024-11-18T23:36:05Z</dcterms:modified>
</cp:coreProperties>
</file>